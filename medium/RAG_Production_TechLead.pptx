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2651760" cy="438912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Helvetica Neue"/>
              </a:rPr>
              <a:t>Deploying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3B30"/>
                </a:solidFill>
                <a:latin typeface="Helvetica Neue"/>
              </a:rPr>
              <a:t>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6868B"/>
                </a:solidFill>
                <a:latin typeface="Helvetica Neue"/>
              </a:rPr>
              <a:t>POC to Enterprise Scale: Quality · Latency · Security · Cost · Teams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51960"/>
            <a:ext cx="457200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6868B"/>
                </a:solidFill>
                <a:latin typeface="Helvetica Neue"/>
              </a:rPr>
              <a:t>Tech Lead  /  Core Developer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0" y="1463040"/>
            <a:ext cx="2926080" cy="2926080"/>
          </a:xfrm>
          <a:prstGeom prst="ellipse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0" y="1920240"/>
            <a:ext cx="2011680" cy="2011680"/>
          </a:xfrm>
          <a:prstGeom prst="ellipse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2286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3B30"/>
                </a:solidFill>
                <a:latin typeface="Helvetica Neue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108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6868B"/>
                </a:solidFill>
                <a:latin typeface="Helvetica Neue"/>
              </a:rPr>
              <a:t>PROD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  <a:latin typeface="Helvetica Neue"/>
              </a:rPr>
              <a:t>O'Reilly  /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D1D1F"/>
                </a:solidFill>
                <a:latin typeface="Helvetica Neue"/>
              </a:rPr>
              <a:t>POC vs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A3A3C"/>
                </a:solidFill>
                <a:latin typeface="Helvetica Neue"/>
              </a:rPr>
              <a:t>The gap is wider than it first appears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3611880" cy="466344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45920"/>
            <a:ext cx="3611880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Helvetica Neue"/>
              </a:rPr>
              <a:t>Proof of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95728"/>
            <a:ext cx="36576" cy="2926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Small dataset (100s of docs)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44368"/>
            <a:ext cx="36576" cy="2926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Single vector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93008"/>
            <a:ext cx="36576" cy="2926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No latency SLA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41648"/>
            <a:ext cx="36576" cy="2926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5020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No security/RBAC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36576" cy="2926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988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One LLM provider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38928"/>
            <a:ext cx="36576" cy="2926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1 developer, 2 weeks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687568"/>
            <a:ext cx="36576" cy="2926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59612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~$0 infra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1645920"/>
            <a:ext cx="3611880" cy="466344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1645920"/>
            <a:ext cx="36118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0"/>
                </a:solidFill>
                <a:latin typeface="Helvetica Neue"/>
              </a:rPr>
              <a:t>Production 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395728"/>
            <a:ext cx="36576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23042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Millions of documents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944368"/>
            <a:ext cx="36576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28529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Hybrid search + rerankers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493008"/>
            <a:ext cx="36576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&lt; 4s P95 latency 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4041648"/>
            <a:ext cx="36576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395020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Encryption + RBAC + PII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590288"/>
            <a:ext cx="36576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44988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Multi-LLM with fallback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5138928"/>
            <a:ext cx="36576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59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Full team, ongoing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5687568"/>
            <a:ext cx="36576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59" y="559612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3-5x cost overrun risk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645920"/>
            <a:ext cx="3611880" cy="466344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1645920"/>
            <a:ext cx="3611880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1E3"/>
                </a:solidFill>
                <a:latin typeface="Helvetica Neue"/>
              </a:rPr>
              <a:t>Production Requirements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395728"/>
            <a:ext cx="36576" cy="2926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23042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Scalable delta ingestion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944368"/>
            <a:ext cx="36576" cy="2926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28529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Two-stage retrieval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493008"/>
            <a:ext cx="36576" cy="2926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Auto-scaling + caching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4041648"/>
            <a:ext cx="36576" cy="2926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95020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Defense-in-depth security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4590288"/>
            <a:ext cx="36576" cy="2926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44988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Vendor abstraction layer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5138928"/>
            <a:ext cx="36576" cy="2926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MLOps + DevOps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5687568"/>
            <a:ext cx="36576" cy="2926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5320" y="559612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Realistic TCO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Helvetica Neue"/>
              </a:rPr>
              <a:t>Response Quality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6868B"/>
                </a:solidFill>
                <a:latin typeface="Helvetica Neue"/>
              </a:rPr>
              <a:t>4 root causes — and how to detect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5577840" cy="22860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" cy="54864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Helvetica Neue"/>
              </a:rPr>
              <a:t>No Relevant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Source documents missing from the index.
LLM retrieves unrelated chunks and
fabricates a plausible-sounding answer.
Fix: Track queries with low retrieval scores;
expand dataset for low-coverage topics.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577840" cy="22860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48640" cy="548640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0"/>
                </a:solidFill>
                <a:latin typeface="Helvetica Neue"/>
              </a:rPr>
              <a:t>Weak Retrieval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Right data exists but retrieval misses it.
Simple vector search breaks at scale:
more docs = more false positives.
Fix: Hybrid search + rerankers;
monitor retrieval precision/recall.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160520"/>
            <a:ext cx="5577840" cy="22860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548640" cy="548640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43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5AF2"/>
                </a:solidFill>
                <a:latin typeface="Helvetica Neue"/>
              </a:rPr>
              <a:t>LLM Hallucinations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Even perfect retrieval fails if the LLM
fills knowledge gaps with invented facts.
Partial support = spectrum of factuality.
Fix: HHEM scoring; choose low-hallucination
LLMs; implement correction loops.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60520"/>
            <a:ext cx="5577840" cy="22860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4297680"/>
            <a:ext cx="548640" cy="54864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343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1E3"/>
                </a:solidFill>
                <a:latin typeface="Helvetica Neue"/>
              </a:rPr>
              <a:t>Prompt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83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Ambiguous prompts produce inconsistent
output. Generic prompts don't handle
edge-cases seen at production scale.
Fix: Explicit instructions ('if unsure, say so');
regression-test 100+ query variations.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D1D1F"/>
                </a:solidFill>
                <a:latin typeface="Helvetica Neue"/>
              </a:rPr>
              <a:t>Prompt Engineering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A3A3C"/>
                </a:solidFill>
                <a:latin typeface="Helvetica Neue"/>
              </a:rPr>
              <a:t>Prompt design is the highest-leverage quality lever — but requires rigorous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5349240" cy="329184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6868B"/>
                </a:solidFill>
                <a:latin typeface="Helvetica Neue"/>
              </a:rPr>
              <a:t>Basic POC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3B30"/>
                </a:solidFill>
                <a:latin typeface="Helvetica Neue"/>
              </a:rPr>
              <a:t>(insufficient for production)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  <a:latin typeface="Courier New"/>
              </a:rPr>
              <a:t>prompt = """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Use the following context to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9125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500"/>
                </a:solidFill>
                <a:latin typeface="Courier New"/>
              </a:rPr>
              <a:t>{context}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8386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Question: {question}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7647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  <a:latin typeface="Courier New"/>
              </a:rPr>
              <a:t>Helpful Answer:"""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029200"/>
            <a:ext cx="5349240" cy="11887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12064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Helvetica Neue"/>
              </a:rPr>
              <a:t>Problems at scale: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6811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Hallucinates when context is partial  |  No 'I don't know' fallback
Ignores edge-cases  |  No citation requirement  |  No scope boundaries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600200"/>
            <a:ext cx="5669280" cy="329184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0D158"/>
                </a:solidFill>
                <a:latin typeface="Helvetica Neue"/>
              </a:rPr>
              <a:t>Production-Grade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0D158"/>
                </a:solidFill>
                <a:latin typeface="Helvetica Neue"/>
              </a:rPr>
              <a:t>(tested across 100+ query variations)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06040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  <a:latin typeface="Courier New"/>
              </a:rPr>
              <a:t>SYSTEM_PROMPT = """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5292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You are a helpful assistant. Answer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9981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using the provided context below. Rules: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46704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ADE6"/>
                </a:solidFill>
                <a:latin typeface="Courier New"/>
              </a:rPr>
              <a:t>- Cite source document for each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9359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ADE6"/>
                </a:solidFill>
                <a:latin typeface="Courier New"/>
              </a:rPr>
              <a:t>- If context doesn't cover the question,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40480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500"/>
                </a:solidFill>
                <a:latin typeface="Courier New"/>
              </a:rPr>
              <a:t>  say: 'I don't have info on this.'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8736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ADE6"/>
                </a:solidFill>
                <a:latin typeface="Courier New"/>
              </a:rPr>
              <a:t>- Never guess or infer beyond the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33425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ADE6"/>
                </a:solidFill>
                <a:latin typeface="Courier New"/>
              </a:rPr>
              <a:t>- Respond in the user query language.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1144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ADE6"/>
                </a:solidFill>
                <a:latin typeface="Courier New"/>
              </a:rPr>
              <a:t>- Max response: 3 paragraphs.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2803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500"/>
                </a:solidFill>
                <a:latin typeface="Courier New"/>
              </a:rPr>
              <a:t>Context: {context}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  <a:latin typeface="Courier New"/>
              </a:rPr>
              <a:t>Question: {question}"""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5029200"/>
            <a:ext cx="5669280" cy="1188720"/>
          </a:xfrm>
          <a:prstGeom prst="round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1206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Helvetica Neue"/>
              </a:rPr>
              <a:t>Impact: 23% fewer hallucinations  |  65% higher answer relevance score
Requires: regression suite of 100+ queries with expected answers for CI/CD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Helvetica Neue"/>
              </a:rPr>
              <a:t>High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6868B"/>
                </a:solidFill>
                <a:latin typeface="Helvetica Neue"/>
              </a:rPr>
              <a:t>From prototype speed to production SLA — P95 &lt; 4s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822960" cy="566928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Query Embed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0992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  <a:latin typeface="Helvetica Neue"/>
              </a:rPr>
              <a:t>~50ms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099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GPU embed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78024"/>
            <a:ext cx="1975104" cy="566928"/>
          </a:xfrm>
          <a:prstGeom prst="round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8775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ANN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5877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ADE6"/>
                </a:solidFill>
                <a:latin typeface="Helvetica Neue"/>
              </a:rPr>
              <a:t>~120ms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5877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HNSW index lookup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55848"/>
            <a:ext cx="1316736" cy="566928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65576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BM25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46557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Helvetica Neue"/>
              </a:rPr>
              <a:t>~80ms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34655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Inverted index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33672"/>
            <a:ext cx="2962656" cy="566928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Reranker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43434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AF2"/>
                </a:solidFill>
                <a:latin typeface="Helvetica Neue"/>
              </a:rPr>
              <a:t>~180ms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4343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Cross-encoder top-100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11496"/>
            <a:ext cx="8229600" cy="566928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21224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LLM 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2212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  <a:latin typeface="Helvetica Neue"/>
              </a:rPr>
              <a:t>~1.5-3s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2212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Biggest cost; stream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600200"/>
            <a:ext cx="4892040" cy="4709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C00"/>
                </a:solidFill>
                <a:latin typeface="Helvetica Neue"/>
              </a:rPr>
              <a:t>Mitigation Strategies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350008"/>
            <a:ext cx="36576" cy="5486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233172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Parallelise 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2660903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Run BM25 + vector search concurrently;
merge results with RRF.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3154679"/>
            <a:ext cx="36576" cy="5486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3136391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Quantised HNSW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3465575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INT8 quantization = 4x faster ANN search
at &lt;1% recall loss.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3959351"/>
            <a:ext cx="36576" cy="5486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941063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Response Streaming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4270248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Stream LLM tokens as they arrive;
P50 perceived latency drops 60%.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764023"/>
            <a:ext cx="36576" cy="548640"/>
          </a:xfrm>
          <a:prstGeom prst="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5472" y="474573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Semantic Caching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5074920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Cache embedding + result for similar queries;
hit rate ~30% at scale.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5568696"/>
            <a:ext cx="36576" cy="54864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5472" y="555040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Auto-Scaling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5879592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Scale embedding service horizontally;
kubernetes HPA on GPU pods.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D1D1F"/>
                </a:solidFill>
                <a:latin typeface="Helvetica Neue"/>
              </a:rPr>
              <a:t>Data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A3A3C"/>
                </a:solidFill>
                <a:latin typeface="Helvetica Neue"/>
              </a:rPr>
              <a:t>Defense-in-depth across 3 attack surfaces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3611880" cy="36576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36118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0"/>
                </a:solidFill>
                <a:latin typeface="Helvetica Neue"/>
              </a:rPr>
              <a:t>Ingestion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36576" cy="32918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ETL pipeline: TLS 1.3 in transit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53512"/>
            <a:ext cx="36576" cy="32918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AES-256 encryption at 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83864"/>
            <a:ext cx="36576" cy="32918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9242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PII/PHI redaction before embedding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14215"/>
            <a:ext cx="36576" cy="32918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2277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Hash-based data lineage (ISO 27001)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44567"/>
            <a:ext cx="36576" cy="32918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53127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Source validation &amp; schema enforcement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600200"/>
            <a:ext cx="3611880" cy="36576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600200"/>
            <a:ext cx="3611880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Helvetica Neue"/>
              </a:rPr>
              <a:t>Vector Store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23160"/>
            <a:ext cx="36576" cy="32918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33172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RBAC on collections/namespaces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953512"/>
            <a:ext cx="36576" cy="32918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286207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Network isolation (VPC/private endpoint)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483864"/>
            <a:ext cx="36576" cy="32918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339242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Encryption in place and in transit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014215"/>
            <a:ext cx="36576" cy="32918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392277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GDPR: minimal data retention policy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544567"/>
            <a:ext cx="36576" cy="32918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4453127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Audit logs for all read/write operations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600200"/>
            <a:ext cx="3611880" cy="36576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1600200"/>
            <a:ext cx="3611880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5AF2"/>
                </a:solidFill>
                <a:latin typeface="Helvetica Neue"/>
              </a:rPr>
              <a:t>Generation 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423160"/>
            <a:ext cx="36576" cy="32918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331720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Prompt injection scanning (pre-filter)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953512"/>
            <a:ext cx="36576" cy="32918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286207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Content moderation (ShieldGemma)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483864"/>
            <a:ext cx="36576" cy="32918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39242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Output validation before user delivery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4014215"/>
            <a:ext cx="36576" cy="32918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392277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On-premise LLM for sensitive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4544567"/>
            <a:ext cx="36576" cy="32918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453127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User query + response audit trail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394960"/>
            <a:ext cx="11338560" cy="118872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486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0"/>
                </a:solidFill>
                <a:latin typeface="Helvetica Neue"/>
              </a:rPr>
              <a:t>On-Premise 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486400"/>
            <a:ext cx="7498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  <a:latin typeface="Helvetica Neue"/>
              </a:rPr>
              <a:t>Enterprises with highly sensitive data often avoid external LLM APIs (OpenAI, Anthropic, Google).
Use Llama 3 / DeepSeek-R1 hosted in your VPC — zero data leaves your perimeter.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Helvetica Neue"/>
              </a:rPr>
              <a:t>RBAC &amp; Data Leak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6868B"/>
                </a:solidFill>
                <a:latin typeface="Helvetica Neue"/>
              </a:rPr>
              <a:t>Not every user should see every retrieved chunk — enforce it at query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2011680" cy="9144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role=HR_manager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9659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868B"/>
                </a:solidFill>
                <a:latin typeface="Helvetica Neue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645920"/>
            <a:ext cx="2011680" cy="914400"/>
          </a:xfrm>
          <a:prstGeom prst="round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RBAC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allowed_collections=['hr_docs','public_docs']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659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868B"/>
                </a:solidFill>
                <a:latin typeface="Helvetica Neue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645920"/>
            <a:ext cx="2011680" cy="914400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Filtered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03120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Only HR + public chunks returned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9659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868B"/>
                </a:solidFill>
                <a:latin typeface="Helvetica Neue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645920"/>
            <a:ext cx="2011680" cy="91440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LLM 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Context scoped to authorized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9659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868B"/>
                </a:solidFill>
                <a:latin typeface="Helvetica Neue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1645920"/>
            <a:ext cx="2011680" cy="914400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19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103120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No confidential exec data leaked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834640"/>
            <a:ext cx="5486400" cy="3749039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9443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868B"/>
                </a:solidFill>
                <a:latin typeface="Courier New"/>
              </a:rPr>
              <a:t># RBAC query filter (Weaviate / Pinecone)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33756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0D158"/>
                </a:solidFill>
                <a:latin typeface="Courier New"/>
              </a:rPr>
              <a:t>def rbac_retrieve(query, user_role, top_n=5):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57530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6868B"/>
                </a:solidFill>
                <a:latin typeface="Courier New"/>
              </a:rPr>
              <a:t>    # Map role -&gt; allowed collections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1304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>    allowed = ROLE_MAP.get(user_role, ['public'])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50791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8853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>    results = collection.query.near_text(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52628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>        query=query, limit=100,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76402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>        filters=Filter.by_property('collection')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00176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9500"/>
                </a:solidFill>
                <a:latin typeface="Courier New"/>
              </a:rPr>
              <a:t>               .contains_any(allowed)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23951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>    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47725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BF5AF2"/>
                </a:solidFill>
                <a:latin typeface="Courier New"/>
              </a:rPr>
              <a:t>    return rerank(query, results, top_n=top_n)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71500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95274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>ROLE_MAP =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19048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2ADE6"/>
                </a:solidFill>
                <a:latin typeface="Courier New"/>
              </a:rPr>
              <a:t>    'employee':  ['public', 'faq'],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28231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2ADE6"/>
                </a:solidFill>
                <a:latin typeface="Courier New"/>
              </a:rPr>
              <a:t>    'hr_manager': ['public','faq','hr_docs'],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66597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9500"/>
                </a:solidFill>
                <a:latin typeface="Courier New"/>
              </a:rPr>
              <a:t>    'exec':       ['public','faq','hr','finance'],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90372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2834640"/>
            <a:ext cx="5577840" cy="3749039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29443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0"/>
                </a:solidFill>
                <a:latin typeface="Helvetica Neue"/>
              </a:rPr>
              <a:t>LLM Vendor Data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474720"/>
            <a:ext cx="36576" cy="54864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47472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Helvetica Neue"/>
              </a:rPr>
              <a:t>Query Logging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8039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External LLM APIs may log your prompts.
Prompts contain your internal documents.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224528"/>
            <a:ext cx="36576" cy="54864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2245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Helvetica Neue"/>
              </a:rPr>
              <a:t>Temp Caching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5537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API providers retain input caches.
Anonymized data can still leak insights.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974336"/>
            <a:ext cx="36576" cy="54864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9743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5AF2"/>
                </a:solidFill>
                <a:latin typeface="Helvetica Neue"/>
              </a:rPr>
              <a:t>Regulatory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53035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GDPR/HIPAA violations if PII goes to
an unapproved third-party LLM provider.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5724144"/>
            <a:ext cx="36576" cy="548640"/>
          </a:xfrm>
          <a:prstGeom prst="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572414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ADE6"/>
                </a:solidFill>
                <a:latin typeface="Helvetica Neue"/>
              </a:rPr>
              <a:t>Mitigation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0533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Use on-prem LLMs (Llama3, DeepSeek) for
sensitive corpora — zero external exposure.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D1D1F"/>
                </a:solidFill>
                <a:latin typeface="Helvetica Neue"/>
              </a:rPr>
              <a:t>Vendor Chaos &amp; Team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A3A3C"/>
                </a:solidFill>
                <a:latin typeface="Helvetica Neue"/>
              </a:rPr>
              <a:t>Every new component = new vendor + new SLA + new integration burden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5394960" cy="470916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Helvetica Neue"/>
              </a:rPr>
              <a:t>Production Stack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84048" cy="384048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Content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5000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PDF/DOCX/PPTX APIs — docling, Adobe, AWS Textract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34639"/>
            <a:ext cx="384048" cy="384048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3463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52927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Data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85292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Table &amp; image APIs — multi-language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37560"/>
            <a:ext cx="384048" cy="384048"/>
          </a:xfrm>
          <a:prstGeom prst="round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5584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Vector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35584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Weaviate, Pinecone, Qdrant, Databricks 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40480"/>
            <a:ext cx="384048" cy="384048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587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Embedding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858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OpenAI, Cohere, BGE — batch + real-time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343400"/>
            <a:ext cx="384048" cy="384048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43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616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Rerankers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3616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BGE-v2, Cohere Rerank, MS MARCO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846320"/>
            <a:ext cx="384048" cy="384048"/>
          </a:xfrm>
          <a:prstGeom prst="round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846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64607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LLM Providers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86460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OpenAI, Anthropic, Llama, DeepSeek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349240"/>
            <a:ext cx="384048" cy="384048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3492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67527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Hallucination Guard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536752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Vectara HHEM, custom LLM-judge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852160"/>
            <a:ext cx="384048" cy="384048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852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87044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87044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Langfuse, Arize, custom dashboards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1600200"/>
            <a:ext cx="5669280" cy="470916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1E3"/>
                </a:solidFill>
                <a:latin typeface="Helvetica Neue"/>
              </a:rPr>
              <a:t>4 Skill Domains Required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331720"/>
            <a:ext cx="5212080" cy="8686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2331720"/>
            <a:ext cx="54864" cy="868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238658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71E3"/>
                </a:solidFill>
                <a:latin typeface="Helvetica Neue"/>
              </a:rPr>
              <a:t>ML Engineering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7706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Embedding models, LLM inference, prompt engineering,
hybrid search, hallucination detection &amp; correction.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319272"/>
            <a:ext cx="5212080" cy="8686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319272"/>
            <a:ext cx="54864" cy="86868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3741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0D158"/>
                </a:solidFill>
                <a:latin typeface="Helvetica Neue"/>
              </a:rPr>
              <a:t>Data Engineering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758183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Scalable ETL pipelines, unstructured data ingest
(PDF, DB, web), Delta Lake / data lakehouse patterns.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306824"/>
            <a:ext cx="5212080" cy="8686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4306824"/>
            <a:ext cx="54864" cy="8686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3616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9500"/>
                </a:solidFill>
                <a:latin typeface="Helvetica Neue"/>
              </a:rPr>
              <a:t>DevOps / MLOps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74573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Containerisation, CI/CD, GPU cluster management,
A/B testing, model versioning, observability.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5294376"/>
            <a:ext cx="5212080" cy="8686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63640" y="5294376"/>
            <a:ext cx="54864" cy="86868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534924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BF5AF2"/>
                </a:solidFill>
                <a:latin typeface="Helvetica Neue"/>
              </a:rPr>
              <a:t>Security / Compliance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57332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RBAC, PII redaction, prompt injection prevention,
GDPR/HIPAA, audit trails, data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Helvetica Neue"/>
              </a:rPr>
              <a:t>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6868B"/>
                </a:solidFill>
                <a:latin typeface="Helvetica Neue"/>
              </a:rPr>
              <a:t>DIY RAG production costs exceed initial estimates by 3-5x — plan carefully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5394960" cy="24688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0D158"/>
                </a:solidFill>
                <a:latin typeface="Helvetica Neue"/>
              </a:rPr>
              <a:t>Direct Costs (CAPEX + OPEX)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23160"/>
            <a:ext cx="36576" cy="3200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LLM &amp; Embedding API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3317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Per-token billing; grows with query volume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26079"/>
            <a:ext cx="36576" cy="3200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3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Vector DB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834639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Non-linear cost scaling at large data volumes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429000"/>
            <a:ext cx="36576" cy="3200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Compute (CPU + GPU)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375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Staging + prod; GPU for embed &amp; rerank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931920"/>
            <a:ext cx="36576" cy="3200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Vendor licenses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4048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Each component = separate contract + legal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251960"/>
            <a:ext cx="5394960" cy="23317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C00"/>
                </a:solidFill>
                <a:latin typeface="Helvetica Neue"/>
              </a:rPr>
              <a:t>Indirect Costs (often overlooked)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029200"/>
            <a:ext cx="36576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Integration overhead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377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Connecting each vendor to monitoring + CI/CD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532120"/>
            <a:ext cx="36576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Security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44068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Audits, encryption setup, PII tooling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035040"/>
            <a:ext cx="36576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9436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Business continuity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943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HA setup, disaster recovery, SLA guarantees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37960"/>
            <a:ext cx="36576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46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Ongoing team upskilling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64465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RAG field evolves every 3-6 months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1600200"/>
            <a:ext cx="5669280" cy="49834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ADE6"/>
                </a:solidFill>
                <a:latin typeface="Helvetica Neue"/>
              </a:rPr>
              <a:t>DIY vs Turn-key TCO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331720"/>
            <a:ext cx="2340864" cy="457200"/>
          </a:xfrm>
          <a:prstGeom prst="round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3" y="240487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2ADE6"/>
                </a:solidFill>
                <a:latin typeface="Helvetica Neue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2331720"/>
            <a:ext cx="1517904" cy="457200"/>
          </a:xfrm>
          <a:prstGeom prst="round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87384" y="24048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2ADE6"/>
                </a:solidFill>
                <a:latin typeface="Helvetica Neue"/>
              </a:rPr>
              <a:t>DIY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78440" y="2331720"/>
            <a:ext cx="1517904" cy="457200"/>
          </a:xfrm>
          <a:prstGeom prst="round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33304" y="24048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2ADE6"/>
                </a:solidFill>
                <a:latin typeface="Helvetica Neue"/>
              </a:rPr>
              <a:t>Turn-key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852927"/>
            <a:ext cx="234086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8503" y="2926079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Helvetica Neue"/>
              </a:rPr>
              <a:t>Vendors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2852927"/>
            <a:ext cx="151790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7384" y="2926079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3B30"/>
                </a:solidFill>
                <a:latin typeface="Helvetica Neue"/>
              </a:rPr>
              <a:t>6-10+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78440" y="2852927"/>
            <a:ext cx="151790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33304" y="2926079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0D158"/>
                </a:solidFill>
                <a:latin typeface="Helvetica Neue"/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3374135"/>
            <a:ext cx="234086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18503" y="3447287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Helvetica Neue"/>
              </a:rPr>
              <a:t>Setup time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3374135"/>
            <a:ext cx="151790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87384" y="3447287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3B30"/>
                </a:solidFill>
                <a:latin typeface="Helvetica Neue"/>
              </a:rPr>
              <a:t>3-6 mo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78440" y="3374135"/>
            <a:ext cx="151790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33304" y="3447287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0D158"/>
                </a:solidFill>
                <a:latin typeface="Helvetica Neue"/>
              </a:rPr>
              <a:t>Days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3895344"/>
            <a:ext cx="234086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18503" y="3968496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Helvetica Neue"/>
              </a:rPr>
              <a:t>Cost predictability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20" y="3895344"/>
            <a:ext cx="151790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87384" y="3968496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3B30"/>
                </a:solidFill>
                <a:latin typeface="Helvetica Neue"/>
              </a:rPr>
              <a:t>Low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78440" y="3895344"/>
            <a:ext cx="151790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33304" y="3968496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0D158"/>
                </a:solidFill>
                <a:latin typeface="Helvetica Neue"/>
              </a:rPr>
              <a:t>High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4416552"/>
            <a:ext cx="234086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18503" y="4489704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Helvetica Neue"/>
              </a:rPr>
              <a:t>Upgrade effort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32520" y="4416552"/>
            <a:ext cx="151790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87384" y="448970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3B30"/>
                </a:solidFill>
                <a:latin typeface="Helvetica Neue"/>
              </a:rPr>
              <a:t>Full team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378440" y="4416552"/>
            <a:ext cx="151790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33304" y="448970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0D158"/>
                </a:solidFill>
                <a:latin typeface="Helvetica Neue"/>
              </a:rPr>
              <a:t>Vendor-handled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4937759"/>
            <a:ext cx="234086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18503" y="501091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Helvetica Neue"/>
              </a:rPr>
              <a:t>Security setup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32520" y="4937759"/>
            <a:ext cx="151790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87384" y="501091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3B30"/>
                </a:solidFill>
                <a:latin typeface="Helvetica Neue"/>
              </a:rPr>
              <a:t>Custom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78440" y="4937759"/>
            <a:ext cx="151790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33304" y="501091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0D158"/>
                </a:solidFill>
                <a:latin typeface="Helvetica Neue"/>
              </a:rPr>
              <a:t>Built-in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63640" y="5458968"/>
            <a:ext cx="234086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18503" y="5532120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Helvetica Neue"/>
              </a:rPr>
              <a:t>Hallucination guard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32520" y="5458968"/>
            <a:ext cx="151790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87384" y="553212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3B30"/>
                </a:solidFill>
                <a:latin typeface="Helvetica Neue"/>
              </a:rPr>
              <a:t>DIY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378440" y="5458968"/>
            <a:ext cx="1517904" cy="45720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33304" y="553212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0D158"/>
                </a:solidFill>
                <a:latin typeface="Helvetica Neue"/>
              </a:rPr>
              <a:t>Included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63640" y="5980175"/>
            <a:ext cx="234086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18503" y="6053327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Helvetica Neue"/>
              </a:rPr>
              <a:t>Initial est. accuracy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732520" y="5980175"/>
            <a:ext cx="151790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87384" y="6053327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3B30"/>
                </a:solidFill>
                <a:latin typeface="Helvetica Neue"/>
              </a:rPr>
              <a:t>Low (3-5x overrun)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378440" y="5980175"/>
            <a:ext cx="1517904" cy="457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433304" y="6053327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0D158"/>
                </a:solidFill>
                <a:latin typeface="Helvetica Neue"/>
              </a:rPr>
              <a:t>Predictable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D1D1F"/>
                </a:solidFill>
                <a:latin typeface="Helvetica Neue"/>
              </a:rPr>
              <a:t>Production KPI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A3A3C"/>
                </a:solidFill>
                <a:latin typeface="Helvetica Neue"/>
              </a:rPr>
              <a:t>Define numeric targets before implementation — measure from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2615184" cy="475488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664208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71E3"/>
                </a:solidFill>
                <a:latin typeface="Helvetica Neue"/>
              </a:rPr>
              <a:t>KPI / Requirement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600200"/>
            <a:ext cx="3072384" cy="475488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66420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71E3"/>
                </a:solidFill>
                <a:latin typeface="Helvetica Neue"/>
              </a:rPr>
              <a:t>Definition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2569464" cy="475488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64208"/>
            <a:ext cx="2459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71E3"/>
                </a:solidFill>
                <a:latin typeface="Helvetica Neue"/>
              </a:rPr>
              <a:t>POC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600200"/>
            <a:ext cx="2706624" cy="475488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664208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71E3"/>
                </a:solidFill>
                <a:latin typeface="Helvetica Neue"/>
              </a:rPr>
              <a:t>Production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76272"/>
            <a:ext cx="26151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231136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Query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176272"/>
            <a:ext cx="30723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2231136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Mean &amp; P95 response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76272"/>
            <a:ext cx="256946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231136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00"/>
                </a:solidFill>
                <a:latin typeface="Helvetica Neue"/>
              </a:rPr>
              <a:t>Mean 7.5s / P95 12s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176272"/>
            <a:ext cx="270662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2231136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Mean &lt;4s / P95 &lt;6s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651760"/>
            <a:ext cx="261518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706624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Uptime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2651760"/>
            <a:ext cx="307238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706624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% operational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651760"/>
            <a:ext cx="256946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706624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Not measured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2651760"/>
            <a:ext cx="270662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2706624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&gt;= 99.9%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127248"/>
            <a:ext cx="26151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182112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Context Precision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3127248"/>
            <a:ext cx="30723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82112" y="3182112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Relevant chunks / total retrieved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127248"/>
            <a:ext cx="256946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3182112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Not measured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3127248"/>
            <a:ext cx="270662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9992" y="3182112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&gt;= 0.90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602736"/>
            <a:ext cx="261518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657600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Context Recall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0" y="3602736"/>
            <a:ext cx="307238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2112" y="3657600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Relevant chunks / total available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3602736"/>
            <a:ext cx="256946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3657600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Not measured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602736"/>
            <a:ext cx="270662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79992" y="3657600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&gt;= 0.80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078224"/>
            <a:ext cx="26151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133087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Hallucination Rate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08960" y="4078224"/>
            <a:ext cx="30723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82112" y="4133087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HHEM score below 0.5 threshold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4078224"/>
            <a:ext cx="256946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82512" y="4133087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Not measured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06840" y="4078224"/>
            <a:ext cx="270662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9992" y="4133087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&lt;= 5%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553712"/>
            <a:ext cx="261518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4608576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Answer Relevance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08960" y="4553712"/>
            <a:ext cx="307238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82112" y="4608576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LLM-judge relevance score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4553712"/>
            <a:ext cx="256946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2" y="4608576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Not measured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06840" y="4553712"/>
            <a:ext cx="270662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9992" y="4608576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&gt;= 0.90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5029200"/>
            <a:ext cx="26151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5084064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Data Ingest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108960" y="5029200"/>
            <a:ext cx="30723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82112" y="5084064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Sources &amp; file types supported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5029200"/>
            <a:ext cx="256946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82512" y="5084064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00"/>
                </a:solidFill>
                <a:latin typeface="Helvetica Neue"/>
              </a:rPr>
              <a:t>Local PDF only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06840" y="5029200"/>
            <a:ext cx="270662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9992" y="5084064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PDF,DOCX,PPTX,S3,DB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760" y="5504688"/>
            <a:ext cx="261518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5559551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Retrieval Methods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108960" y="5504688"/>
            <a:ext cx="307238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82112" y="5559551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Search techniques active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09360" y="5504688"/>
            <a:ext cx="256946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82512" y="5559551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00"/>
                </a:solidFill>
                <a:latin typeface="Helvetica Neue"/>
              </a:rPr>
              <a:t>Vector only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06840" y="5504688"/>
            <a:ext cx="2706624" cy="438912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79992" y="5559551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Hybrid + reranker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5980176"/>
            <a:ext cx="26151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8912" y="6035040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Security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108960" y="5980176"/>
            <a:ext cx="307238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82112" y="6035040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Helvetica Neue"/>
              </a:rPr>
              <a:t>Encryption + RBAC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09360" y="5980176"/>
            <a:ext cx="256946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82512" y="6035040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00"/>
                </a:solidFill>
                <a:latin typeface="Helvetica Neue"/>
              </a:rPr>
              <a:t>None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06840" y="5980176"/>
            <a:ext cx="2706624" cy="438912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79992" y="6035040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D158"/>
                </a:solidFill>
                <a:latin typeface="Helvetica Neue"/>
              </a:rPr>
              <a:t>Must have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POC to Production: Transition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6868B"/>
                </a:solidFill>
                <a:latin typeface="Helvetica Neue"/>
              </a:rPr>
              <a:t>Structured approach to avoid the 3-5x cost overrun trap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3611880" cy="4709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19072"/>
            <a:ext cx="3337560" cy="475488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Phase 1: Document the POC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347472" cy="34747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048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Which vector DB, embed model, LLM were used?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81528"/>
            <a:ext cx="347472" cy="34747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81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How was data collected &amp; ingested?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39896"/>
            <a:ext cx="347472" cy="34747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39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7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What prompt was used — how well did it work?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98264"/>
            <a:ext cx="347472" cy="34747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982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7997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What latency was measured?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56631"/>
            <a:ext cx="347472" cy="34747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5663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38343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What unexpected issues arose?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15000"/>
            <a:ext cx="347472" cy="34747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9671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What functionality was missing?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1600200"/>
            <a:ext cx="3611880" cy="4709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1719072"/>
            <a:ext cx="3337560" cy="475488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73736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Phase 2: Define Production Goals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2423160"/>
            <a:ext cx="347472" cy="34747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4048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Revisit business objectives vs POC goals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081528"/>
            <a:ext cx="347472" cy="34747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081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063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Set numeric KPIs (Table 3-1) for each metric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739896"/>
            <a:ext cx="347472" cy="34747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739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721607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Plan hardware: CPU+GPU, HA, staging env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398264"/>
            <a:ext cx="347472" cy="34747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43982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437997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Define data connectivity + RBAC requirements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5056631"/>
            <a:ext cx="347472" cy="34747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400" y="505663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5038343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Confirm compliance: SOC-2 / HIPAA / GDPR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715000"/>
            <a:ext cx="347472" cy="34747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5715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569671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Set monthly budget with 2x buffer for overruns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1600200"/>
            <a:ext cx="3611880" cy="4709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38160" y="1719072"/>
            <a:ext cx="3337560" cy="475488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79" y="173736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Phase 3: Launch &amp; Monitor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2423160"/>
            <a:ext cx="347472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24048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Train users: capabilities + correct usage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8160" y="3081528"/>
            <a:ext cx="347472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3081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063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Monitor query volume + latency from day 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38160" y="3739896"/>
            <a:ext cx="347472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3739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3721607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Track user satisfaction + drop-off signals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8160" y="4398264"/>
            <a:ext cx="347472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43982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0" y="437997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React within 48h to post-launch issues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5056631"/>
            <a:ext cx="347472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505663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5038343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Plan A/B tests for model/pipeline upgrades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160" y="5715000"/>
            <a:ext cx="347472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8160" y="5715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569671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Document runbooks for each failure scenario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1D1F"/>
                </a:solidFill>
                <a:latin typeface="Helvetica Neue"/>
              </a:rPr>
              <a:t>Ensuring Continued RAG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A3A3C"/>
                </a:solidFill>
                <a:latin typeface="Helvetica Neue"/>
              </a:rPr>
              <a:t>Launch is day one — not the finish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5394960" cy="470916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0"/>
                </a:solidFill>
                <a:latin typeface="Helvetica Neue"/>
              </a:rPr>
              <a:t>Warning Signals to Watch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36576" cy="6583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3B30"/>
                </a:solidFill>
                <a:latin typeface="Helvetica Neue"/>
              </a:rPr>
              <a:t>Query Volume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Usage peaks at launch then crashes within 2 weeks.
Root cause: poor response quality or high latency.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246120"/>
            <a:ext cx="36576" cy="65836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CC00"/>
                </a:solidFill>
                <a:latin typeface="Helvetica Neue"/>
              </a:rPr>
              <a:t>Latency Creep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P95 slowly rises as data grows.
Detect via percentile tracking — not just mean.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60520"/>
            <a:ext cx="36576" cy="65836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9500"/>
                </a:solidFill>
                <a:latin typeface="Helvetica Neue"/>
              </a:rPr>
              <a:t>Quality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HHEM scores degrade after new data ingest.
Retrieval pipeline needs tuning after schema changes.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074920"/>
            <a:ext cx="36576" cy="658368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BF5AF2"/>
                </a:solidFill>
                <a:latin typeface="Helvetica Neue"/>
              </a:rPr>
              <a:t>Hallucination Spikes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Sudden spike after LLM provider update.
Lock LLM version + test before production upgrade.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600200"/>
            <a:ext cx="5669280" cy="470916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0D158"/>
                </a:solidFill>
                <a:latin typeface="Helvetica Neue"/>
              </a:rPr>
              <a:t>Upgrade Process for Every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40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6868B"/>
                </a:solidFill>
                <a:latin typeface="Helvetica Neue"/>
              </a:rPr>
              <a:t>New embedding model, LLM, reranker or algorithm? Always: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475488" cy="475488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7889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0720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3639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Define metric targets; identify dependencies;
estimate latency + cost delta.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02152"/>
            <a:ext cx="475488" cy="475488"/>
          </a:xfrm>
          <a:prstGeom prst="round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0215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52044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8496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Run full regression suite; measure quality delta
on 100+ diverse queries.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15383"/>
            <a:ext cx="475488" cy="475488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2153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33671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A/B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56285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Shadow traffic to new version; compare
KPIs before full cutover.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928616"/>
            <a:ext cx="475488" cy="475488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92861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946903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Monitor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2760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Watch P95 latency + HHEM scores
for 7 days post-deploy.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5641848"/>
            <a:ext cx="475488" cy="475488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6418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66013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elvetica Neue"/>
              </a:rPr>
              <a:t>Document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989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  <a:latin typeface="Helvetica Neue"/>
              </a:rPr>
              <a:t>Update runbooks + rollback procedure;
log the learnings for next upgrade.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8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169164"/>
            <a:ext cx="164592" cy="164592"/>
          </a:xfrm>
          <a:prstGeom prst="ellipse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" y="169164"/>
            <a:ext cx="164592" cy="164592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" y="169164"/>
            <a:ext cx="164592" cy="164592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  <a:latin typeface="Courier New"/>
              </a:rPr>
              <a:t>delta_rag_ingest.py  —  Databricks Delta Lake + Vector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73152"/>
            <a:ext cx="1463040" cy="347472"/>
          </a:xfrm>
          <a:prstGeom prst="round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61320" y="73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DATABRICKS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594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868B"/>
                </a:solidFill>
                <a:latin typeface="Courier New"/>
              </a:rPr>
              <a:t># 1. Delta Lake Document Store with CDC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987552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from pyspark.sql import SparkSession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19512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from delta.tables import DeltaTable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402689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import mlflow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610258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1817827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spark = SparkSession.builder.getOrCreate()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025395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232964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# Write docs to Delta with CDC enabled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440533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0D158"/>
                </a:solidFill>
                <a:latin typeface="Courier New"/>
              </a:rPr>
              <a:t>def ingest_to_delta(docs_df, table_path):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648102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if DeltaTable.isDeltaTable(spark, table_path):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2855671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dt = DeltaTable.forPath(spark, table_path)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306324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dt.alias('tgt').merge(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270808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    docs_df.alias('src'),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3478377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    'tgt.doc_id = src.doc_id'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685946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).whenMatchedUpdateAll()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3893515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 .whenNotMatchedInsertAll()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101084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 .execute()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308652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else: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4516221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docs_df.write.format('delta')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472379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       .option('delta.enableChangeDataFeed',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4931359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               'true')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138928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2ADE6"/>
                </a:solidFill>
                <a:latin typeface="Courier New"/>
              </a:rPr>
              <a:t>               .save(table_path)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5346496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5554065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# Read only changed rows since last 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761634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0D158"/>
                </a:solidFill>
                <a:latin typeface="Courier New"/>
              </a:rPr>
              <a:t>def get_changed_docs(table_path, since_version=0):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5969203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return spark.read.format('delta')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6176772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.option('readChangeFeed','true')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638434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.option('startingVersion', since_version)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6591909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2ADE6"/>
                </a:solidFill>
                <a:latin typeface="Courier New"/>
              </a:rPr>
              <a:t>        .load(table_path)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548640"/>
            <a:ext cx="27432" cy="612648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94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868B"/>
                </a:solidFill>
                <a:latin typeface="Courier New"/>
              </a:rPr>
              <a:t># 2. Databricks Vector Search — Create &amp; Upsert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987552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from databricks.vector_search.client import VectorSearchClient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1195120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1402689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vsc = VectorSearchClient()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1610258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1817827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# Create vector search index (once)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025395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0D158"/>
                </a:solidFill>
                <a:latin typeface="Courier New"/>
              </a:rPr>
              <a:t>def create_vs_index(endpoint, index_name, delta_table):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2232964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vsc.create_delta_sync_index(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2440533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endpoint_name=endpoint,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648102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index_name=index_name,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855671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source_table_name=delta_table,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063240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pipeline_type='TRIGGERED',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3270808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primary_key='chunk_id',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3478377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embedding_source_column='chunk_text',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3685946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embedding_model_endpoint_name='bge-base-en-v1.5'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893515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4101084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4308652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# Triggered sync after delta CDC update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4516221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0D158"/>
                </a:solidFill>
                <a:latin typeface="Courier New"/>
              </a:rPr>
              <a:t>def sync_index(endpoint, index_name):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723790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idx = vsc.get_index(endpoint, index_name)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4931359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2ADE6"/>
                </a:solidFill>
                <a:latin typeface="Courier New"/>
              </a:rPr>
              <a:t>    idx.sync()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5138928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5346496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# Hybrid query: semantic + keyword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5554065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0D158"/>
                </a:solidFill>
                <a:latin typeface="Courier New"/>
              </a:rPr>
              <a:t>def hybrid_query(endpoint, index, query, rbac_filter):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5761634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idx = vsc.get_index(endpoint, index)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5969203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return idx.similarity_search(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6176772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query_text=query,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80" y="6384340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columns=['chunk_text','source','role'],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6591909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filters=rbac_filter,  # e.g. {'role': 'hr'}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6799478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num_results=100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7007047"/>
            <a:ext cx="5577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2ADE6"/>
                </a:solidFill>
                <a:latin typeface="Courier New"/>
              </a:rPr>
              <a:t>    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61111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Databricks Vector Search  |  Delta Lake CDC  |  TRIGGERED sync  |  RBAC filter  |  BGE embeddings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8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169164"/>
            <a:ext cx="164592" cy="164592"/>
          </a:xfrm>
          <a:prstGeom prst="ellipse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" y="169164"/>
            <a:ext cx="164592" cy="164592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" y="169164"/>
            <a:ext cx="164592" cy="164592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  <a:latin typeface="Courier New"/>
              </a:rPr>
              <a:t>rag_mlflow_monitor.py  —  Experiment Tracking + Production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73152"/>
            <a:ext cx="1463040" cy="347472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61320" y="73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MLflow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594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868B"/>
                </a:solidFill>
                <a:latin typeface="Courier New"/>
              </a:rPr>
              <a:t># 1. MLflow RAG Experiment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98755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import mlflow,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183233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from hhem import HHEM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378915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574596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mlflow.set_experiment('/RAG/Production')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177027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hhem = HHEM.load('vectara/hallucination_evaluation_model')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96596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161641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D158"/>
                </a:solidFill>
                <a:latin typeface="Courier New"/>
              </a:rPr>
              <a:t>def tracked_rag_query(query, user_role):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357323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with mlflow.start_run():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553004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mlflow.log_param('query', query)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2748686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mlflow.log_param('user_role', user_role)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294436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140049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        # Stage 1: 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3335731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t0 = time.time()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53141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chunks = rbac_retrieve(query, user_role)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3727094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t_retrieve = time.time() - t0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3922776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500"/>
                </a:solidFill>
                <a:latin typeface="Courier New"/>
              </a:rPr>
              <a:t>        mlflow.log_metric('retrieve_ms', t_retrieve*1000)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118457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500"/>
                </a:solidFill>
                <a:latin typeface="Courier New"/>
              </a:rPr>
              <a:t>        mlflow.log_metric('num_chunks', len(chunks))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4314139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450982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        # Stage 2: 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470550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t1 = time.time()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4901184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answer = llm_generate(query, chunks)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5096865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t_generate = time.time() - t1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5292547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500"/>
                </a:solidFill>
                <a:latin typeface="Courier New"/>
              </a:rPr>
              <a:t>        mlflow.log_metric('generate_ms', t_generate*1000)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48822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568391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        # Stage 3: hallucination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587959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ctx = ' '.join(c['text'] for c in chunks)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6075273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score = hhem.predict([(ctx, answer)])[0]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6270955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ADE6"/>
                </a:solidFill>
                <a:latin typeface="Courier New"/>
              </a:rPr>
              <a:t>        mlflow.log_metric('hhem_score', score)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" y="6466636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ADE6"/>
                </a:solidFill>
                <a:latin typeface="Courier New"/>
              </a:rPr>
              <a:t>        mlflow.log_param('answer', answer[:200])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" y="666231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5AF2"/>
                </a:solidFill>
                <a:latin typeface="Courier New"/>
              </a:rPr>
              <a:t>        return answer, 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548640"/>
            <a:ext cx="27432" cy="612648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94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868B"/>
                </a:solidFill>
                <a:latin typeface="Courier New"/>
              </a:rPr>
              <a:t># 2. Production Monitoring Dashboard (Spark Streaming)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98755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from pyspark.sql.functions import avg, percentile_approx,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1183233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    col, window, 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1378915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157459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# Read query logs as streaming Delta 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177027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logs = spark.readStream.format('delta')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196596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500"/>
                </a:solidFill>
                <a:latin typeface="Courier New"/>
              </a:rPr>
              <a:t>    .table('rag_prod.query_logs')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161641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357323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# Compute rolling KPIs per 5-minute window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255300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metrics = logs.withWatermark('ts','10 minutes')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274868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.groupBy(window(col('ts'),'5 minutes'))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29443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.agg(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3140049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ADE6"/>
                </a:solidFill>
                <a:latin typeface="Courier New"/>
              </a:rPr>
              <a:t>        avg('retrieve_ms').alias('avg_retrieve_ms'),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335731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ADE6"/>
                </a:solidFill>
                <a:latin typeface="Courier New"/>
              </a:rPr>
              <a:t>        avg('generate_ms').alias('avg_generate_ms'),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53141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500"/>
                </a:solidFill>
                <a:latin typeface="Courier New"/>
              </a:rPr>
              <a:t>        percentile_approx('total_ms',0.95).alias('p95_ms'),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72709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500"/>
                </a:solidFill>
                <a:latin typeface="Courier New"/>
              </a:rPr>
              <a:t>        avg('hhem_score').alias('avg_hhem'),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392277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    count('*').alias('query_count')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118457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4314139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450982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# Write to Delta for Databricks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470550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metrics.writeStream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490118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.format('delta')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5096865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    .outputMode('append')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5292547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500"/>
                </a:solidFill>
                <a:latin typeface="Courier New"/>
              </a:rPr>
              <a:t>    .option('checkpointLocation','/dbfs/rag/ckpt')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548822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ADE6"/>
                </a:solidFill>
                <a:latin typeface="Courier New"/>
              </a:rPr>
              <a:t>    .table('rag_prod.live_metrics')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80" y="568391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5AF2"/>
                </a:solidFill>
                <a:latin typeface="Courier New"/>
              </a:rPr>
              <a:t>    .start()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587959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6075273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# Alert if P95 &gt; 6s or HHEM &lt; 0.75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6270955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  <a:latin typeface="Courier New"/>
              </a:rPr>
              <a:t># Use Databricks SQL Alerts on live_metrics table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61111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MLflow experiment tracking  |  Databricks Structured Streaming  |  live_metrics Delta table  |  SQL Alerts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8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169164"/>
            <a:ext cx="164592" cy="164592"/>
          </a:xfrm>
          <a:prstGeom prst="ellipse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" y="169164"/>
            <a:ext cx="164592" cy="164592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" y="169164"/>
            <a:ext cx="164592" cy="164592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  <a:latin typeface="Courier New"/>
              </a:rPr>
              <a:t>ab_upgrade.py  —  Safe Model Upgrade with A/B Testing + Rollback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73152"/>
            <a:ext cx="1463040" cy="347472"/>
          </a:xfrm>
          <a:prstGeom prst="round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61320" y="73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CODE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594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868B"/>
                </a:solidFill>
                <a:latin typeface="Courier New"/>
              </a:rPr>
              <a:t># A/B Testing for Safe Pipeline Upgrades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987552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import random, mlflow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20335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419148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TRAFFIC_SPLIT = 0.1  # 10% to candidate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634947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1850745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0D158"/>
                </a:solidFill>
                <a:latin typeface="Courier New"/>
              </a:rPr>
              <a:t>def ab_rag_query(query, user_role):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066543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use_candidate = random.random() &lt; TRAFFIC_SPLIT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282342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variant = 'candidate' if use_candidate else 'control'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49814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713939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with mlflow.start_run(tags={'variant': variant}):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2929737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if use_candidate: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3145536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            # New model under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36133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    chunks = candidate_retrieve(query,user_role)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3577132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2ADE6"/>
                </a:solidFill>
                <a:latin typeface="Courier New"/>
              </a:rPr>
              <a:t>            answer = candidate_llm(query, chunks)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792931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else: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4008729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86868B"/>
                </a:solidFill>
                <a:latin typeface="Courier New"/>
              </a:rPr>
              <a:t>            # Stable production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224528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    chunks = rbac_retrieve(query, user_role)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440326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    answer = prod_llm(query, chunks)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465612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4871923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ctx = ' '.join(c['text'] for c in chunks)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5087721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score = hhem.predict([(ctx, answer)])[0]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30352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mlflow.log_metrics({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5519318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    'hhem_score': score,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5735116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9500"/>
                </a:solidFill>
                <a:latin typeface="Courier New"/>
              </a:rPr>
              <a:t>            'variant': 1 if use_candidate else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950915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Courier New"/>
              </a:rPr>
              <a:t>        })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6166713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BF5AF2"/>
                </a:solidFill>
                <a:latin typeface="Courier New"/>
              </a:rPr>
              <a:t>        return answer, score, variant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"/>
            <a:ext cx="5623560" cy="603504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68580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Chapter 3 — Key Takeaways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1298448"/>
            <a:ext cx="5257800" cy="658368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1298448"/>
            <a:ext cx="54864" cy="6583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135331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Helvetica Neue"/>
              </a:rPr>
              <a:t>POC != Production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166420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3-5x cost overrun without planning;
define KPIs before building.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2075688"/>
            <a:ext cx="5257800" cy="658368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2075688"/>
            <a:ext cx="54864" cy="65836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13055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Helvetica Neue"/>
              </a:rPr>
              <a:t>Quality = 4 layers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24414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Data coverage, retrieval, LLM choice,
and prompt design all contribute.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2852928"/>
            <a:ext cx="5257800" cy="658368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5080" y="2852928"/>
            <a:ext cx="54864" cy="65836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290779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00"/>
                </a:solidFill>
                <a:latin typeface="Helvetica Neue"/>
              </a:rPr>
              <a:t>Latency is a product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32186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Stream responses; cache; parallelize;
set P95 target from day one.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3630168"/>
            <a:ext cx="5257800" cy="658368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55080" y="3630168"/>
            <a:ext cx="54864" cy="658368"/>
          </a:xfrm>
          <a:prstGeom prst="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3685031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ADE6"/>
                </a:solidFill>
                <a:latin typeface="Helvetica Neue"/>
              </a:rPr>
              <a:t>Security is non-negotiable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39959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RBAC filters, encryption, PII redaction,
and on-prem LLMs for sensitive data.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4407408"/>
            <a:ext cx="5257800" cy="658368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5080" y="4407408"/>
            <a:ext cx="54864" cy="65836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44622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D158"/>
                </a:solidFill>
                <a:latin typeface="Helvetica Neue"/>
              </a:rPr>
              <a:t>Build to upgrade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4773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Every change: plan, test, A/B deploy,
monitor — never big-bang swap.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5080" y="5184648"/>
            <a:ext cx="5257800" cy="658368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5080" y="5184648"/>
            <a:ext cx="54864" cy="658368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523951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5AF2"/>
                </a:solidFill>
                <a:latin typeface="Helvetica Neue"/>
              </a:rPr>
              <a:t>DIY vs Turn-key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5550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868B"/>
                </a:solidFill>
                <a:latin typeface="Helvetica Neue"/>
              </a:rPr>
              <a:t>Turn-key = lower TCO, faster time-to-value;
DIY = more control, more cost &amp; complexity.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6E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61111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MLflow A/B testing  |  HHEM scoring  |  traffic split  |  safe rollback  |  production RAG discipline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