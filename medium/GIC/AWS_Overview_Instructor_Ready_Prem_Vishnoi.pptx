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AWS Overview whitepaper, publication date June 2, 2026: https://docs.aws.amazon.com/whitepapers/latest/aws-overview/introduction.html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AWS Cloud Essentials: https://aws.amazon.com/getting-started/cloud-essentials/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AWS Cloud Essentials: https://aws.amazon.com/getting-started/cloud-essentials/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AWS Builder Center cloud service models, published January 28, 2026: https://builder.aws.com/content/38sYwauLLJfMHBLhZ6pGHeHOsM8/detailed-guide-to-cloud-service-models-iaas-paas-saas-and-beyond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AWS Overview whitepaper: https://docs.aws.amazon.com/whitepapers/latest/aws-overview/introduction.html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AWS Documentation landing page: https://docs.aws.amazon.com/
- AWS Overview whitepaper: https://docs.aws.amazon.com/whitepapers/latest/aws-overview/introduction.html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AWS Documentation landing page: https://docs.aws.amazon.com/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AWS Documentation landing page: https://docs.aws.amazon.com/
- AWS Overview whitepaper: https://docs.aws.amazon.com/whitepapers/latest/aws-overview/introduction.html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AWS Documentation landing page: https://docs.aws.amazon.com/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AWS Documentation landing page: https://docs.aws.amazon.com/
- AWS Overview whitepaper: https://docs.aws.amazon.com/whitepapers/latest/aws-overview/introduction.html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AWS Documentation landing page: https://docs.aws.amazon.com/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AWS Overview whitepaper: https://docs.aws.amazon.com/whitepapers/latest/aws-overview/introduction.html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Teaching architecture synthesized from the AWS service descriptions in the AWS Overview whitepaper: https://docs.aws.amazon.com/whitepapers/latest/aws-overview/introduction.html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Knowledge-check questions created for this presentation from cited AWS service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AWS Documentation landing page: https://docs.aws.amazon.com/
- AWS Builder Center cloud service models: https://builder.aws.com/content/38sYwauLLJfMHBLhZ6pGHeHOsM8/detailed-guide-to-cloud-service-models-iaas-paas-saas-and-beyond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AWS Cloud Essentials: https://aws.amazon.com/getting-started/cloud-essentials/
- AWS Overview whitepaper: https://docs.aws.amazon.com/whitepapers/latest/aws-overview/introduction.html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93A8"/>
                </a:solidFill>
              </a:rPr>
              <a:t>PREM VISHNOI | AWS FUNDAMENTALS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1375501922.jpe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>
              <a:alpha val="70000"/>
            </a:srgbClr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71426">
              <a:alpha val="95000"/>
            </a:srgbClr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1430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6F9FC"/>
                </a:solidFill>
              </a:rPr>
              <a:t>AN OVERVIEW</a:t>
            </a:r>
            <a:endParaRPr lang="en-US" sz="3800"/>
          </a:p>
          <a:p>
            <a:pPr marL="0" indent="0">
              <a:buNone/>
            </a:pPr>
            <a:r>
              <a:rPr lang="en-US" sz="3800" b="1">
                <a:solidFill>
                  <a:srgbClr val="F6F9FC"/>
                </a:solidFill>
              </a:rPr>
              <a:t>OF AWS</a:t>
            </a:r>
            <a:endParaRPr lang="en-US" sz="3800"/>
          </a:p>
        </p:txBody>
      </p:sp>
      <p:sp>
        <p:nvSpPr>
          <p:cNvPr id="6" name="Text 3"/>
          <p:cNvSpPr/>
          <p:nvPr/>
        </p:nvSpPr>
        <p:spPr>
          <a:xfrm>
            <a:off x="658368" y="28346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9900"/>
                </a:solidFill>
              </a:rPr>
              <a:t>Cloud fundamentals for compute, storage, databases, and networking</a:t>
            </a:r>
            <a:endParaRPr lang="en-US" sz="1800"/>
          </a:p>
        </p:txBody>
      </p:sp>
      <p:sp>
        <p:nvSpPr>
          <p:cNvPr id="7" name="Text 4"/>
          <p:cNvSpPr/>
          <p:nvPr/>
        </p:nvSpPr>
        <p:spPr>
          <a:xfrm>
            <a:off x="658368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AFC1D1"/>
                </a:solidFill>
              </a:rPr>
              <a:t>Instructor-ready teaching deck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658368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6F9FC"/>
                </a:solidFill>
              </a:rPr>
              <a:t>Prem Vishnoi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9900"/>
                </a:solidFill>
              </a:rPr>
              <a:t>01 | LEARNING OBJECTIVES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6F9FC"/>
                </a:solidFill>
              </a:rPr>
              <a:t>What learners should remember</a:t>
            </a:r>
            <a:endParaRPr lang="en-US" sz="270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9900"/>
                </a:solidFill>
              </a:rPr>
              <a:t>●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1024128" y="1737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6F9FC"/>
                </a:solidFill>
              </a:rPr>
              <a:t>Explain cloud computing using on-demand access and pay-as-you-go consumption.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2D6F4"/>
                </a:solidFill>
              </a:rPr>
              <a:t>●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024128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6F9FC"/>
                </a:solidFill>
              </a:rPr>
              <a:t>Differentiate IaaS, PaaS, SaaS, and serverless by management responsibility.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9900"/>
                </a:solidFill>
              </a:rPr>
              <a:t>●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024128" y="2926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6F9FC"/>
                </a:solidFill>
              </a:rPr>
              <a:t>Recognize major AWS compute, storage, database, and networking options.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2D6F4"/>
                </a:solidFill>
              </a:rPr>
              <a:t>●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024128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6F9FC"/>
                </a:solidFill>
              </a:rPr>
              <a:t>Select a reasonable starting service for a simple business scenario.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9900"/>
                </a:solidFill>
              </a:rPr>
              <a:t>●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024128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6F9FC"/>
                </a:solidFill>
              </a:rPr>
              <a:t>Avoid common beginner misconceptions about ECS, storage classes, and managed services.</a:t>
            </a: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9900"/>
                </a:solidFill>
              </a:rPr>
              <a:t>02 | CLOUD BASICS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6F9FC"/>
                </a:solidFill>
              </a:rPr>
              <a:t>Why organizations use cloud</a:t>
            </a:r>
            <a:endParaRPr lang="en-US" sz="2700"/>
          </a:p>
        </p:txBody>
      </p:sp>
      <p:pic>
        <p:nvPicPr>
          <p:cNvPr id="4" name="Image 0" descr="/mnt/data/7a1e3690b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04060"/>
            <a:ext cx="5577840" cy="3718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1737360"/>
            <a:ext cx="49834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01968" y="1901952"/>
            <a:ext cx="50292" cy="768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75704" y="19202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On demand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6775704" y="2304288"/>
            <a:ext cx="45079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Provision IT resources when needed rather than procuring hardware in advance.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6446520" y="3063240"/>
            <a:ext cx="49834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01968" y="3227832"/>
            <a:ext cx="50292" cy="76809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75704" y="32461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Elastic</a:t>
            </a:r>
            <a:endParaRPr lang="en-US" sz="1500"/>
          </a:p>
        </p:txBody>
      </p:sp>
      <p:sp>
        <p:nvSpPr>
          <p:cNvPr id="12" name="Text 9"/>
          <p:cNvSpPr/>
          <p:nvPr/>
        </p:nvSpPr>
        <p:spPr>
          <a:xfrm>
            <a:off x="6775704" y="3630168"/>
            <a:ext cx="45079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Scale capacity up or down as workload demand changes.</a:t>
            </a:r>
            <a:endParaRPr lang="en-US" sz="1150"/>
          </a:p>
        </p:txBody>
      </p:sp>
      <p:sp>
        <p:nvSpPr>
          <p:cNvPr id="13" name="Shape 10"/>
          <p:cNvSpPr/>
          <p:nvPr/>
        </p:nvSpPr>
        <p:spPr>
          <a:xfrm>
            <a:off x="6446520" y="4389120"/>
            <a:ext cx="49834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01968" y="4553712"/>
            <a:ext cx="50292" cy="76809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75704" y="45720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Pay as you go</a:t>
            </a:r>
            <a:endParaRPr lang="en-US" sz="1500"/>
          </a:p>
        </p:txBody>
      </p:sp>
      <p:sp>
        <p:nvSpPr>
          <p:cNvPr id="16" name="Text 13"/>
          <p:cNvSpPr/>
          <p:nvPr/>
        </p:nvSpPr>
        <p:spPr>
          <a:xfrm>
            <a:off x="6775704" y="4956048"/>
            <a:ext cx="45079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Consume services with variable usage-based pricing rather than large upfront infrastructure expense.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9900"/>
                </a:solidFill>
              </a:rPr>
              <a:t>03 | SERVICE MODELS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6F9FC"/>
                </a:solidFill>
              </a:rPr>
              <a:t>IaaS vs. PaaS vs. SaaS</a:t>
            </a:r>
            <a:endParaRPr lang="en-US" sz="2700"/>
          </a:p>
        </p:txBody>
      </p:sp>
      <p:sp>
        <p:nvSpPr>
          <p:cNvPr id="4" name="Text 2"/>
          <p:cNvSpPr/>
          <p:nvPr/>
        </p:nvSpPr>
        <p:spPr>
          <a:xfrm>
            <a:off x="548640" y="12710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AFC1D1"/>
                </a:solidFill>
              </a:rPr>
              <a:t>The higher the abstraction, the more operational responsibility shifts to the provider.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520440" cy="33375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47672"/>
            <a:ext cx="50292" cy="30083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IaaS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923544" y="2350008"/>
            <a:ext cx="3044952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Provider: facilities, hardware, virtualization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Customer: OS, runtime, apps, data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Example starting point: EC2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520440" cy="33375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0288" y="1947672"/>
            <a:ext cx="50292" cy="300837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64024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PaaS / managed platform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4764024" y="2350008"/>
            <a:ext cx="3044952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Provider manages more of the runtime or data platform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Customer focuses on configuration, code, and data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Examples: RDS, Elastic Beanstalk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8275320" y="1783080"/>
            <a:ext cx="3520440" cy="33375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30768" y="1947672"/>
            <a:ext cx="50292" cy="300837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04504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SaaS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8604504" y="2350008"/>
            <a:ext cx="3044952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Provider delivers the finished application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Customer manages users, settings, and data usage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Example concept: business application subscription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9900"/>
                </a:solidFill>
              </a:rPr>
              <a:t>Teaching cue: ask “Who patches the operating system?” to reveal the service model.</a:t>
            </a:r>
            <a:endParaRPr lang="en-US" sz="17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9900"/>
                </a:solidFill>
              </a:rPr>
              <a:t>04 | AWS MAP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6F9FC"/>
                </a:solidFill>
              </a:rPr>
              <a:t>Four foundational service families</a:t>
            </a:r>
            <a:endParaRPr lang="en-US" sz="2700"/>
          </a:p>
        </p:txBody>
      </p:sp>
      <p:pic>
        <p:nvPicPr>
          <p:cNvPr id="4" name="Image 0" descr="/mnt/data/b76f35fe4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12620"/>
            <a:ext cx="5852160" cy="3901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20840" y="1691640"/>
            <a:ext cx="2240280" cy="15087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76288" y="1856232"/>
            <a:ext cx="50292" cy="1179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50024" y="1874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Compute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7050024" y="2258568"/>
            <a:ext cx="176479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Run VMs, containers, functions, and batch jobs.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9189720" y="1691640"/>
            <a:ext cx="2240280" cy="15087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45168" y="1856232"/>
            <a:ext cx="50292" cy="117957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18904" y="1874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Storage</a:t>
            </a:r>
            <a:endParaRPr lang="en-US" sz="1500"/>
          </a:p>
        </p:txBody>
      </p:sp>
      <p:sp>
        <p:nvSpPr>
          <p:cNvPr id="12" name="Text 9"/>
          <p:cNvSpPr/>
          <p:nvPr/>
        </p:nvSpPr>
        <p:spPr>
          <a:xfrm>
            <a:off x="9518904" y="2258568"/>
            <a:ext cx="176479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Store objects, blocks, files, and archives.</a:t>
            </a:r>
            <a:endParaRPr lang="en-US" sz="1150"/>
          </a:p>
        </p:txBody>
      </p:sp>
      <p:sp>
        <p:nvSpPr>
          <p:cNvPr id="13" name="Shape 10"/>
          <p:cNvSpPr/>
          <p:nvPr/>
        </p:nvSpPr>
        <p:spPr>
          <a:xfrm>
            <a:off x="6720840" y="3520440"/>
            <a:ext cx="2240280" cy="15087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76288" y="3685032"/>
            <a:ext cx="50292" cy="117957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50024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Database</a:t>
            </a:r>
            <a:endParaRPr lang="en-US" sz="1500"/>
          </a:p>
        </p:txBody>
      </p:sp>
      <p:sp>
        <p:nvSpPr>
          <p:cNvPr id="16" name="Text 13"/>
          <p:cNvSpPr/>
          <p:nvPr/>
        </p:nvSpPr>
        <p:spPr>
          <a:xfrm>
            <a:off x="7050024" y="4087368"/>
            <a:ext cx="176479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Use relational, NoSQL, graph, cache, or warehouse engines.</a:t>
            </a:r>
            <a:endParaRPr lang="en-US" sz="1150"/>
          </a:p>
        </p:txBody>
      </p:sp>
      <p:sp>
        <p:nvSpPr>
          <p:cNvPr id="17" name="Shape 14"/>
          <p:cNvSpPr/>
          <p:nvPr/>
        </p:nvSpPr>
        <p:spPr>
          <a:xfrm>
            <a:off x="9189720" y="3520440"/>
            <a:ext cx="2240280" cy="15087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45168" y="3685032"/>
            <a:ext cx="50292" cy="117957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18904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Network</a:t>
            </a:r>
            <a:endParaRPr lang="en-US" sz="1500"/>
          </a:p>
        </p:txBody>
      </p:sp>
      <p:sp>
        <p:nvSpPr>
          <p:cNvPr id="20" name="Text 17"/>
          <p:cNvSpPr/>
          <p:nvPr/>
        </p:nvSpPr>
        <p:spPr>
          <a:xfrm>
            <a:off x="9518904" y="4087368"/>
            <a:ext cx="176479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Isolate, connect, route, balance, and deliver traffic.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9900"/>
                </a:solidFill>
              </a:rPr>
              <a:t>05 | COMPUTE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6F9FC"/>
                </a:solidFill>
              </a:rPr>
              <a:t>Choose the operating model before the instance type</a:t>
            </a:r>
            <a:endParaRPr lang="en-US" sz="2700"/>
          </a:p>
        </p:txBody>
      </p:sp>
      <p:pic>
        <p:nvPicPr>
          <p:cNvPr id="4" name="Image 0" descr="/mnt/data/15285e860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30908"/>
            <a:ext cx="5715000" cy="3810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1645920"/>
            <a:ext cx="2331720" cy="1234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01968" y="1810512"/>
            <a:ext cx="50292" cy="90525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75704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EC2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6775704" y="2212848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Resizable virtual servers. You manage the guest OS and application.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9006840" y="1645920"/>
            <a:ext cx="2331720" cy="1234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62288" y="1810512"/>
            <a:ext cx="50292" cy="90525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36024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Lightsail</a:t>
            </a:r>
            <a:endParaRPr lang="en-US" sz="1500"/>
          </a:p>
        </p:txBody>
      </p:sp>
      <p:sp>
        <p:nvSpPr>
          <p:cNvPr id="12" name="Text 9"/>
          <p:cNvSpPr/>
          <p:nvPr/>
        </p:nvSpPr>
        <p:spPr>
          <a:xfrm>
            <a:off x="9336024" y="2212848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Simplified virtual servers and packaged resources for straightforward workloads.</a:t>
            </a:r>
            <a:endParaRPr lang="en-US" sz="1150"/>
          </a:p>
        </p:txBody>
      </p:sp>
      <p:sp>
        <p:nvSpPr>
          <p:cNvPr id="13" name="Shape 10"/>
          <p:cNvSpPr/>
          <p:nvPr/>
        </p:nvSpPr>
        <p:spPr>
          <a:xfrm>
            <a:off x="6446520" y="3090672"/>
            <a:ext cx="2331720" cy="1234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01968" y="3255264"/>
            <a:ext cx="50292" cy="90525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75704" y="32735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ECS / EKS</a:t>
            </a:r>
            <a:endParaRPr lang="en-US" sz="1500"/>
          </a:p>
        </p:txBody>
      </p:sp>
      <p:sp>
        <p:nvSpPr>
          <p:cNvPr id="16" name="Text 13"/>
          <p:cNvSpPr/>
          <p:nvPr/>
        </p:nvSpPr>
        <p:spPr>
          <a:xfrm>
            <a:off x="6775704" y="3657600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ECS orchestrates containers. EKS is managed Kubernetes.</a:t>
            </a:r>
            <a:endParaRPr lang="en-US" sz="1150"/>
          </a:p>
        </p:txBody>
      </p:sp>
      <p:sp>
        <p:nvSpPr>
          <p:cNvPr id="17" name="Shape 14"/>
          <p:cNvSpPr/>
          <p:nvPr/>
        </p:nvSpPr>
        <p:spPr>
          <a:xfrm>
            <a:off x="9006840" y="3090672"/>
            <a:ext cx="2331720" cy="1234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62288" y="3255264"/>
            <a:ext cx="50292" cy="90525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36024" y="32735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Lambda</a:t>
            </a:r>
            <a:endParaRPr lang="en-US" sz="1500"/>
          </a:p>
        </p:txBody>
      </p:sp>
      <p:sp>
        <p:nvSpPr>
          <p:cNvPr id="20" name="Text 17"/>
          <p:cNvSpPr/>
          <p:nvPr/>
        </p:nvSpPr>
        <p:spPr>
          <a:xfrm>
            <a:off x="9336024" y="3657600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Run event-driven code without managing servers.</a:t>
            </a:r>
            <a:endParaRPr lang="en-US" sz="1150"/>
          </a:p>
        </p:txBody>
      </p:sp>
      <p:sp>
        <p:nvSpPr>
          <p:cNvPr id="21" name="Shape 18"/>
          <p:cNvSpPr/>
          <p:nvPr/>
        </p:nvSpPr>
        <p:spPr>
          <a:xfrm>
            <a:off x="7726680" y="4553712"/>
            <a:ext cx="2331720" cy="1234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882128" y="4718304"/>
            <a:ext cx="50292" cy="90525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55864" y="47365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AWS Batch</a:t>
            </a:r>
            <a:endParaRPr lang="en-US" sz="1500"/>
          </a:p>
        </p:txBody>
      </p:sp>
      <p:sp>
        <p:nvSpPr>
          <p:cNvPr id="24" name="Text 21"/>
          <p:cNvSpPr/>
          <p:nvPr/>
        </p:nvSpPr>
        <p:spPr>
          <a:xfrm>
            <a:off x="8055864" y="5120640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Schedules batch jobs and provisions suitable compute capacity.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9900"/>
                </a:solidFill>
              </a:rPr>
              <a:t>06 | COMPUTE DECISION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6F9FC"/>
                </a:solidFill>
              </a:rPr>
              <a:t>Use the simplest model that meets control requirements</a:t>
            </a:r>
            <a:endParaRPr lang="en-US" sz="270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52120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" y="1810512"/>
            <a:ext cx="50292" cy="768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Need full OS control?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987552" y="2212848"/>
            <a:ext cx="4736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EC2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6236208" y="1645920"/>
            <a:ext cx="52120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1656" y="1810512"/>
            <a:ext cx="50292" cy="76809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Need a simple VPS bundle?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6565392" y="2212848"/>
            <a:ext cx="4736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Lightsail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658368" y="3063240"/>
            <a:ext cx="52120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" y="3227832"/>
            <a:ext cx="50292" cy="768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Docker containers?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987552" y="3630168"/>
            <a:ext cx="4736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ECS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6236208" y="3063240"/>
            <a:ext cx="52120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1656" y="3227832"/>
            <a:ext cx="50292" cy="76809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Kubernetes APIs and ecosystem?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565392" y="3630168"/>
            <a:ext cx="4736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EKS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658368" y="4480560"/>
            <a:ext cx="52120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" y="4645152"/>
            <a:ext cx="50292" cy="768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663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Short event-driven function?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987552" y="5047488"/>
            <a:ext cx="4736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Lambda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6236208" y="4480560"/>
            <a:ext cx="52120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1656" y="4645152"/>
            <a:ext cx="50292" cy="76809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4663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Queued batch workload?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6565392" y="5047488"/>
            <a:ext cx="4736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AWS Batch</a:t>
            </a:r>
            <a:endParaRPr lang="en-US" sz="115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9900"/>
                </a:solidFill>
              </a:rPr>
              <a:t>07 | STORAGE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6F9FC"/>
                </a:solidFill>
              </a:rPr>
              <a:t>Object, block, file, archive, hybrid, and transfer</a:t>
            </a:r>
            <a:endParaRPr lang="en-US" sz="2700"/>
          </a:p>
        </p:txBody>
      </p:sp>
      <p:pic>
        <p:nvPicPr>
          <p:cNvPr id="4" name="Image 0" descr="/mnt/data/a67523aadc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8340"/>
            <a:ext cx="5715000" cy="3810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627632"/>
            <a:ext cx="2331720" cy="1234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56248" y="1792224"/>
            <a:ext cx="50292" cy="90525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29984" y="18105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S3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6729984" y="2194560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Object storage for data lakes, backups, applications, and static assets.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8961120" y="1627632"/>
            <a:ext cx="2331720" cy="1234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16568" y="1792224"/>
            <a:ext cx="50292" cy="90525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90304" y="18105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EBS</a:t>
            </a:r>
            <a:endParaRPr lang="en-US" sz="1500"/>
          </a:p>
        </p:txBody>
      </p:sp>
      <p:sp>
        <p:nvSpPr>
          <p:cNvPr id="12" name="Text 9"/>
          <p:cNvSpPr/>
          <p:nvPr/>
        </p:nvSpPr>
        <p:spPr>
          <a:xfrm>
            <a:off x="9290304" y="2194560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Block volumes commonly attached to EC2 instances.</a:t>
            </a:r>
            <a:endParaRPr lang="en-US" sz="1150"/>
          </a:p>
        </p:txBody>
      </p:sp>
      <p:sp>
        <p:nvSpPr>
          <p:cNvPr id="13" name="Shape 10"/>
          <p:cNvSpPr/>
          <p:nvPr/>
        </p:nvSpPr>
        <p:spPr>
          <a:xfrm>
            <a:off x="6400800" y="3090672"/>
            <a:ext cx="2331720" cy="1234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56248" y="3255264"/>
            <a:ext cx="50292" cy="90525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9984" y="32735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EFS</a:t>
            </a:r>
            <a:endParaRPr lang="en-US" sz="1500"/>
          </a:p>
        </p:txBody>
      </p:sp>
      <p:sp>
        <p:nvSpPr>
          <p:cNvPr id="16" name="Text 13"/>
          <p:cNvSpPr/>
          <p:nvPr/>
        </p:nvSpPr>
        <p:spPr>
          <a:xfrm>
            <a:off x="6729984" y="3657600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Managed shared file storage that can be mounted by multiple clients.</a:t>
            </a:r>
            <a:endParaRPr lang="en-US" sz="1150"/>
          </a:p>
        </p:txBody>
      </p:sp>
      <p:sp>
        <p:nvSpPr>
          <p:cNvPr id="17" name="Shape 14"/>
          <p:cNvSpPr/>
          <p:nvPr/>
        </p:nvSpPr>
        <p:spPr>
          <a:xfrm>
            <a:off x="8961120" y="3090672"/>
            <a:ext cx="2331720" cy="1234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16568" y="3255264"/>
            <a:ext cx="50292" cy="90525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90304" y="32735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S3 Glacier classes</a:t>
            </a:r>
            <a:endParaRPr lang="en-US" sz="1500"/>
          </a:p>
        </p:txBody>
      </p:sp>
      <p:sp>
        <p:nvSpPr>
          <p:cNvPr id="20" name="Text 17"/>
          <p:cNvSpPr/>
          <p:nvPr/>
        </p:nvSpPr>
        <p:spPr>
          <a:xfrm>
            <a:off x="9290304" y="3657600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Archive-oriented S3 storage classes with different access and retrieval characteristics.</a:t>
            </a:r>
            <a:endParaRPr lang="en-US" sz="1150"/>
          </a:p>
        </p:txBody>
      </p:sp>
      <p:sp>
        <p:nvSpPr>
          <p:cNvPr id="21" name="Shape 18"/>
          <p:cNvSpPr/>
          <p:nvPr/>
        </p:nvSpPr>
        <p:spPr>
          <a:xfrm>
            <a:off x="6400800" y="4553712"/>
            <a:ext cx="2331720" cy="1234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56248" y="4718304"/>
            <a:ext cx="50292" cy="90525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29984" y="47365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Storage Gateway</a:t>
            </a:r>
            <a:endParaRPr lang="en-US" sz="1500"/>
          </a:p>
        </p:txBody>
      </p:sp>
      <p:sp>
        <p:nvSpPr>
          <p:cNvPr id="24" name="Text 21"/>
          <p:cNvSpPr/>
          <p:nvPr/>
        </p:nvSpPr>
        <p:spPr>
          <a:xfrm>
            <a:off x="6729984" y="5120640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Hybrid access connecting on-premises environments with AWS storage.</a:t>
            </a:r>
            <a:endParaRPr lang="en-US" sz="1150"/>
          </a:p>
        </p:txBody>
      </p:sp>
      <p:sp>
        <p:nvSpPr>
          <p:cNvPr id="25" name="Shape 22"/>
          <p:cNvSpPr/>
          <p:nvPr/>
        </p:nvSpPr>
        <p:spPr>
          <a:xfrm>
            <a:off x="8961120" y="4553712"/>
            <a:ext cx="2331720" cy="1234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16568" y="4718304"/>
            <a:ext cx="50292" cy="90525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90304" y="47365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Snow Family</a:t>
            </a:r>
            <a:endParaRPr lang="en-US" sz="1500"/>
          </a:p>
        </p:txBody>
      </p:sp>
      <p:sp>
        <p:nvSpPr>
          <p:cNvPr id="28" name="Text 25"/>
          <p:cNvSpPr/>
          <p:nvPr/>
        </p:nvSpPr>
        <p:spPr>
          <a:xfrm>
            <a:off x="9290304" y="5120640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Physical devices and edge capabilities for data transfer and selected edge workloads.</a:t>
            </a:r>
            <a:endParaRPr lang="en-US" sz="115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9900"/>
                </a:solidFill>
              </a:rPr>
              <a:t>08 | STORAGE MEMORY AID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6F9FC"/>
                </a:solidFill>
              </a:rPr>
              <a:t>Match the access pattern</a:t>
            </a:r>
            <a:endParaRPr lang="en-US" sz="270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9900"/>
                </a:solidFill>
              </a:rPr>
              <a:t>●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1024128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F6F9FC"/>
                </a:solidFill>
              </a:rPr>
              <a:t>Object: “Give me an object by key” → Amazon S3.</a:t>
            </a:r>
            <a:endParaRPr lang="en-US" sz="1450"/>
          </a:p>
        </p:txBody>
      </p:sp>
      <p:sp>
        <p:nvSpPr>
          <p:cNvPr id="6" name="Text 4"/>
          <p:cNvSpPr/>
          <p:nvPr/>
        </p:nvSpPr>
        <p:spPr>
          <a:xfrm>
            <a:off x="731520" y="231343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2D6F4"/>
                </a:solidFill>
              </a:rPr>
              <a:t>●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024128" y="2313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F6F9FC"/>
                </a:solidFill>
              </a:rPr>
              <a:t>Block: “Give my server a disk” → Amazon EBS.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731520" y="29352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9900"/>
                </a:solidFill>
              </a:rPr>
              <a:t>●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024128" y="29352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F6F9FC"/>
                </a:solidFill>
              </a:rPr>
              <a:t>File: “Share folders using a file-system interface” → Amazon EFS.</a:t>
            </a:r>
            <a:endParaRPr lang="en-US" sz="1450"/>
          </a:p>
        </p:txBody>
      </p:sp>
      <p:sp>
        <p:nvSpPr>
          <p:cNvPr id="10" name="Text 8"/>
          <p:cNvSpPr/>
          <p:nvPr/>
        </p:nvSpPr>
        <p:spPr>
          <a:xfrm>
            <a:off x="731520" y="355701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2D6F4"/>
                </a:solidFill>
              </a:rPr>
              <a:t>●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024128" y="355701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F6F9FC"/>
                </a:solidFill>
              </a:rPr>
              <a:t>Archive: “Retain infrequently accessed data at lower storage cost” → S3 Glacier storage classes.</a:t>
            </a:r>
            <a:endParaRPr lang="en-US" sz="1450"/>
          </a:p>
        </p:txBody>
      </p:sp>
      <p:sp>
        <p:nvSpPr>
          <p:cNvPr id="12" name="Text 10"/>
          <p:cNvSpPr/>
          <p:nvPr/>
        </p:nvSpPr>
        <p:spPr>
          <a:xfrm>
            <a:off x="731520" y="41788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9900"/>
                </a:solidFill>
              </a:rPr>
              <a:t>●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024128" y="4178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F6F9FC"/>
                </a:solidFill>
              </a:rPr>
              <a:t>Hybrid: “Connect local applications to cloud storage” → AWS Storage Gateway.</a:t>
            </a:r>
            <a:endParaRPr lang="en-US" sz="145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2D6F4"/>
                </a:solidFill>
              </a:rPr>
              <a:t>●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1024128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F6F9FC"/>
                </a:solidFill>
              </a:rPr>
              <a:t>Offline transfer: “Move very large datasets with appliances” → AWS Snow Family.</a:t>
            </a:r>
            <a:endParaRPr lang="en-US" sz="14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9900"/>
                </a:solidFill>
              </a:rPr>
              <a:t>09 | DATABASES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6F9FC"/>
                </a:solidFill>
              </a:rPr>
              <a:t>Choose by data model and access pattern</a:t>
            </a:r>
            <a:endParaRPr lang="en-US" sz="2700"/>
          </a:p>
        </p:txBody>
      </p:sp>
      <p:pic>
        <p:nvPicPr>
          <p:cNvPr id="4" name="Image 0" descr="/mnt/data/4d91dca70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9384"/>
            <a:ext cx="576072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1627632"/>
            <a:ext cx="233172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01968" y="1792224"/>
            <a:ext cx="50292" cy="8138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75704" y="18105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RDS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6775704" y="2194560"/>
            <a:ext cx="18562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Managed relational engines including MySQL, PostgreSQL, MariaDB, Oracle, and SQL Server.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9006840" y="1627632"/>
            <a:ext cx="233172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62288" y="1792224"/>
            <a:ext cx="50292" cy="8138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36024" y="18105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Aurora</a:t>
            </a:r>
            <a:endParaRPr lang="en-US" sz="1500"/>
          </a:p>
        </p:txBody>
      </p:sp>
      <p:sp>
        <p:nvSpPr>
          <p:cNvPr id="12" name="Text 9"/>
          <p:cNvSpPr/>
          <p:nvPr/>
        </p:nvSpPr>
        <p:spPr>
          <a:xfrm>
            <a:off x="9336024" y="2194560"/>
            <a:ext cx="18562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AWS relational engine compatible with MySQL and PostgreSQL.</a:t>
            </a:r>
            <a:endParaRPr lang="en-US" sz="1150"/>
          </a:p>
        </p:txBody>
      </p:sp>
      <p:sp>
        <p:nvSpPr>
          <p:cNvPr id="13" name="Shape 10"/>
          <p:cNvSpPr/>
          <p:nvPr/>
        </p:nvSpPr>
        <p:spPr>
          <a:xfrm>
            <a:off x="6446520" y="2990088"/>
            <a:ext cx="233172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01968" y="3154680"/>
            <a:ext cx="50292" cy="81381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75704" y="31729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DynamoDB</a:t>
            </a:r>
            <a:endParaRPr lang="en-US" sz="1500"/>
          </a:p>
        </p:txBody>
      </p:sp>
      <p:sp>
        <p:nvSpPr>
          <p:cNvPr id="16" name="Text 13"/>
          <p:cNvSpPr/>
          <p:nvPr/>
        </p:nvSpPr>
        <p:spPr>
          <a:xfrm>
            <a:off x="6775704" y="3557016"/>
            <a:ext cx="18562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Managed NoSQL database designed for key-value and document workloads.</a:t>
            </a:r>
            <a:endParaRPr lang="en-US" sz="1150"/>
          </a:p>
        </p:txBody>
      </p:sp>
      <p:sp>
        <p:nvSpPr>
          <p:cNvPr id="17" name="Shape 14"/>
          <p:cNvSpPr/>
          <p:nvPr/>
        </p:nvSpPr>
        <p:spPr>
          <a:xfrm>
            <a:off x="9006840" y="2990088"/>
            <a:ext cx="233172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62288" y="3154680"/>
            <a:ext cx="50292" cy="81381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36024" y="31729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Neptune</a:t>
            </a:r>
            <a:endParaRPr lang="en-US" sz="1500"/>
          </a:p>
        </p:txBody>
      </p:sp>
      <p:sp>
        <p:nvSpPr>
          <p:cNvPr id="20" name="Text 17"/>
          <p:cNvSpPr/>
          <p:nvPr/>
        </p:nvSpPr>
        <p:spPr>
          <a:xfrm>
            <a:off x="9336024" y="3557016"/>
            <a:ext cx="18562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Managed graph database for relationship-centric queries.</a:t>
            </a:r>
            <a:endParaRPr lang="en-US" sz="1150"/>
          </a:p>
        </p:txBody>
      </p:sp>
      <p:sp>
        <p:nvSpPr>
          <p:cNvPr id="21" name="Shape 18"/>
          <p:cNvSpPr/>
          <p:nvPr/>
        </p:nvSpPr>
        <p:spPr>
          <a:xfrm>
            <a:off x="6446520" y="4352544"/>
            <a:ext cx="233172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01968" y="4517136"/>
            <a:ext cx="50292" cy="8138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75704" y="45354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ElastiCache</a:t>
            </a:r>
            <a:endParaRPr lang="en-US" sz="1500"/>
          </a:p>
        </p:txBody>
      </p:sp>
      <p:sp>
        <p:nvSpPr>
          <p:cNvPr id="24" name="Text 21"/>
          <p:cNvSpPr/>
          <p:nvPr/>
        </p:nvSpPr>
        <p:spPr>
          <a:xfrm>
            <a:off x="6775704" y="4919472"/>
            <a:ext cx="18562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Managed in-memory caching compatible with supported cache engines.</a:t>
            </a:r>
            <a:endParaRPr lang="en-US" sz="1150"/>
          </a:p>
        </p:txBody>
      </p:sp>
      <p:sp>
        <p:nvSpPr>
          <p:cNvPr id="25" name="Shape 22"/>
          <p:cNvSpPr/>
          <p:nvPr/>
        </p:nvSpPr>
        <p:spPr>
          <a:xfrm>
            <a:off x="9006840" y="4352544"/>
            <a:ext cx="233172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62288" y="4517136"/>
            <a:ext cx="50292" cy="8138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36024" y="45354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Redshift</a:t>
            </a:r>
            <a:endParaRPr lang="en-US" sz="1500"/>
          </a:p>
        </p:txBody>
      </p:sp>
      <p:sp>
        <p:nvSpPr>
          <p:cNvPr id="28" name="Text 25"/>
          <p:cNvSpPr/>
          <p:nvPr/>
        </p:nvSpPr>
        <p:spPr>
          <a:xfrm>
            <a:off x="9336024" y="4919472"/>
            <a:ext cx="18562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Managed cloud data warehouse for analytics.</a:t>
            </a:r>
            <a:endParaRPr lang="en-US" sz="115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9900"/>
                </a:solidFill>
              </a:rPr>
              <a:t>10 | DATABASE DECISION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6F9FC"/>
                </a:solidFill>
              </a:rPr>
              <a:t>Start with the question, not the product</a:t>
            </a:r>
            <a:endParaRPr lang="en-US" sz="270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9900"/>
                </a:solidFill>
              </a:rPr>
              <a:t>●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1024128" y="1737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6F9FC"/>
                </a:solidFill>
              </a:rPr>
              <a:t>Transactions, joins, and familiar SQL engines → RDS or Aurora.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2D6F4"/>
                </a:solidFill>
              </a:rPr>
              <a:t>●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024128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6F9FC"/>
                </a:solidFill>
              </a:rPr>
              <a:t>Massive key-value or document access at managed scale → DynamoDB.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9900"/>
                </a:solidFill>
              </a:rPr>
              <a:t>●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024128" y="2926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6F9FC"/>
                </a:solidFill>
              </a:rPr>
              <a:t>Relationship traversal such as recommendations or fraud networks → Neptune.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2D6F4"/>
                </a:solidFill>
              </a:rPr>
              <a:t>●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024128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6F9FC"/>
                </a:solidFill>
              </a:rPr>
              <a:t>Low-latency cache to reduce pressure on a primary database → ElastiCache.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9900"/>
                </a:solidFill>
              </a:rPr>
              <a:t>●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024128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6F9FC"/>
                </a:solidFill>
              </a:rPr>
              <a:t>Large-scale analytical SQL and warehousing → Redshift.</a:t>
            </a: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9900"/>
                </a:solidFill>
              </a:rPr>
              <a:t>11 | NETWORKING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6F9FC"/>
                </a:solidFill>
              </a:rPr>
              <a:t>Build isolation, connectivity, routing, and delivery</a:t>
            </a:r>
            <a:endParaRPr lang="en-US" sz="2700"/>
          </a:p>
        </p:txBody>
      </p:sp>
      <p:pic>
        <p:nvPicPr>
          <p:cNvPr id="4" name="Image 0" descr="/mnt/data/9d533bbc3c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9760"/>
            <a:ext cx="5852160" cy="3901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1600200"/>
            <a:ext cx="2331720" cy="118872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01968" y="1764792"/>
            <a:ext cx="50292" cy="85953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75704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VPC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6775704" y="2167128"/>
            <a:ext cx="18562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Logically isolated network with subnets, routes, and security controls.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9006840" y="1600200"/>
            <a:ext cx="2331720" cy="118872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62288" y="1764792"/>
            <a:ext cx="50292" cy="85953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36024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Elastic Load Balancing</a:t>
            </a:r>
            <a:endParaRPr lang="en-US" sz="1500"/>
          </a:p>
        </p:txBody>
      </p:sp>
      <p:sp>
        <p:nvSpPr>
          <p:cNvPr id="12" name="Text 9"/>
          <p:cNvSpPr/>
          <p:nvPr/>
        </p:nvSpPr>
        <p:spPr>
          <a:xfrm>
            <a:off x="9336024" y="2167128"/>
            <a:ext cx="18562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Distributes incoming traffic across multiple targets.</a:t>
            </a:r>
            <a:endParaRPr lang="en-US" sz="1150"/>
          </a:p>
        </p:txBody>
      </p:sp>
      <p:sp>
        <p:nvSpPr>
          <p:cNvPr id="13" name="Shape 10"/>
          <p:cNvSpPr/>
          <p:nvPr/>
        </p:nvSpPr>
        <p:spPr>
          <a:xfrm>
            <a:off x="6446520" y="3017520"/>
            <a:ext cx="2331720" cy="118872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01968" y="3182112"/>
            <a:ext cx="50292" cy="85953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75704" y="3200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Route 53</a:t>
            </a:r>
            <a:endParaRPr lang="en-US" sz="1500"/>
          </a:p>
        </p:txBody>
      </p:sp>
      <p:sp>
        <p:nvSpPr>
          <p:cNvPr id="16" name="Text 13"/>
          <p:cNvSpPr/>
          <p:nvPr/>
        </p:nvSpPr>
        <p:spPr>
          <a:xfrm>
            <a:off x="6775704" y="3584448"/>
            <a:ext cx="18562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DNS and traffic-routing service.</a:t>
            </a:r>
            <a:endParaRPr lang="en-US" sz="1150"/>
          </a:p>
        </p:txBody>
      </p:sp>
      <p:sp>
        <p:nvSpPr>
          <p:cNvPr id="17" name="Shape 14"/>
          <p:cNvSpPr/>
          <p:nvPr/>
        </p:nvSpPr>
        <p:spPr>
          <a:xfrm>
            <a:off x="9006840" y="3017520"/>
            <a:ext cx="2331720" cy="118872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62288" y="3182112"/>
            <a:ext cx="50292" cy="85953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36024" y="3200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CloudFront</a:t>
            </a:r>
            <a:endParaRPr lang="en-US" sz="1500"/>
          </a:p>
        </p:txBody>
      </p:sp>
      <p:sp>
        <p:nvSpPr>
          <p:cNvPr id="20" name="Text 17"/>
          <p:cNvSpPr/>
          <p:nvPr/>
        </p:nvSpPr>
        <p:spPr>
          <a:xfrm>
            <a:off x="9336024" y="3584448"/>
            <a:ext cx="18562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Content delivery through distributed edge locations.</a:t>
            </a:r>
            <a:endParaRPr lang="en-US" sz="1150"/>
          </a:p>
        </p:txBody>
      </p:sp>
      <p:sp>
        <p:nvSpPr>
          <p:cNvPr id="21" name="Shape 18"/>
          <p:cNvSpPr/>
          <p:nvPr/>
        </p:nvSpPr>
        <p:spPr>
          <a:xfrm>
            <a:off x="7726680" y="4462272"/>
            <a:ext cx="2331720" cy="118872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882128" y="4626864"/>
            <a:ext cx="50292" cy="85953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55864" y="4645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Direct Connect</a:t>
            </a:r>
            <a:endParaRPr lang="en-US" sz="1500"/>
          </a:p>
        </p:txBody>
      </p:sp>
      <p:sp>
        <p:nvSpPr>
          <p:cNvPr id="24" name="Text 21"/>
          <p:cNvSpPr/>
          <p:nvPr/>
        </p:nvSpPr>
        <p:spPr>
          <a:xfrm>
            <a:off x="8055864" y="5029200"/>
            <a:ext cx="18562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Dedicated network connection between an environment and AWS.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9900"/>
                </a:solidFill>
              </a:rPr>
              <a:t>12 | PUT IT TOGETHER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6F9FC"/>
                </a:solidFill>
              </a:rPr>
              <a:t>A simple three-tier web application</a:t>
            </a:r>
            <a:endParaRPr lang="en-US" sz="270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828800" cy="187452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039112"/>
            <a:ext cx="50292" cy="154533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Route 53 + CloudFront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969264" y="2441448"/>
            <a:ext cx="135331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Resolve and accelerate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2487168" y="256032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9900"/>
                </a:solidFill>
              </a:rPr>
              <a:t>→</a:t>
            </a:r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2971800" y="1874520"/>
            <a:ext cx="1828800" cy="187452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27248" y="2039112"/>
            <a:ext cx="50292" cy="154533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Load Balancer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3300984" y="2441448"/>
            <a:ext cx="135331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Distribute requests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818888" y="256032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9900"/>
                </a:solidFill>
              </a:rPr>
              <a:t>→</a:t>
            </a:r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5303520" y="1874520"/>
            <a:ext cx="1828800" cy="187452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58968" y="2039112"/>
            <a:ext cx="50292" cy="154533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32704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EC2 / ECS / Lambda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5632704" y="2441448"/>
            <a:ext cx="135331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Run application logic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7150608" y="256032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9900"/>
                </a:solidFill>
              </a:rPr>
              <a:t>→</a:t>
            </a:r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7635240" y="1874520"/>
            <a:ext cx="1828800" cy="187452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90688" y="2039112"/>
            <a:ext cx="50292" cy="154533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64424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RDS / DynamoDB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7964424" y="2441448"/>
            <a:ext cx="135331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Persist operational data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9482328" y="256032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9900"/>
                </a:solidFill>
              </a:rPr>
              <a:t>→</a:t>
            </a:r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9966960" y="1874520"/>
            <a:ext cx="1828800" cy="187452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22408" y="2039112"/>
            <a:ext cx="50292" cy="154533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96144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S3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10296144" y="2441448"/>
            <a:ext cx="135331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Store objects and assets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777240" y="48006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6F9FC"/>
                </a:solidFill>
              </a:rPr>
              <a:t>Instructor prompt: Which component changes if traffic becomes unpredictable? Which component changes if relational joins are unnecessary?</a:t>
            </a:r>
            <a:endParaRPr lang="en-US" sz="180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9900"/>
                </a:solidFill>
              </a:rPr>
              <a:t>13 | KNOWLEDGE CHECK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6F9FC"/>
                </a:solidFill>
              </a:rPr>
              <a:t>Can the learner choose the service?</a:t>
            </a:r>
            <a:endParaRPr lang="en-US" sz="270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5230368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" y="1764792"/>
            <a:ext cx="50292" cy="8412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83080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Q1  You need full control of a Linux guest OS.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987552" y="2167128"/>
            <a:ext cx="4754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Answer: EC2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6236208" y="1600200"/>
            <a:ext cx="5230368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1656" y="1764792"/>
            <a:ext cx="50292" cy="84124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783080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Q2  Several servers need a shared file system.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6565392" y="2167128"/>
            <a:ext cx="4754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Answer: EFS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658368" y="3081528"/>
            <a:ext cx="5230368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" y="3246120"/>
            <a:ext cx="50292" cy="8412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264408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Q3  Code should run when a file arrives.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987552" y="3648456"/>
            <a:ext cx="4754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Answer: Lambda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6236208" y="3081528"/>
            <a:ext cx="5230368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1656" y="3246120"/>
            <a:ext cx="50292" cy="84124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3264408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Q4  You need managed MySQL-compatible relational storage.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565392" y="3648456"/>
            <a:ext cx="4754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Answer: RDS or Aurora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658368" y="4562856"/>
            <a:ext cx="5230368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" y="4727448"/>
            <a:ext cx="50292" cy="8412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74573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Q5  You need DNS-based routing.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987552" y="5129784"/>
            <a:ext cx="4754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Answer: Route 53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6236208" y="4562856"/>
            <a:ext cx="5230368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1656" y="4727448"/>
            <a:ext cx="50292" cy="84124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474573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Q6  You need Kubernetes compatibility.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6565392" y="5129784"/>
            <a:ext cx="4754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Answer: EKS</a:t>
            </a:r>
            <a:endParaRPr lang="en-US" sz="115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9900"/>
                </a:solidFill>
              </a:rPr>
              <a:t>14 | CORRECTIONS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6F9FC"/>
                </a:solidFill>
              </a:rPr>
              <a:t>Important updates to the source notes</a:t>
            </a:r>
            <a:endParaRPr lang="en-US" sz="270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9900"/>
                </a:solidFill>
              </a:rPr>
              <a:t>●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1024128" y="1737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6F9FC"/>
                </a:solidFill>
              </a:rPr>
              <a:t>ECS is a managed container orchestration service, not “managed Kubernetes.” Amazon EKS is the managed Kubernetes service.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2D6F4"/>
                </a:solidFill>
              </a:rPr>
              <a:t>●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024128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6F9FC"/>
                </a:solidFill>
              </a:rPr>
              <a:t>Use “Amazon EFS” or “Elastic File System,” not “Elastic file System.”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9900"/>
                </a:solidFill>
              </a:rPr>
              <a:t>●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024128" y="2926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6F9FC"/>
                </a:solidFill>
              </a:rPr>
              <a:t>Use “Amazon ElastiCache,” not “ElasticCache.”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2D6F4"/>
                </a:solidFill>
              </a:rPr>
              <a:t>●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024128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6F9FC"/>
                </a:solidFill>
              </a:rPr>
              <a:t>Use “AWS Snow Family” and “Snowball,” not “Snow Ball.”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9900"/>
                </a:solidFill>
              </a:rPr>
              <a:t>●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024128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6F9FC"/>
                </a:solidFill>
              </a:rPr>
              <a:t>Avoid fixed Glacier restore-time and price claims in teaching slides because retrieval options and pricing vary by storage class, Region, and date.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731520" y="47091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2D6F4"/>
                </a:solidFill>
              </a:rPr>
              <a:t>●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1024128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6F9FC"/>
                </a:solidFill>
              </a:rPr>
              <a:t>PaaS is best explained as a responsibility shift, not as a single rigid AWS product category.</a:t>
            </a: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9900"/>
                </a:solidFill>
              </a:rPr>
              <a:t>15 | RECAP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6F9FC"/>
                </a:solidFill>
              </a:rPr>
              <a:t>The five ideas to remember</a:t>
            </a:r>
            <a:endParaRPr lang="en-US" sz="270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2120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64792"/>
            <a:ext cx="50292" cy="768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1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014984" y="2167128"/>
            <a:ext cx="4736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Cloud delivers IT resources on demand.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2120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64792"/>
            <a:ext cx="50292" cy="76809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2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6592824" y="2167128"/>
            <a:ext cx="4736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Service models differ by who manages each layer.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685800" y="3017520"/>
            <a:ext cx="52120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182112"/>
            <a:ext cx="50292" cy="768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3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1014984" y="3584448"/>
            <a:ext cx="4736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Compute choice begins with VM, container, function, or batch.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6263640" y="3017520"/>
            <a:ext cx="52120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182112"/>
            <a:ext cx="50292" cy="76809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4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592824" y="3584448"/>
            <a:ext cx="4736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Storage and database choices begin with access pattern and data model.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685800" y="4434840"/>
            <a:ext cx="52120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599432"/>
            <a:ext cx="50292" cy="768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" y="4617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6F9FC"/>
                </a:solidFill>
              </a:rPr>
              <a:t>5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1014984" y="5001768"/>
            <a:ext cx="4736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FC1D1"/>
                </a:solidFill>
              </a:rPr>
              <a:t>Networking connects, isolates, routes, balances, and accelerates.</a:t>
            </a:r>
            <a:endParaRPr lang="en-US" sz="1150"/>
          </a:p>
        </p:txBody>
      </p:sp>
      <p:sp>
        <p:nvSpPr>
          <p:cNvPr id="24" name="Text 22"/>
          <p:cNvSpPr/>
          <p:nvPr/>
        </p:nvSpPr>
        <p:spPr>
          <a:xfrm>
            <a:off x="731520" y="58978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9900"/>
                </a:solidFill>
              </a:rPr>
              <a:t>Teach the decision process, not only the service names.</a:t>
            </a:r>
            <a:endParaRPr lang="en-US" sz="1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2a24df2-9dbc-4c60-8048-492eefd19d89}" enabled="1" method="Standard" siteId="{d9124c3a-c50c-4124-bca5-b6f850cec9f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Overview of AWS</dc:title>
  <dc:subject>Instructor-ready AWS fundamentals</dc:subject>
  <dc:creator>Prem Vishnoi</dc:creator>
  <cp:revision>2</cp:revision>
  <dcterms:created xsi:type="dcterms:W3CDTF">2026-09-08T09:47:29Z</dcterms:created>
  <dcterms:modified xsi:type="dcterms:W3CDTF">2026-09-08T10:23:35Z</dcterms:modified>
</cp:coreProperties>
</file>