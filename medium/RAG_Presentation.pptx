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914400"/>
            <a:ext cx="9144000" cy="0"/>
          </a:xfrm>
          <a:prstGeom prst="line">
            <a:avLst/>
          </a:prstGeom>
          <a:noFill/>
          <a:ln w="6350">
            <a:solidFill>
              <a:srgbClr val="1E1E1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645920"/>
            <a:ext cx="9144000" cy="0"/>
          </a:xfrm>
          <a:prstGeom prst="line">
            <a:avLst/>
          </a:prstGeom>
          <a:noFill/>
          <a:ln w="6350">
            <a:solidFill>
              <a:srgbClr val="1E1E1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2377440"/>
            <a:ext cx="9144000" cy="0"/>
          </a:xfrm>
          <a:prstGeom prst="line">
            <a:avLst/>
          </a:prstGeom>
          <a:noFill/>
          <a:ln w="6350">
            <a:solidFill>
              <a:srgbClr val="1E1E1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3108960"/>
            <a:ext cx="9144000" cy="0"/>
          </a:xfrm>
          <a:prstGeom prst="line">
            <a:avLst/>
          </a:prstGeom>
          <a:noFill/>
          <a:ln w="6350">
            <a:solidFill>
              <a:srgbClr val="1E1E1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3840480"/>
            <a:ext cx="9144000" cy="0"/>
          </a:xfrm>
          <a:prstGeom prst="line">
            <a:avLst/>
          </a:prstGeom>
          <a:noFill/>
          <a:ln w="6350">
            <a:solidFill>
              <a:srgbClr val="1E1E1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4572000"/>
            <a:ext cx="9144000" cy="0"/>
          </a:xfrm>
          <a:prstGeom prst="line">
            <a:avLst/>
          </a:prstGeom>
          <a:noFill/>
          <a:ln w="6350">
            <a:solidFill>
              <a:srgbClr val="1E1E1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943600" y="-457200"/>
            <a:ext cx="4572000" cy="4572000"/>
          </a:xfrm>
          <a:prstGeom prst="ellipse">
            <a:avLst/>
          </a:prstGeom>
          <a:solidFill>
            <a:srgbClr val="00C7B1">
              <a:alpha val="8000"/>
            </a:srgbClr>
          </a:solidFill>
          <a:ln w="12700">
            <a:solidFill>
              <a:srgbClr val="00C7B1">
                <a:alpha val="8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10972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spc="500" kern="0" dirty="0">
                <a:solidFill>
                  <a:srgbClr val="00C7B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ENTERPRISE AI ARCHITECTURE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57200" y="1508760"/>
            <a:ext cx="640080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Retrieval-Augmented
</a:t>
            </a:r>
            <a:endParaRPr lang="en-US" sz="52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5200" b="1" dirty="0">
                <a:solidFill>
                  <a:srgbClr val="00C7B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Generation</a:t>
            </a:r>
            <a:endParaRPr lang="en-US" sz="5200" dirty="0"/>
          </a:p>
        </p:txBody>
      </p:sp>
      <p:sp>
        <p:nvSpPr>
          <p:cNvPr id="11" name="Text 9"/>
          <p:cNvSpPr/>
          <p:nvPr/>
        </p:nvSpPr>
        <p:spPr>
          <a:xfrm>
            <a:off x="457200" y="370332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8E8E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Why, What, How — and When to Build vs Buy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C1C1E"/>
          </a:solidFill>
          <a:ln w="12700">
            <a:solidFill>
              <a:srgbClr val="1C1C1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0" y="4846320"/>
            <a:ext cx="2286000" cy="297180"/>
          </a:xfrm>
          <a:prstGeom prst="rect">
            <a:avLst/>
          </a:prstGeom>
          <a:solidFill>
            <a:srgbClr val="00C7B1"/>
          </a:solidFill>
          <a:ln w="12700">
            <a:solidFill>
              <a:srgbClr val="00C7B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486460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RAG Essentials  ·  2025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029200" y="4864608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E8E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Head of Data &amp; AI  ·  Makro / CP Group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spc="500" kern="0" dirty="0">
                <a:solidFill>
                  <a:srgbClr val="00C7B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PROBLEM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do LLMs need RAG?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365760" y="1371600"/>
            <a:ext cx="2651760" cy="3200400"/>
          </a:xfrm>
          <a:prstGeom prst="rect">
            <a:avLst/>
          </a:prstGeom>
          <a:solidFill>
            <a:srgbClr val="1C1C1E"/>
          </a:solidFill>
          <a:ln w="6350">
            <a:solidFill>
              <a:srgbClr val="3A3A3C"/>
            </a:solidFill>
            <a:prstDash val="solid"/>
          </a:ln>
          <a:effectLst>
            <a:outerShdw sx="100000" sy="100000" kx="0" ky="0" algn="bl" rotWithShape="0" blurRad="254000" dist="50800" dir="8100000">
              <a:srgbClr val="000000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371600"/>
            <a:ext cx="2651760" cy="54864"/>
          </a:xfrm>
          <a:prstGeom prst="rect">
            <a:avLst/>
          </a:prstGeom>
          <a:solidFill>
            <a:srgbClr val="FF453A"/>
          </a:solidFill>
          <a:ln w="12700">
            <a:solidFill>
              <a:srgbClr val="FF45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5087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dirty="0">
                <a:solidFill>
                  <a:srgbClr val="FF45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548640" y="210312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Knowledge Cutoff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48640" y="2514600"/>
            <a:ext cx="22860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EBEB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LLMs are frozen in time. They don't know about your latest data, products, or events.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200400" y="1371600"/>
            <a:ext cx="2651760" cy="3200400"/>
          </a:xfrm>
          <a:prstGeom prst="rect">
            <a:avLst/>
          </a:prstGeom>
          <a:solidFill>
            <a:srgbClr val="1C1C1E"/>
          </a:solidFill>
          <a:ln w="6350">
            <a:solidFill>
              <a:srgbClr val="3A3A3C"/>
            </a:solidFill>
            <a:prstDash val="solid"/>
          </a:ln>
          <a:effectLst>
            <a:outerShdw sx="100000" sy="100000" kx="0" ky="0" algn="bl" rotWithShape="0" blurRad="254000" dist="50800" dir="8100000">
              <a:srgbClr val="000000">
                <a:alpha val="3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00400" y="1371600"/>
            <a:ext cx="2651760" cy="54864"/>
          </a:xfrm>
          <a:prstGeom prst="rect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383280" y="15087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dirty="0">
                <a:solidFill>
                  <a:srgbClr val="FFD6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3383280" y="210312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Hallucinations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3383280" y="2514600"/>
            <a:ext cx="22860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EBEB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Models confidently fabricate facts when they lack grounding in real, verifiable sources.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035040" y="1371600"/>
            <a:ext cx="2651760" cy="3200400"/>
          </a:xfrm>
          <a:prstGeom prst="rect">
            <a:avLst/>
          </a:prstGeom>
          <a:solidFill>
            <a:srgbClr val="1C1C1E"/>
          </a:solidFill>
          <a:ln w="6350">
            <a:solidFill>
              <a:srgbClr val="3A3A3C"/>
            </a:solidFill>
            <a:prstDash val="solid"/>
          </a:ln>
          <a:effectLst>
            <a:outerShdw sx="100000" sy="100000" kx="0" ky="0" algn="bl" rotWithShape="0" blurRad="254000" dist="50800" dir="8100000">
              <a:srgbClr val="000000">
                <a:alpha val="3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035040" y="1371600"/>
            <a:ext cx="2651760" cy="54864"/>
          </a:xfrm>
          <a:prstGeom prst="rect">
            <a:avLst/>
          </a:prstGeom>
          <a:solidFill>
            <a:srgbClr val="0A84FF"/>
          </a:solidFill>
          <a:ln w="12700">
            <a:solidFill>
              <a:srgbClr val="0A84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217920" y="15087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dirty="0">
                <a:solidFill>
                  <a:srgbClr val="0A8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⊘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6217920" y="210312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Private Context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217920" y="2514600"/>
            <a:ext cx="22860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EBEB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General models have zero knowledge of your internal documents, databases, or domain.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65760" y="4663440"/>
            <a:ext cx="8412480" cy="320040"/>
          </a:xfrm>
          <a:prstGeom prst="rect">
            <a:avLst/>
          </a:prstGeom>
          <a:solidFill>
            <a:srgbClr val="1C1C1E"/>
          </a:solidFill>
          <a:ln w="6350">
            <a:solidFill>
              <a:srgbClr val="00C7B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48640" y="4681728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0C7B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RAG solves all three — by grounding every LLM response in your real, up-to-date data.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500" kern="0" dirty="0">
                <a:solidFill>
                  <a:srgbClr val="00C7B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DEFINITION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is Retrieval-Augmented Generation?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234440"/>
            <a:ext cx="8229600" cy="1005840"/>
          </a:xfrm>
          <a:prstGeom prst="rect">
            <a:avLst/>
          </a:prstGeom>
          <a:solidFill>
            <a:srgbClr val="1C1C1E"/>
          </a:solidFill>
          <a:ln w="12700">
            <a:solidFill>
              <a:srgbClr val="009E8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234440"/>
            <a:ext cx="73152" cy="1005840"/>
          </a:xfrm>
          <a:prstGeom prst="rect">
            <a:avLst/>
          </a:prstGeom>
          <a:solidFill>
            <a:srgbClr val="00C7B1"/>
          </a:solidFill>
          <a:ln w="12700">
            <a:solidFill>
              <a:srgbClr val="00C7B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298448"/>
            <a:ext cx="78638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EBEB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RAG dynamically retrieves relevant context from your knowledge base and injects it into the LLM prompt — so the model always answers from facts, not memory.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65760" y="2423160"/>
            <a:ext cx="2651760" cy="2423160"/>
          </a:xfrm>
          <a:prstGeom prst="rect">
            <a:avLst/>
          </a:prstGeom>
          <a:solidFill>
            <a:srgbClr val="1C1C1E"/>
          </a:solidFill>
          <a:ln w="6350">
            <a:solidFill>
              <a:srgbClr val="3A3A3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2560320"/>
            <a:ext cx="594360" cy="594360"/>
          </a:xfrm>
          <a:prstGeom prst="ellipse">
            <a:avLst/>
          </a:prstGeom>
          <a:solidFill>
            <a:srgbClr val="00C7B1"/>
          </a:solidFill>
          <a:ln w="12700">
            <a:solidFill>
              <a:srgbClr val="00C7B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256032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A0A0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548640" y="324612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Retrieve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48640" y="3611880"/>
            <a:ext cx="23317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EBEB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Semantic + hybrid search over a vector index. Finds the most relevant chunks from your data in milliseconds.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3200400" y="2423160"/>
            <a:ext cx="2651760" cy="2423160"/>
          </a:xfrm>
          <a:prstGeom prst="rect">
            <a:avLst/>
          </a:prstGeom>
          <a:solidFill>
            <a:srgbClr val="1C1C1E"/>
          </a:solidFill>
          <a:ln w="6350">
            <a:solidFill>
              <a:srgbClr val="3A3A3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383280" y="2560320"/>
            <a:ext cx="594360" cy="594360"/>
          </a:xfrm>
          <a:prstGeom prst="ellipse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383280" y="256032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A0A0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3383280" y="324612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Augment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3383280" y="3611880"/>
            <a:ext cx="23317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EBEB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Inject retrieved context into the LLM prompt. The model now 'knows' your private, current data for this query.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035040" y="2423160"/>
            <a:ext cx="2651760" cy="2423160"/>
          </a:xfrm>
          <a:prstGeom prst="rect">
            <a:avLst/>
          </a:prstGeom>
          <a:solidFill>
            <a:srgbClr val="1C1C1E"/>
          </a:solidFill>
          <a:ln w="6350">
            <a:solidFill>
              <a:srgbClr val="3A3A3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217920" y="2560320"/>
            <a:ext cx="594360" cy="594360"/>
          </a:xfrm>
          <a:prstGeom prst="ellipse">
            <a:avLst/>
          </a:prstGeom>
          <a:solidFill>
            <a:srgbClr val="0A84FF"/>
          </a:solidFill>
          <a:ln w="12700">
            <a:solidFill>
              <a:srgbClr val="0A84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217920" y="256032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A0A0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6217920" y="324612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Generate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217920" y="3611880"/>
            <a:ext cx="23317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EBEB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LLM produces a response grounded in retrieved facts. Hallucinations drop. Accuracy rises.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500" kern="0" dirty="0">
                <a:solidFill>
                  <a:srgbClr val="00C7B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ARCHITECTURE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RAG Works: End-to-End Flow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65760" y="109728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FFD6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INGEST PIPELINE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365760" y="1325880"/>
            <a:ext cx="1828800" cy="777240"/>
          </a:xfrm>
          <a:prstGeom prst="rect">
            <a:avLst/>
          </a:prstGeom>
          <a:solidFill>
            <a:srgbClr val="2C2C2E"/>
          </a:solidFill>
          <a:ln w="8890">
            <a:solidFill>
              <a:srgbClr val="FFD60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325880"/>
            <a:ext cx="1828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Raw Data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(PDF/DB/API)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2194560" y="146304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D6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2468880" y="1325880"/>
            <a:ext cx="1828800" cy="777240"/>
          </a:xfrm>
          <a:prstGeom prst="rect">
            <a:avLst/>
          </a:prstGeom>
          <a:solidFill>
            <a:srgbClr val="2C2C2E"/>
          </a:solidFill>
          <a:ln w="8890">
            <a:solidFill>
              <a:srgbClr val="FFD60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468880" y="1325880"/>
            <a:ext cx="1828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Chunk &amp;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Clean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297680" y="146304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D6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4572000" y="1325880"/>
            <a:ext cx="1828800" cy="777240"/>
          </a:xfrm>
          <a:prstGeom prst="rect">
            <a:avLst/>
          </a:prstGeom>
          <a:solidFill>
            <a:srgbClr val="2C2C2E"/>
          </a:solidFill>
          <a:ln w="8890">
            <a:solidFill>
              <a:srgbClr val="FFD60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0" y="1325880"/>
            <a:ext cx="1828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Embed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(Vector)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400800" y="146304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D6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6675120" y="1325880"/>
            <a:ext cx="1828800" cy="777240"/>
          </a:xfrm>
          <a:prstGeom prst="rect">
            <a:avLst/>
          </a:prstGeom>
          <a:solidFill>
            <a:srgbClr val="2C2C2E"/>
          </a:solidFill>
          <a:ln w="8890">
            <a:solidFill>
              <a:srgbClr val="FFD60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675120" y="1325880"/>
            <a:ext cx="1828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Vector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Store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65760" y="233172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00C7B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QUERY PIPELINE  (runtime)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65760" y="2560320"/>
            <a:ext cx="1828800" cy="777240"/>
          </a:xfrm>
          <a:prstGeom prst="rect">
            <a:avLst/>
          </a:prstGeom>
          <a:solidFill>
            <a:srgbClr val="0C2C2A"/>
          </a:solidFill>
          <a:ln w="8890">
            <a:solidFill>
              <a:srgbClr val="00C7B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2560320"/>
            <a:ext cx="1828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Query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2194560" y="269748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C7B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2468880" y="2560320"/>
            <a:ext cx="1828800" cy="777240"/>
          </a:xfrm>
          <a:prstGeom prst="rect">
            <a:avLst/>
          </a:prstGeom>
          <a:solidFill>
            <a:srgbClr val="0C2C2A"/>
          </a:solidFill>
          <a:ln w="8890">
            <a:solidFill>
              <a:srgbClr val="00C7B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468880" y="2560320"/>
            <a:ext cx="1828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Embed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Query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297680" y="269748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C7B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4572000" y="2560320"/>
            <a:ext cx="1828800" cy="777240"/>
          </a:xfrm>
          <a:prstGeom prst="rect">
            <a:avLst/>
          </a:prstGeom>
          <a:solidFill>
            <a:srgbClr val="0C2C2A"/>
          </a:solidFill>
          <a:ln w="8890">
            <a:solidFill>
              <a:srgbClr val="00C7B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572000" y="2560320"/>
            <a:ext cx="1828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Retrieve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Top-K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400800" y="269748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C7B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26" name="Shape 24"/>
          <p:cNvSpPr/>
          <p:nvPr/>
        </p:nvSpPr>
        <p:spPr>
          <a:xfrm>
            <a:off x="6675120" y="2560320"/>
            <a:ext cx="1828800" cy="777240"/>
          </a:xfrm>
          <a:prstGeom prst="rect">
            <a:avLst/>
          </a:prstGeom>
          <a:solidFill>
            <a:srgbClr val="0C2C2A"/>
          </a:solidFill>
          <a:ln w="8890">
            <a:solidFill>
              <a:srgbClr val="00C7B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675120" y="2560320"/>
            <a:ext cx="1828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Rerank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&amp; Filter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365760" y="352044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0A8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GENERATION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365760" y="3749040"/>
            <a:ext cx="1828800" cy="777240"/>
          </a:xfrm>
          <a:prstGeom prst="rect">
            <a:avLst/>
          </a:prstGeom>
          <a:solidFill>
            <a:srgbClr val="101028"/>
          </a:solidFill>
          <a:ln w="8890">
            <a:solidFill>
              <a:srgbClr val="0A84F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65760" y="3749040"/>
            <a:ext cx="1828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Engineering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2194560" y="388620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A8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32" name="Shape 30"/>
          <p:cNvSpPr/>
          <p:nvPr/>
        </p:nvSpPr>
        <p:spPr>
          <a:xfrm>
            <a:off x="2468880" y="3749040"/>
            <a:ext cx="1828800" cy="777240"/>
          </a:xfrm>
          <a:prstGeom prst="rect">
            <a:avLst/>
          </a:prstGeom>
          <a:solidFill>
            <a:srgbClr val="101028"/>
          </a:solidFill>
          <a:ln w="8890">
            <a:solidFill>
              <a:srgbClr val="0A84F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468880" y="3749040"/>
            <a:ext cx="1828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Generation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4297680" y="388620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A8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35" name="Shape 33"/>
          <p:cNvSpPr/>
          <p:nvPr/>
        </p:nvSpPr>
        <p:spPr>
          <a:xfrm>
            <a:off x="4572000" y="3749040"/>
            <a:ext cx="1828800" cy="777240"/>
          </a:xfrm>
          <a:prstGeom prst="rect">
            <a:avLst/>
          </a:prstGeom>
          <a:solidFill>
            <a:srgbClr val="101028"/>
          </a:solidFill>
          <a:ln w="8890">
            <a:solidFill>
              <a:srgbClr val="FF453A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572000" y="3749040"/>
            <a:ext cx="1828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Hallucination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6400800" y="388620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45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38" name="Shape 36"/>
          <p:cNvSpPr/>
          <p:nvPr/>
        </p:nvSpPr>
        <p:spPr>
          <a:xfrm>
            <a:off x="6675120" y="3749040"/>
            <a:ext cx="1828800" cy="777240"/>
          </a:xfrm>
          <a:prstGeom prst="rect">
            <a:avLst/>
          </a:prstGeom>
          <a:solidFill>
            <a:srgbClr val="101028"/>
          </a:solidFill>
          <a:ln w="8890">
            <a:solidFill>
              <a:srgbClr val="00C7B1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675120" y="3749040"/>
            <a:ext cx="1828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Final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Response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500" kern="0" dirty="0">
                <a:solidFill>
                  <a:srgbClr val="00C7B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COMPONENTS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Building Blocks of Production RAG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1188720"/>
            <a:ext cx="2651760" cy="1737360"/>
          </a:xfrm>
          <a:prstGeom prst="rect">
            <a:avLst/>
          </a:prstGeom>
          <a:solidFill>
            <a:srgbClr val="1C1C1E"/>
          </a:solidFill>
          <a:ln w="6350">
            <a:solidFill>
              <a:srgbClr val="3A3A3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1188720"/>
            <a:ext cx="64008" cy="1737360"/>
          </a:xfrm>
          <a:prstGeom prst="rect">
            <a:avLst/>
          </a:prstGeom>
          <a:solidFill>
            <a:srgbClr val="00C7B1"/>
          </a:solidFill>
          <a:ln w="12700">
            <a:solidFill>
              <a:srgbClr val="00C7B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28016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C7B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48640" y="1554480"/>
            <a:ext cx="2331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Embedding Models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48640" y="1874520"/>
            <a:ext cx="23317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EBEB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Converts text into dense vectors. Multilingual support, dimensionality, and MTEB score matter. e.g. Boomerang, Cohere Embed-3.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200400" y="1188720"/>
            <a:ext cx="2651760" cy="1737360"/>
          </a:xfrm>
          <a:prstGeom prst="rect">
            <a:avLst/>
          </a:prstGeom>
          <a:solidFill>
            <a:srgbClr val="1C1C1E"/>
          </a:solidFill>
          <a:ln w="6350">
            <a:solidFill>
              <a:srgbClr val="3A3A3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200400" y="1188720"/>
            <a:ext cx="64008" cy="1737360"/>
          </a:xfrm>
          <a:prstGeom prst="rect">
            <a:avLst/>
          </a:prstGeom>
          <a:solidFill>
            <a:srgbClr val="0A84FF"/>
          </a:solidFill>
          <a:ln w="12700">
            <a:solidFill>
              <a:srgbClr val="0A84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383280" y="128016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A8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3383280" y="1554480"/>
            <a:ext cx="2331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Vector Database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383280" y="1874520"/>
            <a:ext cx="23317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EBEB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ANN index for similarity search. Weaviate, Qdrant, Pinecone, Milvus — or native in Snowflake/Databricks.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035040" y="1188720"/>
            <a:ext cx="2651760" cy="1737360"/>
          </a:xfrm>
          <a:prstGeom prst="rect">
            <a:avLst/>
          </a:prstGeom>
          <a:solidFill>
            <a:srgbClr val="1C1C1E"/>
          </a:solidFill>
          <a:ln w="6350">
            <a:solidFill>
              <a:srgbClr val="3A3A3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035040" y="1188720"/>
            <a:ext cx="64008" cy="1737360"/>
          </a:xfrm>
          <a:prstGeom prst="rect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217920" y="128016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D6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217920" y="1554480"/>
            <a:ext cx="2331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Hybrid Search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217920" y="1874520"/>
            <a:ext cx="23317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EBEB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Combines dense (semantic) + sparse (BM25 lexical) retrieval. Critical for keyword-sensitive domains like finance &amp; legal.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365760" y="3108960"/>
            <a:ext cx="2651760" cy="1737360"/>
          </a:xfrm>
          <a:prstGeom prst="rect">
            <a:avLst/>
          </a:prstGeom>
          <a:solidFill>
            <a:srgbClr val="1C1C1E"/>
          </a:solidFill>
          <a:ln w="6350">
            <a:solidFill>
              <a:srgbClr val="3A3A3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65760" y="3108960"/>
            <a:ext cx="64008" cy="1737360"/>
          </a:xfrm>
          <a:prstGeom prst="rect">
            <a:avLst/>
          </a:prstGeom>
          <a:solidFill>
            <a:srgbClr val="FF453A"/>
          </a:solidFill>
          <a:ln w="12700">
            <a:solidFill>
              <a:srgbClr val="FF453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48640" y="320040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45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48640" y="3474720"/>
            <a:ext cx="2331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Reranker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48640" y="3794760"/>
            <a:ext cx="23317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EBEB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Cross-encoder re-scores the top-K results. The biggest single accuracy gain in most RAG pipelines.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3200400" y="3108960"/>
            <a:ext cx="2651760" cy="1737360"/>
          </a:xfrm>
          <a:prstGeom prst="rect">
            <a:avLst/>
          </a:prstGeom>
          <a:solidFill>
            <a:srgbClr val="1C1C1E"/>
          </a:solidFill>
          <a:ln w="6350">
            <a:solidFill>
              <a:srgbClr val="3A3A3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200400" y="3108960"/>
            <a:ext cx="64008" cy="1737360"/>
          </a:xfrm>
          <a:prstGeom prst="rect">
            <a:avLst/>
          </a:prstGeom>
          <a:solidFill>
            <a:srgbClr val="00C7B1"/>
          </a:solidFill>
          <a:ln w="12700">
            <a:solidFill>
              <a:srgbClr val="00C7B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383280" y="320040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C7B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3383280" y="3474720"/>
            <a:ext cx="2331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 Engineering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3383280" y="3794760"/>
            <a:ext cx="23317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EBEB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Shapes how context+query becomes an LLM input. Guards against injection, bias, and hallucination.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6035040" y="3108960"/>
            <a:ext cx="2651760" cy="1737360"/>
          </a:xfrm>
          <a:prstGeom prst="rect">
            <a:avLst/>
          </a:prstGeom>
          <a:solidFill>
            <a:srgbClr val="1C1C1E"/>
          </a:solidFill>
          <a:ln w="6350">
            <a:solidFill>
              <a:srgbClr val="3A3A3C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035040" y="3108960"/>
            <a:ext cx="64008" cy="1737360"/>
          </a:xfrm>
          <a:prstGeom prst="rect">
            <a:avLst/>
          </a:prstGeom>
          <a:solidFill>
            <a:srgbClr val="0A84FF"/>
          </a:solidFill>
          <a:ln w="12700">
            <a:solidFill>
              <a:srgbClr val="0A84F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217920" y="320040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A8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6217920" y="3474720"/>
            <a:ext cx="2331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Hallucination Detection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6217920" y="3794760"/>
            <a:ext cx="23317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EBEB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Factual consistency scoring (e.g. Vectara FCS). Identifies and corrects responses contradicting retrieved chunks.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500" kern="0" dirty="0">
                <a:solidFill>
                  <a:srgbClr val="00C7B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vs BUY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DIY Stack vs RAG Platform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1143000"/>
            <a:ext cx="3931920" cy="3749040"/>
          </a:xfrm>
          <a:prstGeom prst="rect">
            <a:avLst/>
          </a:prstGeom>
          <a:solidFill>
            <a:srgbClr val="1C1C1E"/>
          </a:solidFill>
          <a:ln w="10160">
            <a:solidFill>
              <a:srgbClr val="FFD60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1143000"/>
            <a:ext cx="3931920" cy="64008"/>
          </a:xfrm>
          <a:prstGeom prst="rect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23444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DIY Stack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548640" y="169164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D6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 Maximum flexibility &amp; control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48640" y="2039112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D6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 Full custom embedding/LLM choice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48640" y="2386584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D6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 Potentially lower license fees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48640" y="274320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E8E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 High infra complexity &amp; DevOps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48640" y="3090672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E8E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 RAG sprawl across teams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48640" y="3438144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E8E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 Ongoing maintenance burden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48640" y="3785616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E8E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 Security inconsistency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846320" y="1143000"/>
            <a:ext cx="3931920" cy="3749040"/>
          </a:xfrm>
          <a:prstGeom prst="rect">
            <a:avLst/>
          </a:prstGeom>
          <a:solidFill>
            <a:srgbClr val="1C1C1E"/>
          </a:solidFill>
          <a:ln w="10160">
            <a:solidFill>
              <a:srgbClr val="00C7B1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846320" y="1143000"/>
            <a:ext cx="3931920" cy="64008"/>
          </a:xfrm>
          <a:prstGeom prst="rect">
            <a:avLst/>
          </a:prstGeom>
          <a:solidFill>
            <a:srgbClr val="00C7B1"/>
          </a:solidFill>
          <a:ln w="12700">
            <a:solidFill>
              <a:srgbClr val="00C7B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29200" y="123444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RAG Platform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5029200" y="169164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C7B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 Managed infra — zero DevOps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029200" y="2039112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C7B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 Centralized governance &amp; security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029200" y="2386584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C7B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 Built-in hybrid search + rerank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029200" y="2734056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C7B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 Prevents RAG sprawl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029200" y="3090672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E8E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 Less fine-grained control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029200" y="3438144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E8E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 Vendor dependency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206240" y="2560320"/>
            <a:ext cx="731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8E8E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VS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500" kern="0" dirty="0">
                <a:solidFill>
                  <a:srgbClr val="FF45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CHALLENGES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Goes Wrong in Production?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1188720"/>
            <a:ext cx="4160520" cy="1783080"/>
          </a:xfrm>
          <a:prstGeom prst="rect">
            <a:avLst/>
          </a:prstGeom>
          <a:solidFill>
            <a:srgbClr val="1C1C1E"/>
          </a:solidFill>
          <a:ln w="6350">
            <a:solidFill>
              <a:srgbClr val="3A3A3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28016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Chunking Strategy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48640" y="1600200"/>
            <a:ext cx="3749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EBEB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Pain: Chunks too large → diluted context. Too small → missing context. Wrong boundaries → broken sentences.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548640" y="2267712"/>
            <a:ext cx="3749040" cy="18288"/>
          </a:xfrm>
          <a:prstGeom prst="rect">
            <a:avLst/>
          </a:prstGeom>
          <a:solidFill>
            <a:srgbClr val="00C7B1"/>
          </a:solidFill>
          <a:ln w="12700">
            <a:solidFill>
              <a:srgbClr val="00C7B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2304288"/>
            <a:ext cx="3749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00C7B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Fix: Use sentence-aware chunking. Domain-tune chunk size (512–2048 tokens). Overlap by 15%.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754880" y="1188720"/>
            <a:ext cx="4160520" cy="1783080"/>
          </a:xfrm>
          <a:prstGeom prst="rect">
            <a:avLst/>
          </a:prstGeom>
          <a:solidFill>
            <a:srgbClr val="1C1C1E"/>
          </a:solidFill>
          <a:ln w="6350">
            <a:solidFill>
              <a:srgbClr val="3A3A3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937760" y="128016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Retrieval Quality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937760" y="1600200"/>
            <a:ext cx="3749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EBEB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Pain: Vector search alone misses exact keyword matches. Low recall on rare terms, product codes, or names.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937760" y="2267712"/>
            <a:ext cx="3749040" cy="18288"/>
          </a:xfrm>
          <a:prstGeom prst="rect">
            <a:avLst/>
          </a:prstGeom>
          <a:solidFill>
            <a:srgbClr val="00C7B1"/>
          </a:solidFill>
          <a:ln w="12700">
            <a:solidFill>
              <a:srgbClr val="00C7B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937760" y="2304288"/>
            <a:ext cx="3749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00C7B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Fix: Hybrid search (dense + BM25). Mandatory: add a cross-encoder reranker.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65760" y="3108960"/>
            <a:ext cx="4160520" cy="1783080"/>
          </a:xfrm>
          <a:prstGeom prst="rect">
            <a:avLst/>
          </a:prstGeom>
          <a:solidFill>
            <a:srgbClr val="1C1C1E"/>
          </a:solidFill>
          <a:ln w="6350">
            <a:solidFill>
              <a:srgbClr val="3A3A3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8640" y="320040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Hallucination at Scale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548640" y="3520440"/>
            <a:ext cx="3749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EBEB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Pain: At volume, even low hallucination rates produce wrong answers. Hard to catch without automated checks.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548640" y="4187952"/>
            <a:ext cx="3749040" cy="18288"/>
          </a:xfrm>
          <a:prstGeom prst="rect">
            <a:avLst/>
          </a:prstGeom>
          <a:solidFill>
            <a:srgbClr val="00C7B1"/>
          </a:solidFill>
          <a:ln w="12700">
            <a:solidFill>
              <a:srgbClr val="00C7B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8640" y="4224528"/>
            <a:ext cx="3749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00C7B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Fix: Factual consistency scoring on every response. Flag &amp; correct below threshold.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754880" y="3108960"/>
            <a:ext cx="4160520" cy="1783080"/>
          </a:xfrm>
          <a:prstGeom prst="rect">
            <a:avLst/>
          </a:prstGeom>
          <a:solidFill>
            <a:srgbClr val="1C1C1E"/>
          </a:solidFill>
          <a:ln w="6350">
            <a:solidFill>
              <a:srgbClr val="3A3A3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937760" y="320040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RAG Sprawl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4937760" y="3520440"/>
            <a:ext cx="3749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EBEB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Pain: 10 teams, 10 DIY stacks, 10 different security configs. IT can't govern what it can't see.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4937760" y="4187952"/>
            <a:ext cx="3749040" cy="18288"/>
          </a:xfrm>
          <a:prstGeom prst="rect">
            <a:avLst/>
          </a:prstGeom>
          <a:solidFill>
            <a:srgbClr val="00C7B1"/>
          </a:solidFill>
          <a:ln w="12700">
            <a:solidFill>
              <a:srgbClr val="00C7B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937760" y="4224528"/>
            <a:ext cx="3749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00C7B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Fix: Centralize on a RAG platform or Unity Catalog. Standardize embedding + LLM choices.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500" kern="0" dirty="0">
                <a:solidFill>
                  <a:srgbClr val="00C7B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 GUIDE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When to use DIY vs Platform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143000"/>
            <a:ext cx="2743200" cy="457200"/>
          </a:xfrm>
          <a:prstGeom prst="rect">
            <a:avLst/>
          </a:prstGeom>
          <a:solidFill>
            <a:srgbClr val="3A3A3C"/>
          </a:solidFill>
          <a:ln w="3810">
            <a:solidFill>
              <a:srgbClr val="3A3A3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114300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C7B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Situation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200400" y="1143000"/>
            <a:ext cx="2743200" cy="457200"/>
          </a:xfrm>
          <a:prstGeom prst="rect">
            <a:avLst/>
          </a:prstGeom>
          <a:solidFill>
            <a:srgbClr val="3A3A3C"/>
          </a:solidFill>
          <a:ln w="3810">
            <a:solidFill>
              <a:srgbClr val="3A3A3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337560" y="114300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C7B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Choose DIY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943600" y="1143000"/>
            <a:ext cx="2743200" cy="457200"/>
          </a:xfrm>
          <a:prstGeom prst="rect">
            <a:avLst/>
          </a:prstGeom>
          <a:solidFill>
            <a:srgbClr val="3A3A3C"/>
          </a:solidFill>
          <a:ln w="3810">
            <a:solidFill>
              <a:srgbClr val="3A3A3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080760" y="114300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C7B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Choose Platform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1600200"/>
            <a:ext cx="2743200" cy="457200"/>
          </a:xfrm>
          <a:prstGeom prst="rect">
            <a:avLst/>
          </a:prstGeom>
          <a:solidFill>
            <a:srgbClr val="161618"/>
          </a:solidFill>
          <a:ln w="3810">
            <a:solidFill>
              <a:srgbClr val="3A3A3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94360" y="160020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size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200400" y="1600200"/>
            <a:ext cx="2743200" cy="457200"/>
          </a:xfrm>
          <a:prstGeom prst="rect">
            <a:avLst/>
          </a:prstGeom>
          <a:solidFill>
            <a:srgbClr val="161618"/>
          </a:solidFill>
          <a:ln w="3810">
            <a:solidFill>
              <a:srgbClr val="3A3A3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337560" y="160020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D6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10+ ML engineers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943600" y="1600200"/>
            <a:ext cx="2743200" cy="457200"/>
          </a:xfrm>
          <a:prstGeom prst="rect">
            <a:avLst/>
          </a:prstGeom>
          <a:solidFill>
            <a:srgbClr val="161618"/>
          </a:solidFill>
          <a:ln w="3810">
            <a:solidFill>
              <a:srgbClr val="3A3A3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080760" y="160020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C7B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Small/lean team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" y="2057400"/>
            <a:ext cx="2743200" cy="457200"/>
          </a:xfrm>
          <a:prstGeom prst="rect">
            <a:avLst/>
          </a:prstGeom>
          <a:solidFill>
            <a:srgbClr val="1C1C1E"/>
          </a:solidFill>
          <a:ln w="3810">
            <a:solidFill>
              <a:srgbClr val="3A3A3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94360" y="205740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Applications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3200400" y="2057400"/>
            <a:ext cx="2743200" cy="457200"/>
          </a:xfrm>
          <a:prstGeom prst="rect">
            <a:avLst/>
          </a:prstGeom>
          <a:solidFill>
            <a:srgbClr val="1C1C1E"/>
          </a:solidFill>
          <a:ln w="3810">
            <a:solidFill>
              <a:srgbClr val="3A3A3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337560" y="205740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D6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flagship product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943600" y="2057400"/>
            <a:ext cx="2743200" cy="457200"/>
          </a:xfrm>
          <a:prstGeom prst="rect">
            <a:avLst/>
          </a:prstGeom>
          <a:solidFill>
            <a:srgbClr val="1C1C1E"/>
          </a:solidFill>
          <a:ln w="3810">
            <a:solidFill>
              <a:srgbClr val="3A3A3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080760" y="205740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C7B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Multiple RAG apps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57200" y="2514600"/>
            <a:ext cx="2743200" cy="457200"/>
          </a:xfrm>
          <a:prstGeom prst="rect">
            <a:avLst/>
          </a:prstGeom>
          <a:solidFill>
            <a:srgbClr val="161618"/>
          </a:solidFill>
          <a:ln w="3810">
            <a:solidFill>
              <a:srgbClr val="3A3A3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94360" y="251460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Compliance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3200400" y="2514600"/>
            <a:ext cx="2743200" cy="457200"/>
          </a:xfrm>
          <a:prstGeom prst="rect">
            <a:avLst/>
          </a:prstGeom>
          <a:solidFill>
            <a:srgbClr val="161618"/>
          </a:solidFill>
          <a:ln w="3810">
            <a:solidFill>
              <a:srgbClr val="3A3A3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337560" y="251460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D6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data isolation (air-gap)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5943600" y="2514600"/>
            <a:ext cx="2743200" cy="457200"/>
          </a:xfrm>
          <a:prstGeom prst="rect">
            <a:avLst/>
          </a:prstGeom>
          <a:solidFill>
            <a:srgbClr val="161618"/>
          </a:solidFill>
          <a:ln w="3810">
            <a:solidFill>
              <a:srgbClr val="3A3A3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080760" y="251460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C7B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HIPAA/SOC-2 SaaS OK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457200" y="2971800"/>
            <a:ext cx="2743200" cy="457200"/>
          </a:xfrm>
          <a:prstGeom prst="rect">
            <a:avLst/>
          </a:prstGeom>
          <a:solidFill>
            <a:srgbClr val="1C1C1E"/>
          </a:solidFill>
          <a:ln w="3810">
            <a:solidFill>
              <a:srgbClr val="3A3A3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94360" y="297180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Budget focus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3200400" y="2971800"/>
            <a:ext cx="2743200" cy="457200"/>
          </a:xfrm>
          <a:prstGeom prst="rect">
            <a:avLst/>
          </a:prstGeom>
          <a:solidFill>
            <a:srgbClr val="1C1C1E"/>
          </a:solidFill>
          <a:ln w="3810">
            <a:solidFill>
              <a:srgbClr val="3A3A3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337560" y="297180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D6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Long-term TCO, capex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5943600" y="2971800"/>
            <a:ext cx="2743200" cy="457200"/>
          </a:xfrm>
          <a:prstGeom prst="rect">
            <a:avLst/>
          </a:prstGeom>
          <a:solidFill>
            <a:srgbClr val="1C1C1E"/>
          </a:solidFill>
          <a:ln w="3810">
            <a:solidFill>
              <a:srgbClr val="3A3A3C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080760" y="297180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C7B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OpEx, pay-as-you-go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457200" y="3429000"/>
            <a:ext cx="2743200" cy="457200"/>
          </a:xfrm>
          <a:prstGeom prst="rect">
            <a:avLst/>
          </a:prstGeom>
          <a:solidFill>
            <a:srgbClr val="161618"/>
          </a:solidFill>
          <a:ln w="3810">
            <a:solidFill>
              <a:srgbClr val="3A3A3C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94360" y="342900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Speed to market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3200400" y="3429000"/>
            <a:ext cx="2743200" cy="457200"/>
          </a:xfrm>
          <a:prstGeom prst="rect">
            <a:avLst/>
          </a:prstGeom>
          <a:solidFill>
            <a:srgbClr val="161618"/>
          </a:solidFill>
          <a:ln w="3810">
            <a:solidFill>
              <a:srgbClr val="3A3A3C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337560" y="342900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D6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6–12 months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5943600" y="3429000"/>
            <a:ext cx="2743200" cy="457200"/>
          </a:xfrm>
          <a:prstGeom prst="rect">
            <a:avLst/>
          </a:prstGeom>
          <a:solidFill>
            <a:srgbClr val="161618"/>
          </a:solidFill>
          <a:ln w="3810">
            <a:solidFill>
              <a:srgbClr val="3A3A3C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080760" y="342900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C7B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Days to weeks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457200" y="3886200"/>
            <a:ext cx="2743200" cy="457200"/>
          </a:xfrm>
          <a:prstGeom prst="rect">
            <a:avLst/>
          </a:prstGeom>
          <a:solidFill>
            <a:srgbClr val="1C1C1E"/>
          </a:solidFill>
          <a:ln w="3810">
            <a:solidFill>
              <a:srgbClr val="3A3A3C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94360" y="388620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 infra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3200400" y="3886200"/>
            <a:ext cx="2743200" cy="457200"/>
          </a:xfrm>
          <a:prstGeom prst="rect">
            <a:avLst/>
          </a:prstGeom>
          <a:solidFill>
            <a:srgbClr val="1C1C1E"/>
          </a:solidFill>
          <a:ln w="3810">
            <a:solidFill>
              <a:srgbClr val="3A3A3C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337560" y="388620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D6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Proprietary embedding/LLM</a:t>
            </a:r>
            <a:endParaRPr lang="en-US" sz="1200" dirty="0"/>
          </a:p>
        </p:txBody>
      </p:sp>
      <p:sp>
        <p:nvSpPr>
          <p:cNvPr id="44" name="Shape 42"/>
          <p:cNvSpPr/>
          <p:nvPr/>
        </p:nvSpPr>
        <p:spPr>
          <a:xfrm>
            <a:off x="5943600" y="3886200"/>
            <a:ext cx="2743200" cy="457200"/>
          </a:xfrm>
          <a:prstGeom prst="rect">
            <a:avLst/>
          </a:prstGeom>
          <a:solidFill>
            <a:srgbClr val="1C1C1E"/>
          </a:solidFill>
          <a:ln w="3810">
            <a:solidFill>
              <a:srgbClr val="3A3A3C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080760" y="388620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C7B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Standard models OK</a:t>
            </a:r>
            <a:endParaRPr lang="en-US" sz="1200" dirty="0"/>
          </a:p>
        </p:txBody>
      </p:sp>
      <p:sp>
        <p:nvSpPr>
          <p:cNvPr id="46" name="Text 44"/>
          <p:cNvSpPr/>
          <p:nvPr/>
        </p:nvSpPr>
        <p:spPr>
          <a:xfrm>
            <a:off x="457200" y="47091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8E8E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Think TCO — the real cost of DIY is rarely just API tokens.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1828800"/>
            <a:ext cx="5486400" cy="5486400"/>
          </a:xfrm>
          <a:prstGeom prst="ellipse">
            <a:avLst/>
          </a:prstGeom>
          <a:solidFill>
            <a:srgbClr val="00C7B1">
              <a:alpha val="10000"/>
            </a:srgbClr>
          </a:solidFill>
          <a:ln w="12700">
            <a:solidFill>
              <a:srgbClr val="00C7B1">
                <a:alpha val="10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71600" y="45720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500" kern="0" dirty="0">
                <a:solidFill>
                  <a:srgbClr val="00C7B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TAKEAWAYS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914400" y="777240"/>
            <a:ext cx="73152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RAG is Infrastructure,</a:t>
            </a:r>
            <a:endParaRPr lang="en-US" sz="36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Not Just a Prompt Trick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548640" y="2148840"/>
            <a:ext cx="3840480" cy="1234440"/>
          </a:xfrm>
          <a:prstGeom prst="rect">
            <a:avLst/>
          </a:prstGeom>
          <a:solidFill>
            <a:srgbClr val="1C1C1E"/>
          </a:solidFill>
          <a:ln w="6350">
            <a:solidFill>
              <a:srgbClr val="3A3A3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" y="2468880"/>
            <a:ext cx="411480" cy="411480"/>
          </a:xfrm>
          <a:prstGeom prst="ellipse">
            <a:avLst/>
          </a:prstGeom>
          <a:solidFill>
            <a:srgbClr val="00C7B1"/>
          </a:solidFill>
          <a:ln w="12700">
            <a:solidFill>
              <a:srgbClr val="00C7B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24688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0A0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234440" y="224028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Ground everything in data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234440" y="2560320"/>
            <a:ext cx="30175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EBEB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LLMs without RAG are opinion engines. Ground every response in your real, versioned data.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846320" y="2148840"/>
            <a:ext cx="3840480" cy="1234440"/>
          </a:xfrm>
          <a:prstGeom prst="rect">
            <a:avLst/>
          </a:prstGeom>
          <a:solidFill>
            <a:srgbClr val="1C1C1E"/>
          </a:solidFill>
          <a:ln w="6350">
            <a:solidFill>
              <a:srgbClr val="3A3A3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029200" y="2468880"/>
            <a:ext cx="411480" cy="411480"/>
          </a:xfrm>
          <a:prstGeom prst="ellipse">
            <a:avLst/>
          </a:prstGeom>
          <a:solidFill>
            <a:srgbClr val="00C7B1"/>
          </a:solidFill>
          <a:ln w="12700">
            <a:solidFill>
              <a:srgbClr val="00C7B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29200" y="24688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0A0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532120" y="224028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Retrieval quality is king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532120" y="2560320"/>
            <a:ext cx="30175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EBEB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Hybrid search + reranking gives the biggest accuracy gains. Don't skip them.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548640" y="3566160"/>
            <a:ext cx="3840480" cy="1234440"/>
          </a:xfrm>
          <a:prstGeom prst="rect">
            <a:avLst/>
          </a:prstGeom>
          <a:solidFill>
            <a:srgbClr val="1C1C1E"/>
          </a:solidFill>
          <a:ln w="6350">
            <a:solidFill>
              <a:srgbClr val="3A3A3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31520" y="3886200"/>
            <a:ext cx="411480" cy="411480"/>
          </a:xfrm>
          <a:prstGeom prst="ellipse">
            <a:avLst/>
          </a:prstGeom>
          <a:solidFill>
            <a:srgbClr val="00C7B1"/>
          </a:solidFill>
          <a:ln w="12700">
            <a:solidFill>
              <a:srgbClr val="00C7B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31520" y="38862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0A0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234440" y="365760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Measure hallucinations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234440" y="3977640"/>
            <a:ext cx="30175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EBEB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Factual consistency scoring is non-negotiable at enterprise scale.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846320" y="3566160"/>
            <a:ext cx="3840480" cy="1234440"/>
          </a:xfrm>
          <a:prstGeom prst="rect">
            <a:avLst/>
          </a:prstGeom>
          <a:solidFill>
            <a:srgbClr val="1C1C1E"/>
          </a:solidFill>
          <a:ln w="6350">
            <a:solidFill>
              <a:srgbClr val="3A3A3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029200" y="3886200"/>
            <a:ext cx="411480" cy="411480"/>
          </a:xfrm>
          <a:prstGeom prst="ellipse">
            <a:avLst/>
          </a:prstGeom>
          <a:solidFill>
            <a:srgbClr val="00C7B1"/>
          </a:solidFill>
          <a:ln w="12700">
            <a:solidFill>
              <a:srgbClr val="00C7B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029200" y="38862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0A0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5532120" y="365760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Platform prevents sprawl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532120" y="3977640"/>
            <a:ext cx="30175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EBEB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DIY stacks = 10 security holes. Centralize before you scale.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C1C1E"/>
          </a:solidFill>
          <a:ln w="12700">
            <a:solidFill>
              <a:srgbClr val="1C1C1E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4846320"/>
            <a:ext cx="2286000" cy="297180"/>
          </a:xfrm>
          <a:prstGeom prst="rect">
            <a:avLst/>
          </a:prstGeom>
          <a:solidFill>
            <a:srgbClr val="00C7B1"/>
          </a:solidFill>
          <a:ln w="12700">
            <a:solidFill>
              <a:srgbClr val="00C7B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37160" y="4864608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RAG Essentials  ·  2025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RAG: Retrieval-Augmented Generation</dc:title>
  <dc:subject>PptxGenJS Presentation</dc:subject>
  <dc:creator>Prem Vishnoi</dc:creator>
  <cp:lastModifiedBy>Prem Vishnoi</cp:lastModifiedBy>
  <cp:revision>1</cp:revision>
  <dcterms:created xsi:type="dcterms:W3CDTF">2026-04-06T06:50:52Z</dcterms:created>
  <dcterms:modified xsi:type="dcterms:W3CDTF">2026-04-06T06:50:52Z</dcterms:modified>
</cp:coreProperties>
</file>