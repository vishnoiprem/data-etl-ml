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Senior Solution Architect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Playbook — AI Infrastructure &amp; Strategy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2286000" cy="27432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  |  4 Rounds  |  Architecture · Pre-Sales · Strategy · Leadership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1828800" cy="640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416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60320" y="3931920"/>
            <a:ext cx="1828800" cy="640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04164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324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Conversations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3440" y="3931920"/>
            <a:ext cx="1828800" cy="640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04164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6636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Compliance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766560" y="3931920"/>
            <a:ext cx="1828800" cy="640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404164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6948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 in 60 Seconds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 Architect at a global tech company building AI infrastructure across APAC.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128016" cy="128016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801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&amp; CTO-level conversations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258568"/>
            <a:ext cx="128016" cy="128016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185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GPU clusters at scale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2642616"/>
            <a:ext cx="128016" cy="128016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569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compliance: SG, JP, IN, AU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953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5–8 months — they're serious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Structure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60720" y="1508760"/>
            <a:ext cx="3017520" cy="411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8" name="Shape 15"/>
          <p:cNvSpPr/>
          <p:nvPr/>
        </p:nvSpPr>
        <p:spPr>
          <a:xfrm>
            <a:off x="5760720" y="1508760"/>
            <a:ext cx="54864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0" y="1508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2011680"/>
            <a:ext cx="3017520" cy="411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Shape 20"/>
          <p:cNvSpPr/>
          <p:nvPr/>
        </p:nvSpPr>
        <p:spPr>
          <a:xfrm>
            <a:off x="5760720" y="201168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58978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46720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Q5–Q8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60720" y="2514600"/>
            <a:ext cx="3017520" cy="411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8" name="Shape 25"/>
          <p:cNvSpPr/>
          <p:nvPr/>
        </p:nvSpPr>
        <p:spPr>
          <a:xfrm>
            <a:off x="5760720" y="251460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58978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GTM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46720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60720" y="3017520"/>
            <a:ext cx="3017520" cy="41148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3" name="Shape 30"/>
          <p:cNvSpPr/>
          <p:nvPr/>
        </p:nvSpPr>
        <p:spPr>
          <a:xfrm>
            <a:off x="5760720" y="3017520"/>
            <a:ext cx="54864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1"/>
          <p:cNvSpPr/>
          <p:nvPr/>
        </p:nvSpPr>
        <p:spPr>
          <a:xfrm>
            <a:off x="58978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5508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Vision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04672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Q11–Q12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1–4  |  Architecture, Performance, Compliance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AI Training Infra — 50TB Video/Day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me through how you'd design an AI training infrastructure for a large APAC media company."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00" cy="594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Kafka/Pulsar → Spark Streaming (frame extraction)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594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74520"/>
            <a:ext cx="64008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(cold) → Parallel FS: Lustre/GPFS (training I/O)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5486400" cy="594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A100/H100  |  NVLink + RoCE v2  |  DeepSpeed ZeRO-3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486400" cy="594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64008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Volcano  |  MLflow + Airflow DAGs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5486400" cy="594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69080"/>
            <a:ext cx="64008" cy="5943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43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→ Triton Inference → CDN Edge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1691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162763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BEFORE the architecture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213055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 over NFS — 50TB/day kills NFS throughput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63347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v2 over IB for cost-sensitive APAC clients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13639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gang scheduling prevents GPU deadlock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363931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566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PDPA, APPI, DPDP compliance upfront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vs Inference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filter question — if you can't articulate this cleanly, the interview is over.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H100/A100 80GB (max FLOPS)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hours to weeks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400Gbps+ (all-reduce)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High-IOPS parallel FS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bigger clusters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GPU-hours (CapEx heavy)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&amp; resume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L4/T4 (cost per query)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— milliseconds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10–25Gbps (load balancing)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cache, fast SSD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smaller nodes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Queries/sec (OpEx heavy)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&amp; replicate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Shared data lake, separate compute pools — different failure domains, different SLAs.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 200ms p99 Latency → Target &lt;50ms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200ms going?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1945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Fetch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1188720"/>
            <a:ext cx="4114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1188720"/>
            <a:ext cx="13716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642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→ Fix Playbook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5603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Transit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deploy, keep-alive connections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91840" y="2468880"/>
            <a:ext cx="25603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91840" y="246888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060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Compute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290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INT8, distill, optimize batching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26480" y="2468880"/>
            <a:ext cx="25603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26480" y="24688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0604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751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6364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Redis, pre-compute top-1K items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1" name="Shape 26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move: OpenTelemetry distributed tracing — most latency comes from feature store lookups in a different AZ, not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Data Sovereignty &amp; Compliance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"Compliance by Architecture" — build the topology around the regulatory map.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2012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OK with safeguards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146304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Hub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3931920" cy="13716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3931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 2003 + 2022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Adequacy countries whitelisted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057400"/>
            <a:ext cx="1463040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Hub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2023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localization for critical PII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611880"/>
            <a:ext cx="146304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Zone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3931920" cy="13716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51760"/>
            <a:ext cx="39319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1988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"reasonable steps"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611880"/>
            <a:ext cx="1463040" cy="27432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Hub-and-spoke: Singapore hub for training (flexible transfers), sovereign inference zones in India. K8s federation, data classification at ingestion, jurisdiction-tagged records.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Design &amp;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5–8  |  Pre-Sales, Dual Workloads, TCO, War Stories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Pre-Sales Engagement — OTT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22860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96596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assessment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1965960" cy="22860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1440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051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3–4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1645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tiers: Good/Better/Best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comparison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914400"/>
            <a:ext cx="1965960" cy="22860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51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5–6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645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with real workload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throughput,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time-to-train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914400"/>
            <a:ext cx="1965960" cy="22860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91440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051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7+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1645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as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SLA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Playbook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1920240" cy="548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58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possible?"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840480"/>
            <a:ext cx="1920240" cy="548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3" name="Text 31"/>
          <p:cNvSpPr/>
          <p:nvPr/>
        </p:nvSpPr>
        <p:spPr>
          <a:xfrm>
            <a:off x="2651760" y="3858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Eng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build it?"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1920240" cy="548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858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ROI?"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840480"/>
            <a:ext cx="1920240" cy="54864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3858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096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covered?"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Workload: Recommendation + AIGC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777240"/>
            <a:ext cx="4572000" cy="45720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 LAKE — User logs, content metadata, generated assets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(Real-time)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→ Redis Cluster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Model → INT8 quantized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Triton  |  SLA: &lt;50ms p99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L4 fleet (auto-scaling)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AIGC (Batch/Stream)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Queue → Kafka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Diffusion/LLM → FP16/BF16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Asset Store + CDN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H100 cluster (scheduled)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Time-Sharing Policy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393192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(6PM–12AM): 100% → Recommendation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297680"/>
            <a:ext cx="3931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Off-peak: AIGC bursts onto rec nodes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platform, separate the compute. K8s priority classes make it automatic.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vs Cloud — The TCO Conversation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argue against cloud. Reframe around TCO and control.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1463040"/>
            <a:ext cx="804672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14447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6642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05840" y="1664208"/>
            <a:ext cx="1072896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124456" y="16459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18653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1865376"/>
            <a:ext cx="1408176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459736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start, but lock-in premium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(Ours)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26974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05840" y="2697480"/>
            <a:ext cx="1207008" cy="1463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2258568" y="2679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28986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05840" y="2898648"/>
            <a:ext cx="603504" cy="1463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1655064" y="2880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099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" y="3099816"/>
            <a:ext cx="402336" cy="1463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1453896" y="3081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$3.3M (33% savings)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— control + flexibility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High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39319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05840" y="3931920"/>
            <a:ext cx="201168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063240" y="3913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133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05840" y="4133088"/>
            <a:ext cx="26822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1319784" y="4114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43342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05840" y="4334256"/>
            <a:ext cx="26822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1319784" y="43159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6576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CapEx, limited scaling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Max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gravity resonates with APAC CTOs — once 50TB lives in cloud, you pay to move it forever.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 Story: Hidden Bottleneck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GPU at 40%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09728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GB/s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1417320"/>
            <a:ext cx="73152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82296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Data I/O, NOT compute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3444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12 GB/s, got 2 GB/s from NFS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GPU at 92%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0" y="1417320"/>
            <a:ext cx="109728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GB/s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7220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92240" y="1417320"/>
            <a:ext cx="73152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6948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589520" y="1417320"/>
            <a:ext cx="822960" cy="45720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53212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60% faster, zero new GPUs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53212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saved $400K in hardware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 — 3 Changes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57200" y="3429000"/>
            <a:ext cx="2560320" cy="96012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5" name="Shape 31"/>
          <p:cNvSpPr/>
          <p:nvPr/>
        </p:nvSpPr>
        <p:spPr>
          <a:xfrm>
            <a:off x="457200" y="3429000"/>
            <a:ext cx="2560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Shape 3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7" name="Text 3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96012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Lustre FS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943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NFS — 15 GB/s throughput for 64 GPUs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291840" y="3429000"/>
            <a:ext cx="2560320" cy="96012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41" name="Shape 37"/>
          <p:cNvSpPr/>
          <p:nvPr/>
        </p:nvSpPr>
        <p:spPr>
          <a:xfrm>
            <a:off x="3291840" y="34290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38"/>
          <p:cNvSpPr/>
          <p:nvPr/>
        </p:nvSpPr>
        <p:spPr>
          <a:xfrm>
            <a:off x="3383280" y="35661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39"/>
          <p:cNvSpPr/>
          <p:nvPr/>
        </p:nvSpPr>
        <p:spPr>
          <a:xfrm>
            <a:off x="3383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79476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DALI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34290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data preprocessing pipeline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126480" y="3429000"/>
            <a:ext cx="2560320" cy="96012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47" name="Shape 43"/>
          <p:cNvSpPr/>
          <p:nvPr/>
        </p:nvSpPr>
        <p:spPr>
          <a:xfrm>
            <a:off x="6126480" y="342900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Shape 44"/>
          <p:cNvSpPr/>
          <p:nvPr/>
        </p:nvSpPr>
        <p:spPr>
          <a:xfrm>
            <a:off x="6217920" y="3566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5"/>
          <p:cNvSpPr/>
          <p:nvPr/>
        </p:nvSpPr>
        <p:spPr>
          <a:xfrm>
            <a:off x="6217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662940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Prefetch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2636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SSD cache with smart prefetching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Go-to-Market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9–10  |  GTM Strategy, Competitive Landscape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Strategy — APAC AI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Hyperscale OTT (3–5)  |  Tier 2: Regional Tech (10–15)  |  Tier 3: AI Startups (50+)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658368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27632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47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selling hardware. Selling time-to-production." End-to-end AI factory, not components.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8229600" cy="658368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3230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752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(Tier 1) + SI Partners (Tier 2) + Cloud Marketplace (Tier 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658368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36976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82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57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architectures: Media (AIGC), Gaming (Edge), E-com (Search), FinTech (Fraud)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41648"/>
            <a:ext cx="54864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87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Lighthouse wins  →  Q2: Case studies  →  Q3: Scale via partners  →  Q4: HW refresh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 — APAC AI Infra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0" cy="365760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777240"/>
            <a:ext cx="0" cy="3657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51960"/>
            <a:ext cx="43891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4297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4297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201168" cy="20116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115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(Ours)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0241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DGX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37360" y="219456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965960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(AWS/GCP)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23360" y="246888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487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CoreWeave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0" y="3566160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ODM/White-box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338328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Supermicro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Playbook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1280160"/>
            <a:ext cx="3017520" cy="82296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0720" y="12801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NVIDIA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local presence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286000"/>
            <a:ext cx="3017520" cy="82296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22860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Cloud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+ data sovereignty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291840"/>
            <a:ext cx="3017520" cy="822960"/>
          </a:xfrm>
          <a:prstGeom prst="rect">
            <a:avLst/>
          </a:prstGeom>
          <a:solidFill>
            <a:srgbClr val="1E2D4A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3291840"/>
            <a:ext cx="54864" cy="8229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ODMs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 capability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&amp; Ecosystem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1371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11–12  |  Team Enablement, Future Vision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Enabling 20 SAs: Network →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2926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560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101 bootcamp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deploy model on Triton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conversation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playbook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822960"/>
            <a:ext cx="2560320" cy="2926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82296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2–3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Training 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B: Inference &amp;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C: Data Platform + Compliance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exam at 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560320" cy="29260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of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16459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Win/Loss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Architecture Clinics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playbook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system for first 3 deals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E2D4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995928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0584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 by doing. In week one, every SA deploys a real model on a real GPU server. That visceral understanding is worth more than a month of theory."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1148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AI Infra — 3-Year Evolution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56032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2560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14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Clusters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data centers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AIGC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56032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7772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914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Factories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training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networks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AIGC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56032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77724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914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914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$45B+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Mesh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sovereignty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at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AI-as-infrastructure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Key Shifts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scarcity → GPU commoditization (custom silicon)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96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Training-centric → Inference-centric (80% of spend)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1713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43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English-first → Multilingual-native (JP, KR, TH, ID)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82219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Cloud-default → Hybrid-default (sovereignty drives this)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16966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096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→ Compound AI systems (RAG, agents)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Tips for Interview 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560320" cy="2651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5603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company's recent AI launches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3 customer stories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90-day plan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560320" cy="2651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058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29000" y="1554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DRAW — sketch on whiteboard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specific tech, not categories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"I'd research that, but my instinct is..."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005840"/>
            <a:ext cx="2560320" cy="2651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00584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Signals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63640" y="1554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2+ regs by name (PDPA, APPI)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Timezone-aware ops (UTC+5 to +12)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diversity in AI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SI/partner ecosystem awareness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3931920"/>
            <a:ext cx="82296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bonus is 5–8 months. They are serious. You should be too.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Prototypes to Have Ready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just tell. Hand these to the ops team on day one.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Health Check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cluster validation: temp, memory, utilization per node. Flags thermal throttle risk &amp; memory-full conditions.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1645920" cy="22860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gpu_health_check.py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39319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Estimator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Back-of-envelope TCO calculator for client proposals. Training vs inference mode with GPU-type pricing &amp; overhead multipliers.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2194560"/>
            <a:ext cx="1645920" cy="22860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cost_estimator.py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Profiler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profiler using perf_counter_ns. Measures feature fetch, inference, post-processing — finds the real bottleneck.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3840480"/>
            <a:ext cx="1645920" cy="2286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latency_profiler.py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2743200"/>
            <a:ext cx="3931920" cy="14630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74320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Scheduler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4632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GPU allocation policy for dual workloads. Peak hours = recommendation priority, off-peak = AIGC burst.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3840480"/>
            <a:ext cx="1645920" cy="22860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resource_scheduler.py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 Senior Solution Architect – Interview Playbook</dc:title>
  <dc:subject>PptxGenJS Presentation</dc:subject>
  <dc:creator>Prem</dc:creator>
  <cp:lastModifiedBy>Prem</cp:lastModifiedBy>
  <cp:revision>1</cp:revision>
  <dcterms:created xsi:type="dcterms:W3CDTF">2026-03-20T12:26:46Z</dcterms:created>
  <dcterms:modified xsi:type="dcterms:W3CDTF">2026-03-20T12:26:46Z</dcterms:modified>
</cp:coreProperties>
</file>