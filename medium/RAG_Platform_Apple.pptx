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959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1508760"/>
            <a:ext cx="164592" cy="164592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kern="0" spc="-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RAG Platform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749040" y="3383280"/>
            <a:ext cx="1645920" cy="0"/>
          </a:xfrm>
          <a:prstGeom prst="line">
            <a:avLst/>
          </a:prstGeom>
          <a:noFill/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vs Platform  ·  Core Capabilities  ·  Governance  ·  Vectara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RAG platform?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800" kern="0" spc="-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technology platform that implements</a:t>
            </a:r>
            <a:endParaRPr lang="en-US" sz="3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800" kern="0" spc="-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most RAG components behind </a:t>
            </a:r>
            <a:endParaRPr lang="en-US" sz="38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800" kern="0" spc="-1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developer API.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developers focus on what data should ground responses — not on infrastructure.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kern="0" spc="-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paths.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56616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DIY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91440" cy="91440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configure your own vector DB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532888"/>
            <a:ext cx="91440" cy="91440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embedding model yourself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035808"/>
            <a:ext cx="91440" cy="91440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chunking strategies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538728"/>
            <a:ext cx="91440" cy="91440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the LLM generation process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041648"/>
            <a:ext cx="91440" cy="91440"/>
          </a:xfrm>
          <a:prstGeom prst="ellipse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868680" y="39776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provisioning, scaling, security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3566160"/>
          </a:xfrm>
          <a:prstGeom prst="rect">
            <a:avLst/>
          </a:prstGeom>
          <a:solidFill>
            <a:srgbClr val="0A1628"/>
          </a:solidFill>
          <a:ln w="1016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074920" y="1371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Platform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74920" y="2029968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5257800" y="19659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behind a single API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74920" y="2532888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257800" y="24688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handled by the provider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74920" y="3035808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257800" y="29718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retrieval settings via parameters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74920" y="3538728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5257800" y="34747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chunk, rerank — abstracted away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74920" y="4041648"/>
            <a:ext cx="91440" cy="91440"/>
          </a:xfrm>
          <a:prstGeom prst="ellipse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5257800" y="39776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solely on application logic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advantage.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55448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kern="0" spc="-1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cycles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931920" cy="155448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0" y="11887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kern="0" spc="-1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Reduced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120640" y="1874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workload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kern="0" spc="-1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Lower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infrastructure costs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3931920" cy="155448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120640" y="30175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kern="0" spc="-1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Built-in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120640" y="3703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kern="0" spc="-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RAG Capabilities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97480" cy="164592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640080" y="13441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Embedding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language support, vector dimensions, BYO model option. Larger dimensions increase accuracy but raise compute cost.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697480" cy="164592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3520440" y="13441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1581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Vector Database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94767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control over indexing, sharding, hardware selection in DIY. Platform bundles the DB as a managed service.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697480" cy="164592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400800" y="13441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581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Advanced Retrieval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94767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+ reranking is where the biggest accuracy gains happen. The platform should commit to innovation in retrieval.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2697480" cy="164592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40080" y="31729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107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7647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consistency scoring. Identifying responses inconsistent with retrieved chunks and correcting them is non-negotiable.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3063240"/>
            <a:ext cx="2697480" cy="164592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3520440" y="31729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4107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377647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guide the LLM, fight injection attacks, reduce bias. Controlled at enterprise level via platform — not per team.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3063240"/>
            <a:ext cx="2697480" cy="164592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6400800" y="317296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4107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LLM Support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77647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(OpenAI, Anthropic, Google) or open-weights (Llama4, DeepSeek). BYO fine-tuned LLM support matters.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kern="0" spc="-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Sprawl.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proliferation of disparate, independently</a:t>
            </a:r>
            <a:endParaRPr lang="en-US" sz="2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0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RAG applications across your organization.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2697480" cy="233172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697480" cy="457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99232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DIY app has its own access controls, data handling policies, and security config. Inconsistent posture across every application.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2468880"/>
            <a:ext cx="2697480" cy="233172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337560" y="2468880"/>
            <a:ext cx="2697480" cy="457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520440" y="2560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999232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 with varying protection levels. Increased risk of breaches and varying GDPR / CCPA compliance.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468880"/>
            <a:ext cx="2697480" cy="233172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2697480" cy="45720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Shadow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999232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incarnation of Shadow IT — unauthorized AI deployments the security group cannot see or govern.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kern="0" spc="-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true cost of DIY.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"DIY often appears less expensive, if one only considers direct subscription fees."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Chapter 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7863840" cy="0"/>
          </a:xfrm>
          <a:prstGeom prst="line">
            <a:avLst/>
          </a:prstGeom>
          <a:noFill/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20116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configuration and ongoing maintenance of vector DBs, LLMs, embedding models, re-rankers.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7863840" cy="0"/>
          </a:xfrm>
          <a:prstGeom prst="line">
            <a:avLst/>
          </a:prstGeom>
          <a:noFill/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Engineering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0" y="26700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research, design, and testing of each RAG component. Specialized skills at persistent cost.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31336"/>
            <a:ext cx="7863840" cy="0"/>
          </a:xfrm>
          <a:prstGeom prst="line">
            <a:avLst/>
          </a:prstGeom>
          <a:noFill/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40080" y="33284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Maintenance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32841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patching, model updates, prompt re-engineering, hallucination mitigation, scaling.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89704"/>
            <a:ext cx="7863840" cy="0"/>
          </a:xfrm>
          <a:prstGeom prst="line">
            <a:avLst/>
          </a:prstGeom>
          <a:noFill/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640080" y="39867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 Cost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98678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focused on infrastructure could be focused on core business innovation instead.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kern="0" spc="-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Connectors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connector projects — from the book (Table 4-1)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4630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1463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 Support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502920"/>
          </a:xfrm>
          <a:prstGeom prst="rect">
            <a:avLst/>
          </a:prstGeom>
          <a:solidFill>
            <a:srgbClr val="1C1C1E"/>
          </a:solidFill>
          <a:ln w="381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71800" y="18470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184708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schedulers + vector store ops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8229600" cy="502920"/>
          </a:xfrm>
          <a:prstGeom prst="rect">
            <a:avLst/>
          </a:prstGeom>
          <a:solidFill>
            <a:srgbClr val="000000"/>
          </a:solidFill>
          <a:ln w="381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94360" y="23500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71800" y="2350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160+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235000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LlamaCloud supports incremental updates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8229600" cy="502920"/>
          </a:xfrm>
          <a:prstGeom prst="rect">
            <a:avLst/>
          </a:prstGeom>
          <a:solidFill>
            <a:srgbClr val="1C1C1E"/>
          </a:solidFill>
          <a:ln w="381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94360" y="285292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Airbyte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971800" y="28529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34840" y="28529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incremental sync (cursor, CDC)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355848"/>
            <a:ext cx="8229600" cy="502920"/>
          </a:xfrm>
          <a:prstGeom prst="rect">
            <a:avLst/>
          </a:prstGeom>
          <a:solidFill>
            <a:srgbClr val="000000"/>
          </a:solidFill>
          <a:ln w="381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594360" y="3355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Meltano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71800" y="33558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34840" y="33558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via Singer tap implementations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8229600" cy="502920"/>
          </a:xfrm>
          <a:prstGeom prst="rect">
            <a:avLst/>
          </a:prstGeom>
          <a:solidFill>
            <a:srgbClr val="1C1C1E"/>
          </a:solidFill>
          <a:ln w="381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94360" y="38587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DataVolo (Snowflake)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971800" y="3858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34840" y="385876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NiFi-based true incremental fetching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connector count — understand exactly how each one handles your specific data and permissions.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kern="0" spc="-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Vectara: A Platform in Action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66160" cy="105156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822960" y="1618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File Upload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PPT, HTML, markdown. Text extraction, chunking, embedding — all automatic.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566160" cy="105156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API Ingest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with sections, nested metadata, document-level fields. For DB / Notion / Jira sources.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143000"/>
            <a:ext cx="0" cy="3657600"/>
          </a:xfrm>
          <a:prstGeom prst="line">
            <a:avLst/>
          </a:prstGeom>
          <a:noFill/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4663440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023360" cy="91440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846320" y="16002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Hybrid 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92938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lexical_interpolation parameter controls BM25 weight alongside dense retrieval.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587752"/>
            <a:ext cx="4023360" cy="91440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4846320" y="26791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Reranking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0083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Rerank_Multilingual_v1 — multilingual cross-encoder applied post-retrieval.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666744"/>
            <a:ext cx="4023360" cy="91440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4846320" y="37581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Hallucination Score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408736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enable_factual_consistency_score returns a 0–1 score with every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kern="0" spc="-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does it run?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97480" cy="352044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97480" cy="54864"/>
          </a:xfrm>
          <a:prstGeom prst="rect">
            <a:avLst/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-50" dirty="0">
                <a:solidFill>
                  <a:srgbClr val="0071E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and speed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manages the entire stack. Supported by most RAG platform providers. HIPAA, GDPR, SOC-2 compliance. No infrastructure ownership.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97480" cy="352044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97480" cy="54864"/>
          </a:xfrm>
          <a:prstGeom prst="rect">
            <a:avLst/>
          </a:prstGeom>
          <a:solidFill>
            <a:srgbClr val="5AC8FA"/>
          </a:solidFill>
          <a:ln w="12700">
            <a:solidFill>
              <a:srgbClr val="5AC8FA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-50" dirty="0">
                <a:solidFill>
                  <a:srgbClr val="5AC8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VPC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middle ground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within your cloud (AWS, Azure, GCP). Isolated network segment. More control over security and data privacy. Requires cloud architecture expertise.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97480" cy="3520440"/>
          </a:xfrm>
          <a:prstGeom prst="rect">
            <a:avLst/>
          </a:prstGeom>
          <a:solidFill>
            <a:srgbClr val="1C1C1E"/>
          </a:solidFill>
          <a:ln w="635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97480" cy="54864"/>
          </a:xfrm>
          <a:prstGeom prst="rect">
            <a:avLst/>
          </a:prstGeom>
          <a:solidFill>
            <a:srgbClr val="A1A1A6"/>
          </a:solidFill>
          <a:ln w="12700">
            <a:solidFill>
              <a:srgbClr val="A1A1A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40080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kern="0" spc="-50" dirty="0">
                <a:solidFill>
                  <a:srgbClr val="A1A1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On-Premise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42316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RAG stack in your own data center. Data never leaves your physical perimeter. Required for air-gapped environments. Significant upfront hardware investment.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8646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one-size-fits-all answer. SaaS prioritizes ease. On-premise prioritizes control. VPC offers the middle ground.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400" kern="0" spc="-150" dirty="0">
                <a:solidFill>
                  <a:srgbClr val="A1A1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Very few people</a:t>
            </a:r>
            <a:endParaRPr lang="en-US" sz="4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400" kern="0" spc="-150" dirty="0">
                <a:solidFill>
                  <a:srgbClr val="A1A1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their own </a:t>
            </a:r>
            <a:endParaRPr lang="en-US" sz="4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4400" kern="0" spc="-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 engine.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partner with Oracle, Microsoft, Databricks, or Snowflake.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2743200" cy="0"/>
          </a:xfrm>
          <a:prstGeom prst="line">
            <a:avLst/>
          </a:prstGeom>
          <a:noFill/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platforms are heading in the same direction.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kern="0" spc="-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RAG Platform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2700">
            <a:solidFill>
              <a:srgbClr val="2C2C2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1A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O'Reilly Early Release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vs Platform  ·  Core Capabilities  ·  RAG Sprawl  ·  Governance  ·  Vectara  ·  Deployment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Macintosh PowerPoint</Application>
  <PresentationFormat>On-screen Show (16:9)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RAG Platform</dc:title>
  <dc:subject>PptxGenJS Presentation</dc:subject>
  <dc:creator>Prem Vishnoi</dc:creator>
  <cp:lastModifiedBy>Prem Vishnoi</cp:lastModifiedBy>
  <cp:revision>1</cp:revision>
  <dcterms:created xsi:type="dcterms:W3CDTF">2026-04-06T08:53:04Z</dcterms:created>
  <dcterms:modified xsi:type="dcterms:W3CDTF">2026-04-06T09:00:27Z</dcterms:modified>
</cp:coreProperties>
</file>