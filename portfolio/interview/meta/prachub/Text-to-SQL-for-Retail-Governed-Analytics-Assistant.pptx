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image" Target="../media/image-6-25.png"/><Relationship Id="rId26" Type="http://schemas.openxmlformats.org/officeDocument/2006/relationships/image" Target="../media/image-6-26.png"/><Relationship Id="rId27" Type="http://schemas.openxmlformats.org/officeDocument/2006/relationships/image" Target="../media/image-6-27.png"/><Relationship Id="rId28" Type="http://schemas.openxmlformats.org/officeDocument/2006/relationships/image" Target="../media/image-6-28.png"/><Relationship Id="rId29" Type="http://schemas.openxmlformats.org/officeDocument/2006/relationships/image" Target="../media/image-6-29.png"/><Relationship Id="rId30" Type="http://schemas.openxmlformats.org/officeDocument/2006/relationships/image" Target="../media/image-6-30.png"/><Relationship Id="rId31" Type="http://schemas.openxmlformats.org/officeDocument/2006/relationships/image" Target="../media/image-6-31.png"/><Relationship Id="rId32" Type="http://schemas.openxmlformats.org/officeDocument/2006/relationships/image" Target="../media/image-6-32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pn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png"/><Relationship Id="rId23" Type="http://schemas.openxmlformats.org/officeDocument/2006/relationships/image" Target="../media/image-13-23.png"/><Relationship Id="rId24" Type="http://schemas.openxmlformats.org/officeDocument/2006/relationships/image" Target="../media/image-13-24.png"/><Relationship Id="rId25" Type="http://schemas.openxmlformats.org/officeDocument/2006/relationships/image" Target="../media/image-13-25.png"/><Relationship Id="rId26" Type="http://schemas.openxmlformats.org/officeDocument/2006/relationships/image" Target="../media/image-13-26.png"/><Relationship Id="rId27" Type="http://schemas.openxmlformats.org/officeDocument/2006/relationships/image" Target="../media/image-13-27.png"/><Relationship Id="rId28" Type="http://schemas.openxmlformats.org/officeDocument/2006/relationships/image" Target="../media/image-13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pn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png"/><Relationship Id="rId19" Type="http://schemas.openxmlformats.org/officeDocument/2006/relationships/image" Target="../media/image-16-19.png"/><Relationship Id="rId20" Type="http://schemas.openxmlformats.org/officeDocument/2006/relationships/image" Target="../media/image-16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pn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png"/><Relationship Id="rId19" Type="http://schemas.openxmlformats.org/officeDocument/2006/relationships/image" Target="../media/image-17-19.png"/><Relationship Id="rId20" Type="http://schemas.openxmlformats.org/officeDocument/2006/relationships/image" Target="../media/image-17-20.png"/><Relationship Id="rId21" Type="http://schemas.openxmlformats.org/officeDocument/2006/relationships/image" Target="../media/image-17-21.png"/><Relationship Id="rId22" Type="http://schemas.openxmlformats.org/officeDocument/2006/relationships/image" Target="../media/image-17-22.png"/><Relationship Id="rId23" Type="http://schemas.openxmlformats.org/officeDocument/2006/relationships/image" Target="../media/image-17-23.png"/><Relationship Id="rId24" Type="http://schemas.openxmlformats.org/officeDocument/2006/relationships/image" Target="../media/image-17-24.png"/><Relationship Id="rId25" Type="http://schemas.openxmlformats.org/officeDocument/2006/relationships/image" Target="../media/image-17-25.png"/><Relationship Id="rId26" Type="http://schemas.openxmlformats.org/officeDocument/2006/relationships/image" Target="../media/image-17-26.png"/><Relationship Id="rId27" Type="http://schemas.openxmlformats.org/officeDocument/2006/relationships/image" Target="../media/image-17-27.png"/><Relationship Id="rId28" Type="http://schemas.openxmlformats.org/officeDocument/2006/relationships/image" Target="../media/image-17-28.png"/><Relationship Id="rId29" Type="http://schemas.openxmlformats.org/officeDocument/2006/relationships/image" Target="../media/image-17-29.png"/><Relationship Id="rId30" Type="http://schemas.openxmlformats.org/officeDocument/2006/relationships/image" Target="../media/image-17-30.png"/><Relationship Id="rId31" Type="http://schemas.openxmlformats.org/officeDocument/2006/relationships/image" Target="../media/image-17-31.png"/><Relationship Id="rId32" Type="http://schemas.openxmlformats.org/officeDocument/2006/relationships/image" Target="../media/image-17-32.png"/><Relationship Id="rId33" Type="http://schemas.openxmlformats.org/officeDocument/2006/relationships/image" Target="../media/image-17-33.png"/><Relationship Id="rId34" Type="http://schemas.openxmlformats.org/officeDocument/2006/relationships/image" Target="../media/image-17-34.png"/><Relationship Id="rId35" Type="http://schemas.openxmlformats.org/officeDocument/2006/relationships/image" Target="../media/image-17-35.pn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pn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png"/><Relationship Id="rId17" Type="http://schemas.openxmlformats.org/officeDocument/2006/relationships/image" Target="../media/image-19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40658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33400" y="1666577"/>
            <a:ext cx="6339780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1200"/>
              </a:spcAft>
              <a:buNone/>
            </a:pPr>
            <a:r>
              <a:rPr lang="en-US" sz="900" b="1" spc="162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RETAIL GOVERNED ANALYTICS • PLAIN TEXT TO SQL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533400" y="1980902"/>
            <a:ext cx="6339780" cy="151983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spc="-84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Text-to-SQL for Retail </a:t>
            </a:r>
            <a:pPr indent="0" marL="0">
              <a:buNone/>
            </a:pPr>
            <a:r>
              <a:rPr lang="en-US" sz="4200" b="1" spc="-84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Governed Analytics Assistant</a:t>
            </a:r>
            <a:endParaRPr lang="en-US" sz="4200" dirty="0"/>
          </a:p>
        </p:txBody>
      </p:sp>
      <p:sp>
        <p:nvSpPr>
          <p:cNvPr id="6" name="Text 2"/>
          <p:cNvSpPr txBox="1"/>
          <p:nvPr/>
        </p:nvSpPr>
        <p:spPr>
          <a:xfrm>
            <a:off x="533400" y="3738860"/>
            <a:ext cx="4000500" cy="904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800"/>
              </a:spcBef>
              <a:buNone/>
            </a:pPr>
            <a:r>
              <a:rPr lang="en-US" sz="1200" dirty="0">
                <a:solidFill>
                  <a:srgbClr val="13302B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Frontend → API Gateway → Backend Orchestrator → LLM Gateway → Validator → Semantic Views → Warehouse → Explanation. Business user asks in plain text, no SQL knowledge needed, safe enterprise design.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910435"/>
            <a:ext cx="481161" cy="290513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38175" y="4986635"/>
            <a:ext cx="27161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Sales</a:t>
            </a:r>
            <a:endParaRPr lang="en-US" sz="825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761" y="4910435"/>
            <a:ext cx="561231" cy="290513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195536" y="4986635"/>
            <a:ext cx="35168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Margin</a:t>
            </a:r>
            <a:endParaRPr lang="en-US" sz="825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8192" y="4910435"/>
            <a:ext cx="485924" cy="290513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832967" y="4986635"/>
            <a:ext cx="276374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</a:t>
            </a:r>
            <a:endParaRPr lang="en-US" sz="825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0316" y="4910435"/>
            <a:ext cx="700980" cy="290513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2395091" y="4986635"/>
            <a:ext cx="49143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Inventory</a:t>
            </a:r>
            <a:endParaRPr lang="en-US" sz="825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7496" y="4910435"/>
            <a:ext cx="745927" cy="290513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3172271" y="4986635"/>
            <a:ext cx="53637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Read-only</a:t>
            </a:r>
            <a:endParaRPr lang="en-US" sz="825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9623" y="4910435"/>
            <a:ext cx="620613" cy="290513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3994398" y="4986635"/>
            <a:ext cx="411063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Audited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630585"/>
            <a:ext cx="11125051" cy="41999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8"/>
              </a:lnSpc>
              <a:spcAft>
                <a:spcPts val="300"/>
              </a:spcAft>
              <a:buNone/>
            </a:pPr>
            <a:r>
              <a:rPr lang="en-US" sz="3150" b="1" spc="-63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experience - plain text to answer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126778"/>
            <a:ext cx="6083796" cy="1398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52475" y="1603028"/>
            <a:ext cx="5188446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116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USER ENTERS</a:t>
            </a:r>
            <a:endParaRPr lang="en-US" sz="825" dirty="0"/>
          </a:p>
        </p:txBody>
      </p:sp>
      <p:sp>
        <p:nvSpPr>
          <p:cNvPr id="5" name="Text 2"/>
          <p:cNvSpPr txBox="1"/>
          <p:nvPr/>
        </p:nvSpPr>
        <p:spPr>
          <a:xfrm>
            <a:off x="752475" y="1826865"/>
            <a:ext cx="5188446" cy="23142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b="1" i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“Show total sales and margin by store in Bangkok last week”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163068"/>
            <a:ext cx="6083796" cy="22479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52475" y="2639318"/>
            <a:ext cx="5188446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750"/>
              </a:spcAft>
              <a:buNone/>
            </a:pPr>
            <a:r>
              <a:rPr lang="en-US" sz="825" spc="116" kern="0" dirty="0">
                <a:solidFill>
                  <a:srgbClr val="F4FFF7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 RETURNS</a:t>
            </a:r>
            <a:endParaRPr lang="en-US" sz="825" dirty="0"/>
          </a:p>
        </p:txBody>
      </p:sp>
      <p:sp>
        <p:nvSpPr>
          <p:cNvPr id="8" name="Shape 4"/>
          <p:cNvSpPr/>
          <p:nvPr/>
        </p:nvSpPr>
        <p:spPr>
          <a:xfrm>
            <a:off x="752475" y="2886075"/>
            <a:ext cx="2533650" cy="742950"/>
          </a:xfrm>
          <a:prstGeom prst="roundRect">
            <a:avLst>
              <a:gd name="adj" fmla="val 15385"/>
            </a:avLst>
          </a:prstGeom>
          <a:solidFill>
            <a:srgbClr val="F4FF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85825" y="3015555"/>
            <a:ext cx="2270373" cy="2667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F918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฿125.4M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885825" y="3329880"/>
            <a:ext cx="2270373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3302B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Bangkok sales last week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400425" y="2886075"/>
            <a:ext cx="2533650" cy="742950"/>
          </a:xfrm>
          <a:prstGeom prst="roundRect">
            <a:avLst>
              <a:gd name="adj" fmla="val 15385"/>
            </a:avLst>
          </a:prstGeom>
          <a:solidFill>
            <a:srgbClr val="F4FFF7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3537198" y="3015555"/>
            <a:ext cx="2270373" cy="2667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F918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12.8%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3537198" y="3329880"/>
            <a:ext cx="2270373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3302B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752475" y="3768030"/>
            <a:ext cx="5188446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1050"/>
              </a:spcBef>
              <a:buNone/>
            </a:pPr>
            <a:r>
              <a:rPr lang="en-US" sz="975" dirty="0">
                <a:solidFill>
                  <a:srgbClr val="F4FFF7">
                    <a:alpha val="9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stores: Store A • Store B • Store C • No direct DB access, no SQL knowledge needed</a:t>
            </a:r>
            <a:endParaRPr lang="en-US" sz="975" dirty="0"/>
          </a:p>
        </p:txBody>
      </p:sp>
      <p:sp>
        <p:nvSpPr>
          <p:cNvPr id="15" name="Text 11"/>
          <p:cNvSpPr txBox="1"/>
          <p:nvPr/>
        </p:nvSpPr>
        <p:spPr>
          <a:xfrm>
            <a:off x="533400" y="4333875"/>
            <a:ext cx="0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 txBox="1"/>
          <p:nvPr/>
        </p:nvSpPr>
        <p:spPr>
          <a:xfrm>
            <a:off x="628650" y="4325243"/>
            <a:ext cx="5531346" cy="3905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Answer + Evidence + Freshness + SQL</a:t>
            </a:r>
            <a:pPr indent="0" marL="0">
              <a:buNone/>
            </a:pPr>
            <a:r>
              <a:rPr lang="en-US" sz="105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if authorized — chart, table, SQL used, dataset used, freshness, download, follow-up box</a:t>
            </a:r>
            <a:endParaRPr lang="en-US" sz="10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796" y="1393478"/>
            <a:ext cx="5193655" cy="2643188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4321" y="1403003"/>
            <a:ext cx="5174605" cy="50958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721971" y="1576834"/>
            <a:ext cx="1024830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Analytic Assistant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6648450" y="1581150"/>
            <a:ext cx="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4907" y="1536353"/>
            <a:ext cx="1032570" cy="23336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521107" y="1583978"/>
            <a:ext cx="88017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F918B"/>
                </a:solidFill>
                <a:highlight>
                  <a:srgbClr val="10948C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• Fresh 08:00 ICT</a:t>
            </a:r>
            <a:endParaRPr lang="en-US" sz="825" dirty="0"/>
          </a:p>
        </p:txBody>
      </p:sp>
      <p:sp>
        <p:nvSpPr>
          <p:cNvPr id="23" name="Shape 16"/>
          <p:cNvSpPr/>
          <p:nvPr/>
        </p:nvSpPr>
        <p:spPr>
          <a:xfrm>
            <a:off x="6648450" y="2066925"/>
            <a:ext cx="4829175" cy="381000"/>
          </a:xfrm>
          <a:prstGeom prst="roundRect">
            <a:avLst>
              <a:gd name="adj" fmla="val 25000"/>
            </a:avLst>
          </a:prstGeom>
          <a:solidFill>
            <a:srgbClr val="F4FFF7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760071" y="2169765"/>
            <a:ext cx="874216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 A — Siam</a:t>
            </a:r>
            <a:endParaRPr lang="en-US" sz="975" dirty="0"/>
          </a:p>
        </p:txBody>
      </p:sp>
      <p:sp>
        <p:nvSpPr>
          <p:cNvPr id="25" name="Text 18"/>
          <p:cNvSpPr txBox="1"/>
          <p:nvPr/>
        </p:nvSpPr>
        <p:spPr>
          <a:xfrm>
            <a:off x="10641509" y="2169765"/>
            <a:ext cx="721668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฿5.2M</a:t>
            </a:r>
            <a:pPr indent="0" marL="0">
              <a:buNone/>
            </a:pPr>
            <a:r>
              <a:rPr lang="en-US" sz="9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13.1%</a:t>
            </a:r>
            <a:endParaRPr lang="en-US" sz="975" dirty="0"/>
          </a:p>
        </p:txBody>
      </p:sp>
      <p:sp>
        <p:nvSpPr>
          <p:cNvPr id="26" name="Shape 19"/>
          <p:cNvSpPr/>
          <p:nvPr/>
        </p:nvSpPr>
        <p:spPr>
          <a:xfrm>
            <a:off x="6648450" y="2533650"/>
            <a:ext cx="4829175" cy="381000"/>
          </a:xfrm>
          <a:prstGeom prst="roundRect">
            <a:avLst>
              <a:gd name="adj" fmla="val 25000"/>
            </a:avLst>
          </a:prstGeom>
          <a:solidFill>
            <a:srgbClr val="F4FFF7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6760071" y="2641253"/>
            <a:ext cx="1187500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 B — Sukhumvit</a:t>
            </a:r>
            <a:endParaRPr lang="en-US" sz="975" dirty="0"/>
          </a:p>
        </p:txBody>
      </p:sp>
      <p:sp>
        <p:nvSpPr>
          <p:cNvPr id="28" name="Text 21"/>
          <p:cNvSpPr txBox="1"/>
          <p:nvPr/>
        </p:nvSpPr>
        <p:spPr>
          <a:xfrm>
            <a:off x="10594032" y="2641253"/>
            <a:ext cx="769144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฿4.8M</a:t>
            </a:r>
            <a:pPr indent="0" marL="0">
              <a:buNone/>
            </a:pPr>
            <a:r>
              <a:rPr lang="en-US" sz="9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12.4%</a:t>
            </a:r>
            <a:endParaRPr lang="en-US" sz="975" dirty="0"/>
          </a:p>
        </p:txBody>
      </p:sp>
      <p:sp>
        <p:nvSpPr>
          <p:cNvPr id="29" name="Shape 22"/>
          <p:cNvSpPr/>
          <p:nvPr/>
        </p:nvSpPr>
        <p:spPr>
          <a:xfrm>
            <a:off x="6648450" y="3009900"/>
            <a:ext cx="4829175" cy="381000"/>
          </a:xfrm>
          <a:prstGeom prst="roundRect">
            <a:avLst>
              <a:gd name="adj" fmla="val 25000"/>
            </a:avLst>
          </a:prstGeom>
          <a:solidFill>
            <a:srgbClr val="F4FFF7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6760071" y="3112740"/>
            <a:ext cx="1120378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 C — Bangkapi</a:t>
            </a:r>
            <a:endParaRPr lang="en-US" sz="975" dirty="0"/>
          </a:p>
        </p:txBody>
      </p:sp>
      <p:sp>
        <p:nvSpPr>
          <p:cNvPr id="31" name="Text 24"/>
          <p:cNvSpPr txBox="1"/>
          <p:nvPr/>
        </p:nvSpPr>
        <p:spPr>
          <a:xfrm>
            <a:off x="10664875" y="3112740"/>
            <a:ext cx="698302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฿4.1M</a:t>
            </a:r>
            <a:pPr indent="0" marL="0">
              <a:buNone/>
            </a:pPr>
            <a:r>
              <a:rPr lang="en-US" sz="9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11.9%</a:t>
            </a:r>
            <a:endParaRPr lang="en-US" sz="975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5771" y="3479453"/>
            <a:ext cx="4831705" cy="39528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769596" y="3593753"/>
            <a:ext cx="2958405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Chart • Table • SQL • Assumptions • Confidence 0.91</a:t>
            </a:r>
            <a:endParaRPr lang="en-US" sz="975" dirty="0"/>
          </a:p>
        </p:txBody>
      </p:sp>
      <p:sp>
        <p:nvSpPr>
          <p:cNvPr id="34" name="Text 26"/>
          <p:cNvSpPr txBox="1"/>
          <p:nvPr/>
        </p:nvSpPr>
        <p:spPr>
          <a:xfrm>
            <a:off x="11229677" y="3593753"/>
            <a:ext cx="123974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↗</a:t>
            </a:r>
            <a:endParaRPr lang="en-US" sz="975" dirty="0"/>
          </a:p>
        </p:txBody>
      </p:sp>
      <p:sp>
        <p:nvSpPr>
          <p:cNvPr id="35" name="Text 27"/>
          <p:cNvSpPr txBox="1"/>
          <p:nvPr/>
        </p:nvSpPr>
        <p:spPr>
          <a:xfrm>
            <a:off x="6502896" y="4198590"/>
            <a:ext cx="5117455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2302B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principle: user never writes SQL. LLM proposes, deterministic services validate. Trust comes from showing evidence, not just fluent answer.</a:t>
            </a:r>
            <a:endParaRPr lang="en-US" sz="9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4796" y="4684365"/>
            <a:ext cx="5212705" cy="1543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19100"/>
            <a:ext cx="11125200" cy="400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spc="-60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Easy memory - the golden path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847725"/>
            <a:ext cx="11125200" cy="3905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150"/>
              </a:spcBef>
              <a:buNone/>
            </a:pPr>
            <a:r>
              <a:rPr lang="en-US" sz="1050" dirty="0">
                <a:solidFill>
                  <a:srgbClr val="12302B">
                    <a:alpha val="6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→ API Gateway → Backend → Semantic Context → LLM Gateway → LLM proposes SQL → Validator approves SQL → Database executes SQL → LLM explains result → User sees evidence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650" y="1047750"/>
            <a:ext cx="11696700" cy="430053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533525"/>
            <a:ext cx="10877550" cy="3328988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157788"/>
            <a:ext cx="6583561" cy="1281113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04850" y="5534025"/>
            <a:ext cx="6240661" cy="7524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spc="116" kern="0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DISTINCTION</a:t>
            </a:r>
            <a:endParaRPr lang="en-US" sz="82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reasons and proposes. Deterministic backend services authorize, validate, execute.</a:t>
            </a:r>
            <a:pPr indent="0" marL="0">
              <a:buNone/>
            </a:pPr>
            <a:r>
              <a:rPr lang="en-US" sz="975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This separation makes Text-to-SQL safe for enterprise data. Frontend is untrusted. LLM never has DB credentials.</a:t>
            </a:r>
            <a:endParaRPr lang="en-US" sz="825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361" y="5157788"/>
            <a:ext cx="4389239" cy="1281113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7450336" y="5543550"/>
            <a:ext cx="4027289" cy="7334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spc="116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TRUST BOUNDARY</a:t>
            </a:r>
            <a:endParaRPr lang="en-US" sz="82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step versioned: </a:t>
            </a:r>
            <a:pPr indent="0" marL="0">
              <a:buNone/>
            </a:pPr>
            <a:r>
              <a:rPr lang="en-US" sz="975" b="1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model_version + dataset_version + policy_version + trace_id + user_scope</a:t>
            </a:r>
            <a:endParaRPr lang="en-US" sz="82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Response = </a:t>
            </a:r>
            <a:pPr indent="0" marL="0">
              <a:buNone/>
            </a:pPr>
            <a:r>
              <a:rPr lang="en-US" sz="975" b="1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Answer + Chart/Table + SQL + Freshness + Dataset + Assumptions + Confidence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57200"/>
            <a:ext cx="11125200" cy="3810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spc="-60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Frontend - React / Next.js + TypeScript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" y="800100"/>
            <a:ext cx="5819775" cy="581025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52475" y="1219200"/>
            <a:ext cx="503872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116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IT DOES - LIMITED AND TRUSTED BOUNDARY</a:t>
            </a:r>
            <a:endParaRPr lang="en-US" sz="825" dirty="0"/>
          </a:p>
        </p:txBody>
      </p:sp>
      <p:sp>
        <p:nvSpPr>
          <p:cNvPr id="5" name="Text 2"/>
          <p:cNvSpPr txBox="1"/>
          <p:nvPr/>
        </p:nvSpPr>
        <p:spPr>
          <a:xfrm>
            <a:off x="752475" y="1485900"/>
            <a:ext cx="5038725" cy="3714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13" b="1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Authenticate</a:t>
            </a:r>
            <a:pPr indent="0" marL="0">
              <a:buNone/>
            </a:pPr>
            <a:r>
              <a:rPr lang="en-US" sz="1013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via corporate SSO (Entra ID), attach access token and conversation_id</a:t>
            </a:r>
            <a:endParaRPr lang="en-US" sz="101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1547813"/>
            <a:ext cx="57150" cy="5715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52475" y="1552575"/>
            <a:ext cx="57150" cy="57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 txBox="1"/>
          <p:nvPr/>
        </p:nvSpPr>
        <p:spPr>
          <a:xfrm>
            <a:off x="752475" y="1933575"/>
            <a:ext cx="5038725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13" b="1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 question</a:t>
            </a:r>
            <a:pPr indent="0" marL="0">
              <a:buNone/>
            </a:pPr>
            <a:r>
              <a:rPr lang="en-US" sz="1013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– plain text, response_mode: chart_and_table</a:t>
            </a:r>
            <a:endParaRPr lang="en-US" sz="1013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1996678"/>
            <a:ext cx="57150" cy="5715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52475" y="2000250"/>
            <a:ext cx="57150" cy="57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 txBox="1"/>
          <p:nvPr/>
        </p:nvSpPr>
        <p:spPr>
          <a:xfrm>
            <a:off x="752475" y="2190750"/>
            <a:ext cx="5038725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13" b="1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Stream progress</a:t>
            </a:r>
            <a:pPr indent="0" marL="0">
              <a:buNone/>
            </a:pPr>
            <a:r>
              <a:rPr lang="en-US" sz="1013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via SSE or WebSocket, render table/chart, SQL if authorized</a:t>
            </a:r>
            <a:endParaRPr lang="en-US" sz="1013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2259211"/>
            <a:ext cx="57150" cy="5715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52475" y="2257425"/>
            <a:ext cx="57150" cy="57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8"/>
          <p:cNvSpPr txBox="1"/>
          <p:nvPr/>
        </p:nvSpPr>
        <p:spPr>
          <a:xfrm>
            <a:off x="752475" y="2457450"/>
            <a:ext cx="5038725" cy="3714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13" b="1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Show evidence</a:t>
            </a:r>
            <a:pPr indent="0" marL="0">
              <a:buNone/>
            </a:pPr>
            <a:r>
              <a:rPr lang="en-US" sz="1013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freshness, dataset, assumptions, confidence, download, feedback</a:t>
            </a:r>
            <a:endParaRPr lang="en-US" sz="1013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2521744"/>
            <a:ext cx="57150" cy="5715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52475" y="2524125"/>
            <a:ext cx="57150" cy="57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942034"/>
            <a:ext cx="5038725" cy="740569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895350" y="3075384"/>
            <a:ext cx="4752975" cy="4833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dirty="0">
                <a:solidFill>
                  <a:srgbClr val="2A4D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 /v1/chat/query</a:t>
            </a:r>
            <a:endParaRPr lang="en-US" sz="863" dirty="0"/>
          </a:p>
          <a:p>
            <a:pPr algn="l" indent="0" marL="0">
              <a:lnSpc>
                <a:spcPts val="1294"/>
              </a:lnSpc>
              <a:buNone/>
            </a:pPr>
            <a:r>
              <a:rPr lang="en-US" sz="863" dirty="0">
                <a:solidFill>
                  <a:srgbClr val="2A4D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{ "question": "Show sales by store in Bangkok last week", "conversation_id": "conv-789", "response_mode": "chart_and_table" }</a:t>
            </a:r>
            <a:endParaRPr lang="en-US" sz="863" dirty="0"/>
          </a:p>
        </p:txBody>
      </p:sp>
      <p:sp>
        <p:nvSpPr>
          <p:cNvPr id="19" name="Text 11"/>
          <p:cNvSpPr txBox="1"/>
          <p:nvPr/>
        </p:nvSpPr>
        <p:spPr>
          <a:xfrm>
            <a:off x="752475" y="3806428"/>
            <a:ext cx="2139404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Stack:</a:t>
            </a:r>
            <a:pPr indent="0" marL="0">
              <a:buNone/>
            </a:pPr>
            <a:r>
              <a:rPr lang="en-US" sz="900" dirty="0">
                <a:solidFill>
                  <a:srgbClr val="12302B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Next.js, TypeScript, Charting, SSO</a:t>
            </a:r>
            <a:endParaRPr lang="en-US" sz="9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0275" y="800100"/>
            <a:ext cx="5819775" cy="581025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6400800" y="1219200"/>
            <a:ext cx="503872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116" kern="0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IT DOES NOT DO - BACKEND PERSPECTIVE UNTRUSTED</a:t>
            </a:r>
            <a:endParaRPr lang="en-US" sz="825" dirty="0"/>
          </a:p>
        </p:txBody>
      </p:sp>
      <p:sp>
        <p:nvSpPr>
          <p:cNvPr id="22" name="Text 13"/>
          <p:cNvSpPr txBox="1"/>
          <p:nvPr/>
        </p:nvSpPr>
        <p:spPr>
          <a:xfrm>
            <a:off x="6400800" y="1485900"/>
            <a:ext cx="5038725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13" b="1" dirty="0">
                <a:solidFill>
                  <a:srgbClr val="7A2E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</a:t>
            </a:r>
            <a:pPr indent="0" marL="0">
              <a:buNone/>
            </a:pPr>
            <a:r>
              <a:rPr lang="en-US" sz="1013" dirty="0">
                <a:solidFill>
                  <a:srgbClr val="7A2E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store DB credentials, warehouse tokens</a:t>
            </a:r>
            <a:endParaRPr lang="en-US" sz="1013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1547813"/>
            <a:ext cx="57150" cy="5715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6400800" y="1552575"/>
            <a:ext cx="57150" cy="57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5"/>
          <p:cNvSpPr txBox="1"/>
          <p:nvPr/>
        </p:nvSpPr>
        <p:spPr>
          <a:xfrm>
            <a:off x="6400800" y="1743075"/>
            <a:ext cx="5038725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13" b="1" dirty="0">
                <a:solidFill>
                  <a:srgbClr val="7A2E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</a:t>
            </a:r>
            <a:pPr indent="0" marL="0">
              <a:buNone/>
            </a:pPr>
            <a:r>
              <a:rPr lang="en-US" sz="1013" dirty="0">
                <a:solidFill>
                  <a:srgbClr val="7A2E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hold LLM API keys or system prompt</a:t>
            </a:r>
            <a:endParaRPr lang="en-US" sz="1013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810345"/>
            <a:ext cx="57150" cy="57150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6400800" y="1809750"/>
            <a:ext cx="57150" cy="57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17"/>
          <p:cNvSpPr txBox="1"/>
          <p:nvPr/>
        </p:nvSpPr>
        <p:spPr>
          <a:xfrm>
            <a:off x="6400800" y="2009775"/>
            <a:ext cx="5038725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13" b="1" dirty="0">
                <a:solidFill>
                  <a:srgbClr val="7A2E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</a:t>
            </a:r>
            <a:pPr indent="0" marL="0">
              <a:buNone/>
            </a:pPr>
            <a:r>
              <a:rPr lang="en-US" sz="1013" dirty="0">
                <a:solidFill>
                  <a:srgbClr val="7A2E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execute SQL or decide authorization</a:t>
            </a:r>
            <a:endParaRPr lang="en-US" sz="1013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2072878"/>
            <a:ext cx="57150" cy="57150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6400800" y="2076450"/>
            <a:ext cx="57150" cy="57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19"/>
          <p:cNvSpPr txBox="1"/>
          <p:nvPr/>
        </p:nvSpPr>
        <p:spPr>
          <a:xfrm>
            <a:off x="6400800" y="2266950"/>
            <a:ext cx="5038725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13" b="1" dirty="0">
                <a:solidFill>
                  <a:srgbClr val="7A2E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</a:t>
            </a:r>
            <a:pPr indent="0" marL="0">
              <a:buNone/>
            </a:pPr>
            <a:r>
              <a:rPr lang="en-US" sz="1013" dirty="0">
                <a:solidFill>
                  <a:srgbClr val="7A2E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calculate business logic or cost</a:t>
            </a:r>
            <a:endParaRPr lang="en-US" sz="1013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2335411"/>
            <a:ext cx="57150" cy="57150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6400800" y="2333625"/>
            <a:ext cx="57150" cy="57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1"/>
          <p:cNvSpPr txBox="1"/>
          <p:nvPr/>
        </p:nvSpPr>
        <p:spPr>
          <a:xfrm>
            <a:off x="6400800" y="2533650"/>
            <a:ext cx="5038725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13" b="1" dirty="0">
                <a:solidFill>
                  <a:srgbClr val="7A2E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</a:t>
            </a:r>
            <a:pPr indent="0" marL="0">
              <a:buNone/>
            </a:pPr>
            <a:r>
              <a:rPr lang="en-US" sz="1013" dirty="0">
                <a:solidFill>
                  <a:srgbClr val="7A2E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bypass API Gateway – all via validated tokens</a:t>
            </a:r>
            <a:endParaRPr lang="en-US" sz="1013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2597944"/>
            <a:ext cx="57150" cy="57150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6400800" y="2600325"/>
            <a:ext cx="57150" cy="57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2889052"/>
            <a:ext cx="5038725" cy="623888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6534150" y="3031927"/>
            <a:ext cx="4772025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spcBef>
                <a:spcPts val="450"/>
              </a:spcBef>
              <a:buNone/>
            </a:pPr>
            <a:r>
              <a:rPr lang="en-US" sz="938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indent="0" marL="0">
              <a:buNone/>
            </a:pPr>
            <a:r>
              <a:rPr lang="en-US" sz="938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Frontend is untrusted. Safety relies on backend validation, not UI controls. If UI can be spoofed, backend still enforces SELECT-only + row-level. </a:t>
            </a:r>
            <a:endParaRPr lang="en-US" sz="938" dirty="0"/>
          </a:p>
        </p:txBody>
      </p:sp>
      <p:sp>
        <p:nvSpPr>
          <p:cNvPr id="39" name="Text 24"/>
          <p:cNvSpPr txBox="1"/>
          <p:nvPr/>
        </p:nvSpPr>
        <p:spPr>
          <a:xfrm>
            <a:off x="6534150" y="3028950"/>
            <a:ext cx="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1124396"/>
            <a:ext cx="111252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132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FIRST BACKEND ENTRY • PROTECTS YOUR APP APIS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1424434"/>
            <a:ext cx="11125200" cy="37995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92"/>
              </a:lnSpc>
              <a:spcAft>
                <a:spcPts val="450"/>
              </a:spcAft>
              <a:buNone/>
            </a:pPr>
            <a:r>
              <a:rPr lang="en-US" sz="2850" b="1" spc="-57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Gateway - protects your application APIs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33400" y="2124075"/>
            <a:ext cx="5429250" cy="1371600"/>
          </a:xfrm>
          <a:prstGeom prst="roundRect">
            <a:avLst>
              <a:gd name="adj" fmla="val 12500"/>
            </a:avLst>
          </a:prstGeom>
          <a:solidFill>
            <a:srgbClr val="13302B"/>
          </a:solidFill>
          <a:ln/>
          <a:effectLst>
            <a:outerShdw sx="100000" sy="100000" kx="0" ky="0" algn="bl" rotWithShape="0" blurRad="190500" dist="38100" dir="5400000">
              <a:srgbClr val="0F918B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23900" y="2309217"/>
            <a:ext cx="504825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116" kern="0" dirty="0">
                <a:solidFill>
                  <a:srgbClr val="5FD6DE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FRONTEND → GATEWAY → BACKEND</a:t>
            </a:r>
            <a:endParaRPr lang="en-US" sz="82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2533055"/>
            <a:ext cx="1085999" cy="3333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7725" y="2609255"/>
            <a:ext cx="838349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4F5F4"/>
                </a:solidFill>
                <a:highlight>
                  <a:srgbClr val="E2F2F1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Web / Teams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149" y="2652117"/>
            <a:ext cx="83344" cy="9525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743" y="2542580"/>
            <a:ext cx="712143" cy="31432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198043" y="2609255"/>
            <a:ext cx="483543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highlight>
                  <a:srgbClr val="0F918B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API GW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1135" y="2652117"/>
            <a:ext cx="83344" cy="95250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9729" y="2533055"/>
            <a:ext cx="1099840" cy="33337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3193554" y="2609255"/>
            <a:ext cx="852190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4F5F4"/>
                </a:solidFill>
                <a:highlight>
                  <a:srgbClr val="E2F2F1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Orchestrator</a:t>
            </a:r>
            <a:endParaRPr lang="en-US" sz="1050" dirty="0"/>
          </a:p>
        </p:txBody>
      </p:sp>
      <p:sp>
        <p:nvSpPr>
          <p:cNvPr id="14" name="Text 7"/>
          <p:cNvSpPr txBox="1"/>
          <p:nvPr/>
        </p:nvSpPr>
        <p:spPr>
          <a:xfrm>
            <a:off x="723900" y="2990255"/>
            <a:ext cx="5048250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900"/>
              </a:spcBef>
              <a:buNone/>
            </a:pPr>
            <a:r>
              <a:rPr lang="en-US" sz="900" dirty="0">
                <a:solidFill>
                  <a:srgbClr val="E4F5F4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Frontend is untrusted. Gateway is policy enforcement point before any business logic. No SQL, no LLM key ever passes here.</a:t>
            </a:r>
            <a:endParaRPr lang="en-US" sz="9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3418880"/>
            <a:ext cx="5810250" cy="2265759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733425" y="3837980"/>
            <a:ext cx="50292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116" kern="0" dirty="0">
                <a:solidFill>
                  <a:srgbClr val="13302B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HANDLES</a:t>
            </a:r>
            <a:endParaRPr lang="en-US" sz="825" dirty="0"/>
          </a:p>
        </p:txBody>
      </p:sp>
      <p:sp>
        <p:nvSpPr>
          <p:cNvPr id="17" name="Text 9"/>
          <p:cNvSpPr txBox="1"/>
          <p:nvPr/>
        </p:nvSpPr>
        <p:spPr>
          <a:xfrm>
            <a:off x="1114425" y="4152900"/>
            <a:ext cx="4648200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 validation,</a:t>
            </a:r>
            <a:pPr indent="0" marL="0">
              <a:buNone/>
            </a:pPr>
            <a:r>
              <a:rPr lang="en-US" sz="975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TLS termination, CORS, WAF</a:t>
            </a:r>
            <a:endParaRPr lang="en-US" sz="975" dirty="0"/>
          </a:p>
        </p:txBody>
      </p:sp>
      <p:sp>
        <p:nvSpPr>
          <p:cNvPr id="18" name="Text 10"/>
          <p:cNvSpPr txBox="1"/>
          <p:nvPr/>
        </p:nvSpPr>
        <p:spPr>
          <a:xfrm>
            <a:off x="1114425" y="4181475"/>
            <a:ext cx="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1"/>
          <p:cNvSpPr txBox="1"/>
          <p:nvPr/>
        </p:nvSpPr>
        <p:spPr>
          <a:xfrm>
            <a:off x="1114425" y="4410075"/>
            <a:ext cx="4648200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Rate limiting,</a:t>
            </a:r>
            <a:pPr indent="0" marL="0">
              <a:buNone/>
            </a:pPr>
            <a:r>
              <a:rPr lang="en-US" sz="975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request-size limits, timeout controls</a:t>
            </a:r>
            <a:endParaRPr lang="en-US" sz="975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4425" y="4441329"/>
            <a:ext cx="128588" cy="150912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114425" y="4667250"/>
            <a:ext cx="4648200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Versioning, routing,</a:t>
            </a:r>
            <a:pPr indent="0" marL="0">
              <a:buNone/>
            </a:pPr>
            <a:r>
              <a:rPr lang="en-US" sz="975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trace_id / request_id injection</a:t>
            </a:r>
            <a:endParaRPr lang="en-US" sz="975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4425" y="4697016"/>
            <a:ext cx="100013" cy="150912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1114425" y="4924425"/>
            <a:ext cx="4648200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Basic audit logging</a:t>
            </a:r>
            <a:pPr indent="0" marL="0">
              <a:buNone/>
            </a:pPr>
            <a:r>
              <a:rPr lang="en-US" sz="975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who asked what, when</a:t>
            </a:r>
            <a:endParaRPr lang="en-US" sz="975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4425" y="4952702"/>
            <a:ext cx="85725" cy="150912"/>
          </a:xfrm>
          <a:prstGeom prst="rect">
            <a:avLst/>
          </a:prstGeom>
        </p:spPr>
      </p:pic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8850" y="1899642"/>
            <a:ext cx="5810250" cy="2595563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6429375" y="2318742"/>
            <a:ext cx="50292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116" kern="0" dirty="0">
                <a:solidFill>
                  <a:srgbClr val="13302B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 ENDPOINTS</a:t>
            </a:r>
            <a:endParaRPr lang="en-US" sz="825" dirty="0"/>
          </a:p>
        </p:txBody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9375" y="2542580"/>
            <a:ext cx="5029200" cy="342900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6553200" y="2637830"/>
            <a:ext cx="1077664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 /v1/chat/query</a:t>
            </a:r>
            <a:endParaRPr lang="en-US" sz="900" dirty="0"/>
          </a:p>
        </p:txBody>
      </p:sp>
      <p:sp>
        <p:nvSpPr>
          <p:cNvPr id="29" name="Text 16"/>
          <p:cNvSpPr txBox="1"/>
          <p:nvPr/>
        </p:nvSpPr>
        <p:spPr>
          <a:xfrm>
            <a:off x="10878294" y="2637830"/>
            <a:ext cx="456456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async</a:t>
            </a:r>
            <a:endParaRPr lang="en-US" sz="90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9375" y="2942630"/>
            <a:ext cx="5029200" cy="342900"/>
          </a:xfrm>
          <a:prstGeom prst="rect">
            <a:avLst/>
          </a:prstGeom>
        </p:spPr>
      </p:pic>
      <p:sp>
        <p:nvSpPr>
          <p:cNvPr id="31" name="Text 17"/>
          <p:cNvSpPr txBox="1"/>
          <p:nvPr/>
        </p:nvSpPr>
        <p:spPr>
          <a:xfrm>
            <a:off x="6553200" y="3037880"/>
            <a:ext cx="1340197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 /v1/query/{id}/status</a:t>
            </a:r>
            <a:endParaRPr lang="en-US" sz="900" dirty="0"/>
          </a:p>
        </p:txBody>
      </p:sp>
      <p:sp>
        <p:nvSpPr>
          <p:cNvPr id="32" name="Text 18"/>
          <p:cNvSpPr txBox="1"/>
          <p:nvPr/>
        </p:nvSpPr>
        <p:spPr>
          <a:xfrm>
            <a:off x="10856863" y="3037880"/>
            <a:ext cx="477887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SSE / WS</a:t>
            </a:r>
            <a:endParaRPr lang="en-US" sz="900" dirty="0"/>
          </a:p>
        </p:txBody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3342680"/>
            <a:ext cx="5029200" cy="342900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6553200" y="3437930"/>
            <a:ext cx="1311771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 /v1/query/{id}/result</a:t>
            </a:r>
            <a:endParaRPr lang="en-US" sz="900" dirty="0"/>
          </a:p>
        </p:txBody>
      </p:sp>
      <p:sp>
        <p:nvSpPr>
          <p:cNvPr id="35" name="Text 20"/>
          <p:cNvSpPr txBox="1"/>
          <p:nvPr/>
        </p:nvSpPr>
        <p:spPr>
          <a:xfrm>
            <a:off x="10722471" y="3437930"/>
            <a:ext cx="612279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table+chart</a:t>
            </a:r>
            <a:endParaRPr lang="en-US" sz="900" dirty="0"/>
          </a:p>
        </p:txBody>
      </p:sp>
      <p:pic>
        <p:nvPicPr>
          <p:cNvPr id="3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29375" y="3742730"/>
            <a:ext cx="5029200" cy="342900"/>
          </a:xfrm>
          <a:prstGeom prst="rect">
            <a:avLst/>
          </a:prstGeom>
        </p:spPr>
      </p:pic>
      <p:sp>
        <p:nvSpPr>
          <p:cNvPr id="37" name="Text 21"/>
          <p:cNvSpPr txBox="1"/>
          <p:nvPr/>
        </p:nvSpPr>
        <p:spPr>
          <a:xfrm>
            <a:off x="6553200" y="3837980"/>
            <a:ext cx="994023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 /v1/feedback</a:t>
            </a:r>
            <a:endParaRPr lang="en-US" sz="900" dirty="0"/>
          </a:p>
        </p:txBody>
      </p:sp>
      <p:sp>
        <p:nvSpPr>
          <p:cNvPr id="38" name="Text 22"/>
          <p:cNvSpPr txBox="1"/>
          <p:nvPr/>
        </p:nvSpPr>
        <p:spPr>
          <a:xfrm>
            <a:off x="10432107" y="3837980"/>
            <a:ext cx="902643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thumbs up/down</a:t>
            </a:r>
            <a:endParaRPr lang="en-US" sz="900" dirty="0"/>
          </a:p>
        </p:txBody>
      </p:sp>
      <p:pic>
        <p:nvPicPr>
          <p:cNvPr id="3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38850" y="4171355"/>
            <a:ext cx="5810250" cy="1800225"/>
          </a:xfrm>
          <a:prstGeom prst="rect">
            <a:avLst/>
          </a:prstGeom>
        </p:spPr>
      </p:pic>
      <p:sp>
        <p:nvSpPr>
          <p:cNvPr id="40" name="Text 23"/>
          <p:cNvSpPr txBox="1"/>
          <p:nvPr/>
        </p:nvSpPr>
        <p:spPr>
          <a:xfrm>
            <a:off x="6429375" y="4590455"/>
            <a:ext cx="50292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116" kern="0" dirty="0">
                <a:solidFill>
                  <a:srgbClr val="13302B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IMPLEMENTATION OPTIONS</a:t>
            </a:r>
            <a:endParaRPr lang="en-US" sz="825" dirty="0"/>
          </a:p>
        </p:txBody>
      </p:sp>
      <p:pic>
        <p:nvPicPr>
          <p:cNvPr id="4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29375" y="4814292"/>
            <a:ext cx="789384" cy="290513"/>
          </a:xfrm>
          <a:prstGeom prst="rect">
            <a:avLst/>
          </a:prstGeom>
        </p:spPr>
      </p:pic>
      <p:sp>
        <p:nvSpPr>
          <p:cNvPr id="42" name="Text 24"/>
          <p:cNvSpPr txBox="1"/>
          <p:nvPr/>
        </p:nvSpPr>
        <p:spPr>
          <a:xfrm>
            <a:off x="6534150" y="4890492"/>
            <a:ext cx="579834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Azure APIM</a:t>
            </a:r>
            <a:endParaRPr lang="en-US" sz="825" dirty="0"/>
          </a:p>
        </p:txBody>
      </p:sp>
      <p:pic>
        <p:nvPicPr>
          <p:cNvPr id="4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94959" y="4814292"/>
            <a:ext cx="850255" cy="290513"/>
          </a:xfrm>
          <a:prstGeom prst="rect">
            <a:avLst/>
          </a:prstGeom>
        </p:spPr>
      </p:pic>
      <p:sp>
        <p:nvSpPr>
          <p:cNvPr id="44" name="Text 25"/>
          <p:cNvSpPr txBox="1"/>
          <p:nvPr/>
        </p:nvSpPr>
        <p:spPr>
          <a:xfrm>
            <a:off x="7399734" y="4890492"/>
            <a:ext cx="64070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AWS API GW</a:t>
            </a:r>
            <a:endParaRPr lang="en-US" sz="825" dirty="0"/>
          </a:p>
        </p:txBody>
      </p:sp>
      <p:pic>
        <p:nvPicPr>
          <p:cNvPr id="4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21414" y="4814292"/>
            <a:ext cx="464493" cy="290513"/>
          </a:xfrm>
          <a:prstGeom prst="rect">
            <a:avLst/>
          </a:prstGeom>
        </p:spPr>
      </p:pic>
      <p:sp>
        <p:nvSpPr>
          <p:cNvPr id="46" name="Text 26"/>
          <p:cNvSpPr txBox="1"/>
          <p:nvPr/>
        </p:nvSpPr>
        <p:spPr>
          <a:xfrm>
            <a:off x="8326189" y="4890492"/>
            <a:ext cx="254943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Kong</a:t>
            </a:r>
            <a:endParaRPr lang="en-US" sz="825" dirty="0"/>
          </a:p>
        </p:txBody>
      </p:sp>
      <p:pic>
        <p:nvPicPr>
          <p:cNvPr id="4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62107" y="4814292"/>
            <a:ext cx="567779" cy="290513"/>
          </a:xfrm>
          <a:prstGeom prst="rect">
            <a:avLst/>
          </a:prstGeom>
        </p:spPr>
      </p:pic>
      <p:sp>
        <p:nvSpPr>
          <p:cNvPr id="48" name="Text 27"/>
          <p:cNvSpPr txBox="1"/>
          <p:nvPr/>
        </p:nvSpPr>
        <p:spPr>
          <a:xfrm>
            <a:off x="8866882" y="4890492"/>
            <a:ext cx="358229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Apigee</a:t>
            </a:r>
            <a:endParaRPr lang="en-US" sz="825" dirty="0"/>
          </a:p>
        </p:txBody>
      </p:sp>
      <p:pic>
        <p:nvPicPr>
          <p:cNvPr id="4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06086" y="4814292"/>
            <a:ext cx="542627" cy="290513"/>
          </a:xfrm>
          <a:prstGeom prst="rect">
            <a:avLst/>
          </a:prstGeom>
        </p:spPr>
      </p:pic>
      <p:sp>
        <p:nvSpPr>
          <p:cNvPr id="50" name="Text 28"/>
          <p:cNvSpPr txBox="1"/>
          <p:nvPr/>
        </p:nvSpPr>
        <p:spPr>
          <a:xfrm>
            <a:off x="9510861" y="4890492"/>
            <a:ext cx="33307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NGINX</a:t>
            </a:r>
            <a:endParaRPr lang="en-US" sz="825" dirty="0"/>
          </a:p>
        </p:txBody>
      </p:sp>
      <p:pic>
        <p:nvPicPr>
          <p:cNvPr id="5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24914" y="4814292"/>
            <a:ext cx="839986" cy="290513"/>
          </a:xfrm>
          <a:prstGeom prst="rect">
            <a:avLst/>
          </a:prstGeom>
        </p:spPr>
      </p:pic>
      <p:sp>
        <p:nvSpPr>
          <p:cNvPr id="52" name="Text 29"/>
          <p:cNvSpPr txBox="1"/>
          <p:nvPr/>
        </p:nvSpPr>
        <p:spPr>
          <a:xfrm>
            <a:off x="10129689" y="4890492"/>
            <a:ext cx="630436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Tencent GW</a:t>
            </a:r>
            <a:endParaRPr lang="en-US" sz="825" dirty="0"/>
          </a:p>
        </p:txBody>
      </p:sp>
      <p:sp>
        <p:nvSpPr>
          <p:cNvPr id="53" name="Text 30"/>
          <p:cNvSpPr txBox="1"/>
          <p:nvPr/>
        </p:nvSpPr>
        <p:spPr>
          <a:xfrm>
            <a:off x="6429375" y="5228630"/>
            <a:ext cx="5029200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900"/>
              </a:spcBef>
              <a:buNone/>
            </a:pPr>
            <a:r>
              <a:rPr lang="en-US" sz="900" dirty="0">
                <a:solidFill>
                  <a:srgbClr val="12302B">
                    <a:alpha val="6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Choose managed. Don't build auth/rate-limit yourself. Gateway never sees DB credentials or LLM prompts — only token + question reference.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00050"/>
            <a:ext cx="11125200" cy="37995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92"/>
              </a:lnSpc>
              <a:buNone/>
            </a:pPr>
            <a:r>
              <a:rPr lang="en-US" sz="2850" b="1" spc="-57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 backend - FastAPI orchestrator, the brain</a:t>
            </a:r>
            <a:endParaRPr lang="en-US" sz="285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780008"/>
            <a:ext cx="8572500" cy="1732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3302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FastAPI for AI orchestration, keep security deterministic. Never ask LLM to do everything in one prompt — use controlled state machine.</a:t>
            </a:r>
            <a:endParaRPr lang="en-US" sz="97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" y="877044"/>
            <a:ext cx="4498032" cy="27833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3425" y="1277094"/>
            <a:ext cx="375508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spc="120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STACK CHOICE</a:t>
            </a:r>
            <a:endParaRPr lang="en-US" sz="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486644"/>
            <a:ext cx="963216" cy="27146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8675" y="1553319"/>
            <a:ext cx="772716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F918B"/>
                </a:solidFill>
                <a:highlight>
                  <a:srgbClr val="E7F4F3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Python FastAPI</a:t>
            </a:r>
            <a:endParaRPr lang="en-US" sz="825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841" y="1486644"/>
            <a:ext cx="943124" cy="271463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868091" y="1553319"/>
            <a:ext cx="752624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F918B"/>
                </a:solidFill>
                <a:highlight>
                  <a:srgbClr val="E7F4F3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Spring Boot alt</a:t>
            </a:r>
            <a:endParaRPr lang="en-US" sz="825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2164" y="1486644"/>
            <a:ext cx="1176784" cy="271463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2887414" y="1553319"/>
            <a:ext cx="986284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F918B"/>
                </a:solidFill>
                <a:highlight>
                  <a:srgbClr val="E7F4F3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Pydantic validation</a:t>
            </a:r>
            <a:endParaRPr lang="en-US" sz="825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1834307"/>
            <a:ext cx="1203722" cy="271463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828675" y="1900982"/>
            <a:ext cx="101322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F918B"/>
                </a:solidFill>
                <a:highlight>
                  <a:srgbClr val="E7F4F3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LangGraph optional</a:t>
            </a:r>
            <a:endParaRPr lang="en-US" sz="825" dirty="0"/>
          </a:p>
        </p:txBody>
      </p:sp>
      <p:sp>
        <p:nvSpPr>
          <p:cNvPr id="14" name="Text 7"/>
          <p:cNvSpPr txBox="1"/>
          <p:nvPr/>
        </p:nvSpPr>
        <p:spPr>
          <a:xfrm>
            <a:off x="733425" y="2247900"/>
            <a:ext cx="0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8"/>
          <p:cNvSpPr txBox="1"/>
          <p:nvPr/>
        </p:nvSpPr>
        <p:spPr>
          <a:xfrm>
            <a:off x="819150" y="2220069"/>
            <a:ext cx="3669357" cy="35897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Security deterministic</a:t>
            </a:r>
            <a:pPr indent="0" marL="0">
              <a:buNone/>
            </a:pPr>
            <a:r>
              <a:rPr lang="en-US" sz="9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parser, allowlist, Unity Catalog, not LLM</a:t>
            </a:r>
            <a:endParaRPr lang="en-US" sz="975" dirty="0"/>
          </a:p>
        </p:txBody>
      </p:sp>
      <p:sp>
        <p:nvSpPr>
          <p:cNvPr id="16" name="Text 9"/>
          <p:cNvSpPr txBox="1"/>
          <p:nvPr/>
        </p:nvSpPr>
        <p:spPr>
          <a:xfrm>
            <a:off x="733425" y="2686050"/>
            <a:ext cx="0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0"/>
          <p:cNvSpPr txBox="1"/>
          <p:nvPr/>
        </p:nvSpPr>
        <p:spPr>
          <a:xfrm>
            <a:off x="819150" y="2655243"/>
            <a:ext cx="3669357" cy="35897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is proposer only</a:t>
            </a:r>
            <a:pPr indent="0" marL="0">
              <a:buNone/>
            </a:pPr>
            <a:r>
              <a:rPr lang="en-US" sz="9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backend authorizes, validates, executes</a:t>
            </a:r>
            <a:endParaRPr lang="en-US" sz="975" dirty="0"/>
          </a:p>
        </p:txBody>
      </p:sp>
      <p:sp>
        <p:nvSpPr>
          <p:cNvPr id="18" name="Text 11"/>
          <p:cNvSpPr txBox="1"/>
          <p:nvPr/>
        </p:nvSpPr>
        <p:spPr>
          <a:xfrm>
            <a:off x="733425" y="3114675"/>
            <a:ext cx="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2"/>
          <p:cNvSpPr txBox="1"/>
          <p:nvPr/>
        </p:nvSpPr>
        <p:spPr>
          <a:xfrm>
            <a:off x="819150" y="3090416"/>
            <a:ext cx="3078212" cy="1794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steps logged</a:t>
            </a:r>
            <a:pPr indent="0" marL="0">
              <a:buNone/>
            </a:pPr>
            <a:r>
              <a:rPr lang="en-US" sz="9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with trace_id — auditable, replayable</a:t>
            </a:r>
            <a:endParaRPr lang="en-US" sz="975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950" y="3374678"/>
            <a:ext cx="4498032" cy="155733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33425" y="3774728"/>
            <a:ext cx="375508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spc="120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NOT SINGLE PROMPT?</a:t>
            </a:r>
            <a:endParaRPr lang="en-US" sz="750" dirty="0"/>
          </a:p>
        </p:txBody>
      </p:sp>
      <p:sp>
        <p:nvSpPr>
          <p:cNvPr id="22" name="Text 14"/>
          <p:cNvSpPr txBox="1"/>
          <p:nvPr/>
        </p:nvSpPr>
        <p:spPr>
          <a:xfrm>
            <a:off x="733425" y="3993803"/>
            <a:ext cx="3755082" cy="547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 prompt = unsafe.</a:t>
            </a:r>
            <a:pPr indent="0" marL="0">
              <a:buNone/>
            </a:pPr>
            <a:r>
              <a:rPr lang="en-US" sz="9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Skips auth, sends full catalog, no validation, no cost control. State machine guarantees validator cannot be bypassed.</a:t>
            </a:r>
            <a:endParaRPr lang="en-US" sz="975" dirty="0"/>
          </a:p>
        </p:txBody>
      </p:sp>
      <p:sp>
        <p:nvSpPr>
          <p:cNvPr id="23" name="Shape 15"/>
          <p:cNvSpPr/>
          <p:nvPr/>
        </p:nvSpPr>
        <p:spPr>
          <a:xfrm>
            <a:off x="4876800" y="1085850"/>
            <a:ext cx="6781800" cy="5372100"/>
          </a:xfrm>
          <a:prstGeom prst="roundRect">
            <a:avLst>
              <a:gd name="adj" fmla="val 3901"/>
            </a:avLst>
          </a:prstGeom>
          <a:solidFill>
            <a:srgbClr val="13302B"/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5069532" y="1269950"/>
            <a:ext cx="3054400" cy="2047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spc="-11" kern="0" dirty="0">
                <a:solidFill>
                  <a:srgbClr val="E4F5F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Orchestrator does 12 steps — deterministic</a:t>
            </a:r>
            <a:endParaRPr lang="en-US" sz="1125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3051" y="1258044"/>
            <a:ext cx="1104900" cy="219075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0439251" y="1305669"/>
            <a:ext cx="95250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TRACE_ID • AUDIT</a:t>
            </a:r>
            <a:endParaRPr lang="en-US" sz="7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9532" y="1591419"/>
            <a:ext cx="3142059" cy="476548"/>
          </a:xfrm>
          <a:prstGeom prst="rect">
            <a:avLst/>
          </a:prstGeom>
        </p:spPr>
      </p:pic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74307" y="1686669"/>
            <a:ext cx="209550" cy="20955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5259884" y="1722388"/>
            <a:ext cx="123974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E26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825" dirty="0"/>
          </a:p>
        </p:txBody>
      </p:sp>
      <p:sp>
        <p:nvSpPr>
          <p:cNvPr id="30" name="Text 19"/>
          <p:cNvSpPr txBox="1"/>
          <p:nvPr/>
        </p:nvSpPr>
        <p:spPr>
          <a:xfrm>
            <a:off x="5479107" y="1686669"/>
            <a:ext cx="1439614" cy="1370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Validate user &amp; request</a:t>
            </a:r>
            <a:endParaRPr lang="en-US" sz="900" dirty="0"/>
          </a:p>
        </p:txBody>
      </p:sp>
      <p:sp>
        <p:nvSpPr>
          <p:cNvPr id="31" name="Text 20"/>
          <p:cNvSpPr txBox="1"/>
          <p:nvPr/>
        </p:nvSpPr>
        <p:spPr>
          <a:xfrm>
            <a:off x="5479107" y="1842790"/>
            <a:ext cx="1439614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150"/>
              </a:spcBef>
              <a:buNone/>
            </a:pPr>
            <a:r>
              <a:rPr lang="en-US" sz="788" dirty="0">
                <a:solidFill>
                  <a:srgbClr val="E4F5F4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SSO token, schema of question</a:t>
            </a:r>
            <a:endParaRPr lang="en-US" sz="788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5892" y="1591419"/>
            <a:ext cx="3142059" cy="476548"/>
          </a:xfrm>
          <a:prstGeom prst="rect">
            <a:avLst/>
          </a:prstGeom>
        </p:spPr>
      </p:pic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0667" y="1686669"/>
            <a:ext cx="209550" cy="209550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8505081" y="1722388"/>
            <a:ext cx="135136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E26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825" dirty="0"/>
          </a:p>
        </p:txBody>
      </p:sp>
      <p:sp>
        <p:nvSpPr>
          <p:cNvPr id="35" name="Text 22"/>
          <p:cNvSpPr txBox="1"/>
          <p:nvPr/>
        </p:nvSpPr>
        <p:spPr>
          <a:xfrm>
            <a:off x="8735467" y="1686669"/>
            <a:ext cx="1198066" cy="1370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 permissions</a:t>
            </a:r>
            <a:endParaRPr lang="en-US" sz="900" dirty="0"/>
          </a:p>
        </p:txBody>
      </p:sp>
      <p:sp>
        <p:nvSpPr>
          <p:cNvPr id="36" name="Text 23"/>
          <p:cNvSpPr txBox="1"/>
          <p:nvPr/>
        </p:nvSpPr>
        <p:spPr>
          <a:xfrm>
            <a:off x="8735467" y="1842790"/>
            <a:ext cx="1198066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150"/>
              </a:spcBef>
              <a:buNone/>
            </a:pPr>
            <a:r>
              <a:rPr lang="en-US" sz="788" dirty="0">
                <a:solidFill>
                  <a:srgbClr val="E4F5F4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Roles, row/col level, region</a:t>
            </a:r>
            <a:endParaRPr lang="en-US" sz="788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9532" y="2144167"/>
            <a:ext cx="3142059" cy="476548"/>
          </a:xfrm>
          <a:prstGeom prst="rect">
            <a:avLst/>
          </a:prstGeom>
        </p:spPr>
      </p:pic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74307" y="2239417"/>
            <a:ext cx="209550" cy="209550"/>
          </a:xfrm>
          <a:prstGeom prst="rect">
            <a:avLst/>
          </a:prstGeom>
        </p:spPr>
      </p:pic>
      <p:sp>
        <p:nvSpPr>
          <p:cNvPr id="39" name="Text 24"/>
          <p:cNvSpPr txBox="1"/>
          <p:nvPr/>
        </p:nvSpPr>
        <p:spPr>
          <a:xfrm>
            <a:off x="5247382" y="2275136"/>
            <a:ext cx="136475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E26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825" dirty="0"/>
          </a:p>
        </p:txBody>
      </p:sp>
      <p:sp>
        <p:nvSpPr>
          <p:cNvPr id="40" name="Text 25"/>
          <p:cNvSpPr txBox="1"/>
          <p:nvPr/>
        </p:nvSpPr>
        <p:spPr>
          <a:xfrm>
            <a:off x="5479107" y="2239417"/>
            <a:ext cx="1278731" cy="1370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Classify intent</a:t>
            </a:r>
            <a:endParaRPr lang="en-US" sz="900" dirty="0"/>
          </a:p>
        </p:txBody>
      </p:sp>
      <p:sp>
        <p:nvSpPr>
          <p:cNvPr id="41" name="Text 26"/>
          <p:cNvSpPr txBox="1"/>
          <p:nvPr/>
        </p:nvSpPr>
        <p:spPr>
          <a:xfrm>
            <a:off x="5479107" y="2395538"/>
            <a:ext cx="1278731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150"/>
              </a:spcBef>
              <a:buNone/>
            </a:pPr>
            <a:r>
              <a:rPr lang="en-US" sz="788" dirty="0">
                <a:solidFill>
                  <a:srgbClr val="E4F5F4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 vs RAG vs API vs clarify</a:t>
            </a:r>
            <a:endParaRPr lang="en-US" sz="788" dirty="0"/>
          </a:p>
        </p:txBody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25892" y="2144167"/>
            <a:ext cx="3142059" cy="476548"/>
          </a:xfrm>
          <a:prstGeom prst="rect">
            <a:avLst/>
          </a:prstGeom>
        </p:spPr>
      </p:pic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30667" y="2239417"/>
            <a:ext cx="209550" cy="209550"/>
          </a:xfrm>
          <a:prstGeom prst="rect">
            <a:avLst/>
          </a:prstGeom>
        </p:spPr>
      </p:pic>
      <p:sp>
        <p:nvSpPr>
          <p:cNvPr id="44" name="Text 27"/>
          <p:cNvSpPr txBox="1"/>
          <p:nvPr/>
        </p:nvSpPr>
        <p:spPr>
          <a:xfrm>
            <a:off x="8501360" y="2275136"/>
            <a:ext cx="138857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E26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825" dirty="0"/>
          </a:p>
        </p:txBody>
      </p:sp>
      <p:sp>
        <p:nvSpPr>
          <p:cNvPr id="45" name="Text 28"/>
          <p:cNvSpPr txBox="1"/>
          <p:nvPr/>
        </p:nvSpPr>
        <p:spPr>
          <a:xfrm>
            <a:off x="8735467" y="2239417"/>
            <a:ext cx="1618357" cy="1370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Retrieve semantic metadata</a:t>
            </a:r>
            <a:endParaRPr lang="en-US" sz="900" dirty="0"/>
          </a:p>
        </p:txBody>
      </p:sp>
      <p:sp>
        <p:nvSpPr>
          <p:cNvPr id="46" name="Text 29"/>
          <p:cNvSpPr txBox="1"/>
          <p:nvPr/>
        </p:nvSpPr>
        <p:spPr>
          <a:xfrm>
            <a:off x="8735467" y="2395538"/>
            <a:ext cx="1618357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150"/>
              </a:spcBef>
              <a:buNone/>
            </a:pPr>
            <a:r>
              <a:rPr lang="en-US" sz="788" dirty="0">
                <a:solidFill>
                  <a:srgbClr val="E4F5F4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Relevant views only, not full catalog</a:t>
            </a:r>
            <a:endParaRPr lang="en-US" sz="788" dirty="0"/>
          </a:p>
        </p:txBody>
      </p:sp>
      <p:pic>
        <p:nvPicPr>
          <p:cNvPr id="4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69532" y="2696914"/>
            <a:ext cx="3142059" cy="476548"/>
          </a:xfrm>
          <a:prstGeom prst="rect">
            <a:avLst/>
          </a:prstGeom>
        </p:spPr>
      </p:pic>
      <p:pic>
        <p:nvPicPr>
          <p:cNvPr id="4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74307" y="2792164"/>
            <a:ext cx="209550" cy="209550"/>
          </a:xfrm>
          <a:prstGeom prst="rect">
            <a:avLst/>
          </a:prstGeom>
        </p:spPr>
      </p:pic>
      <p:sp>
        <p:nvSpPr>
          <p:cNvPr id="49" name="Text 30"/>
          <p:cNvSpPr txBox="1"/>
          <p:nvPr/>
        </p:nvSpPr>
        <p:spPr>
          <a:xfrm>
            <a:off x="5246489" y="2827883"/>
            <a:ext cx="137368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E26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825" dirty="0"/>
          </a:p>
        </p:txBody>
      </p:sp>
      <p:sp>
        <p:nvSpPr>
          <p:cNvPr id="50" name="Text 31"/>
          <p:cNvSpPr txBox="1"/>
          <p:nvPr/>
        </p:nvSpPr>
        <p:spPr>
          <a:xfrm>
            <a:off x="5479107" y="2792164"/>
            <a:ext cx="1435894" cy="1370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controlled context</a:t>
            </a:r>
            <a:endParaRPr lang="en-US" sz="900" dirty="0"/>
          </a:p>
        </p:txBody>
      </p:sp>
      <p:sp>
        <p:nvSpPr>
          <p:cNvPr id="51" name="Text 32"/>
          <p:cNvSpPr txBox="1"/>
          <p:nvPr/>
        </p:nvSpPr>
        <p:spPr>
          <a:xfrm>
            <a:off x="5479107" y="2948285"/>
            <a:ext cx="1435894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150"/>
              </a:spcBef>
              <a:buNone/>
            </a:pPr>
            <a:r>
              <a:rPr lang="en-US" sz="788" dirty="0">
                <a:solidFill>
                  <a:srgbClr val="E4F5F4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Tables, metrics, joins, examples</a:t>
            </a:r>
            <a:endParaRPr lang="en-US" sz="788" dirty="0"/>
          </a:p>
        </p:txBody>
      </p:sp>
      <p:pic>
        <p:nvPicPr>
          <p:cNvPr id="5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25892" y="2696914"/>
            <a:ext cx="3142059" cy="476548"/>
          </a:xfrm>
          <a:prstGeom prst="rect">
            <a:avLst/>
          </a:prstGeom>
        </p:spPr>
      </p:pic>
      <p:pic>
        <p:nvPicPr>
          <p:cNvPr id="5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30667" y="2792164"/>
            <a:ext cx="209550" cy="209550"/>
          </a:xfrm>
          <a:prstGeom prst="rect">
            <a:avLst/>
          </a:prstGeom>
        </p:spPr>
      </p:pic>
      <p:sp>
        <p:nvSpPr>
          <p:cNvPr id="54" name="Text 33"/>
          <p:cNvSpPr txBox="1"/>
          <p:nvPr/>
        </p:nvSpPr>
        <p:spPr>
          <a:xfrm>
            <a:off x="8502104" y="2827883"/>
            <a:ext cx="138113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E26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825" dirty="0"/>
          </a:p>
        </p:txBody>
      </p:sp>
      <p:sp>
        <p:nvSpPr>
          <p:cNvPr id="55" name="Text 34"/>
          <p:cNvSpPr txBox="1"/>
          <p:nvPr/>
        </p:nvSpPr>
        <p:spPr>
          <a:xfrm>
            <a:off x="8735467" y="2792164"/>
            <a:ext cx="1610023" cy="1370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Request structured SQL plan</a:t>
            </a:r>
            <a:endParaRPr lang="en-US" sz="900" dirty="0"/>
          </a:p>
        </p:txBody>
      </p:sp>
      <p:sp>
        <p:nvSpPr>
          <p:cNvPr id="56" name="Text 35"/>
          <p:cNvSpPr txBox="1"/>
          <p:nvPr/>
        </p:nvSpPr>
        <p:spPr>
          <a:xfrm>
            <a:off x="8735467" y="2948285"/>
            <a:ext cx="1610023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150"/>
              </a:spcBef>
              <a:buNone/>
            </a:pPr>
            <a:r>
              <a:rPr lang="en-US" sz="788" dirty="0">
                <a:solidFill>
                  <a:srgbClr val="E4F5F4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JSON via LLM Gateway</a:t>
            </a:r>
            <a:endParaRPr lang="en-US" sz="788" dirty="0"/>
          </a:p>
        </p:txBody>
      </p:sp>
      <p:pic>
        <p:nvPicPr>
          <p:cNvPr id="5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69532" y="3249662"/>
            <a:ext cx="3142059" cy="476548"/>
          </a:xfrm>
          <a:prstGeom prst="rect">
            <a:avLst/>
          </a:prstGeom>
        </p:spPr>
      </p:pic>
      <p:pic>
        <p:nvPicPr>
          <p:cNvPr id="5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74307" y="3344912"/>
            <a:ext cx="209550" cy="209550"/>
          </a:xfrm>
          <a:prstGeom prst="rect">
            <a:avLst/>
          </a:prstGeom>
        </p:spPr>
      </p:pic>
      <p:sp>
        <p:nvSpPr>
          <p:cNvPr id="59" name="Text 36"/>
          <p:cNvSpPr txBox="1"/>
          <p:nvPr/>
        </p:nvSpPr>
        <p:spPr>
          <a:xfrm>
            <a:off x="5250805" y="3380631"/>
            <a:ext cx="133052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E26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825" dirty="0"/>
          </a:p>
        </p:txBody>
      </p:sp>
      <p:sp>
        <p:nvSpPr>
          <p:cNvPr id="60" name="Text 37"/>
          <p:cNvSpPr txBox="1"/>
          <p:nvPr/>
        </p:nvSpPr>
        <p:spPr>
          <a:xfrm>
            <a:off x="5479107" y="3344912"/>
            <a:ext cx="1327249" cy="1370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Validate generated SQL</a:t>
            </a:r>
            <a:endParaRPr lang="en-US" sz="900" dirty="0"/>
          </a:p>
        </p:txBody>
      </p:sp>
      <p:sp>
        <p:nvSpPr>
          <p:cNvPr id="61" name="Text 38"/>
          <p:cNvSpPr txBox="1"/>
          <p:nvPr/>
        </p:nvSpPr>
        <p:spPr>
          <a:xfrm>
            <a:off x="5479107" y="3501033"/>
            <a:ext cx="1327249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150"/>
              </a:spcBef>
              <a:buNone/>
            </a:pPr>
            <a:r>
              <a:rPr lang="en-US" sz="788" dirty="0">
                <a:solidFill>
                  <a:srgbClr val="E4F5F4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Parser + policy engine + cost</a:t>
            </a:r>
            <a:endParaRPr lang="en-US" sz="788" dirty="0"/>
          </a:p>
        </p:txBody>
      </p:sp>
      <p:pic>
        <p:nvPicPr>
          <p:cNvPr id="62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25892" y="3249662"/>
            <a:ext cx="3142059" cy="476548"/>
          </a:xfrm>
          <a:prstGeom prst="rect">
            <a:avLst/>
          </a:prstGeom>
        </p:spPr>
      </p:pic>
      <p:pic>
        <p:nvPicPr>
          <p:cNvPr id="63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30667" y="3344912"/>
            <a:ext cx="209550" cy="209550"/>
          </a:xfrm>
          <a:prstGeom prst="rect">
            <a:avLst/>
          </a:prstGeom>
        </p:spPr>
      </p:pic>
      <p:sp>
        <p:nvSpPr>
          <p:cNvPr id="64" name="Text 39"/>
          <p:cNvSpPr txBox="1"/>
          <p:nvPr/>
        </p:nvSpPr>
        <p:spPr>
          <a:xfrm>
            <a:off x="8502253" y="3380631"/>
            <a:ext cx="137964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E26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825" dirty="0"/>
          </a:p>
        </p:txBody>
      </p:sp>
      <p:sp>
        <p:nvSpPr>
          <p:cNvPr id="65" name="Text 40"/>
          <p:cNvSpPr txBox="1"/>
          <p:nvPr/>
        </p:nvSpPr>
        <p:spPr>
          <a:xfrm>
            <a:off x="8735467" y="3344912"/>
            <a:ext cx="1488728" cy="1370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Execute scoped read-only</a:t>
            </a:r>
            <a:endParaRPr lang="en-US" sz="900" dirty="0"/>
          </a:p>
        </p:txBody>
      </p:sp>
      <p:sp>
        <p:nvSpPr>
          <p:cNvPr id="66" name="Text 41"/>
          <p:cNvSpPr txBox="1"/>
          <p:nvPr/>
        </p:nvSpPr>
        <p:spPr>
          <a:xfrm>
            <a:off x="8735467" y="3501033"/>
            <a:ext cx="1488728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150"/>
              </a:spcBef>
              <a:buNone/>
            </a:pPr>
            <a:r>
              <a:rPr lang="en-US" sz="788" dirty="0">
                <a:solidFill>
                  <a:srgbClr val="E4F5F4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OAuth, timeout, LIMIT</a:t>
            </a:r>
            <a:endParaRPr lang="en-US" sz="788" dirty="0"/>
          </a:p>
        </p:txBody>
      </p:sp>
      <p:pic>
        <p:nvPicPr>
          <p:cNvPr id="67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069532" y="3802410"/>
            <a:ext cx="3142059" cy="476548"/>
          </a:xfrm>
          <a:prstGeom prst="rect">
            <a:avLst/>
          </a:prstGeom>
        </p:spPr>
      </p:pic>
      <p:pic>
        <p:nvPicPr>
          <p:cNvPr id="68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174307" y="3897660"/>
            <a:ext cx="209550" cy="209550"/>
          </a:xfrm>
          <a:prstGeom prst="rect">
            <a:avLst/>
          </a:prstGeom>
        </p:spPr>
      </p:pic>
      <p:sp>
        <p:nvSpPr>
          <p:cNvPr id="69" name="Text 42"/>
          <p:cNvSpPr txBox="1"/>
          <p:nvPr/>
        </p:nvSpPr>
        <p:spPr>
          <a:xfrm>
            <a:off x="5245745" y="3933379"/>
            <a:ext cx="138113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E26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</a:t>
            </a:r>
            <a:endParaRPr lang="en-US" sz="825" dirty="0"/>
          </a:p>
        </p:txBody>
      </p:sp>
      <p:sp>
        <p:nvSpPr>
          <p:cNvPr id="70" name="Text 43"/>
          <p:cNvSpPr txBox="1"/>
          <p:nvPr/>
        </p:nvSpPr>
        <p:spPr>
          <a:xfrm>
            <a:off x="5479107" y="3897660"/>
            <a:ext cx="1429792" cy="1370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Validate result</a:t>
            </a:r>
            <a:endParaRPr lang="en-US" sz="900" dirty="0"/>
          </a:p>
        </p:txBody>
      </p:sp>
      <p:sp>
        <p:nvSpPr>
          <p:cNvPr id="71" name="Text 44"/>
          <p:cNvSpPr txBox="1"/>
          <p:nvPr/>
        </p:nvSpPr>
        <p:spPr>
          <a:xfrm>
            <a:off x="5479107" y="4053780"/>
            <a:ext cx="1429792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150"/>
              </a:spcBef>
              <a:buNone/>
            </a:pPr>
            <a:r>
              <a:rPr lang="en-US" sz="788" dirty="0">
                <a:solidFill>
                  <a:srgbClr val="E4F5F4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Empty? Abnormal? Truncated?</a:t>
            </a:r>
            <a:endParaRPr lang="en-US" sz="788" dirty="0"/>
          </a:p>
        </p:txBody>
      </p:sp>
      <p:pic>
        <p:nvPicPr>
          <p:cNvPr id="72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25892" y="3802410"/>
            <a:ext cx="3142059" cy="476548"/>
          </a:xfrm>
          <a:prstGeom prst="rect">
            <a:avLst/>
          </a:prstGeom>
        </p:spPr>
      </p:pic>
      <p:pic>
        <p:nvPicPr>
          <p:cNvPr id="73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430667" y="3897660"/>
            <a:ext cx="209550" cy="209550"/>
          </a:xfrm>
          <a:prstGeom prst="rect">
            <a:avLst/>
          </a:prstGeom>
        </p:spPr>
      </p:pic>
      <p:sp>
        <p:nvSpPr>
          <p:cNvPr id="74" name="Text 45"/>
          <p:cNvSpPr txBox="1"/>
          <p:nvPr/>
        </p:nvSpPr>
        <p:spPr>
          <a:xfrm>
            <a:off x="8479482" y="3933379"/>
            <a:ext cx="160734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E26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825" dirty="0"/>
          </a:p>
        </p:txBody>
      </p:sp>
      <p:sp>
        <p:nvSpPr>
          <p:cNvPr id="75" name="Text 46"/>
          <p:cNvSpPr txBox="1"/>
          <p:nvPr/>
        </p:nvSpPr>
        <p:spPr>
          <a:xfrm>
            <a:off x="8735467" y="3897660"/>
            <a:ext cx="1432768" cy="1370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Summarize evidence only</a:t>
            </a:r>
            <a:endParaRPr lang="en-US" sz="900" dirty="0"/>
          </a:p>
        </p:txBody>
      </p:sp>
      <p:sp>
        <p:nvSpPr>
          <p:cNvPr id="76" name="Text 47"/>
          <p:cNvSpPr txBox="1"/>
          <p:nvPr/>
        </p:nvSpPr>
        <p:spPr>
          <a:xfrm>
            <a:off x="8735467" y="4053780"/>
            <a:ext cx="1432768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150"/>
              </a:spcBef>
              <a:buNone/>
            </a:pPr>
            <a:r>
              <a:rPr lang="en-US" sz="788" dirty="0">
                <a:solidFill>
                  <a:srgbClr val="E4F5F4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Rows + definitions → answer</a:t>
            </a:r>
            <a:endParaRPr lang="en-US" sz="788" dirty="0"/>
          </a:p>
        </p:txBody>
      </p:sp>
      <p:pic>
        <p:nvPicPr>
          <p:cNvPr id="77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069532" y="4355157"/>
            <a:ext cx="3142059" cy="476548"/>
          </a:xfrm>
          <a:prstGeom prst="rect">
            <a:avLst/>
          </a:prstGeom>
        </p:spPr>
      </p:pic>
      <p:pic>
        <p:nvPicPr>
          <p:cNvPr id="78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174307" y="4450407"/>
            <a:ext cx="209550" cy="209550"/>
          </a:xfrm>
          <a:prstGeom prst="rect">
            <a:avLst/>
          </a:prstGeom>
        </p:spPr>
      </p:pic>
      <p:sp>
        <p:nvSpPr>
          <p:cNvPr id="79" name="Text 48"/>
          <p:cNvSpPr txBox="1"/>
          <p:nvPr/>
        </p:nvSpPr>
        <p:spPr>
          <a:xfrm>
            <a:off x="5240834" y="4486126"/>
            <a:ext cx="143024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E26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endParaRPr lang="en-US" sz="825" dirty="0"/>
          </a:p>
        </p:txBody>
      </p:sp>
      <p:sp>
        <p:nvSpPr>
          <p:cNvPr id="80" name="Text 49"/>
          <p:cNvSpPr txBox="1"/>
          <p:nvPr/>
        </p:nvSpPr>
        <p:spPr>
          <a:xfrm>
            <a:off x="5479107" y="4450407"/>
            <a:ext cx="1439466" cy="1370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Return answer + evidence</a:t>
            </a:r>
            <a:endParaRPr lang="en-US" sz="900" dirty="0"/>
          </a:p>
        </p:txBody>
      </p:sp>
      <p:sp>
        <p:nvSpPr>
          <p:cNvPr id="81" name="Text 50"/>
          <p:cNvSpPr txBox="1"/>
          <p:nvPr/>
        </p:nvSpPr>
        <p:spPr>
          <a:xfrm>
            <a:off x="5479107" y="4606528"/>
            <a:ext cx="1439466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150"/>
              </a:spcBef>
              <a:buNone/>
            </a:pPr>
            <a:r>
              <a:rPr lang="en-US" sz="788" dirty="0">
                <a:solidFill>
                  <a:srgbClr val="E4F5F4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Chart, table, SQL, freshness</a:t>
            </a:r>
            <a:endParaRPr lang="en-US" sz="788" dirty="0"/>
          </a:p>
        </p:txBody>
      </p:sp>
      <p:pic>
        <p:nvPicPr>
          <p:cNvPr id="82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325892" y="4355157"/>
            <a:ext cx="3142059" cy="476548"/>
          </a:xfrm>
          <a:prstGeom prst="rect">
            <a:avLst/>
          </a:prstGeom>
        </p:spPr>
      </p:pic>
      <p:pic>
        <p:nvPicPr>
          <p:cNvPr id="83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430667" y="4450407"/>
            <a:ext cx="209550" cy="209550"/>
          </a:xfrm>
          <a:prstGeom prst="rect">
            <a:avLst/>
          </a:prstGeom>
        </p:spPr>
      </p:pic>
      <p:sp>
        <p:nvSpPr>
          <p:cNvPr id="84" name="Text 51"/>
          <p:cNvSpPr txBox="1"/>
          <p:nvPr/>
        </p:nvSpPr>
        <p:spPr>
          <a:xfrm>
            <a:off x="8486031" y="4486126"/>
            <a:ext cx="154186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E26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</a:t>
            </a:r>
            <a:endParaRPr lang="en-US" sz="825" dirty="0"/>
          </a:p>
        </p:txBody>
      </p:sp>
      <p:sp>
        <p:nvSpPr>
          <p:cNvPr id="85" name="Text 52"/>
          <p:cNvSpPr txBox="1"/>
          <p:nvPr/>
        </p:nvSpPr>
        <p:spPr>
          <a:xfrm>
            <a:off x="8735467" y="4450407"/>
            <a:ext cx="1606897" cy="1370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Write audit events</a:t>
            </a:r>
            <a:endParaRPr lang="en-US" sz="900" dirty="0"/>
          </a:p>
        </p:txBody>
      </p:sp>
      <p:sp>
        <p:nvSpPr>
          <p:cNvPr id="86" name="Text 53"/>
          <p:cNvSpPr txBox="1"/>
          <p:nvPr/>
        </p:nvSpPr>
        <p:spPr>
          <a:xfrm>
            <a:off x="8735467" y="4606528"/>
            <a:ext cx="1606897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150"/>
              </a:spcBef>
              <a:buNone/>
            </a:pPr>
            <a:r>
              <a:rPr lang="en-US" sz="788" dirty="0">
                <a:solidFill>
                  <a:srgbClr val="E4F5F4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Trace, tokens, cost, policy decision</a:t>
            </a:r>
            <a:endParaRPr lang="en-US" sz="788" dirty="0"/>
          </a:p>
        </p:txBody>
      </p:sp>
      <p:pic>
        <p:nvPicPr>
          <p:cNvPr id="87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69532" y="6035129"/>
            <a:ext cx="6398419" cy="251371"/>
          </a:xfrm>
          <a:prstGeom prst="rect">
            <a:avLst/>
          </a:prstGeom>
        </p:spPr>
      </p:pic>
      <p:sp>
        <p:nvSpPr>
          <p:cNvPr id="88" name="Text 54"/>
          <p:cNvSpPr txBox="1"/>
          <p:nvPr/>
        </p:nvSpPr>
        <p:spPr>
          <a:xfrm>
            <a:off x="5069532" y="6139904"/>
            <a:ext cx="6398419" cy="14659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8576"/>
              </a:spcBef>
              <a:buNone/>
            </a:pPr>
            <a:r>
              <a:rPr lang="en-US" sz="825" dirty="0">
                <a:solidFill>
                  <a:srgbClr val="E4F5F4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transition logged. If any validation fails → CLARIFICATION or ERROR with safe message. No credentials ever reach LLM.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381000"/>
            <a:ext cx="11125200" cy="37995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92"/>
              </a:lnSpc>
              <a:buNone/>
            </a:pPr>
            <a:r>
              <a:rPr lang="en-US" sz="2850" b="1" spc="-57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 machine - RECEIVED to ANSWER</a:t>
            </a:r>
            <a:endParaRPr lang="en-US" sz="285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770483"/>
            <a:ext cx="11125200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2302B">
                    <a:alpha val="6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Don't ask LLM to do everything in single prompt. Use controlled state machine — each transition logged with trace_id. Prevents LLM skipping validation, ensures auditability.</a:t>
            </a:r>
            <a:endParaRPr lang="en-US" sz="97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" y="737146"/>
            <a:ext cx="7640538" cy="522535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1349573"/>
            <a:ext cx="6897588" cy="40005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1988" y="1110853"/>
            <a:ext cx="3846612" cy="1700213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992963" y="1282303"/>
            <a:ext cx="348466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spc="116" kern="0" dirty="0">
                <a:solidFill>
                  <a:srgbClr val="5FD6DE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DETERMINISTIC?</a:t>
            </a:r>
            <a:endParaRPr lang="en-US" sz="825" dirty="0"/>
          </a:p>
        </p:txBody>
      </p:sp>
      <p:sp>
        <p:nvSpPr>
          <p:cNvPr id="8" name="Text 3"/>
          <p:cNvSpPr txBox="1"/>
          <p:nvPr/>
        </p:nvSpPr>
        <p:spPr>
          <a:xfrm>
            <a:off x="7992963" y="1496616"/>
            <a:ext cx="3152477" cy="7191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RECEIVED → AUTHORIZED → SCHEMA_RETRIEVED → SQL_GENERATED → SQL_VALIDATED → QUERY_EXECUTED → RESULT_VALIDATED → ANSWER_GENERATED</a:t>
            </a:r>
            <a:endParaRPr lang="en-US" sz="975" dirty="0"/>
          </a:p>
        </p:txBody>
      </p:sp>
      <p:sp>
        <p:nvSpPr>
          <p:cNvPr id="9" name="Text 4"/>
          <p:cNvSpPr txBox="1"/>
          <p:nvPr/>
        </p:nvSpPr>
        <p:spPr>
          <a:xfrm>
            <a:off x="7992963" y="2315766"/>
            <a:ext cx="3484662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E4F5F4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any validation fails → CLARIFICATION or ERROR with safe message. Optional LangGraph, but keep control in code.</a:t>
            </a:r>
            <a:endParaRPr lang="en-US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1988" y="2925366"/>
            <a:ext cx="3846612" cy="1453753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992963" y="3096816"/>
            <a:ext cx="348466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spc="116" kern="0" dirty="0">
                <a:solidFill>
                  <a:srgbClr val="0F918B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INTENT FIRST</a:t>
            </a:r>
            <a:endParaRPr lang="en-US" sz="825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2963" y="3301603"/>
            <a:ext cx="209550" cy="20955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8045351" y="3333006"/>
            <a:ext cx="157163" cy="17814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825" dirty="0"/>
          </a:p>
        </p:txBody>
      </p:sp>
      <p:sp>
        <p:nvSpPr>
          <p:cNvPr id="14" name="Text 7"/>
          <p:cNvSpPr txBox="1"/>
          <p:nvPr/>
        </p:nvSpPr>
        <p:spPr>
          <a:xfrm>
            <a:off x="8297763" y="3301603"/>
            <a:ext cx="3179862" cy="34647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Structured analytics</a:t>
            </a:r>
            <a:pPr indent="0" marL="0">
              <a:buNone/>
            </a:pPr>
            <a:r>
              <a:rPr lang="en-US" sz="9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Text-to-SQL, </a:t>
            </a:r>
            <a:pPr indent="0" marL="0">
              <a:buNone/>
            </a:pPr>
            <a:r>
              <a:rPr lang="en-US" sz="97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Policy/doc</a:t>
            </a:r>
            <a:pPr indent="0" marL="0">
              <a:buNone/>
            </a:pPr>
            <a:r>
              <a:rPr lang="en-US" sz="9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RAG, </a:t>
            </a:r>
            <a:pPr indent="0" marL="0">
              <a:buNone/>
            </a:pPr>
            <a:r>
              <a:rPr lang="en-US" sz="97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Action</a:t>
            </a:r>
            <a:pPr indent="0" marL="0">
              <a:buNone/>
            </a:pPr>
            <a:r>
              <a:rPr lang="en-US" sz="9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approved API, </a:t>
            </a:r>
            <a:pPr indent="0" marL="0">
              <a:buNone/>
            </a:pPr>
            <a:r>
              <a:rPr lang="en-US" sz="97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Chat</a:t>
            </a:r>
            <a:pPr indent="0" marL="0">
              <a:buNone/>
            </a:pPr>
            <a:r>
              <a:rPr lang="en-US" sz="9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general LLM</a:t>
            </a:r>
            <a:endParaRPr lang="en-US" sz="975" dirty="0"/>
          </a:p>
        </p:txBody>
      </p:sp>
      <p:sp>
        <p:nvSpPr>
          <p:cNvPr id="15" name="Text 8"/>
          <p:cNvSpPr txBox="1"/>
          <p:nvPr/>
        </p:nvSpPr>
        <p:spPr>
          <a:xfrm>
            <a:off x="7992963" y="3733800"/>
            <a:ext cx="3484662" cy="4833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spcBef>
                <a:spcPts val="600"/>
              </a:spcBef>
              <a:buNone/>
            </a:pPr>
            <a:r>
              <a:rPr lang="en-US" sz="863" dirty="0">
                <a:solidFill>
                  <a:srgbClr val="6B7D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Validation checks in center box: SELECT-only? Approved views? No system tables? Date filter? LIMIT? Cost threshold? Join approved? Timeout? Row access?</a:t>
            </a:r>
            <a:endParaRPr lang="en-US" sz="863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1988" y="4493419"/>
            <a:ext cx="3846612" cy="1095375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7992963" y="4879181"/>
            <a:ext cx="3484662" cy="547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spc="116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OBSERVABILITY</a:t>
            </a:r>
            <a:endParaRPr lang="en-US" sz="82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state emits: trace_id, latency, tokens, policy_decision, sql_hash, row_count, user_scope_version. Immutable audit trail.</a:t>
            </a:r>
            <a:endParaRPr lang="en-US" sz="825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5752951"/>
            <a:ext cx="3632150" cy="724049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676275" y="5876776"/>
            <a:ext cx="3346400" cy="47639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63" b="1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Security gate</a:t>
            </a:r>
            <a:pPr indent="0" marL="0">
              <a:buNone/>
            </a:pPr>
            <a:r>
              <a:rPr lang="en-US" sz="863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SQL_VALIDATED uses parser + allowlist + permission + cost + explain-plan. Orange state in diagram.</a:t>
            </a:r>
            <a:endParaRPr lang="en-US" sz="863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9850" y="5752951"/>
            <a:ext cx="3632150" cy="724049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4422725" y="5876776"/>
            <a:ext cx="3346400" cy="47639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63" b="1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Hallucination firewall</a:t>
            </a:r>
            <a:pPr indent="0" marL="0">
              <a:buNone/>
            </a:pPr>
            <a:r>
              <a:rPr lang="en-US" sz="863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RESULT_VALIDATED checks empty, abnormal, truncated before ANSWER_GENERATED summarizes evidence only.</a:t>
            </a:r>
            <a:endParaRPr lang="en-US" sz="863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6301" y="5752951"/>
            <a:ext cx="3632299" cy="724049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8169176" y="5876776"/>
            <a:ext cx="3346549" cy="47639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63" b="1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L6 mindset</a:t>
            </a:r>
            <a:pPr indent="0" marL="0">
              <a:buNone/>
            </a:pPr>
            <a:r>
              <a:rPr lang="en-US" sz="863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Technical completion ≠ business readiness. State machine forces checkpoints, not just one LLM call.</a:t>
            </a:r>
            <a:endParaRPr lang="en-US" sz="86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5300" y="419100"/>
            <a:ext cx="11201400" cy="37995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92"/>
              </a:lnSpc>
              <a:buNone/>
            </a:pPr>
            <a:r>
              <a:rPr lang="en-US" sz="2850" b="1" spc="-57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Intent router - classify first</a:t>
            </a:r>
            <a:endParaRPr lang="en-US" sz="2850" dirty="0"/>
          </a:p>
        </p:txBody>
      </p:sp>
      <p:sp>
        <p:nvSpPr>
          <p:cNvPr id="3" name="Text 1"/>
          <p:cNvSpPr txBox="1"/>
          <p:nvPr/>
        </p:nvSpPr>
        <p:spPr>
          <a:xfrm>
            <a:off x="495300" y="808583"/>
            <a:ext cx="7239000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2302B">
                    <a:alpha val="6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Before generating SQL, route the question. Prevents LLM from doing RAG when it should do SQL, or doing SQL when it should do an approved API. Same rule: RAG for documents, Text-to-SQL for structured data, APIs for actions.</a:t>
            </a:r>
            <a:endParaRPr lang="en-US" sz="97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1113383"/>
            <a:ext cx="3987701" cy="174962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275" y="151447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10948C">
              <a:alpha val="12000"/>
            </a:srgb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9625" y="1647825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 txBox="1"/>
          <p:nvPr/>
        </p:nvSpPr>
        <p:spPr>
          <a:xfrm>
            <a:off x="1038225" y="1494383"/>
            <a:ext cx="152251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99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STRUCTURED ANALYTICS</a:t>
            </a:r>
            <a:endParaRPr lang="en-US" sz="825" dirty="0"/>
          </a:p>
        </p:txBody>
      </p:sp>
      <p:sp>
        <p:nvSpPr>
          <p:cNvPr id="8" name="Text 5"/>
          <p:cNvSpPr txBox="1"/>
          <p:nvPr/>
        </p:nvSpPr>
        <p:spPr>
          <a:xfrm>
            <a:off x="1038225" y="1642021"/>
            <a:ext cx="1522512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Text-to-SQL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1878211"/>
            <a:ext cx="3282851" cy="31804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71525" y="1954411"/>
            <a:ext cx="3092351" cy="16564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i="1" dirty="0">
                <a:solidFill>
                  <a:srgbClr val="13312B">
                    <a:alpha val="6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“Sales by store last week” → vw_sales_summary</a:t>
            </a:r>
            <a:endParaRPr lang="en-US" sz="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272457"/>
            <a:ext cx="1065461" cy="21907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52475" y="2320082"/>
            <a:ext cx="91306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4FF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CERTIFIED VIEWS</a:t>
            </a:r>
            <a:endParaRPr lang="en-US" sz="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2001" y="1113383"/>
            <a:ext cx="3987850" cy="1749623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457700" y="151447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10948C">
              <a:alpha val="12000"/>
            </a:srgbClr>
          </a:solidFill>
          <a:ln/>
        </p:spPr>
      </p:sp>
      <p:sp>
        <p:nvSpPr>
          <p:cNvPr id="15" name="Text 9"/>
          <p:cNvSpPr txBox="1"/>
          <p:nvPr/>
        </p:nvSpPr>
        <p:spPr>
          <a:xfrm>
            <a:off x="4591050" y="1647825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0"/>
          <p:cNvSpPr txBox="1"/>
          <p:nvPr/>
        </p:nvSpPr>
        <p:spPr>
          <a:xfrm>
            <a:off x="4816376" y="1494383"/>
            <a:ext cx="127947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99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POLICY / DOCUMENT</a:t>
            </a:r>
            <a:endParaRPr lang="en-US" sz="825" dirty="0"/>
          </a:p>
        </p:txBody>
      </p:sp>
      <p:sp>
        <p:nvSpPr>
          <p:cNvPr id="17" name="Text 11"/>
          <p:cNvSpPr txBox="1"/>
          <p:nvPr/>
        </p:nvSpPr>
        <p:spPr>
          <a:xfrm>
            <a:off x="4816376" y="1642021"/>
            <a:ext cx="1279475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RAG</a:t>
            </a:r>
            <a:endParaRPr lang="en-US" sz="10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4426" y="1878211"/>
            <a:ext cx="3283000" cy="31804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549676" y="1954411"/>
            <a:ext cx="3092500" cy="16564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i="1" dirty="0">
                <a:solidFill>
                  <a:srgbClr val="13312B">
                    <a:alpha val="6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“What is return policy?” → vector search over docs</a:t>
            </a:r>
            <a:endParaRPr lang="en-US" sz="9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426" y="2272457"/>
            <a:ext cx="1139428" cy="21907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530626" y="2320082"/>
            <a:ext cx="98702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4FF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KNOWLEDGE BASE</a:t>
            </a:r>
            <a:endParaRPr lang="en-US" sz="7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0300" y="1113383"/>
            <a:ext cx="3987701" cy="1749623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8229600" y="151447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10948C">
              <a:alpha val="12000"/>
            </a:srgbClr>
          </a:solidFill>
          <a:ln/>
        </p:spPr>
      </p:sp>
      <p:sp>
        <p:nvSpPr>
          <p:cNvPr id="24" name="Text 15"/>
          <p:cNvSpPr txBox="1"/>
          <p:nvPr/>
        </p:nvSpPr>
        <p:spPr>
          <a:xfrm>
            <a:off x="8362950" y="1647825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6"/>
          <p:cNvSpPr txBox="1"/>
          <p:nvPr/>
        </p:nvSpPr>
        <p:spPr>
          <a:xfrm>
            <a:off x="8594675" y="1494383"/>
            <a:ext cx="1270546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99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ACTION REQUEST</a:t>
            </a:r>
            <a:endParaRPr lang="en-US" sz="825" dirty="0"/>
          </a:p>
        </p:txBody>
      </p:sp>
      <p:sp>
        <p:nvSpPr>
          <p:cNvPr id="26" name="Text 17"/>
          <p:cNvSpPr txBox="1"/>
          <p:nvPr/>
        </p:nvSpPr>
        <p:spPr>
          <a:xfrm>
            <a:off x="8594675" y="1642021"/>
            <a:ext cx="1270546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Approved API / Tool</a:t>
            </a:r>
            <a:endParaRPr lang="en-US" sz="10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2725" y="1878211"/>
            <a:ext cx="3282851" cy="318046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327975" y="1954411"/>
            <a:ext cx="3092351" cy="16564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i="1" dirty="0">
                <a:solidFill>
                  <a:srgbClr val="13312B">
                    <a:alpha val="6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“Update price to ฿99” → pricing API with approval</a:t>
            </a:r>
            <a:endParaRPr lang="en-US" sz="9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2725" y="2272457"/>
            <a:ext cx="1174552" cy="219075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8308925" y="2320082"/>
            <a:ext cx="102215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4FF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GOVERNED ACTION</a:t>
            </a:r>
            <a:endParaRPr lang="en-US" sz="75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3850" y="2577257"/>
            <a:ext cx="3987701" cy="1934319"/>
          </a:xfrm>
          <a:prstGeom prst="rect">
            <a:avLst/>
          </a:prstGeom>
        </p:spPr>
      </p:pic>
      <p:sp>
        <p:nvSpPr>
          <p:cNvPr id="32" name="Shape 20"/>
          <p:cNvSpPr/>
          <p:nvPr/>
        </p:nvSpPr>
        <p:spPr>
          <a:xfrm>
            <a:off x="676275" y="297180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10948C">
              <a:alpha val="12000"/>
            </a:srgbClr>
          </a:solidFill>
          <a:ln/>
        </p:spPr>
      </p:sp>
      <p:sp>
        <p:nvSpPr>
          <p:cNvPr id="33" name="Text 21"/>
          <p:cNvSpPr txBox="1"/>
          <p:nvPr/>
        </p:nvSpPr>
        <p:spPr>
          <a:xfrm>
            <a:off x="809625" y="3105150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2"/>
          <p:cNvSpPr txBox="1"/>
          <p:nvPr/>
        </p:nvSpPr>
        <p:spPr>
          <a:xfrm>
            <a:off x="1038225" y="2958257"/>
            <a:ext cx="77063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99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GENERAL</a:t>
            </a:r>
            <a:endParaRPr lang="en-US" sz="825" dirty="0"/>
          </a:p>
        </p:txBody>
      </p:sp>
      <p:sp>
        <p:nvSpPr>
          <p:cNvPr id="35" name="Text 23"/>
          <p:cNvSpPr txBox="1"/>
          <p:nvPr/>
        </p:nvSpPr>
        <p:spPr>
          <a:xfrm>
            <a:off x="1038225" y="3105894"/>
            <a:ext cx="770632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Normal LLM</a:t>
            </a:r>
            <a:endParaRPr lang="en-US" sz="105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275" y="3342084"/>
            <a:ext cx="3282851" cy="318046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771525" y="3418284"/>
            <a:ext cx="3092351" cy="16564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i="1" dirty="0">
                <a:solidFill>
                  <a:srgbClr val="13312B">
                    <a:alpha val="6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“Why did sales decline?” → SQL + controlled workflow</a:t>
            </a:r>
            <a:endParaRPr lang="en-US" sz="9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275" y="3736330"/>
            <a:ext cx="1193304" cy="219075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752475" y="3783955"/>
            <a:ext cx="104090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4FF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OBSERVATION ONLY</a:t>
            </a:r>
            <a:endParaRPr lang="en-US" sz="750" dirty="0"/>
          </a:p>
        </p:txBody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02001" y="2577257"/>
            <a:ext cx="3987850" cy="1934319"/>
          </a:xfrm>
          <a:prstGeom prst="rect">
            <a:avLst/>
          </a:prstGeom>
        </p:spPr>
      </p:pic>
      <p:sp>
        <p:nvSpPr>
          <p:cNvPr id="41" name="Shape 26"/>
          <p:cNvSpPr/>
          <p:nvPr/>
        </p:nvSpPr>
        <p:spPr>
          <a:xfrm>
            <a:off x="4457700" y="297180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3CD"/>
          </a:solidFill>
          <a:ln/>
        </p:spPr>
      </p:sp>
      <p:sp>
        <p:nvSpPr>
          <p:cNvPr id="42" name="Text 27"/>
          <p:cNvSpPr txBox="1"/>
          <p:nvPr/>
        </p:nvSpPr>
        <p:spPr>
          <a:xfrm>
            <a:off x="4591050" y="3105150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28"/>
          <p:cNvSpPr txBox="1"/>
          <p:nvPr/>
        </p:nvSpPr>
        <p:spPr>
          <a:xfrm>
            <a:off x="4816376" y="2958257"/>
            <a:ext cx="896243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99" kern="0" dirty="0">
                <a:solidFill>
                  <a:srgbClr val="8A6D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UNSUPPORTED</a:t>
            </a:r>
            <a:endParaRPr lang="en-US" sz="825" dirty="0"/>
          </a:p>
        </p:txBody>
      </p:sp>
      <p:sp>
        <p:nvSpPr>
          <p:cNvPr id="44" name="Text 29"/>
          <p:cNvSpPr txBox="1"/>
          <p:nvPr/>
        </p:nvSpPr>
        <p:spPr>
          <a:xfrm>
            <a:off x="4816376" y="3105894"/>
            <a:ext cx="896243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Clarification</a:t>
            </a:r>
            <a:endParaRPr lang="en-US" sz="1050" dirty="0"/>
          </a:p>
        </p:txBody>
      </p:sp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54426" y="3342084"/>
            <a:ext cx="3283000" cy="483691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4549676" y="3418284"/>
            <a:ext cx="3092500" cy="3312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i="1" dirty="0">
                <a:solidFill>
                  <a:srgbClr val="13312B">
                    <a:alpha val="6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Vague, ambiguous, missing scope → ask for region / date / metric</a:t>
            </a:r>
            <a:endParaRPr lang="en-US" sz="900" dirty="0"/>
          </a:p>
        </p:txBody>
      </p:sp>
      <p:pic>
        <p:nvPicPr>
          <p:cNvPr id="4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54426" y="3901976"/>
            <a:ext cx="1021110" cy="238125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4540151" y="3959126"/>
            <a:ext cx="84966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5A4A2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SAFE FALLBACK</a:t>
            </a:r>
            <a:endParaRPr lang="en-US" sz="750" dirty="0"/>
          </a:p>
        </p:txBody>
      </p:sp>
      <p:pic>
        <p:nvPicPr>
          <p:cNvPr id="4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5300" y="5848350"/>
            <a:ext cx="6087368" cy="590550"/>
          </a:xfrm>
          <a:prstGeom prst="rect">
            <a:avLst/>
          </a:prstGeom>
        </p:spPr>
      </p:pic>
      <p:sp>
        <p:nvSpPr>
          <p:cNvPr id="50" name="Text 32"/>
          <p:cNvSpPr txBox="1"/>
          <p:nvPr/>
        </p:nvSpPr>
        <p:spPr>
          <a:xfrm>
            <a:off x="647700" y="5972175"/>
            <a:ext cx="5782568" cy="3524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6F5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this matters:</a:t>
            </a:r>
            <a:pPr indent="0" marL="0">
              <a:buNone/>
            </a:pPr>
            <a:r>
              <a:rPr lang="en-US" sz="900" dirty="0">
                <a:solidFill>
                  <a:srgbClr val="E6F5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Prevents one-prompt-does-all anti-pattern. Router uses smaller cheaper model. Only structured analytics goes to expensive SQL generation model with semantic context.</a:t>
            </a:r>
            <a:endParaRPr lang="en-US" sz="900" dirty="0"/>
          </a:p>
        </p:txBody>
      </p:sp>
      <p:pic>
        <p:nvPicPr>
          <p:cNvPr id="5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16018" y="5848350"/>
            <a:ext cx="4980682" cy="59055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6877943" y="5981700"/>
            <a:ext cx="4656832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Implementation:</a:t>
            </a:r>
            <a:pPr indent="0" marL="0">
              <a:buNone/>
            </a:pPr>
            <a:r>
              <a:rPr lang="en-US" sz="90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LangGraph node or simple classifier prompt. Log intent + confidence. If confidence &lt; 0.72 → clarification. Trace_id preserved across router → SQL gen.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19100"/>
            <a:ext cx="11125200" cy="36001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b="1" spc="-54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Semantic layer - certified views only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788640"/>
            <a:ext cx="11125200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18" kern="0" dirty="0">
                <a:solidFill>
                  <a:srgbClr val="C039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Don't expose raw tables + thousands of columns to LLM — replace with exclusive business-friendly interface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102965"/>
            <a:ext cx="4169569" cy="533593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283940"/>
            <a:ext cx="1335584" cy="23812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28675" y="1341090"/>
            <a:ext cx="114508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05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DON'T: RAW TABLES</a:t>
            </a:r>
            <a:endParaRPr lang="en-US" sz="750" dirty="0"/>
          </a:p>
        </p:txBody>
      </p:sp>
      <p:sp>
        <p:nvSpPr>
          <p:cNvPr id="7" name="Text 3"/>
          <p:cNvSpPr txBox="1"/>
          <p:nvPr/>
        </p:nvSpPr>
        <p:spPr>
          <a:xfrm>
            <a:off x="923925" y="1636365"/>
            <a:ext cx="3579019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1000s tables, 5000+ columns, no definitions</a:t>
            </a:r>
            <a:endParaRPr lang="en-US" sz="938" dirty="0"/>
          </a:p>
        </p:txBody>
      </p:sp>
      <p:sp>
        <p:nvSpPr>
          <p:cNvPr id="8" name="Text 4"/>
          <p:cNvSpPr txBox="1"/>
          <p:nvPr/>
        </p:nvSpPr>
        <p:spPr>
          <a:xfrm>
            <a:off x="923925" y="1860203"/>
            <a:ext cx="3579019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Sensitive fields exposed, no synonyms</a:t>
            </a:r>
            <a:endParaRPr lang="en-US" sz="938" dirty="0"/>
          </a:p>
        </p:txBody>
      </p:sp>
      <p:sp>
        <p:nvSpPr>
          <p:cNvPr id="9" name="Text 5"/>
          <p:cNvSpPr txBox="1"/>
          <p:nvPr/>
        </p:nvSpPr>
        <p:spPr>
          <a:xfrm>
            <a:off x="923925" y="2084040"/>
            <a:ext cx="3579019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hallucinates joins, expensive scans</a:t>
            </a:r>
            <a:endParaRPr lang="en-US" sz="938" dirty="0"/>
          </a:p>
        </p:txBody>
      </p:sp>
      <p:sp>
        <p:nvSpPr>
          <p:cNvPr id="10" name="Text 6"/>
          <p:cNvSpPr txBox="1"/>
          <p:nvPr/>
        </p:nvSpPr>
        <p:spPr>
          <a:xfrm>
            <a:off x="923925" y="2307878"/>
            <a:ext cx="3579019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Unsafe, expensive, incorrect</a:t>
            </a:r>
            <a:endParaRPr lang="en-US" sz="938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2626965"/>
            <a:ext cx="3769519" cy="30956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09625" y="2712690"/>
            <a:ext cx="3617119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C039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→ every raw fact = 3 failures</a:t>
            </a:r>
            <a:endParaRPr lang="en-US" sz="825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3050828"/>
            <a:ext cx="3769519" cy="3207097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3939927"/>
            <a:ext cx="3598069" cy="1428750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5369" y="1102965"/>
            <a:ext cx="6803231" cy="5335935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5394" y="1283940"/>
            <a:ext cx="1427857" cy="238125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5150644" y="1341090"/>
            <a:ext cx="1237357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05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DO: CERTIFIED VIEWS</a:t>
            </a:r>
            <a:endParaRPr lang="en-US" sz="750" dirty="0"/>
          </a:p>
        </p:txBody>
      </p:sp>
      <p:sp>
        <p:nvSpPr>
          <p:cNvPr id="18" name="Text 9"/>
          <p:cNvSpPr txBox="1"/>
          <p:nvPr/>
        </p:nvSpPr>
        <p:spPr>
          <a:xfrm>
            <a:off x="5245894" y="1617315"/>
            <a:ext cx="6212681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genie_semantic.vw_sales_summary, vw_inventory_status, vw_pricing_performance</a:t>
            </a:r>
            <a:endParaRPr lang="en-US" sz="938" dirty="0"/>
          </a:p>
        </p:txBody>
      </p:sp>
      <p:sp>
        <p:nvSpPr>
          <p:cNvPr id="19" name="Text 10"/>
          <p:cNvSpPr txBox="1"/>
          <p:nvPr/>
        </p:nvSpPr>
        <p:spPr>
          <a:xfrm>
            <a:off x="5245894" y="1841153"/>
            <a:ext cx="6212681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Certified, business-friendly, THB normalized, standard dates, sensitive excluded</a:t>
            </a:r>
            <a:endParaRPr lang="en-US" sz="938" dirty="0"/>
          </a:p>
        </p:txBody>
      </p:sp>
      <p:sp>
        <p:nvSpPr>
          <p:cNvPr id="20" name="Text 11"/>
          <p:cNvSpPr txBox="1"/>
          <p:nvPr/>
        </p:nvSpPr>
        <p:spPr>
          <a:xfrm>
            <a:off x="5245894" y="2064990"/>
            <a:ext cx="6212681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last_updated field, row filters embedded, versioned</a:t>
            </a:r>
            <a:endParaRPr lang="en-US" sz="938" dirty="0"/>
          </a:p>
        </p:txBody>
      </p:sp>
      <p:sp>
        <p:nvSpPr>
          <p:cNvPr id="21" name="Text 12"/>
          <p:cNvSpPr txBox="1"/>
          <p:nvPr/>
        </p:nvSpPr>
        <p:spPr>
          <a:xfrm>
            <a:off x="5245894" y="2288828"/>
            <a:ext cx="6212681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→ approved views only = Safe, cheap, accurate</a:t>
            </a:r>
            <a:endParaRPr lang="en-US" sz="938" dirty="0"/>
          </a:p>
        </p:txBody>
      </p:sp>
      <p:sp>
        <p:nvSpPr>
          <p:cNvPr id="22" name="Shape 13"/>
          <p:cNvSpPr/>
          <p:nvPr/>
        </p:nvSpPr>
        <p:spPr>
          <a:xfrm>
            <a:off x="5057775" y="2552700"/>
            <a:ext cx="6400800" cy="1276350"/>
          </a:xfrm>
          <a:prstGeom prst="roundRect">
            <a:avLst>
              <a:gd name="adj" fmla="val 11940"/>
            </a:avLst>
          </a:prstGeom>
          <a:solidFill>
            <a:srgbClr val="13302B"/>
          </a:solidFill>
          <a:ln/>
        </p:spPr>
      </p:sp>
      <p:sp>
        <p:nvSpPr>
          <p:cNvPr id="23" name="Text 14"/>
          <p:cNvSpPr txBox="1"/>
          <p:nvPr/>
        </p:nvSpPr>
        <p:spPr>
          <a:xfrm>
            <a:off x="5226844" y="2693640"/>
            <a:ext cx="297299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spc="105" kern="0" dirty="0">
                <a:solidFill>
                  <a:srgbClr val="E6F5F2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METRIC EXAMPLE</a:t>
            </a:r>
            <a:endParaRPr lang="en-US" sz="750" dirty="0"/>
          </a:p>
        </p:txBody>
      </p:sp>
      <p:sp>
        <p:nvSpPr>
          <p:cNvPr id="24" name="Text 15"/>
          <p:cNvSpPr txBox="1"/>
          <p:nvPr/>
        </p:nvSpPr>
        <p:spPr>
          <a:xfrm>
            <a:off x="5226844" y="2865090"/>
            <a:ext cx="2972991" cy="67329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63" b="1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metric:</a:t>
            </a:r>
            <a:pPr indent="0" marL="0">
              <a:buNone/>
            </a:pPr>
            <a:r>
              <a:rPr lang="en-US" sz="863" dirty="0">
                <a:solidFill>
                  <a:srgbClr val="E6F5F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net_sales</a:t>
            </a:r>
            <a:endParaRPr lang="en-US" sz="863" dirty="0"/>
          </a:p>
          <a:p>
            <a:pPr algn="l" indent="0" marL="0">
              <a:lnSpc>
                <a:spcPts val="1251"/>
              </a:lnSpc>
              <a:buNone/>
            </a:pPr>
            <a:r>
              <a:rPr lang="en-US" sz="863" b="1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definition:</a:t>
            </a:r>
            <a:pPr indent="0" marL="0">
              <a:buNone/>
            </a:pPr>
            <a:r>
              <a:rPr lang="en-US" sz="863" dirty="0">
                <a:solidFill>
                  <a:srgbClr val="E6F5F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Sales excl VAT &amp; cancelled</a:t>
            </a:r>
            <a:endParaRPr lang="en-US" sz="863" dirty="0"/>
          </a:p>
          <a:p>
            <a:pPr algn="l" indent="0" marL="0">
              <a:lnSpc>
                <a:spcPts val="1251"/>
              </a:lnSpc>
              <a:buNone/>
            </a:pPr>
            <a:r>
              <a:rPr lang="en-US" sz="863" b="1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column:</a:t>
            </a:r>
            <a:pPr indent="0" marL="0">
              <a:buNone/>
            </a:pPr>
            <a:r>
              <a:rPr lang="en-US" sz="863" dirty="0">
                <a:solidFill>
                  <a:srgbClr val="E6F5F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revenue_thb</a:t>
            </a:r>
            <a:endParaRPr lang="en-US" sz="863" dirty="0"/>
          </a:p>
          <a:p>
            <a:pPr algn="l" indent="0" marL="0">
              <a:lnSpc>
                <a:spcPts val="1251"/>
              </a:lnSpc>
              <a:buNone/>
            </a:pPr>
            <a:r>
              <a:rPr lang="en-US" sz="863" b="1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allowed_dims:</a:t>
            </a:r>
            <a:pPr indent="0" marL="0">
              <a:buNone/>
            </a:pPr>
            <a:r>
              <a:rPr lang="en-US" sz="863" dirty="0">
                <a:solidFill>
                  <a:srgbClr val="E6F5F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store, region, category, date</a:t>
            </a:r>
            <a:endParaRPr lang="en-US" sz="863" dirty="0"/>
          </a:p>
        </p:txBody>
      </p:sp>
      <p:sp>
        <p:nvSpPr>
          <p:cNvPr id="25" name="Text 16"/>
          <p:cNvSpPr txBox="1"/>
          <p:nvPr/>
        </p:nvSpPr>
        <p:spPr>
          <a:xfrm>
            <a:off x="8314134" y="2693640"/>
            <a:ext cx="297299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spc="105" kern="0" dirty="0">
                <a:solidFill>
                  <a:srgbClr val="E6F5F2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LLM SEES</a:t>
            </a:r>
            <a:endParaRPr lang="en-US" sz="750" dirty="0"/>
          </a:p>
        </p:txBody>
      </p:sp>
      <p:sp>
        <p:nvSpPr>
          <p:cNvPr id="26" name="Text 17"/>
          <p:cNvSpPr txBox="1"/>
          <p:nvPr/>
        </p:nvSpPr>
        <p:spPr>
          <a:xfrm>
            <a:off x="8314134" y="2865090"/>
            <a:ext cx="2972991" cy="83209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63" b="1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synonyms:</a:t>
            </a:r>
            <a:pPr indent="0" marL="0">
              <a:buNone/>
            </a:pPr>
            <a:r>
              <a:rPr lang="en-US" sz="863" dirty="0">
                <a:solidFill>
                  <a:srgbClr val="E6F5F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sales, revenue</a:t>
            </a:r>
            <a:endParaRPr lang="en-US" sz="863" dirty="0"/>
          </a:p>
          <a:p>
            <a:pPr algn="l" indent="0" marL="0">
              <a:lnSpc>
                <a:spcPts val="1251"/>
              </a:lnSpc>
              <a:buNone/>
            </a:pPr>
            <a:r>
              <a:rPr lang="en-US" sz="863" b="1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join:</a:t>
            </a:r>
            <a:pPr indent="0" marL="0">
              <a:buNone/>
            </a:pPr>
            <a:r>
              <a:rPr lang="en-US" sz="863" dirty="0">
                <a:solidFill>
                  <a:srgbClr val="E6F5F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store_id → dim_store</a:t>
            </a:r>
            <a:endParaRPr lang="en-US" sz="863" dirty="0"/>
          </a:p>
          <a:p>
            <a:pPr algn="l" indent="0" marL="0">
              <a:lnSpc>
                <a:spcPts val="1251"/>
              </a:lnSpc>
              <a:buNone/>
            </a:pPr>
            <a:r>
              <a:rPr lang="en-US" sz="863" b="1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 Q:</a:t>
            </a:r>
            <a:pPr indent="0" marL="0">
              <a:buNone/>
            </a:pPr>
            <a:r>
              <a:rPr lang="en-US" sz="863" dirty="0">
                <a:solidFill>
                  <a:srgbClr val="E6F5F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'Sales by store in Bangkok' → SELECT ...</a:t>
            </a:r>
            <a:endParaRPr lang="en-US" sz="863" dirty="0"/>
          </a:p>
          <a:p>
            <a:pPr algn="l" indent="0" marL="0">
              <a:lnSpc>
                <a:spcPts val="1251"/>
              </a:lnSpc>
              <a:buNone/>
            </a:pPr>
            <a:r>
              <a:rPr lang="en-US" sz="863" b="1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retrieval:</a:t>
            </a:r>
            <a:pPr indent="0" marL="0">
              <a:buNone/>
            </a:pPr>
            <a:r>
              <a:rPr lang="en-US" sz="863" dirty="0">
                <a:solidFill>
                  <a:srgbClr val="E6F5F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only relevant context</a:t>
            </a:r>
            <a:endParaRPr lang="en-US" sz="863" dirty="0"/>
          </a:p>
        </p:txBody>
      </p:sp>
      <p:sp>
        <p:nvSpPr>
          <p:cNvPr id="27" name="Text 18"/>
          <p:cNvSpPr txBox="1"/>
          <p:nvPr/>
        </p:nvSpPr>
        <p:spPr>
          <a:xfrm>
            <a:off x="5055394" y="3925788"/>
            <a:ext cx="6403181" cy="439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2302B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Schema retrieval:</a:t>
            </a:r>
            <a:pPr indent="0" marL="0">
              <a:buNone/>
            </a:pPr>
            <a:r>
              <a:rPr lang="en-US" sz="825" dirty="0">
                <a:solidFill>
                  <a:srgbClr val="12302B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Question "Show pork margin by store last week" → Retriever finds vw_pricing_performance, net_sales_thb, gross_margin_thb, buyer_group. Includes table desc, column desc, metric defs, join rules, allowed filters, synonyms, approved SQL, freshness, permissions.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19100"/>
            <a:ext cx="11125200" cy="37995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92"/>
              </a:lnSpc>
              <a:buNone/>
            </a:pPr>
            <a:r>
              <a:rPr lang="en-US" sz="2850" b="1" spc="-57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Schema retrieval - send only relevant context</a:t>
            </a:r>
            <a:endParaRPr lang="en-US" sz="285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799058"/>
            <a:ext cx="8572500" cy="35897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12302B">
                    <a:alpha val="6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Don't send complete catalog to model on every question — use retrieval. Vector search over schemas, metric definitions, approved SQL examples. Cheaper, safer, more accurate.</a:t>
            </a:r>
            <a:endParaRPr lang="en-US" sz="97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" y="1119932"/>
            <a:ext cx="5591473" cy="234434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3425" y="1519982"/>
            <a:ext cx="484852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spc="120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RETRIEVAL, NOT FULL DUMP?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733425" y="1733550"/>
            <a:ext cx="228600" cy="228600"/>
          </a:xfrm>
          <a:prstGeom prst="roundRect">
            <a:avLst>
              <a:gd name="adj" fmla="val 29167"/>
            </a:avLst>
          </a:prstGeom>
          <a:solidFill>
            <a:srgbClr val="10948C">
              <a:alpha val="12000"/>
            </a:srgbClr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1786682"/>
            <a:ext cx="114300" cy="1143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7275" y="1739057"/>
            <a:ext cx="4524673" cy="36314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13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1000s tables + 5000 cols</a:t>
            </a:r>
            <a:pPr indent="0" marL="0">
              <a:buNone/>
            </a:pPr>
            <a:r>
              <a:rPr lang="en-US" sz="1013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= token bloat, hallucinated joins, sensitive leak, $ cost</a:t>
            </a:r>
            <a:endParaRPr lang="en-US" sz="1013" dirty="0"/>
          </a:p>
        </p:txBody>
      </p:sp>
      <p:sp>
        <p:nvSpPr>
          <p:cNvPr id="9" name="Shape 5"/>
          <p:cNvSpPr/>
          <p:nvPr/>
        </p:nvSpPr>
        <p:spPr>
          <a:xfrm>
            <a:off x="733425" y="2200275"/>
            <a:ext cx="228600" cy="228600"/>
          </a:xfrm>
          <a:prstGeom prst="roundRect">
            <a:avLst>
              <a:gd name="adj" fmla="val 29167"/>
            </a:avLst>
          </a:prstGeom>
          <a:solidFill>
            <a:srgbClr val="10948C">
              <a:alpha val="12000"/>
            </a:srgbClr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31" y="2254597"/>
            <a:ext cx="128588" cy="1143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7275" y="2206972"/>
            <a:ext cx="4320778" cy="2190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13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RAG for tables:</a:t>
            </a:r>
            <a:pPr indent="0" marL="0">
              <a:buNone/>
            </a:pPr>
            <a:r>
              <a:rPr lang="en-US" sz="1013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question → retriever finds 2-3 views + 6-8 columns only</a:t>
            </a:r>
            <a:endParaRPr lang="en-US" sz="1013" dirty="0"/>
          </a:p>
        </p:txBody>
      </p:sp>
      <p:sp>
        <p:nvSpPr>
          <p:cNvPr id="12" name="Shape 7"/>
          <p:cNvSpPr/>
          <p:nvPr/>
        </p:nvSpPr>
        <p:spPr>
          <a:xfrm>
            <a:off x="733425" y="2524125"/>
            <a:ext cx="228600" cy="228600"/>
          </a:xfrm>
          <a:prstGeom prst="roundRect">
            <a:avLst>
              <a:gd name="adj" fmla="val 29167"/>
            </a:avLst>
          </a:prstGeom>
          <a:solidFill>
            <a:srgbClr val="10948C">
              <a:alpha val="12000"/>
            </a:srgbClr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847725" y="2638425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 txBox="1"/>
          <p:nvPr/>
        </p:nvSpPr>
        <p:spPr>
          <a:xfrm>
            <a:off x="1057275" y="2530822"/>
            <a:ext cx="4451598" cy="2190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13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Scoped by permission</a:t>
            </a:r>
            <a:pPr indent="0" marL="0">
              <a:buNone/>
            </a:pPr>
            <a:r>
              <a:rPr lang="en-US" sz="1013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user can only retrieve views they have access to</a:t>
            </a:r>
            <a:endParaRPr lang="en-US" sz="1013" dirty="0"/>
          </a:p>
        </p:txBody>
      </p:sp>
      <p:sp>
        <p:nvSpPr>
          <p:cNvPr id="15" name="Shape 10"/>
          <p:cNvSpPr/>
          <p:nvPr/>
        </p:nvSpPr>
        <p:spPr>
          <a:xfrm>
            <a:off x="733425" y="2847975"/>
            <a:ext cx="228600" cy="228600"/>
          </a:xfrm>
          <a:prstGeom prst="roundRect">
            <a:avLst>
              <a:gd name="adj" fmla="val 29167"/>
            </a:avLst>
          </a:prstGeom>
          <a:solidFill>
            <a:srgbClr val="10948C">
              <a:alpha val="12000"/>
            </a:srgbClr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" y="2902297"/>
            <a:ext cx="114300" cy="1143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57275" y="2854672"/>
            <a:ext cx="4320183" cy="2190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13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Freshness aware</a:t>
            </a:r>
            <a:pPr indent="0" marL="0">
              <a:buNone/>
            </a:pPr>
            <a:r>
              <a:rPr lang="en-US" sz="1013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includes last_updated, so LLM can warn about stale</a:t>
            </a:r>
            <a:endParaRPr lang="en-US" sz="1013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" y="3178522"/>
            <a:ext cx="5591473" cy="178474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33425" y="3578572"/>
            <a:ext cx="484852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spc="120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RETRIEVED CONTEXT INCLUDES</a:t>
            </a:r>
            <a:endParaRPr lang="en-US" sz="750" dirty="0"/>
          </a:p>
        </p:txBody>
      </p:sp>
      <p:sp>
        <p:nvSpPr>
          <p:cNvPr id="20" name="Text 13"/>
          <p:cNvSpPr txBox="1"/>
          <p:nvPr/>
        </p:nvSpPr>
        <p:spPr>
          <a:xfrm>
            <a:off x="838200" y="3788122"/>
            <a:ext cx="2262336" cy="15329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Table &amp; column descriptions</a:t>
            </a:r>
            <a:endParaRPr lang="en-US" sz="863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3845272"/>
            <a:ext cx="47625" cy="4762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33425" y="3848100"/>
            <a:ext cx="47625" cy="476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5"/>
          <p:cNvSpPr txBox="1"/>
          <p:nvPr/>
        </p:nvSpPr>
        <p:spPr>
          <a:xfrm>
            <a:off x="3319611" y="3788122"/>
            <a:ext cx="2262336" cy="15329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Metric definitions (net_sales = excl VAT)</a:t>
            </a:r>
            <a:endParaRPr lang="en-US" sz="863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4836" y="3845272"/>
            <a:ext cx="47625" cy="47625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3219450" y="3848100"/>
            <a:ext cx="47625" cy="476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7"/>
          <p:cNvSpPr txBox="1"/>
          <p:nvPr/>
        </p:nvSpPr>
        <p:spPr>
          <a:xfrm>
            <a:off x="838200" y="3998565"/>
            <a:ext cx="2262336" cy="15329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Join rules (store_id → dim_store)</a:t>
            </a:r>
            <a:endParaRPr lang="en-US" sz="863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4055715"/>
            <a:ext cx="47625" cy="47625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733425" y="4057650"/>
            <a:ext cx="47625" cy="476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19"/>
          <p:cNvSpPr txBox="1"/>
          <p:nvPr/>
        </p:nvSpPr>
        <p:spPr>
          <a:xfrm>
            <a:off x="3319611" y="3998565"/>
            <a:ext cx="2262336" cy="15329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Allowed filters + enums</a:t>
            </a:r>
            <a:endParaRPr lang="en-US" sz="863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4836" y="4055715"/>
            <a:ext cx="47625" cy="47625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3219450" y="4057650"/>
            <a:ext cx="47625" cy="476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1"/>
          <p:cNvSpPr txBox="1"/>
          <p:nvPr/>
        </p:nvSpPr>
        <p:spPr>
          <a:xfrm>
            <a:off x="838200" y="4209008"/>
            <a:ext cx="2262336" cy="15329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Synonyms: sales, revenue, net</a:t>
            </a:r>
            <a:endParaRPr lang="en-US" sz="863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" y="4266158"/>
            <a:ext cx="47625" cy="47625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733425" y="4267200"/>
            <a:ext cx="47625" cy="476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3"/>
          <p:cNvSpPr txBox="1"/>
          <p:nvPr/>
        </p:nvSpPr>
        <p:spPr>
          <a:xfrm>
            <a:off x="3319611" y="4209008"/>
            <a:ext cx="2262336" cy="15329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 Q + approved SQL</a:t>
            </a:r>
            <a:endParaRPr lang="en-US" sz="863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14836" y="4266158"/>
            <a:ext cx="47625" cy="47625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3219450" y="4267200"/>
            <a:ext cx="47625" cy="476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25"/>
          <p:cNvSpPr txBox="1"/>
          <p:nvPr/>
        </p:nvSpPr>
        <p:spPr>
          <a:xfrm>
            <a:off x="838200" y="4419451"/>
            <a:ext cx="2262336" cy="15329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freshness version</a:t>
            </a:r>
            <a:endParaRPr lang="en-US" sz="863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3425" y="4476601"/>
            <a:ext cx="47625" cy="47625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733425" y="4476750"/>
            <a:ext cx="47625" cy="476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27"/>
          <p:cNvSpPr txBox="1"/>
          <p:nvPr/>
        </p:nvSpPr>
        <p:spPr>
          <a:xfrm>
            <a:off x="3319611" y="4419451"/>
            <a:ext cx="2262336" cy="15329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permission scope</a:t>
            </a:r>
            <a:endParaRPr lang="en-US" sz="863" dirty="0"/>
          </a:p>
        </p:txBody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14836" y="4476601"/>
            <a:ext cx="47625" cy="47625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3219450" y="4476750"/>
            <a:ext cx="47625" cy="476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29"/>
          <p:cNvSpPr/>
          <p:nvPr/>
        </p:nvSpPr>
        <p:spPr>
          <a:xfrm>
            <a:off x="5972175" y="1333500"/>
            <a:ext cx="5686425" cy="3171825"/>
          </a:xfrm>
          <a:prstGeom prst="roundRect">
            <a:avLst>
              <a:gd name="adj" fmla="val 6006"/>
            </a:avLst>
          </a:prstGeom>
          <a:solidFill>
            <a:srgbClr val="13302B"/>
          </a:solidFill>
          <a:ln/>
        </p:spPr>
      </p:sp>
      <p:sp>
        <p:nvSpPr>
          <p:cNvPr id="45" name="Text 30"/>
          <p:cNvSpPr txBox="1"/>
          <p:nvPr/>
        </p:nvSpPr>
        <p:spPr>
          <a:xfrm>
            <a:off x="6162973" y="1510457"/>
            <a:ext cx="5304979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b="1" spc="72" kern="0" dirty="0">
                <a:solidFill>
                  <a:srgbClr val="E4F5F4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</a:t>
            </a:r>
            <a:endParaRPr lang="en-US" sz="900" dirty="0"/>
          </a:p>
        </p:txBody>
      </p:sp>
      <p:sp>
        <p:nvSpPr>
          <p:cNvPr id="46" name="Text 31"/>
          <p:cNvSpPr txBox="1"/>
          <p:nvPr/>
        </p:nvSpPr>
        <p:spPr>
          <a:xfrm>
            <a:off x="6162973" y="1729532"/>
            <a:ext cx="5304979" cy="1866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i="1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"Show pork margin by store last week"</a:t>
            </a:r>
            <a:endParaRPr lang="en-US" sz="1050" dirty="0"/>
          </a:p>
        </p:txBody>
      </p:sp>
      <p:sp>
        <p:nvSpPr>
          <p:cNvPr id="47" name="Text 32"/>
          <p:cNvSpPr txBox="1"/>
          <p:nvPr/>
        </p:nvSpPr>
        <p:spPr>
          <a:xfrm>
            <a:off x="6324898" y="2020937"/>
            <a:ext cx="5143054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Retriever finds — relevant only</a:t>
            </a:r>
            <a:endParaRPr lang="en-US" sz="900" dirty="0"/>
          </a:p>
        </p:txBody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62973" y="2039987"/>
            <a:ext cx="85725" cy="114300"/>
          </a:xfrm>
          <a:prstGeom prst="rect">
            <a:avLst/>
          </a:prstGeom>
        </p:spPr>
      </p:pic>
      <p:pic>
        <p:nvPicPr>
          <p:cNvPr id="4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62973" y="2278112"/>
            <a:ext cx="2614315" cy="290513"/>
          </a:xfrm>
          <a:prstGeom prst="rect">
            <a:avLst/>
          </a:prstGeom>
        </p:spPr>
      </p:pic>
      <p:sp>
        <p:nvSpPr>
          <p:cNvPr id="50" name="Text 33"/>
          <p:cNvSpPr txBox="1"/>
          <p:nvPr/>
        </p:nvSpPr>
        <p:spPr>
          <a:xfrm>
            <a:off x="6267748" y="2354312"/>
            <a:ext cx="240476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vw_pricing_performance</a:t>
            </a:r>
            <a:endParaRPr lang="en-US" sz="825" dirty="0"/>
          </a:p>
        </p:txBody>
      </p:sp>
      <p:pic>
        <p:nvPicPr>
          <p:cNvPr id="5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53488" y="2278112"/>
            <a:ext cx="2614464" cy="290513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8958263" y="2354312"/>
            <a:ext cx="2404914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net_sales_thb</a:t>
            </a:r>
            <a:endParaRPr lang="en-US" sz="825" dirty="0"/>
          </a:p>
        </p:txBody>
      </p:sp>
      <p:pic>
        <p:nvPicPr>
          <p:cNvPr id="5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62973" y="2644825"/>
            <a:ext cx="2614315" cy="290513"/>
          </a:xfrm>
          <a:prstGeom prst="rect">
            <a:avLst/>
          </a:prstGeom>
        </p:spPr>
      </p:pic>
      <p:sp>
        <p:nvSpPr>
          <p:cNvPr id="54" name="Text 35"/>
          <p:cNvSpPr txBox="1"/>
          <p:nvPr/>
        </p:nvSpPr>
        <p:spPr>
          <a:xfrm>
            <a:off x="6267748" y="2721025"/>
            <a:ext cx="240476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gross_margin_thb</a:t>
            </a:r>
            <a:endParaRPr lang="en-US" sz="825" dirty="0"/>
          </a:p>
        </p:txBody>
      </p:sp>
      <p:pic>
        <p:nvPicPr>
          <p:cNvPr id="5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53488" y="2644825"/>
            <a:ext cx="2614464" cy="290513"/>
          </a:xfrm>
          <a:prstGeom prst="rect">
            <a:avLst/>
          </a:prstGeom>
        </p:spPr>
      </p:pic>
      <p:sp>
        <p:nvSpPr>
          <p:cNvPr id="56" name="Text 36"/>
          <p:cNvSpPr txBox="1"/>
          <p:nvPr/>
        </p:nvSpPr>
        <p:spPr>
          <a:xfrm>
            <a:off x="8958263" y="2721025"/>
            <a:ext cx="2404914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buyer_group</a:t>
            </a:r>
            <a:endParaRPr lang="en-US" sz="825" dirty="0"/>
          </a:p>
        </p:txBody>
      </p:sp>
      <p:pic>
        <p:nvPicPr>
          <p:cNvPr id="5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62973" y="3011537"/>
            <a:ext cx="2614315" cy="290513"/>
          </a:xfrm>
          <a:prstGeom prst="rect">
            <a:avLst/>
          </a:prstGeom>
        </p:spPr>
      </p:pic>
      <p:sp>
        <p:nvSpPr>
          <p:cNvPr id="58" name="Text 37"/>
          <p:cNvSpPr txBox="1"/>
          <p:nvPr/>
        </p:nvSpPr>
        <p:spPr>
          <a:xfrm>
            <a:off x="6267748" y="3087737"/>
            <a:ext cx="240476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store_name</a:t>
            </a:r>
            <a:endParaRPr lang="en-US" sz="825" dirty="0"/>
          </a:p>
        </p:txBody>
      </p:sp>
      <p:pic>
        <p:nvPicPr>
          <p:cNvPr id="5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53488" y="3011537"/>
            <a:ext cx="2614464" cy="290513"/>
          </a:xfrm>
          <a:prstGeom prst="rect">
            <a:avLst/>
          </a:prstGeom>
        </p:spPr>
      </p:pic>
      <p:sp>
        <p:nvSpPr>
          <p:cNvPr id="60" name="Text 38"/>
          <p:cNvSpPr txBox="1"/>
          <p:nvPr/>
        </p:nvSpPr>
        <p:spPr>
          <a:xfrm>
            <a:off x="8958263" y="3087737"/>
            <a:ext cx="2404914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business_date</a:t>
            </a:r>
            <a:endParaRPr lang="en-US" sz="825" dirty="0"/>
          </a:p>
        </p:txBody>
      </p:sp>
      <p:pic>
        <p:nvPicPr>
          <p:cNvPr id="6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62973" y="3435400"/>
            <a:ext cx="5304979" cy="890588"/>
          </a:xfrm>
          <a:prstGeom prst="rect">
            <a:avLst/>
          </a:prstGeom>
        </p:spPr>
      </p:pic>
      <p:sp>
        <p:nvSpPr>
          <p:cNvPr id="62" name="Text 39"/>
          <p:cNvSpPr txBox="1"/>
          <p:nvPr/>
        </p:nvSpPr>
        <p:spPr>
          <a:xfrm>
            <a:off x="6162973" y="3549700"/>
            <a:ext cx="5304979" cy="7762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1050"/>
              </a:spcBef>
              <a:buNone/>
            </a:pPr>
            <a:r>
              <a:rPr lang="en-US" sz="825" dirty="0">
                <a:solidFill>
                  <a:srgbClr val="E4F5F4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Then send only that context to LLM — not 200 tables. LLM sees certified business definitions, not raw fact tables.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4F5F4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indent="0" marL="0">
              <a:buNone/>
            </a:pPr>
            <a:r>
              <a:rPr lang="en-US" sz="825" b="1" dirty="0">
                <a:solidFill>
                  <a:srgbClr val="5FD6DE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Pattern:</a:t>
            </a:r>
            <a:pPr indent="0" marL="0">
              <a:buNone/>
            </a:pPr>
            <a:r>
              <a:rPr lang="en-US" sz="825" dirty="0">
                <a:solidFill>
                  <a:srgbClr val="E4F5F4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Embedding model indexes metric registry + view DDL + approved queries. Cosine search at query time, re-rank by permission. </a:t>
            </a:r>
            <a:endParaRPr lang="en-US" sz="825" dirty="0"/>
          </a:p>
        </p:txBody>
      </p:sp>
      <p:pic>
        <p:nvPicPr>
          <p:cNvPr id="6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72473" y="4630787"/>
            <a:ext cx="5857429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28625"/>
            <a:ext cx="11125200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150"/>
              </a:spcAft>
              <a:buNone/>
            </a:pPr>
            <a:r>
              <a:rPr lang="en-US" sz="900" b="1" spc="126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DIFFERENT JOBS — DON'T CONFUSE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609600"/>
            <a:ext cx="11125200" cy="37995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92"/>
              </a:lnSpc>
              <a:buNone/>
            </a:pPr>
            <a:r>
              <a:rPr lang="en-US" sz="2850" b="1" spc="-57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Gateway - controls access to AI providers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33400" y="1123950"/>
            <a:ext cx="5495925" cy="1524000"/>
          </a:xfrm>
          <a:prstGeom prst="roundRect">
            <a:avLst>
              <a:gd name="adj" fmla="val 11250"/>
            </a:avLst>
          </a:prstGeom>
          <a:solidFill>
            <a:srgbClr val="13302B"/>
          </a:solidFill>
          <a:ln/>
          <a:effectLst>
            <a:outerShdw sx="100000" sy="100000" kx="0" ky="0" algn="bl" rotWithShape="0" blurRad="171450" dist="38100" dir="5400000">
              <a:srgbClr val="0F918B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04850" y="1265783"/>
            <a:ext cx="515302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spc="113" kern="0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BOUNDARY</a:t>
            </a:r>
            <a:endParaRPr lang="en-US" sz="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850" y="1475333"/>
            <a:ext cx="2519363" cy="65246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8675" y="1589633"/>
            <a:ext cx="2271713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Gateway</a:t>
            </a:r>
            <a:endParaRPr lang="en-US" sz="975" dirty="0"/>
          </a:p>
        </p:txBody>
      </p:sp>
      <p:sp>
        <p:nvSpPr>
          <p:cNvPr id="8" name="Text 5"/>
          <p:cNvSpPr txBox="1"/>
          <p:nvPr/>
        </p:nvSpPr>
        <p:spPr>
          <a:xfrm>
            <a:off x="1386632" y="1842046"/>
            <a:ext cx="115579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4F5F4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Protects YOUR app APIs</a:t>
            </a:r>
            <a:endParaRPr lang="en-US" sz="825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513" y="1475333"/>
            <a:ext cx="2519363" cy="65246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462338" y="1589633"/>
            <a:ext cx="2271564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Gateway</a:t>
            </a:r>
            <a:endParaRPr lang="en-US" sz="975" dirty="0"/>
          </a:p>
        </p:txBody>
      </p:sp>
      <p:sp>
        <p:nvSpPr>
          <p:cNvPr id="11" name="Text 7"/>
          <p:cNvSpPr txBox="1"/>
          <p:nvPr/>
        </p:nvSpPr>
        <p:spPr>
          <a:xfrm>
            <a:off x="4087118" y="1842046"/>
            <a:ext cx="102200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4F5F4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Controls AI providers</a:t>
            </a:r>
            <a:endParaRPr lang="en-US" sz="825" dirty="0"/>
          </a:p>
        </p:txBody>
      </p:sp>
      <p:sp>
        <p:nvSpPr>
          <p:cNvPr id="12" name="Text 8"/>
          <p:cNvSpPr txBox="1"/>
          <p:nvPr/>
        </p:nvSpPr>
        <p:spPr>
          <a:xfrm>
            <a:off x="704850" y="2223046"/>
            <a:ext cx="5153025" cy="2931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750"/>
              </a:spcBef>
              <a:buNone/>
            </a:pPr>
            <a:r>
              <a:rPr lang="en-US" sz="825" dirty="0">
                <a:solidFill>
                  <a:srgbClr val="E4F5F4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Architecture: Text-to-SQL Backend → LLM Gateway → Azure OpenAI / OpenAI / Gemini / DeepSeek / Qwen. Backend never gives DB creds to gateway.</a:t>
            </a:r>
            <a:endParaRPr lang="en-US" sz="825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225" y="913358"/>
            <a:ext cx="5838825" cy="194577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343650" y="1294358"/>
            <a:ext cx="513397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spc="113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GATEWAY PROVIDES</a:t>
            </a:r>
            <a:endParaRPr lang="en-US" sz="750" dirty="0"/>
          </a:p>
        </p:txBody>
      </p:sp>
      <p:sp>
        <p:nvSpPr>
          <p:cNvPr id="15" name="Text 10"/>
          <p:cNvSpPr txBox="1"/>
          <p:nvPr/>
        </p:nvSpPr>
        <p:spPr>
          <a:xfrm>
            <a:off x="6343650" y="1504950"/>
            <a:ext cx="251460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Provider abstraction &amp; routing</a:t>
            </a:r>
            <a:endParaRPr lang="en-US" sz="938" dirty="0"/>
          </a:p>
        </p:txBody>
      </p:sp>
      <p:sp>
        <p:nvSpPr>
          <p:cNvPr id="16" name="Text 11"/>
          <p:cNvSpPr txBox="1"/>
          <p:nvPr/>
        </p:nvSpPr>
        <p:spPr>
          <a:xfrm>
            <a:off x="6343650" y="1533525"/>
            <a:ext cx="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 txBox="1"/>
          <p:nvPr/>
        </p:nvSpPr>
        <p:spPr>
          <a:xfrm>
            <a:off x="8972550" y="1504950"/>
            <a:ext cx="251460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API-key isolation</a:t>
            </a:r>
            <a:endParaRPr lang="en-US" sz="938" dirty="0"/>
          </a:p>
        </p:txBody>
      </p:sp>
      <p:sp>
        <p:nvSpPr>
          <p:cNvPr id="18" name="Text 13"/>
          <p:cNvSpPr txBox="1"/>
          <p:nvPr/>
        </p:nvSpPr>
        <p:spPr>
          <a:xfrm>
            <a:off x="8972550" y="1533525"/>
            <a:ext cx="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 txBox="1"/>
          <p:nvPr/>
        </p:nvSpPr>
        <p:spPr>
          <a:xfrm>
            <a:off x="6343650" y="1724025"/>
            <a:ext cx="251460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Token + budget limits per user/team</a:t>
            </a:r>
            <a:endParaRPr lang="en-US" sz="938" dirty="0"/>
          </a:p>
        </p:txBody>
      </p:sp>
      <p:sp>
        <p:nvSpPr>
          <p:cNvPr id="20" name="Text 15"/>
          <p:cNvSpPr txBox="1"/>
          <p:nvPr/>
        </p:nvSpPr>
        <p:spPr>
          <a:xfrm>
            <a:off x="6343650" y="1752600"/>
            <a:ext cx="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 txBox="1"/>
          <p:nvPr/>
        </p:nvSpPr>
        <p:spPr>
          <a:xfrm>
            <a:off x="8972550" y="1724025"/>
            <a:ext cx="251460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Prompt templates &amp; redaction logging</a:t>
            </a:r>
            <a:endParaRPr lang="en-US" sz="938" dirty="0"/>
          </a:p>
        </p:txBody>
      </p:sp>
      <p:sp>
        <p:nvSpPr>
          <p:cNvPr id="22" name="Text 17"/>
          <p:cNvSpPr txBox="1"/>
          <p:nvPr/>
        </p:nvSpPr>
        <p:spPr>
          <a:xfrm>
            <a:off x="8972550" y="1752600"/>
            <a:ext cx="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 txBox="1"/>
          <p:nvPr/>
        </p:nvSpPr>
        <p:spPr>
          <a:xfrm>
            <a:off x="6343650" y="1952625"/>
            <a:ext cx="251460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Retry + circuit breaker + fallback</a:t>
            </a:r>
            <a:endParaRPr lang="en-US" sz="938" dirty="0"/>
          </a:p>
        </p:txBody>
      </p:sp>
      <p:sp>
        <p:nvSpPr>
          <p:cNvPr id="24" name="Text 19"/>
          <p:cNvSpPr txBox="1"/>
          <p:nvPr/>
        </p:nvSpPr>
        <p:spPr>
          <a:xfrm>
            <a:off x="6343650" y="1981200"/>
            <a:ext cx="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 txBox="1"/>
          <p:nvPr/>
        </p:nvSpPr>
        <p:spPr>
          <a:xfrm>
            <a:off x="8972550" y="1952625"/>
            <a:ext cx="251460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Latency, cost, token metrics</a:t>
            </a:r>
            <a:endParaRPr lang="en-US" sz="938" dirty="0"/>
          </a:p>
        </p:txBody>
      </p:sp>
      <p:sp>
        <p:nvSpPr>
          <p:cNvPr id="26" name="Text 21"/>
          <p:cNvSpPr txBox="1"/>
          <p:nvPr/>
        </p:nvSpPr>
        <p:spPr>
          <a:xfrm>
            <a:off x="8972550" y="1981200"/>
            <a:ext cx="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 txBox="1"/>
          <p:nvPr/>
        </p:nvSpPr>
        <p:spPr>
          <a:xfrm>
            <a:off x="6343650" y="2171700"/>
            <a:ext cx="251460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allowlist</a:t>
            </a:r>
            <a:endParaRPr lang="en-US" sz="938" dirty="0"/>
          </a:p>
        </p:txBody>
      </p:sp>
      <p:sp>
        <p:nvSpPr>
          <p:cNvPr id="28" name="Text 23"/>
          <p:cNvSpPr txBox="1"/>
          <p:nvPr/>
        </p:nvSpPr>
        <p:spPr>
          <a:xfrm>
            <a:off x="6343650" y="2200275"/>
            <a:ext cx="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 txBox="1"/>
          <p:nvPr/>
        </p:nvSpPr>
        <p:spPr>
          <a:xfrm>
            <a:off x="8972550" y="2171700"/>
            <a:ext cx="251460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Content &amp; prompt-injection controls</a:t>
            </a:r>
            <a:endParaRPr lang="en-US" sz="938" dirty="0"/>
          </a:p>
        </p:txBody>
      </p:sp>
      <p:sp>
        <p:nvSpPr>
          <p:cNvPr id="30" name="Text 25"/>
          <p:cNvSpPr txBox="1"/>
          <p:nvPr/>
        </p:nvSpPr>
        <p:spPr>
          <a:xfrm>
            <a:off x="8972550" y="2200275"/>
            <a:ext cx="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782937"/>
            <a:ext cx="6375202" cy="3655963"/>
          </a:xfrm>
          <a:prstGeom prst="rect">
            <a:avLst/>
          </a:prstGeom>
        </p:spPr>
      </p:pic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" y="3086844"/>
            <a:ext cx="6165652" cy="3048000"/>
          </a:xfrm>
          <a:prstGeom prst="rect">
            <a:avLst/>
          </a:prstGeom>
        </p:spPr>
      </p:pic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0502" y="2573387"/>
            <a:ext cx="4959548" cy="24384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203877" y="2935337"/>
            <a:ext cx="429279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spc="113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ROUTING EXAMPLE</a:t>
            </a:r>
            <a:endParaRPr lang="en-US" sz="75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3877" y="3144887"/>
            <a:ext cx="4292798" cy="335756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7327702" y="3240137"/>
            <a:ext cx="1361926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Simple intent classification</a:t>
            </a:r>
            <a:endParaRPr lang="en-US" sz="863" dirty="0"/>
          </a:p>
        </p:txBody>
      </p:sp>
      <p:sp>
        <p:nvSpPr>
          <p:cNvPr id="37" name="Text 28"/>
          <p:cNvSpPr txBox="1"/>
          <p:nvPr/>
        </p:nvSpPr>
        <p:spPr>
          <a:xfrm>
            <a:off x="10356503" y="3240137"/>
            <a:ext cx="1016347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b="1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Small cheap model</a:t>
            </a:r>
            <a:endParaRPr lang="en-US" sz="863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3877" y="3537793"/>
            <a:ext cx="4292798" cy="335756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7327702" y="3633043"/>
            <a:ext cx="1254323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Complex SQL generation</a:t>
            </a:r>
            <a:endParaRPr lang="en-US" sz="863" dirty="0"/>
          </a:p>
        </p:txBody>
      </p:sp>
      <p:sp>
        <p:nvSpPr>
          <p:cNvPr id="40" name="Text 30"/>
          <p:cNvSpPr txBox="1"/>
          <p:nvPr/>
        </p:nvSpPr>
        <p:spPr>
          <a:xfrm>
            <a:off x="10460236" y="3633043"/>
            <a:ext cx="912614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b="1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reasoning</a:t>
            </a:r>
            <a:endParaRPr lang="en-US" sz="863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03877" y="3930700"/>
            <a:ext cx="4292798" cy="335756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7327702" y="4025950"/>
            <a:ext cx="1083022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 summarization</a:t>
            </a:r>
            <a:endParaRPr lang="en-US" sz="863" dirty="0"/>
          </a:p>
        </p:txBody>
      </p:sp>
      <p:sp>
        <p:nvSpPr>
          <p:cNvPr id="43" name="Text 32"/>
          <p:cNvSpPr txBox="1"/>
          <p:nvPr/>
        </p:nvSpPr>
        <p:spPr>
          <a:xfrm>
            <a:off x="10718304" y="4025950"/>
            <a:ext cx="654546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b="1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Small model</a:t>
            </a:r>
            <a:endParaRPr lang="en-US" sz="863" dirty="0"/>
          </a:p>
        </p:txBody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3877" y="4323606"/>
            <a:ext cx="4292798" cy="335756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7327702" y="4418856"/>
            <a:ext cx="945356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Sensitive workload</a:t>
            </a:r>
            <a:endParaRPr lang="en-US" sz="863" dirty="0"/>
          </a:p>
        </p:txBody>
      </p:sp>
      <p:sp>
        <p:nvSpPr>
          <p:cNvPr id="46" name="Text 34"/>
          <p:cNvSpPr txBox="1"/>
          <p:nvPr/>
        </p:nvSpPr>
        <p:spPr>
          <a:xfrm>
            <a:off x="10024765" y="4418856"/>
            <a:ext cx="1348085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b="1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Private regional endpoint</a:t>
            </a:r>
            <a:endParaRPr lang="en-US" sz="863" dirty="0"/>
          </a:p>
        </p:txBody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1952" y="4916537"/>
            <a:ext cx="4616648" cy="744587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7184827" y="5040362"/>
            <a:ext cx="4330898" cy="496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6E262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Critical: LLM Gateway should NEVER receive database credentials. Flow: LLM proposes SQL → Backend validates SQL → Query Service executes SQL. LLM never connects directly to production.</a:t>
            </a:r>
            <a:endParaRPr lang="en-US" sz="900" dirty="0"/>
          </a:p>
        </p:txBody>
      </p:sp>
      <p:sp>
        <p:nvSpPr>
          <p:cNvPr id="49" name="Text 36"/>
          <p:cNvSpPr txBox="1"/>
          <p:nvPr/>
        </p:nvSpPr>
        <p:spPr>
          <a:xfrm>
            <a:off x="7181850" y="5038725"/>
            <a:ext cx="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381000"/>
            <a:ext cx="11125200" cy="36001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b="1" spc="-54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Require structured JSON — validate before use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33400" y="876300"/>
            <a:ext cx="5686425" cy="5600700"/>
          </a:xfrm>
          <a:prstGeom prst="roundRect">
            <a:avLst>
              <a:gd name="adj" fmla="val 3061"/>
            </a:avLst>
          </a:prstGeom>
          <a:solidFill>
            <a:srgbClr val="1330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23900" y="1055340"/>
            <a:ext cx="5304979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3"/>
              </a:lnSpc>
              <a:spcAft>
                <a:spcPts val="750"/>
              </a:spcAft>
              <a:buNone/>
            </a:pPr>
            <a:r>
              <a:rPr lang="en-US" sz="750" b="1" spc="120" kern="0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OUTPUT CONTRACT — NOT FREE TEXT</a:t>
            </a:r>
            <a:endParaRPr lang="en-US" sz="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0166" y="1007715"/>
            <a:ext cx="1185863" cy="20895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76366" y="1045815"/>
            <a:ext cx="1033462" cy="13275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b="1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Pydantic • JSON Schema</a:t>
            </a:r>
            <a:endParaRPr lang="en-US" sz="675" dirty="0"/>
          </a:p>
        </p:txBody>
      </p:sp>
      <p:sp>
        <p:nvSpPr>
          <p:cNvPr id="7" name="Text 4"/>
          <p:cNvSpPr txBox="1"/>
          <p:nvPr/>
        </p:nvSpPr>
        <p:spPr>
          <a:xfrm>
            <a:off x="723900" y="1298228"/>
            <a:ext cx="5304979" cy="236577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7"/>
              </a:lnSpc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{</a:t>
            </a:r>
            <a:endParaRPr lang="en-US" sz="863" dirty="0"/>
          </a:p>
          <a:p>
            <a:pPr algn="l" indent="0" marL="0">
              <a:lnSpc>
                <a:spcPts val="1337"/>
              </a:lnSpc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indent="0" marL="0">
              <a:buNone/>
            </a:pPr>
            <a:r>
              <a:rPr lang="en-US" sz="863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"intent"</a:t>
            </a:r>
            <a:pPr indent="0" marL="0"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</a:t>
            </a:r>
            <a:pPr indent="0" marL="0">
              <a:buNone/>
            </a:pPr>
            <a:r>
              <a:rPr lang="en-US" sz="863" dirty="0">
                <a:solidFill>
                  <a:srgbClr val="FFD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"analytics_query"</a:t>
            </a:r>
            <a:pPr indent="0" marL="0"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</a:t>
            </a:r>
            <a:endParaRPr lang="en-US" sz="863" dirty="0"/>
          </a:p>
          <a:p>
            <a:pPr algn="l" indent="0" marL="0">
              <a:lnSpc>
                <a:spcPts val="1337"/>
              </a:lnSpc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indent="0" marL="0">
              <a:buNone/>
            </a:pPr>
            <a:r>
              <a:rPr lang="en-US" sz="863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"dataset"</a:t>
            </a:r>
            <a:pPr indent="0" marL="0"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</a:t>
            </a:r>
            <a:pPr indent="0" marL="0">
              <a:buNone/>
            </a:pPr>
            <a:r>
              <a:rPr lang="en-US" sz="863" dirty="0">
                <a:solidFill>
                  <a:srgbClr val="FFD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"genie_semantic.vw_sales_summary"</a:t>
            </a:r>
            <a:pPr indent="0" marL="0"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</a:t>
            </a:r>
            <a:endParaRPr lang="en-US" sz="863" dirty="0"/>
          </a:p>
          <a:p>
            <a:pPr algn="l" indent="0" marL="0">
              <a:lnSpc>
                <a:spcPts val="1337"/>
              </a:lnSpc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indent="0" marL="0">
              <a:buNone/>
            </a:pPr>
            <a:r>
              <a:rPr lang="en-US" sz="863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"sql"</a:t>
            </a:r>
            <a:pPr indent="0" marL="0"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</a:t>
            </a:r>
            <a:pPr indent="0" marL="0">
              <a:buNone/>
            </a:pPr>
            <a:r>
              <a:rPr lang="en-US" sz="863" dirty="0">
                <a:solidFill>
                  <a:srgbClr val="FFD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"SELECT store_name, SUM(revenue_thb) ..." </a:t>
            </a:r>
            <a:pPr indent="0" marL="0"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</a:t>
            </a:r>
            <a:endParaRPr lang="en-US" sz="863" dirty="0"/>
          </a:p>
          <a:p>
            <a:pPr algn="l" indent="0" marL="0">
              <a:lnSpc>
                <a:spcPts val="1337"/>
              </a:lnSpc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indent="0" marL="0">
              <a:buNone/>
            </a:pPr>
            <a:r>
              <a:rPr lang="en-US" sz="863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"dimensions"</a:t>
            </a:r>
            <a:pPr indent="0" marL="0"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[</a:t>
            </a:r>
            <a:pPr indent="0" marL="0">
              <a:buNone/>
            </a:pPr>
            <a:r>
              <a:rPr lang="en-US" sz="863" dirty="0">
                <a:solidFill>
                  <a:srgbClr val="FFD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"store_name"</a:t>
            </a:r>
            <a:pPr indent="0" marL="0"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],</a:t>
            </a:r>
            <a:endParaRPr lang="en-US" sz="863" dirty="0"/>
          </a:p>
          <a:p>
            <a:pPr algn="l" indent="0" marL="0">
              <a:lnSpc>
                <a:spcPts val="1337"/>
              </a:lnSpc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indent="0" marL="0">
              <a:buNone/>
            </a:pPr>
            <a:r>
              <a:rPr lang="en-US" sz="863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"metrics"</a:t>
            </a:r>
            <a:pPr indent="0" marL="0"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[</a:t>
            </a:r>
            <a:pPr indent="0" marL="0">
              <a:buNone/>
            </a:pPr>
            <a:r>
              <a:rPr lang="en-US" sz="863" dirty="0">
                <a:solidFill>
                  <a:srgbClr val="FFD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"revenue_thb"</a:t>
            </a:r>
            <a:pPr indent="0" marL="0"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],</a:t>
            </a:r>
            <a:endParaRPr lang="en-US" sz="863" dirty="0"/>
          </a:p>
          <a:p>
            <a:pPr algn="l" indent="0" marL="0">
              <a:lnSpc>
                <a:spcPts val="1337"/>
              </a:lnSpc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indent="0" marL="0">
              <a:buNone/>
            </a:pPr>
            <a:r>
              <a:rPr lang="en-US" sz="863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"filters"</a:t>
            </a:r>
            <a:pPr indent="0" marL="0"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[{</a:t>
            </a:r>
            <a:endParaRPr lang="en-US" sz="863" dirty="0"/>
          </a:p>
          <a:p>
            <a:pPr algn="l" indent="0" marL="0">
              <a:lnSpc>
                <a:spcPts val="1337"/>
              </a:lnSpc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indent="0" marL="0">
              <a:buNone/>
            </a:pPr>
            <a:r>
              <a:rPr lang="en-US" sz="863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"field"</a:t>
            </a:r>
            <a:pPr indent="0" marL="0"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</a:t>
            </a:r>
            <a:pPr indent="0" marL="0">
              <a:buNone/>
            </a:pPr>
            <a:r>
              <a:rPr lang="en-US" sz="863" dirty="0">
                <a:solidFill>
                  <a:srgbClr val="FFD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"region_name"</a:t>
            </a:r>
            <a:pPr indent="0" marL="0"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</a:t>
            </a:r>
            <a:endParaRPr lang="en-US" sz="863" dirty="0"/>
          </a:p>
          <a:p>
            <a:pPr algn="l" indent="0" marL="0">
              <a:lnSpc>
                <a:spcPts val="1337"/>
              </a:lnSpc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indent="0" marL="0">
              <a:buNone/>
            </a:pPr>
            <a:r>
              <a:rPr lang="en-US" sz="863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"operator"</a:t>
            </a:r>
            <a:pPr indent="0" marL="0"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</a:t>
            </a:r>
            <a:pPr indent="0" marL="0">
              <a:buNone/>
            </a:pPr>
            <a:r>
              <a:rPr lang="en-US" sz="863" dirty="0">
                <a:solidFill>
                  <a:srgbClr val="FFD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"="</a:t>
            </a:r>
            <a:pPr indent="0" marL="0"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</a:t>
            </a:r>
            <a:endParaRPr lang="en-US" sz="863" dirty="0"/>
          </a:p>
          <a:p>
            <a:pPr algn="l" indent="0" marL="0">
              <a:lnSpc>
                <a:spcPts val="1337"/>
              </a:lnSpc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indent="0" marL="0">
              <a:buNone/>
            </a:pPr>
            <a:r>
              <a:rPr lang="en-US" sz="863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"value"</a:t>
            </a:r>
            <a:pPr indent="0" marL="0"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</a:t>
            </a:r>
            <a:pPr indent="0" marL="0">
              <a:buNone/>
            </a:pPr>
            <a:r>
              <a:rPr lang="en-US" sz="863" dirty="0">
                <a:solidFill>
                  <a:srgbClr val="FFD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"Bangkok"</a:t>
            </a:r>
            <a:endParaRPr lang="en-US" sz="863" dirty="0"/>
          </a:p>
          <a:p>
            <a:pPr algn="l" indent="0" marL="0">
              <a:lnSpc>
                <a:spcPts val="1337"/>
              </a:lnSpc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}],</a:t>
            </a:r>
            <a:endParaRPr lang="en-US" sz="863" dirty="0"/>
          </a:p>
          <a:p>
            <a:pPr algn="l" indent="0" marL="0">
              <a:lnSpc>
                <a:spcPts val="1337"/>
              </a:lnSpc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indent="0" marL="0">
              <a:buNone/>
            </a:pPr>
            <a:r>
              <a:rPr lang="en-US" sz="863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"assumptions"</a:t>
            </a:r>
            <a:pPr indent="0" marL="0"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[</a:t>
            </a:r>
            <a:pPr indent="0" marL="0">
              <a:buNone/>
            </a:pPr>
            <a:r>
              <a:rPr lang="en-US" sz="863" dirty="0">
                <a:solidFill>
                  <a:srgbClr val="FFD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"Sales means net sales excl VAT"</a:t>
            </a:r>
            <a:pPr indent="0" marL="0"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],</a:t>
            </a:r>
            <a:endParaRPr lang="en-US" sz="863" dirty="0"/>
          </a:p>
          <a:p>
            <a:pPr algn="l" indent="0" marL="0">
              <a:lnSpc>
                <a:spcPts val="1337"/>
              </a:lnSpc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indent="0" marL="0">
              <a:buNone/>
            </a:pPr>
            <a:r>
              <a:rPr lang="en-US" sz="863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"confidence"</a:t>
            </a:r>
            <a:pPr indent="0" marL="0"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</a:t>
            </a:r>
            <a:pPr indent="0" marL="0">
              <a:buNone/>
            </a:pPr>
            <a:r>
              <a:rPr lang="en-US" sz="863" dirty="0">
                <a:solidFill>
                  <a:srgbClr val="A8E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0.91</a:t>
            </a:r>
            <a:endParaRPr lang="en-US" sz="863" dirty="0"/>
          </a:p>
          <a:p>
            <a:pPr algn="l" indent="0" marL="0">
              <a:lnSpc>
                <a:spcPts val="1337"/>
              </a:lnSpc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}</a:t>
            </a:r>
            <a:endParaRPr lang="en-US" sz="863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429" y="664815"/>
            <a:ext cx="5591473" cy="208805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590854" y="1045815"/>
            <a:ext cx="488662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spc="105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STRUCTURED MATTERS</a:t>
            </a:r>
            <a:endParaRPr lang="en-US" sz="750" dirty="0"/>
          </a:p>
        </p:txBody>
      </p:sp>
      <p:sp>
        <p:nvSpPr>
          <p:cNvPr id="10" name="Text 6"/>
          <p:cNvSpPr txBox="1"/>
          <p:nvPr/>
        </p:nvSpPr>
        <p:spPr>
          <a:xfrm>
            <a:off x="6591300" y="1276350"/>
            <a:ext cx="0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 txBox="1"/>
          <p:nvPr/>
        </p:nvSpPr>
        <p:spPr>
          <a:xfrm>
            <a:off x="6676579" y="1255365"/>
            <a:ext cx="4800898" cy="35897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Backend validates object</a:t>
            </a:r>
            <a:pPr indent="0" marL="0">
              <a:buNone/>
            </a:pPr>
            <a:r>
              <a:rPr lang="en-US" sz="9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against schema before using — no mixed prose + SQL parsing</a:t>
            </a:r>
            <a:endParaRPr lang="en-US" sz="975" dirty="0"/>
          </a:p>
        </p:txBody>
      </p:sp>
      <p:sp>
        <p:nvSpPr>
          <p:cNvPr id="12" name="Text 8"/>
          <p:cNvSpPr txBox="1"/>
          <p:nvPr/>
        </p:nvSpPr>
        <p:spPr>
          <a:xfrm>
            <a:off x="6591300" y="1704975"/>
            <a:ext cx="0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 txBox="1"/>
          <p:nvPr/>
        </p:nvSpPr>
        <p:spPr>
          <a:xfrm>
            <a:off x="6676579" y="1690539"/>
            <a:ext cx="3802112" cy="1794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Assumptions must be shown</a:t>
            </a:r>
            <a:pPr indent="0" marL="0">
              <a:buNone/>
            </a:pPr>
            <a:r>
              <a:rPr lang="en-US" sz="9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user — transparency builds trust</a:t>
            </a:r>
            <a:endParaRPr lang="en-US" sz="975" dirty="0"/>
          </a:p>
        </p:txBody>
      </p:sp>
      <p:sp>
        <p:nvSpPr>
          <p:cNvPr id="14" name="Text 10"/>
          <p:cNvSpPr txBox="1"/>
          <p:nvPr/>
        </p:nvSpPr>
        <p:spPr>
          <a:xfrm>
            <a:off x="6591300" y="1962150"/>
            <a:ext cx="0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 txBox="1"/>
          <p:nvPr/>
        </p:nvSpPr>
        <p:spPr>
          <a:xfrm>
            <a:off x="6676579" y="1946225"/>
            <a:ext cx="4062264" cy="1794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Confidence routing</a:t>
            </a:r>
            <a:pPr indent="0" marL="0">
              <a:buNone/>
            </a:pPr>
            <a:r>
              <a:rPr lang="en-US" sz="9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if &lt; 0.72 threshold → clarification, not execution</a:t>
            </a:r>
            <a:endParaRPr lang="en-US" sz="975" dirty="0"/>
          </a:p>
        </p:txBody>
      </p:sp>
      <p:sp>
        <p:nvSpPr>
          <p:cNvPr id="16" name="Text 12"/>
          <p:cNvSpPr txBox="1"/>
          <p:nvPr/>
        </p:nvSpPr>
        <p:spPr>
          <a:xfrm>
            <a:off x="6591300" y="2219325"/>
            <a:ext cx="0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6676579" y="2201912"/>
            <a:ext cx="3921026" cy="1794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Auditable</a:t>
            </a:r>
            <a:pPr indent="0" marL="0">
              <a:buNone/>
            </a:pPr>
            <a:r>
              <a:rPr lang="en-US" sz="97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dataset, dimensions, filters logged separately from SQL</a:t>
            </a:r>
            <a:endParaRPr lang="en-US" sz="975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879" y="2657624"/>
            <a:ext cx="5248573" cy="91023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552754" y="2781449"/>
            <a:ext cx="4962823" cy="66258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indent="0" marL="0">
              <a:buNone/>
            </a:pPr>
            <a:r>
              <a:rPr lang="en-US" sz="900" b="1" dirty="0">
                <a:solidFill>
                  <a:srgbClr val="8A6D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Anti-pattern to avoid:</a:t>
            </a:r>
            <a:pPr indent="0" marL="0">
              <a:buNone/>
            </a:pPr>
            <a:r>
              <a:rPr lang="en-US" sz="90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LLM returns “Here is your SQL: SELECT ...” with explanation woven in. Backend extracts via regex → brittle, injectable.</a:t>
            </a:r>
            <a:endParaRPr lang="en-US" sz="90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indent="0" marL="0"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Instead:</a:t>
            </a:r>
            <a:pPr indent="0" marL="0">
              <a:buNone/>
            </a:pPr>
            <a:r>
              <a:rPr lang="en-US" sz="90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System prompt says “Respond only with valid JSON matching schema. No markdown, no comments.” 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429" y="3472607"/>
            <a:ext cx="5591473" cy="149780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590854" y="3853607"/>
            <a:ext cx="488662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spc="105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IMPLEMENTATION</a:t>
            </a:r>
            <a:endParaRPr lang="en-US" sz="750" dirty="0"/>
          </a:p>
        </p:txBody>
      </p:sp>
      <p:sp>
        <p:nvSpPr>
          <p:cNvPr id="22" name="Text 16"/>
          <p:cNvSpPr txBox="1"/>
          <p:nvPr/>
        </p:nvSpPr>
        <p:spPr>
          <a:xfrm>
            <a:off x="6590854" y="4072682"/>
            <a:ext cx="4886623" cy="5262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OpenAI function calling / structured output mode, or JSON mode + Pydantic validation. Retry once on schema error with validator message. Log prompt hash, not prompt with PII.</a:t>
            </a:r>
            <a:endParaRPr lang="en-US" sz="938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19100"/>
            <a:ext cx="11125200" cy="37995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92"/>
              </a:lnSpc>
              <a:buNone/>
            </a:pPr>
            <a:r>
              <a:rPr lang="en-US" sz="2850" b="1" spc="-57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 validation layer - mandatory, not optional</a:t>
            </a:r>
            <a:endParaRPr lang="en-US" sz="285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799058"/>
            <a:ext cx="11125200" cy="1732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2302B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Generated SQL must pass all checks before execution. SELECT-only enforced via role + parser + policy layer. Syntax, operation, permission, cost, explain-plan.</a:t>
            </a:r>
            <a:endParaRPr lang="en-US" sz="97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" y="896094"/>
            <a:ext cx="6684913" cy="57523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3425" y="1296144"/>
            <a:ext cx="594196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spc="120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VALIDATION CHECKLIST - EVERY QUERY MUST PASS</a:t>
            </a:r>
            <a:endParaRPr lang="en-US" sz="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581894"/>
            <a:ext cx="2932807" cy="479822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6194"/>
            <a:ext cx="104775" cy="10477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019175" y="1667619"/>
            <a:ext cx="2542282" cy="30837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SELECT-only?</a:t>
            </a:r>
            <a:pPr indent="0" marL="0">
              <a:buNone/>
            </a:pPr>
            <a:r>
              <a:rPr lang="en-US" sz="90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No INSERT/UPDATE/DELETE/DROP/ALTER/MERGE</a:t>
            </a:r>
            <a:endParaRPr lang="en-US" sz="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2432" y="1581894"/>
            <a:ext cx="2932956" cy="479822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7207" y="1696194"/>
            <a:ext cx="104775" cy="104775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4028182" y="1667619"/>
            <a:ext cx="2542431" cy="30837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Approved catalogs/views?</a:t>
            </a:r>
            <a:pPr indent="0" marL="0">
              <a:buNone/>
            </a:pPr>
            <a:r>
              <a:rPr lang="en-US" sz="90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Only genie_semantic.*</a:t>
            </a:r>
            <a:endParaRPr lang="en-US" sz="9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2137916"/>
            <a:ext cx="2932807" cy="479822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2252216"/>
            <a:ext cx="104775" cy="104775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1019175" y="2223641"/>
            <a:ext cx="2542282" cy="30837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unauthorized columns</a:t>
            </a:r>
            <a:pPr indent="0" marL="0">
              <a:buNone/>
            </a:pPr>
            <a:r>
              <a:rPr lang="en-US" sz="90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&amp; hidden system tables</a:t>
            </a:r>
            <a:endParaRPr lang="en-US" sz="900" dirty="0"/>
          </a:p>
        </p:txBody>
      </p:sp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2432" y="2137916"/>
            <a:ext cx="2932956" cy="479822"/>
          </a:xfrm>
          <a:prstGeom prst="rect">
            <a:avLst/>
          </a:prstGeom>
        </p:spPr>
      </p:pic>
      <p:pic>
        <p:nvPicPr>
          <p:cNvPr id="1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7207" y="2252216"/>
            <a:ext cx="104775" cy="104775"/>
          </a:xfrm>
          <a:prstGeom prst="rect">
            <a:avLst/>
          </a:prstGeom>
        </p:spPr>
      </p:pic>
      <p:sp>
        <p:nvSpPr>
          <p:cNvPr id="17" name="Text 6"/>
          <p:cNvSpPr txBox="1"/>
          <p:nvPr/>
        </p:nvSpPr>
        <p:spPr>
          <a:xfrm>
            <a:off x="4028182" y="2223641"/>
            <a:ext cx="2542431" cy="30837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comments / multi-stmt</a:t>
            </a:r>
            <a:pPr indent="0" marL="0">
              <a:buNone/>
            </a:pPr>
            <a:r>
              <a:rPr lang="en-US" sz="90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single statement only</a:t>
            </a:r>
            <a:endParaRPr lang="en-US" sz="900" dirty="0"/>
          </a:p>
        </p:txBody>
      </p:sp>
      <p:pic>
        <p:nvPicPr>
          <p:cNvPr id="1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" y="2693938"/>
            <a:ext cx="2932807" cy="325636"/>
          </a:xfrm>
          <a:prstGeom prst="rect">
            <a:avLst/>
          </a:prstGeom>
        </p:spPr>
      </p:pic>
      <p:pic>
        <p:nvPicPr>
          <p:cNvPr id="1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2808238"/>
            <a:ext cx="104775" cy="104775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1019175" y="2779663"/>
            <a:ext cx="2228999" cy="1541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 filter + LIMIT</a:t>
            </a:r>
            <a:pPr indent="0" marL="0">
              <a:buNone/>
            </a:pPr>
            <a:r>
              <a:rPr lang="en-US" sz="90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present for large tables</a:t>
            </a:r>
            <a:endParaRPr lang="en-US" sz="900" dirty="0"/>
          </a:p>
        </p:txBody>
      </p:sp>
      <p:pic>
        <p:nvPicPr>
          <p:cNvPr id="2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42432" y="2693938"/>
            <a:ext cx="2932956" cy="325636"/>
          </a:xfrm>
          <a:prstGeom prst="rect">
            <a:avLst/>
          </a:prstGeom>
        </p:spPr>
      </p:pic>
      <p:pic>
        <p:nvPicPr>
          <p:cNvPr id="2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47207" y="2808238"/>
            <a:ext cx="104775" cy="104775"/>
          </a:xfrm>
          <a:prstGeom prst="rect">
            <a:avLst/>
          </a:prstGeom>
        </p:spPr>
      </p:pic>
      <p:sp>
        <p:nvSpPr>
          <p:cNvPr id="23" name="Text 8"/>
          <p:cNvSpPr txBox="1"/>
          <p:nvPr/>
        </p:nvSpPr>
        <p:spPr>
          <a:xfrm>
            <a:off x="4028182" y="2779663"/>
            <a:ext cx="2120503" cy="1541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Join route approved?</a:t>
            </a:r>
            <a:pPr indent="0" marL="0">
              <a:buNone/>
            </a:pPr>
            <a:r>
              <a:rPr lang="en-US" sz="90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No Cartesian join</a:t>
            </a:r>
            <a:endParaRPr lang="en-US" sz="900" dirty="0"/>
          </a:p>
        </p:txBody>
      </p:sp>
      <p:pic>
        <p:nvPicPr>
          <p:cNvPr id="2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3425" y="3095774"/>
            <a:ext cx="2932807" cy="479822"/>
          </a:xfrm>
          <a:prstGeom prst="rect">
            <a:avLst/>
          </a:prstGeom>
        </p:spPr>
      </p:pic>
      <p:pic>
        <p:nvPicPr>
          <p:cNvPr id="2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200" y="3210074"/>
            <a:ext cx="104775" cy="104775"/>
          </a:xfrm>
          <a:prstGeom prst="rect">
            <a:avLst/>
          </a:prstGeom>
        </p:spPr>
      </p:pic>
      <p:sp>
        <p:nvSpPr>
          <p:cNvPr id="26" name="Text 9"/>
          <p:cNvSpPr txBox="1"/>
          <p:nvPr/>
        </p:nvSpPr>
        <p:spPr>
          <a:xfrm>
            <a:off x="1019175" y="3181499"/>
            <a:ext cx="2542282" cy="30837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Scan &lt; threshold</a:t>
            </a:r>
            <a:pPr indent="0" marL="0">
              <a:buNone/>
            </a:pPr>
            <a:r>
              <a:rPr lang="en-US" sz="90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estimated bytes / rows + timeout</a:t>
            </a:r>
            <a:endParaRPr lang="en-US" sz="900" dirty="0"/>
          </a:p>
        </p:txBody>
      </p:sp>
      <p:pic>
        <p:nvPicPr>
          <p:cNvPr id="2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42432" y="3095774"/>
            <a:ext cx="2932956" cy="479822"/>
          </a:xfrm>
          <a:prstGeom prst="rect">
            <a:avLst/>
          </a:prstGeom>
        </p:spPr>
      </p:pic>
      <p:pic>
        <p:nvPicPr>
          <p:cNvPr id="2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47207" y="3210074"/>
            <a:ext cx="104775" cy="104775"/>
          </a:xfrm>
          <a:prstGeom prst="rect">
            <a:avLst/>
          </a:prstGeom>
        </p:spPr>
      </p:pic>
      <p:sp>
        <p:nvSpPr>
          <p:cNvPr id="29" name="Text 10"/>
          <p:cNvSpPr txBox="1"/>
          <p:nvPr/>
        </p:nvSpPr>
        <p:spPr>
          <a:xfrm>
            <a:off x="4028182" y="3181499"/>
            <a:ext cx="2542431" cy="30837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row/col access?</a:t>
            </a:r>
            <a:pPr indent="0" marL="0">
              <a:buNone/>
            </a:pPr>
            <a:r>
              <a:rPr lang="en-US" sz="90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Region, store, sensitive fields</a:t>
            </a:r>
            <a:endParaRPr lang="en-US" sz="900" dirty="0"/>
          </a:p>
        </p:txBody>
      </p:sp>
      <p:pic>
        <p:nvPicPr>
          <p:cNvPr id="3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3425" y="5755184"/>
            <a:ext cx="5941963" cy="502741"/>
          </a:xfrm>
          <a:prstGeom prst="rect">
            <a:avLst/>
          </a:prstGeom>
        </p:spPr>
      </p:pic>
      <p:sp>
        <p:nvSpPr>
          <p:cNvPr id="31" name="Text 11"/>
          <p:cNvSpPr txBox="1"/>
          <p:nvPr/>
        </p:nvSpPr>
        <p:spPr>
          <a:xfrm>
            <a:off x="857250" y="5859959"/>
            <a:ext cx="5694313" cy="2931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6262"/>
              </a:spcBef>
              <a:buNone/>
            </a:pPr>
            <a:r>
              <a:rPr lang="en-US" sz="825" dirty="0">
                <a:solidFill>
                  <a:srgbClr val="122F2C">
                    <a:alpha val="5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Fail closed: any check fails → CLARIFICATION / ERROR with safe message, never raw DB error. Logged with policy_version + trace_id.</a:t>
            </a:r>
            <a:endParaRPr lang="en-US" sz="825" dirty="0"/>
          </a:p>
        </p:txBody>
      </p:sp>
      <p:pic>
        <p:nvPicPr>
          <p:cNvPr id="3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7250" y="5869484"/>
            <a:ext cx="104775" cy="104775"/>
          </a:xfrm>
          <a:prstGeom prst="rect">
            <a:avLst/>
          </a:prstGeom>
        </p:spPr>
      </p:pic>
      <p:pic>
        <p:nvPicPr>
          <p:cNvPr id="3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65913" y="1105644"/>
            <a:ext cx="4592538" cy="954286"/>
          </a:xfrm>
          <a:prstGeom prst="rect">
            <a:avLst/>
          </a:prstGeom>
        </p:spPr>
      </p:pic>
      <p:pic>
        <p:nvPicPr>
          <p:cNvPr id="34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46888" y="1267569"/>
            <a:ext cx="247650" cy="247650"/>
          </a:xfrm>
          <a:prstGeom prst="rect">
            <a:avLst/>
          </a:prstGeom>
        </p:spPr>
      </p:pic>
      <p:sp>
        <p:nvSpPr>
          <p:cNvPr id="35" name="Text 12"/>
          <p:cNvSpPr txBox="1"/>
          <p:nvPr/>
        </p:nvSpPr>
        <p:spPr>
          <a:xfrm>
            <a:off x="7349877" y="1315194"/>
            <a:ext cx="144661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13"/>
          <p:cNvSpPr txBox="1"/>
          <p:nvPr/>
        </p:nvSpPr>
        <p:spPr>
          <a:xfrm>
            <a:off x="7589788" y="1308050"/>
            <a:ext cx="1691134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Parser &amp; allowlist (sqlparse)</a:t>
            </a:r>
            <a:endParaRPr lang="en-US" sz="975" dirty="0"/>
          </a:p>
        </p:txBody>
      </p:sp>
      <p:pic>
        <p:nvPicPr>
          <p:cNvPr id="37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31835" y="1291382"/>
            <a:ext cx="845641" cy="200025"/>
          </a:xfrm>
          <a:prstGeom prst="rect">
            <a:avLst/>
          </a:prstGeom>
        </p:spPr>
      </p:pic>
      <p:sp>
        <p:nvSpPr>
          <p:cNvPr id="38" name="Text 14"/>
          <p:cNvSpPr txBox="1"/>
          <p:nvPr/>
        </p:nvSpPr>
        <p:spPr>
          <a:xfrm>
            <a:off x="10698510" y="1329482"/>
            <a:ext cx="71229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 • LOCAL</a:t>
            </a:r>
            <a:endParaRPr lang="en-US" sz="750" dirty="0"/>
          </a:p>
        </p:txBody>
      </p:sp>
      <p:sp>
        <p:nvSpPr>
          <p:cNvPr id="39" name="Text 15"/>
          <p:cNvSpPr txBox="1"/>
          <p:nvPr/>
        </p:nvSpPr>
        <p:spPr>
          <a:xfrm>
            <a:off x="7246888" y="1591419"/>
            <a:ext cx="4230588" cy="3065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13302B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Parses AST, blocks forbidden keywords, validates only allowed views/columns/joins, rejects comments, ensures LIMIT &amp; date filter.</a:t>
            </a:r>
            <a:endParaRPr lang="en-US" sz="863" dirty="0"/>
          </a:p>
        </p:txBody>
      </p:sp>
      <p:pic>
        <p:nvPicPr>
          <p:cNvPr id="40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065913" y="2193280"/>
            <a:ext cx="4592538" cy="954286"/>
          </a:xfrm>
          <a:prstGeom prst="rect">
            <a:avLst/>
          </a:prstGeom>
        </p:spPr>
      </p:pic>
      <p:pic>
        <p:nvPicPr>
          <p:cNvPr id="41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246888" y="2355205"/>
            <a:ext cx="247650" cy="247650"/>
          </a:xfrm>
          <a:prstGeom prst="rect">
            <a:avLst/>
          </a:prstGeom>
        </p:spPr>
      </p:pic>
      <p:sp>
        <p:nvSpPr>
          <p:cNvPr id="42" name="Text 16"/>
          <p:cNvSpPr txBox="1"/>
          <p:nvPr/>
        </p:nvSpPr>
        <p:spPr>
          <a:xfrm>
            <a:off x="7337673" y="2402830"/>
            <a:ext cx="156865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E26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900" dirty="0"/>
          </a:p>
        </p:txBody>
      </p:sp>
      <p:sp>
        <p:nvSpPr>
          <p:cNvPr id="43" name="Text 17"/>
          <p:cNvSpPr txBox="1"/>
          <p:nvPr/>
        </p:nvSpPr>
        <p:spPr>
          <a:xfrm>
            <a:off x="7589788" y="2395686"/>
            <a:ext cx="1326803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Read-only warehouse</a:t>
            </a:r>
            <a:endParaRPr lang="en-US" sz="975" dirty="0"/>
          </a:p>
        </p:txBody>
      </p:sp>
      <p:pic>
        <p:nvPicPr>
          <p:cNvPr id="44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686157" y="2379018"/>
            <a:ext cx="791319" cy="200025"/>
          </a:xfrm>
          <a:prstGeom prst="rect">
            <a:avLst/>
          </a:prstGeom>
        </p:spPr>
      </p:pic>
      <p:sp>
        <p:nvSpPr>
          <p:cNvPr id="45" name="Text 18"/>
          <p:cNvSpPr txBox="1"/>
          <p:nvPr/>
        </p:nvSpPr>
        <p:spPr>
          <a:xfrm>
            <a:off x="10752832" y="2417118"/>
            <a:ext cx="65796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CREDENTIAL</a:t>
            </a:r>
            <a:endParaRPr lang="en-US" sz="750" dirty="0"/>
          </a:p>
        </p:txBody>
      </p:sp>
      <p:sp>
        <p:nvSpPr>
          <p:cNvPr id="46" name="Text 19"/>
          <p:cNvSpPr txBox="1"/>
          <p:nvPr/>
        </p:nvSpPr>
        <p:spPr>
          <a:xfrm>
            <a:off x="7246888" y="2679055"/>
            <a:ext cx="4230588" cy="3065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E4F5F4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Databricks SQL Warehouse with read-only service role, query timeout, max rows/bytes, concurrency limits. User OAuth where possible.</a:t>
            </a:r>
            <a:endParaRPr lang="en-US" sz="863" dirty="0"/>
          </a:p>
        </p:txBody>
      </p:sp>
      <p:pic>
        <p:nvPicPr>
          <p:cNvPr id="4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65913" y="3280916"/>
            <a:ext cx="4592538" cy="973336"/>
          </a:xfrm>
          <a:prstGeom prst="rect">
            <a:avLst/>
          </a:prstGeom>
        </p:spPr>
      </p:pic>
      <p:pic>
        <p:nvPicPr>
          <p:cNvPr id="4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246888" y="3442841"/>
            <a:ext cx="266700" cy="266700"/>
          </a:xfrm>
          <a:prstGeom prst="rect">
            <a:avLst/>
          </a:prstGeom>
        </p:spPr>
      </p:pic>
      <p:sp>
        <p:nvSpPr>
          <p:cNvPr id="49" name="Text 20"/>
          <p:cNvSpPr txBox="1"/>
          <p:nvPr/>
        </p:nvSpPr>
        <p:spPr>
          <a:xfrm>
            <a:off x="7345710" y="3499991"/>
            <a:ext cx="158353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900" dirty="0"/>
          </a:p>
        </p:txBody>
      </p:sp>
      <p:sp>
        <p:nvSpPr>
          <p:cNvPr id="50" name="Text 21"/>
          <p:cNvSpPr txBox="1"/>
          <p:nvPr/>
        </p:nvSpPr>
        <p:spPr>
          <a:xfrm>
            <a:off x="7608838" y="3492847"/>
            <a:ext cx="1589931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Unity Catalog permissions</a:t>
            </a:r>
            <a:endParaRPr lang="en-US" sz="975" dirty="0"/>
          </a:p>
        </p:txBody>
      </p:sp>
      <p:pic>
        <p:nvPicPr>
          <p:cNvPr id="51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606088" y="3476179"/>
            <a:ext cx="871389" cy="200025"/>
          </a:xfrm>
          <a:prstGeom prst="rect">
            <a:avLst/>
          </a:prstGeom>
        </p:spPr>
      </p:pic>
      <p:sp>
        <p:nvSpPr>
          <p:cNvPr id="52" name="Text 22"/>
          <p:cNvSpPr txBox="1"/>
          <p:nvPr/>
        </p:nvSpPr>
        <p:spPr>
          <a:xfrm>
            <a:off x="10672763" y="3514279"/>
            <a:ext cx="73803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53" name="Text 23"/>
          <p:cNvSpPr txBox="1"/>
          <p:nvPr/>
        </p:nvSpPr>
        <p:spPr>
          <a:xfrm>
            <a:off x="7246888" y="3785741"/>
            <a:ext cx="4230588" cy="3065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13302B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Row &amp; column level security, sensitive-field exclusion, region/store scoping, lineage + audit. Final gate even if parser bypassed.</a:t>
            </a:r>
            <a:endParaRPr lang="en-US" sz="86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19100"/>
            <a:ext cx="11125200" cy="37995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92"/>
              </a:lnSpc>
              <a:buNone/>
            </a:pPr>
            <a:r>
              <a:rPr lang="en-US" sz="2850" b="1" spc="-57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Execution - read-only, scoped, audited</a:t>
            </a:r>
            <a:endParaRPr lang="en-US" sz="285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799058"/>
            <a:ext cx="11125200" cy="1732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3302C">
                    <a:alpha val="6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After validation: Backend → Query Service → Databricks SQL Warehouse → Semantic Views. Supports stateful NL querying + programmatic integration (Genie Agents API pattern).</a:t>
            </a:r>
            <a:endParaRPr lang="en-US" sz="97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" y="915144"/>
            <a:ext cx="5179219" cy="295781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3425" y="1315194"/>
            <a:ext cx="443626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20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PRODUCTION FLOW</a:t>
            </a:r>
            <a:endParaRPr lang="en-US" sz="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543794"/>
            <a:ext cx="770632" cy="3429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76300" y="1639044"/>
            <a:ext cx="484882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Backend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307" y="1667619"/>
            <a:ext cx="83344" cy="952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901" y="1543794"/>
            <a:ext cx="1076027" cy="3429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920776" y="1639044"/>
            <a:ext cx="790277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Query Service</a:t>
            </a:r>
            <a:endParaRPr lang="en-US" sz="9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9178" y="1667619"/>
            <a:ext cx="83344" cy="95250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7772" y="1543794"/>
            <a:ext cx="1166813" cy="342900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3270647" y="1639044"/>
            <a:ext cx="881063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 Warehouse</a:t>
            </a:r>
            <a:endParaRPr lang="en-US" sz="90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834" y="1667619"/>
            <a:ext cx="83344" cy="95250"/>
          </a:xfrm>
          <a:prstGeom prst="rect">
            <a:avLst/>
          </a:prstGeom>
        </p:spPr>
      </p:pic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1981944"/>
            <a:ext cx="1178868" cy="342900"/>
          </a:xfrm>
          <a:prstGeom prst="rect">
            <a:avLst/>
          </a:prstGeom>
        </p:spPr>
      </p:pic>
      <p:sp>
        <p:nvSpPr>
          <p:cNvPr id="16" name="Text 6"/>
          <p:cNvSpPr txBox="1"/>
          <p:nvPr/>
        </p:nvSpPr>
        <p:spPr>
          <a:xfrm>
            <a:off x="876300" y="2077194"/>
            <a:ext cx="893118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Semantic Views</a:t>
            </a:r>
            <a:endParaRPr lang="en-US" sz="900" dirty="0"/>
          </a:p>
        </p:txBody>
      </p:sp>
      <p:sp>
        <p:nvSpPr>
          <p:cNvPr id="17" name="Text 7"/>
          <p:cNvSpPr txBox="1"/>
          <p:nvPr/>
        </p:nvSpPr>
        <p:spPr>
          <a:xfrm>
            <a:off x="733425" y="2467719"/>
            <a:ext cx="4436269" cy="3190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spcBef>
                <a:spcPts val="300"/>
              </a:spcBef>
              <a:buNone/>
            </a:pPr>
            <a:r>
              <a:rPr lang="en-US" sz="863" dirty="0">
                <a:solidFill>
                  <a:srgbClr val="12302B">
                    <a:alpha val="6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direct DB access from LLM. Service account has SELECT-only role + timeout. Query runs under mapped user scope where possible.</a:t>
            </a:r>
            <a:endParaRPr lang="en-US" sz="863" dirty="0"/>
          </a:p>
        </p:txBody>
      </p:sp>
      <p:sp>
        <p:nvSpPr>
          <p:cNvPr id="18" name="Shape 8"/>
          <p:cNvSpPr/>
          <p:nvPr/>
        </p:nvSpPr>
        <p:spPr>
          <a:xfrm>
            <a:off x="5505450" y="1123950"/>
            <a:ext cx="6153150" cy="2543175"/>
          </a:xfrm>
          <a:prstGeom prst="roundRect">
            <a:avLst>
              <a:gd name="adj" fmla="val 6742"/>
            </a:avLst>
          </a:prstGeom>
          <a:solidFill>
            <a:srgbClr val="13302B"/>
          </a:solidFill>
          <a:ln/>
          <a:effectLst>
            <a:outerShdw sx="100000" sy="100000" kx="0" ky="0" algn="bl" rotWithShape="0" blurRad="171450" dist="38100" dir="5400000">
              <a:srgbClr val="0F918B">
                <a:alpha val="6000"/>
              </a:srgbClr>
            </a:outerShdw>
          </a:effectLst>
        </p:spPr>
      </p:sp>
      <p:sp>
        <p:nvSpPr>
          <p:cNvPr id="19" name="Text 9"/>
          <p:cNvSpPr txBox="1"/>
          <p:nvPr/>
        </p:nvSpPr>
        <p:spPr>
          <a:xfrm>
            <a:off x="5693569" y="1305669"/>
            <a:ext cx="577453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20" kern="0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QUERY SERVICE ENFORCES</a:t>
            </a:r>
            <a:endParaRPr lang="en-US" sz="750" dirty="0"/>
          </a:p>
        </p:txBody>
      </p:sp>
      <p:sp>
        <p:nvSpPr>
          <p:cNvPr id="20" name="Text 10"/>
          <p:cNvSpPr txBox="1"/>
          <p:nvPr/>
        </p:nvSpPr>
        <p:spPr>
          <a:xfrm>
            <a:off x="5695950" y="1533525"/>
            <a:ext cx="2828925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Read-only</a:t>
            </a:r>
            <a:pPr indent="0" marL="0">
              <a:buNone/>
            </a:pPr>
            <a:r>
              <a:rPr lang="en-US" sz="900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connection</a:t>
            </a:r>
            <a:endParaRPr lang="en-US" sz="90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93569" y="1572369"/>
            <a:ext cx="83344" cy="121890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8639175" y="1533525"/>
            <a:ext cx="2828925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Parameterized</a:t>
            </a:r>
            <a:pPr indent="0" marL="0">
              <a:buNone/>
            </a:pPr>
            <a:r>
              <a:rPr lang="en-US" sz="900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filters — no injection</a:t>
            </a:r>
            <a:endParaRPr lang="en-US" sz="900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37984" y="1572369"/>
            <a:ext cx="95250" cy="121890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5695950" y="1752600"/>
            <a:ext cx="2828925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Timeout</a:t>
            </a:r>
            <a:pPr indent="0" marL="0">
              <a:buNone/>
            </a:pPr>
            <a:r>
              <a:rPr lang="en-US" sz="900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+ max rows / bytes scanned</a:t>
            </a:r>
            <a:endParaRPr lang="en-US" sz="900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93569" y="1789509"/>
            <a:ext cx="95250" cy="121890"/>
          </a:xfrm>
          <a:prstGeom prst="rect">
            <a:avLst/>
          </a:prstGeom>
        </p:spPr>
      </p:pic>
      <p:sp>
        <p:nvSpPr>
          <p:cNvPr id="26" name="Text 13"/>
          <p:cNvSpPr txBox="1"/>
          <p:nvPr/>
        </p:nvSpPr>
        <p:spPr>
          <a:xfrm>
            <a:off x="8639175" y="1752600"/>
            <a:ext cx="2828925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Concurrency</a:t>
            </a:r>
            <a:pPr indent="0" marL="0">
              <a:buNone/>
            </a:pPr>
            <a:r>
              <a:rPr lang="en-US" sz="900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limits per user/team</a:t>
            </a:r>
            <a:endParaRPr lang="en-US" sz="900" dirty="0"/>
          </a:p>
        </p:txBody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37984" y="1789509"/>
            <a:ext cx="119063" cy="121890"/>
          </a:xfrm>
          <a:prstGeom prst="rect">
            <a:avLst/>
          </a:prstGeom>
        </p:spPr>
      </p:pic>
      <p:sp>
        <p:nvSpPr>
          <p:cNvPr id="28" name="Text 14"/>
          <p:cNvSpPr txBox="1"/>
          <p:nvPr/>
        </p:nvSpPr>
        <p:spPr>
          <a:xfrm>
            <a:off x="5695950" y="1971675"/>
            <a:ext cx="2828925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Result-size</a:t>
            </a:r>
            <a:pPr indent="0" marL="0">
              <a:buNone/>
            </a:pPr>
            <a:r>
              <a:rPr lang="en-US" sz="900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limits + truncation check</a:t>
            </a:r>
            <a:endParaRPr lang="en-US" sz="900" dirty="0"/>
          </a:p>
        </p:txBody>
      </p:sp>
      <p:pic>
        <p:nvPicPr>
          <p:cNvPr id="2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93569" y="2006650"/>
            <a:ext cx="83344" cy="121890"/>
          </a:xfrm>
          <a:prstGeom prst="rect">
            <a:avLst/>
          </a:prstGeom>
        </p:spPr>
      </p:pic>
      <p:sp>
        <p:nvSpPr>
          <p:cNvPr id="30" name="Text 15"/>
          <p:cNvSpPr txBox="1"/>
          <p:nvPr/>
        </p:nvSpPr>
        <p:spPr>
          <a:xfrm>
            <a:off x="8639175" y="1971675"/>
            <a:ext cx="2828925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Cancellation</a:t>
            </a:r>
            <a:pPr indent="0" marL="0">
              <a:buNone/>
            </a:pPr>
            <a:r>
              <a:rPr lang="en-US" sz="900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+ audit record</a:t>
            </a:r>
            <a:endParaRPr lang="en-US" sz="900" dirty="0"/>
          </a:p>
        </p:txBody>
      </p:sp>
      <p:pic>
        <p:nvPicPr>
          <p:cNvPr id="3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37984" y="2006650"/>
            <a:ext cx="95250" cy="121890"/>
          </a:xfrm>
          <a:prstGeom prst="rect">
            <a:avLst/>
          </a:prstGeom>
        </p:spPr>
      </p:pic>
      <p:pic>
        <p:nvPicPr>
          <p:cNvPr id="3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1950" y="3587204"/>
            <a:ext cx="5179219" cy="3061246"/>
          </a:xfrm>
          <a:prstGeom prst="rect">
            <a:avLst/>
          </a:prstGeom>
        </p:spPr>
      </p:pic>
      <p:sp>
        <p:nvSpPr>
          <p:cNvPr id="33" name="Text 16"/>
          <p:cNvSpPr txBox="1"/>
          <p:nvPr/>
        </p:nvSpPr>
        <p:spPr>
          <a:xfrm>
            <a:off x="733425" y="3987254"/>
            <a:ext cx="443626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20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SAFER: USER OAUTH, NOT ONE SERVICE ACCOUNT</a:t>
            </a:r>
            <a:endParaRPr lang="en-US" sz="750" dirty="0"/>
          </a:p>
        </p:txBody>
      </p:sp>
      <p:pic>
        <p:nvPicPr>
          <p:cNvPr id="3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3425" y="4215854"/>
            <a:ext cx="2170509" cy="1346448"/>
          </a:xfrm>
          <a:prstGeom prst="rect">
            <a:avLst/>
          </a:prstGeom>
        </p:spPr>
      </p:pic>
      <p:sp>
        <p:nvSpPr>
          <p:cNvPr id="35" name="Text 17"/>
          <p:cNvSpPr txBox="1"/>
          <p:nvPr/>
        </p:nvSpPr>
        <p:spPr>
          <a:xfrm>
            <a:off x="876300" y="4518720"/>
            <a:ext cx="1884759" cy="91975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900" b="1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OAuth</a:t>
            </a:r>
            <a:pPr indent="0" marL="0">
              <a:buNone/>
            </a:pPr>
            <a:r>
              <a:rPr lang="en-US" sz="863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Query runs with user-level or mapped role permissions. Store/region scoping via Unity Catalog. Different users see different rows — cache key must include security scope.</a:t>
            </a:r>
            <a:endParaRPr lang="en-US" sz="900" dirty="0"/>
          </a:p>
        </p:txBody>
      </p:sp>
      <p:pic>
        <p:nvPicPr>
          <p:cNvPr id="3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99184" y="4215854"/>
            <a:ext cx="2170509" cy="1346448"/>
          </a:xfrm>
          <a:prstGeom prst="rect">
            <a:avLst/>
          </a:prstGeom>
        </p:spPr>
      </p:pic>
      <p:sp>
        <p:nvSpPr>
          <p:cNvPr id="37" name="Text 18"/>
          <p:cNvSpPr txBox="1"/>
          <p:nvPr/>
        </p:nvSpPr>
        <p:spPr>
          <a:xfrm>
            <a:off x="3142059" y="4518720"/>
            <a:ext cx="1884759" cy="91975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900" b="1" dirty="0">
                <a:solidFill>
                  <a:srgbClr val="A63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powerful SA</a:t>
            </a:r>
            <a:pPr indent="0" marL="0">
              <a:buNone/>
            </a:pPr>
            <a:r>
              <a:rPr lang="en-US" sz="863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users get same access = over-privileged, audit fails, cache leaks across security scopes. Never use.</a:t>
            </a:r>
            <a:endParaRPr lang="en-US" sz="900" dirty="0"/>
          </a:p>
        </p:txBody>
      </p:sp>
      <p:pic>
        <p:nvPicPr>
          <p:cNvPr id="3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31619" y="3587204"/>
            <a:ext cx="6498431" cy="3061246"/>
          </a:xfrm>
          <a:prstGeom prst="rect">
            <a:avLst/>
          </a:prstGeom>
        </p:spPr>
      </p:pic>
      <p:sp>
        <p:nvSpPr>
          <p:cNvPr id="39" name="Text 19"/>
          <p:cNvSpPr txBox="1"/>
          <p:nvPr/>
        </p:nvSpPr>
        <p:spPr>
          <a:xfrm>
            <a:off x="5703094" y="3987254"/>
            <a:ext cx="575548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20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OBSERVABILITY + AUDIT</a:t>
            </a:r>
            <a:endParaRPr lang="en-US" sz="750" dirty="0"/>
          </a:p>
        </p:txBody>
      </p:sp>
      <p:sp>
        <p:nvSpPr>
          <p:cNvPr id="40" name="Text 20"/>
          <p:cNvSpPr txBox="1"/>
          <p:nvPr/>
        </p:nvSpPr>
        <p:spPr>
          <a:xfrm>
            <a:off x="5703094" y="4215854"/>
            <a:ext cx="5755481" cy="3312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execution logs: trace_id, sql_hash, dataset_version, policy_version, execution_time, bytes_scanned, row_count, timeout_flag, user_scope, warehouse_id. Enables cost control + lineage.</a:t>
            </a:r>
            <a:endParaRPr lang="en-US" sz="900" dirty="0"/>
          </a:p>
        </p:txBody>
      </p:sp>
      <p:pic>
        <p:nvPicPr>
          <p:cNvPr id="4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03094" y="4661446"/>
            <a:ext cx="1142851" cy="238125"/>
          </a:xfrm>
          <a:prstGeom prst="rect">
            <a:avLst/>
          </a:prstGeom>
        </p:spPr>
      </p:pic>
      <p:sp>
        <p:nvSpPr>
          <p:cNvPr id="42" name="Text 21"/>
          <p:cNvSpPr txBox="1"/>
          <p:nvPr/>
        </p:nvSpPr>
        <p:spPr>
          <a:xfrm>
            <a:off x="5779294" y="4709071"/>
            <a:ext cx="990451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FFFF"/>
                </a:solidFill>
                <a:highlight>
                  <a:srgbClr val="13302B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Read-only credential</a:t>
            </a:r>
            <a:endParaRPr lang="en-US" sz="750" dirty="0"/>
          </a:p>
        </p:txBody>
      </p:sp>
      <p:pic>
        <p:nvPicPr>
          <p:cNvPr id="4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22145" y="4661446"/>
            <a:ext cx="1128266" cy="238125"/>
          </a:xfrm>
          <a:prstGeom prst="rect">
            <a:avLst/>
          </a:prstGeom>
        </p:spPr>
      </p:pic>
      <p:sp>
        <p:nvSpPr>
          <p:cNvPr id="44" name="Text 22"/>
          <p:cNvSpPr txBox="1"/>
          <p:nvPr/>
        </p:nvSpPr>
        <p:spPr>
          <a:xfrm>
            <a:off x="7007870" y="4718596"/>
            <a:ext cx="95681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3302B"/>
                </a:solidFill>
                <a:highlight>
                  <a:srgbClr val="FFFFFF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Result validator next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00050"/>
            <a:ext cx="11125200" cy="37995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92"/>
              </a:lnSpc>
              <a:buNone/>
            </a:pPr>
            <a:r>
              <a:rPr lang="en-US" sz="2850" b="1" spc="-57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Summarization - use only supplied rows</a:t>
            </a:r>
            <a:endParaRPr lang="en-US" sz="285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780008"/>
            <a:ext cx="8382000" cy="1732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2302B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explains result, not invents result. Input to summary model is validated evidence only. Prevents hallucination of causes or missing values.</a:t>
            </a:r>
            <a:endParaRPr lang="en-US" sz="97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" y="896094"/>
            <a:ext cx="5381625" cy="57714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4375" y="1277094"/>
            <a:ext cx="467677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spc="120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 TO SUMMARY MODEL - EVIDENCE ONLY</a:t>
            </a:r>
            <a:endParaRPr lang="en-US" sz="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581894"/>
            <a:ext cx="4676775" cy="19047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85825" y="1743819"/>
            <a:ext cx="4333875" cy="159037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{</a:t>
            </a:r>
            <a:endParaRPr lang="en-US" sz="84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indent="0" marL="0">
              <a:buNone/>
            </a:pPr>
            <a:r>
              <a:rPr lang="en-US" sz="840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"question"</a:t>
            </a:r>
            <a:pPr indent="0" marL="0">
              <a:buNone/>
            </a:pPr>
            <a:r>
              <a:rPr lang="en-US" sz="840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</a:t>
            </a:r>
            <a:pPr indent="0" marL="0">
              <a:buNone/>
            </a:pPr>
            <a:r>
              <a:rPr lang="en-US" sz="840" dirty="0">
                <a:solidFill>
                  <a:srgbClr val="FFD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"Show sales by store in Bangkok last week"</a:t>
            </a:r>
            <a:pPr indent="0" marL="0">
              <a:buNone/>
            </a:pPr>
            <a:r>
              <a:rPr lang="en-US" sz="840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</a:t>
            </a:r>
            <a:endParaRPr lang="en-US" sz="84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indent="0" marL="0">
              <a:buNone/>
            </a:pPr>
            <a:r>
              <a:rPr lang="en-US" sz="840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"metric_definition"</a:t>
            </a:r>
            <a:pPr indent="0" marL="0">
              <a:buNone/>
            </a:pPr>
            <a:r>
              <a:rPr lang="en-US" sz="840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</a:t>
            </a:r>
            <a:pPr indent="0" marL="0">
              <a:buNone/>
            </a:pPr>
            <a:r>
              <a:rPr lang="en-US" sz="840" dirty="0">
                <a:solidFill>
                  <a:srgbClr val="FFD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"Net sales excl VAT"</a:t>
            </a:r>
            <a:pPr indent="0" marL="0">
              <a:buNone/>
            </a:pPr>
            <a:r>
              <a:rPr lang="en-US" sz="840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</a:t>
            </a:r>
            <a:endParaRPr lang="en-US" sz="84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indent="0" marL="0">
              <a:buNone/>
            </a:pPr>
            <a:r>
              <a:rPr lang="en-US" sz="840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"sql"</a:t>
            </a:r>
            <a:pPr indent="0" marL="0">
              <a:buNone/>
            </a:pPr>
            <a:r>
              <a:rPr lang="en-US" sz="840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</a:t>
            </a:r>
            <a:pPr indent="0" marL="0">
              <a:buNone/>
            </a:pPr>
            <a:r>
              <a:rPr lang="en-US" sz="840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validated SQL</a:t>
            </a:r>
            <a:pPr indent="0" marL="0">
              <a:buNone/>
            </a:pPr>
            <a:r>
              <a:rPr lang="en-US" sz="840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</a:t>
            </a:r>
            <a:endParaRPr lang="en-US" sz="84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indent="0" marL="0">
              <a:buNone/>
            </a:pPr>
            <a:r>
              <a:rPr lang="en-US" sz="840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"rows"</a:t>
            </a:r>
            <a:pPr indent="0" marL="0">
              <a:buNone/>
            </a:pPr>
            <a:r>
              <a:rPr lang="en-US" sz="840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[</a:t>
            </a:r>
            <a:endParaRPr lang="en-US" sz="84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{</a:t>
            </a:r>
            <a:pPr indent="0" marL="0">
              <a:buNone/>
            </a:pPr>
            <a:r>
              <a:rPr lang="en-US" sz="840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"store"</a:t>
            </a:r>
            <a:pPr indent="0" marL="0">
              <a:buNone/>
            </a:pPr>
            <a:r>
              <a:rPr lang="en-US" sz="840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</a:t>
            </a:r>
            <a:pPr indent="0" marL="0">
              <a:buNone/>
            </a:pPr>
            <a:r>
              <a:rPr lang="en-US" sz="840" dirty="0">
                <a:solidFill>
                  <a:srgbClr val="FFD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"A"</a:t>
            </a:r>
            <a:pPr indent="0" marL="0">
              <a:buNone/>
            </a:pPr>
            <a:r>
              <a:rPr lang="en-US" sz="840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indent="0" marL="0">
              <a:buNone/>
            </a:pPr>
            <a:r>
              <a:rPr lang="en-US" sz="840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"sales"</a:t>
            </a:r>
            <a:pPr indent="0" marL="0">
              <a:buNone/>
            </a:pPr>
            <a:r>
              <a:rPr lang="en-US" sz="840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5000000},</a:t>
            </a:r>
            <a:endParaRPr lang="en-US" sz="84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{</a:t>
            </a:r>
            <a:pPr indent="0" marL="0">
              <a:buNone/>
            </a:pPr>
            <a:r>
              <a:rPr lang="en-US" sz="840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"store"</a:t>
            </a:r>
            <a:pPr indent="0" marL="0">
              <a:buNone/>
            </a:pPr>
            <a:r>
              <a:rPr lang="en-US" sz="840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</a:t>
            </a:r>
            <a:pPr indent="0" marL="0">
              <a:buNone/>
            </a:pPr>
            <a:r>
              <a:rPr lang="en-US" sz="840" dirty="0">
                <a:solidFill>
                  <a:srgbClr val="FFD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"B"</a:t>
            </a:r>
            <a:pPr indent="0" marL="0">
              <a:buNone/>
            </a:pPr>
            <a:r>
              <a:rPr lang="en-US" sz="840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indent="0" marL="0">
              <a:buNone/>
            </a:pPr>
            <a:r>
              <a:rPr lang="en-US" sz="840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"sales"</a:t>
            </a:r>
            <a:pPr indent="0" marL="0">
              <a:buNone/>
            </a:pPr>
            <a:r>
              <a:rPr lang="en-US" sz="840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4200000}</a:t>
            </a:r>
            <a:endParaRPr lang="en-US" sz="84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],</a:t>
            </a:r>
            <a:endParaRPr lang="en-US" sz="84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indent="0" marL="0">
              <a:buNone/>
            </a:pPr>
            <a:r>
              <a:rPr lang="en-US" sz="840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"freshness"</a:t>
            </a:r>
            <a:pPr indent="0" marL="0">
              <a:buNone/>
            </a:pPr>
            <a:r>
              <a:rPr lang="en-US" sz="840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</a:t>
            </a:r>
            <a:pPr indent="0" marL="0">
              <a:buNone/>
            </a:pPr>
            <a:r>
              <a:rPr lang="en-US" sz="840" dirty="0">
                <a:solidFill>
                  <a:srgbClr val="FFD3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"2026-10-12T08:00:00+07:00"</a:t>
            </a:r>
            <a:endParaRPr lang="en-US" sz="84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} </a:t>
            </a:r>
            <a:endParaRPr lang="en-US" sz="840" dirty="0"/>
          </a:p>
        </p:txBody>
      </p:sp>
      <p:sp>
        <p:nvSpPr>
          <p:cNvPr id="8" name="Shape 4"/>
          <p:cNvSpPr/>
          <p:nvPr/>
        </p:nvSpPr>
        <p:spPr>
          <a:xfrm>
            <a:off x="714375" y="3581400"/>
            <a:ext cx="4676775" cy="552450"/>
          </a:xfrm>
          <a:prstGeom prst="roundRect">
            <a:avLst>
              <a:gd name="adj" fmla="val 20690"/>
            </a:avLst>
          </a:prstGeom>
          <a:solidFill>
            <a:srgbClr val="13302B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47725" y="3776067"/>
            <a:ext cx="142726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🔒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04751" y="3696146"/>
            <a:ext cx="4153049" cy="3199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never sees raw DB.</a:t>
            </a:r>
            <a:pPr indent="0" marL="0">
              <a:buNone/>
            </a:pPr>
            <a:r>
              <a:rPr lang="en-US" sz="900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Only rows that passed validation + policy + row-level filter.</a:t>
            </a:r>
            <a:endParaRPr lang="en-US" sz="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575" y="1105644"/>
            <a:ext cx="5915025" cy="120015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924550" y="1277094"/>
            <a:ext cx="5553075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3302B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 example - observation only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5924550" y="1505694"/>
            <a:ext cx="5435203" cy="3714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 A had highest net sales at ฿5.0M, followed by Store B at ฿4.2M. Data refreshed at 08:00 Bangkok time.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5924550" y="1981944"/>
            <a:ext cx="5553075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13302B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Includes chart + table + freshness + dataset + assumptions + SQL if authorized.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3575" y="2420094"/>
            <a:ext cx="5915025" cy="1490663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886450" y="2553444"/>
            <a:ext cx="562927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spc="99" kern="0" dirty="0">
                <a:solidFill>
                  <a:srgbClr val="D55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SUMMARY PROMPT MUST SAY</a:t>
            </a:r>
            <a:endParaRPr lang="en-US" sz="825" dirty="0"/>
          </a:p>
        </p:txBody>
      </p:sp>
      <p:sp>
        <p:nvSpPr>
          <p:cNvPr id="17" name="Text 11"/>
          <p:cNvSpPr txBox="1"/>
          <p:nvPr/>
        </p:nvSpPr>
        <p:spPr>
          <a:xfrm>
            <a:off x="6038850" y="2767757"/>
            <a:ext cx="5476875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only supplied rows — do not invent causes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6038850" y="3024932"/>
            <a:ext cx="5476875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 not invent missing values or estimates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6038850" y="3282107"/>
            <a:ext cx="5476875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Distinguish observation from explanation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6038850" y="3539282"/>
            <a:ext cx="5476875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58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Mention incomplete or stale data explicitly</a:t>
            </a:r>
            <a:endParaRPr lang="en-US" sz="13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125" y="3815507"/>
            <a:ext cx="6257925" cy="124301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905500" y="4158407"/>
            <a:ext cx="559117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spc="120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THIS MATTERS FOR L6</a:t>
            </a:r>
            <a:endParaRPr lang="en-US" sz="750" dirty="0"/>
          </a:p>
        </p:txBody>
      </p:sp>
      <p:sp>
        <p:nvSpPr>
          <p:cNvPr id="23" name="Text 16"/>
          <p:cNvSpPr txBox="1"/>
          <p:nvPr/>
        </p:nvSpPr>
        <p:spPr>
          <a:xfrm>
            <a:off x="5905500" y="4377482"/>
            <a:ext cx="5591175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Trust = </a:t>
            </a:r>
            <a:pPr indent="0" marL="0">
              <a:buNone/>
            </a:pPr>
            <a:r>
              <a:rPr lang="en-US" sz="938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evidence + freshness + assumptions</a:t>
            </a:r>
            <a:pPr indent="0" marL="0">
              <a:buNone/>
            </a:pPr>
            <a:r>
              <a:rPr lang="en-US" sz="938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not fluent answer. If rows empty → say empty, not “no sales because…”. If truncated → warn. Explain failure modes.</a:t>
            </a:r>
            <a:endParaRPr lang="en-US" sz="938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19100"/>
            <a:ext cx="11125200" cy="37995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92"/>
              </a:lnSpc>
              <a:buNone/>
            </a:pPr>
            <a:r>
              <a:rPr lang="en-US" sz="2850" b="1" spc="-57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Caching - never cache across security scopes</a:t>
            </a:r>
            <a:endParaRPr lang="en-US" sz="285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799058"/>
            <a:ext cx="8763000" cy="34647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2302B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Redis or controlled cache, but cache key must include security scope + version. Never use only question as key — two users can have different permissions.</a:t>
            </a:r>
            <a:endParaRPr lang="en-US" sz="97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" y="1069330"/>
            <a:ext cx="6696075" cy="21401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4375" y="1450330"/>
            <a:ext cx="599122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120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TO CACHE (4 LAYERS)</a:t>
            </a:r>
            <a:endParaRPr lang="en-US" sz="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640830"/>
            <a:ext cx="2947988" cy="55096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38200" y="1762125"/>
            <a:ext cx="247650" cy="247650"/>
          </a:xfrm>
          <a:prstGeom prst="roundRect">
            <a:avLst>
              <a:gd name="adj" fmla="val 30769"/>
            </a:avLst>
          </a:prstGeom>
          <a:solidFill>
            <a:srgbClr val="10948C">
              <a:alpha val="12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3" y="1826568"/>
            <a:ext cx="123825" cy="12382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181100" y="1764655"/>
            <a:ext cx="1513880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38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Semantic metadata</a:t>
            </a:r>
            <a:endParaRPr lang="en-US" sz="938" dirty="0"/>
          </a:p>
        </p:txBody>
      </p:sp>
      <p:sp>
        <p:nvSpPr>
          <p:cNvPr id="10" name="Text 5"/>
          <p:cNvSpPr txBox="1"/>
          <p:nvPr/>
        </p:nvSpPr>
        <p:spPr>
          <a:xfrm>
            <a:off x="1181100" y="1926580"/>
            <a:ext cx="1513880" cy="1413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13302B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Views, metrics, joins, synonyms</a:t>
            </a:r>
            <a:endParaRPr lang="en-US" sz="825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613" y="1640830"/>
            <a:ext cx="2947988" cy="550962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3886200" y="1762125"/>
            <a:ext cx="247650" cy="247650"/>
          </a:xfrm>
          <a:prstGeom prst="roundRect">
            <a:avLst>
              <a:gd name="adj" fmla="val 30769"/>
            </a:avLst>
          </a:prstGeom>
          <a:solidFill>
            <a:srgbClr val="10948C">
              <a:alpha val="12000"/>
            </a:srgbClr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3350" y="1826568"/>
            <a:ext cx="123825" cy="123825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4224338" y="1764655"/>
            <a:ext cx="1673275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38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Schema retrieval</a:t>
            </a:r>
            <a:endParaRPr lang="en-US" sz="938" dirty="0"/>
          </a:p>
        </p:txBody>
      </p:sp>
      <p:sp>
        <p:nvSpPr>
          <p:cNvPr id="15" name="Text 8"/>
          <p:cNvSpPr txBox="1"/>
          <p:nvPr/>
        </p:nvSpPr>
        <p:spPr>
          <a:xfrm>
            <a:off x="4224338" y="1926580"/>
            <a:ext cx="1673275" cy="1413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13302B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Vector search results per question</a:t>
            </a:r>
            <a:endParaRPr lang="en-US" sz="825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287042"/>
            <a:ext cx="2947988" cy="550962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838200" y="2409825"/>
            <a:ext cx="247650" cy="247650"/>
          </a:xfrm>
          <a:prstGeom prst="roundRect">
            <a:avLst>
              <a:gd name="adj" fmla="val 30769"/>
            </a:avLst>
          </a:prstGeom>
          <a:solidFill>
            <a:srgbClr val="10948C">
              <a:alpha val="12000"/>
            </a:srgbClr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113" y="2472779"/>
            <a:ext cx="123825" cy="123825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1181100" y="2410867"/>
            <a:ext cx="1213396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38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Common aggregates</a:t>
            </a:r>
            <a:endParaRPr lang="en-US" sz="938" dirty="0"/>
          </a:p>
        </p:txBody>
      </p:sp>
      <p:sp>
        <p:nvSpPr>
          <p:cNvPr id="20" name="Text 11"/>
          <p:cNvSpPr txBox="1"/>
          <p:nvPr/>
        </p:nvSpPr>
        <p:spPr>
          <a:xfrm>
            <a:off x="1181100" y="2572792"/>
            <a:ext cx="1213396" cy="1413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13302B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Short-lived query results</a:t>
            </a:r>
            <a:endParaRPr lang="en-US" sz="825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7613" y="2287042"/>
            <a:ext cx="2947988" cy="550962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3886200" y="2409825"/>
            <a:ext cx="247650" cy="247650"/>
          </a:xfrm>
          <a:prstGeom prst="roundRect">
            <a:avLst>
              <a:gd name="adj" fmla="val 30769"/>
            </a:avLst>
          </a:prstGeom>
          <a:solidFill>
            <a:srgbClr val="10948C">
              <a:alpha val="12000"/>
            </a:srgbClr>
          </a:solidFill>
          <a:ln/>
        </p:spPr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7872" y="2472779"/>
            <a:ext cx="154781" cy="123825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4224338" y="2410867"/>
            <a:ext cx="1799183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38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responses</a:t>
            </a:r>
            <a:endParaRPr lang="en-US" sz="938" dirty="0"/>
          </a:p>
        </p:txBody>
      </p:sp>
      <p:sp>
        <p:nvSpPr>
          <p:cNvPr id="25" name="Text 14"/>
          <p:cNvSpPr txBox="1"/>
          <p:nvPr/>
        </p:nvSpPr>
        <p:spPr>
          <a:xfrm>
            <a:off x="4224338" y="2572792"/>
            <a:ext cx="1799183" cy="1413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13302B">
                    <a:alpha val="7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Non-sensitive identical prompts only</a:t>
            </a:r>
            <a:endParaRPr lang="en-US" sz="825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950" y="2904679"/>
            <a:ext cx="6696075" cy="2076748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714375" y="3285679"/>
            <a:ext cx="599122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120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TTL GUIDANCE</a:t>
            </a:r>
            <a:endParaRPr lang="en-US" sz="75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375" y="3476179"/>
            <a:ext cx="1946225" cy="745331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838200" y="3590479"/>
            <a:ext cx="169857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b="1" spc="90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METADATA</a:t>
            </a:r>
            <a:endParaRPr lang="en-US" sz="750" dirty="0"/>
          </a:p>
        </p:txBody>
      </p:sp>
      <p:sp>
        <p:nvSpPr>
          <p:cNvPr id="30" name="Text 17"/>
          <p:cNvSpPr txBox="1"/>
          <p:nvPr/>
        </p:nvSpPr>
        <p:spPr>
          <a:xfrm>
            <a:off x="838200" y="3771454"/>
            <a:ext cx="1698575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63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hour</a:t>
            </a:r>
            <a:endParaRPr lang="en-US" sz="975" dirty="0"/>
          </a:p>
        </p:txBody>
      </p:sp>
      <p:sp>
        <p:nvSpPr>
          <p:cNvPr id="31" name="Text 18"/>
          <p:cNvSpPr txBox="1"/>
          <p:nvPr/>
        </p:nvSpPr>
        <p:spPr>
          <a:xfrm>
            <a:off x="838200" y="3976241"/>
            <a:ext cx="1698575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1"/>
              </a:lnSpc>
              <a:spcBef>
                <a:spcPts val="150"/>
              </a:spcBef>
              <a:buNone/>
            </a:pPr>
            <a:r>
              <a:rPr lang="en-US" sz="788" dirty="0">
                <a:solidFill>
                  <a:srgbClr val="13302B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semantics, schemas</a:t>
            </a:r>
            <a:endParaRPr lang="en-US" sz="788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36800" y="3476179"/>
            <a:ext cx="1946225" cy="745331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2860625" y="3590479"/>
            <a:ext cx="1698427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b="1" spc="90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QUERY RESULTS</a:t>
            </a:r>
            <a:endParaRPr lang="en-US" sz="750" dirty="0"/>
          </a:p>
        </p:txBody>
      </p:sp>
      <p:sp>
        <p:nvSpPr>
          <p:cNvPr id="34" name="Text 20"/>
          <p:cNvSpPr txBox="1"/>
          <p:nvPr/>
        </p:nvSpPr>
        <p:spPr>
          <a:xfrm>
            <a:off x="2860625" y="3771454"/>
            <a:ext cx="1698575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63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5-15 min</a:t>
            </a:r>
            <a:endParaRPr lang="en-US" sz="975" dirty="0"/>
          </a:p>
        </p:txBody>
      </p:sp>
      <p:sp>
        <p:nvSpPr>
          <p:cNvPr id="35" name="Text 21"/>
          <p:cNvSpPr txBox="1"/>
          <p:nvPr/>
        </p:nvSpPr>
        <p:spPr>
          <a:xfrm>
            <a:off x="2860625" y="3976241"/>
            <a:ext cx="1698575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1"/>
              </a:lnSpc>
              <a:spcBef>
                <a:spcPts val="150"/>
              </a:spcBef>
              <a:buNone/>
            </a:pPr>
            <a:r>
              <a:rPr lang="en-US" sz="788" dirty="0">
                <a:solidFill>
                  <a:srgbClr val="13302B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freshness matters</a:t>
            </a:r>
            <a:endParaRPr lang="en-US" sz="788" dirty="0"/>
          </a:p>
        </p:txBody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59226" y="3476179"/>
            <a:ext cx="1946225" cy="745331"/>
          </a:xfrm>
          <a:prstGeom prst="rect">
            <a:avLst/>
          </a:prstGeom>
        </p:spPr>
      </p:pic>
      <p:sp>
        <p:nvSpPr>
          <p:cNvPr id="37" name="Text 22"/>
          <p:cNvSpPr txBox="1"/>
          <p:nvPr/>
        </p:nvSpPr>
        <p:spPr>
          <a:xfrm>
            <a:off x="4883051" y="3590479"/>
            <a:ext cx="1698427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b="1" spc="90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RESPONSE</a:t>
            </a:r>
            <a:endParaRPr lang="en-US" sz="750" dirty="0"/>
          </a:p>
        </p:txBody>
      </p:sp>
      <p:sp>
        <p:nvSpPr>
          <p:cNvPr id="38" name="Text 23"/>
          <p:cNvSpPr txBox="1"/>
          <p:nvPr/>
        </p:nvSpPr>
        <p:spPr>
          <a:xfrm>
            <a:off x="4883051" y="3771454"/>
            <a:ext cx="1698427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63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 min</a:t>
            </a:r>
            <a:endParaRPr lang="en-US" sz="975" dirty="0"/>
          </a:p>
        </p:txBody>
      </p:sp>
      <p:sp>
        <p:nvSpPr>
          <p:cNvPr id="39" name="Text 24"/>
          <p:cNvSpPr txBox="1"/>
          <p:nvPr/>
        </p:nvSpPr>
        <p:spPr>
          <a:xfrm>
            <a:off x="4883051" y="3976241"/>
            <a:ext cx="1698427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1"/>
              </a:lnSpc>
              <a:spcBef>
                <a:spcPts val="150"/>
              </a:spcBef>
              <a:buNone/>
            </a:pPr>
            <a:r>
              <a:rPr lang="en-US" sz="788" dirty="0">
                <a:solidFill>
                  <a:srgbClr val="13302B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non-sensitive only</a:t>
            </a:r>
            <a:endParaRPr lang="en-US" sz="788" dirty="0"/>
          </a:p>
        </p:txBody>
      </p:sp>
      <p:sp>
        <p:nvSpPr>
          <p:cNvPr id="40" name="Text 25"/>
          <p:cNvSpPr txBox="1"/>
          <p:nvPr/>
        </p:nvSpPr>
        <p:spPr>
          <a:xfrm>
            <a:off x="714375" y="4316760"/>
            <a:ext cx="5991225" cy="2931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750"/>
              </a:spcBef>
              <a:buNone/>
            </a:pPr>
            <a:r>
              <a:rPr lang="en-US" sz="825" dirty="0">
                <a:solidFill>
                  <a:srgbClr val="12302B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Redis + semantic_version + data_freshness_version invalidation. On model or dataset version bump, flush relevant keys. Log cache hit/miss with trace_id.</a:t>
            </a:r>
            <a:endParaRPr lang="en-US" sz="825" dirty="0"/>
          </a:p>
        </p:txBody>
      </p:sp>
      <p:sp>
        <p:nvSpPr>
          <p:cNvPr id="41" name="Shape 26"/>
          <p:cNvSpPr/>
          <p:nvPr/>
        </p:nvSpPr>
        <p:spPr>
          <a:xfrm>
            <a:off x="7058025" y="1276350"/>
            <a:ext cx="4600575" cy="5162550"/>
          </a:xfrm>
          <a:prstGeom prst="roundRect">
            <a:avLst>
              <a:gd name="adj" fmla="val 4141"/>
            </a:avLst>
          </a:prstGeom>
          <a:solidFill>
            <a:srgbClr val="13302B"/>
          </a:solidFill>
          <a:ln/>
        </p:spPr>
      </p:sp>
      <p:sp>
        <p:nvSpPr>
          <p:cNvPr id="42" name="Text 27"/>
          <p:cNvSpPr txBox="1"/>
          <p:nvPr/>
        </p:nvSpPr>
        <p:spPr>
          <a:xfrm>
            <a:off x="7248525" y="1459855"/>
            <a:ext cx="421957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120" kern="0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CACHE KEY MUST INCLUDE — SECURITY AWARE</a:t>
            </a:r>
            <a:endParaRPr lang="en-US" sz="750" dirty="0"/>
          </a:p>
        </p:txBody>
      </p:sp>
      <p:pic>
        <p:nvPicPr>
          <p:cNvPr id="4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48525" y="1650355"/>
            <a:ext cx="1309688" cy="290513"/>
          </a:xfrm>
          <a:prstGeom prst="rect">
            <a:avLst/>
          </a:prstGeom>
        </p:spPr>
      </p:pic>
      <p:sp>
        <p:nvSpPr>
          <p:cNvPr id="44" name="Text 28"/>
          <p:cNvSpPr txBox="1"/>
          <p:nvPr/>
        </p:nvSpPr>
        <p:spPr>
          <a:xfrm>
            <a:off x="7353300" y="1726555"/>
            <a:ext cx="110013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normalized_question</a:t>
            </a:r>
            <a:endParaRPr lang="en-US" sz="825" dirty="0"/>
          </a:p>
        </p:txBody>
      </p:sp>
      <p:pic>
        <p:nvPicPr>
          <p:cNvPr id="4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34413" y="1650355"/>
            <a:ext cx="1329928" cy="290513"/>
          </a:xfrm>
          <a:prstGeom prst="rect">
            <a:avLst/>
          </a:prstGeom>
        </p:spPr>
      </p:pic>
      <p:sp>
        <p:nvSpPr>
          <p:cNvPr id="46" name="Text 29"/>
          <p:cNvSpPr txBox="1"/>
          <p:nvPr/>
        </p:nvSpPr>
        <p:spPr>
          <a:xfrm>
            <a:off x="8739188" y="1726555"/>
            <a:ext cx="112037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user_security_scope</a:t>
            </a:r>
            <a:endParaRPr lang="en-US" sz="825" dirty="0"/>
          </a:p>
        </p:txBody>
      </p:sp>
      <p:pic>
        <p:nvPicPr>
          <p:cNvPr id="4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40541" y="1650355"/>
            <a:ext cx="1078409" cy="290513"/>
          </a:xfrm>
          <a:prstGeom prst="rect">
            <a:avLst/>
          </a:prstGeom>
        </p:spPr>
      </p:pic>
      <p:sp>
        <p:nvSpPr>
          <p:cNvPr id="48" name="Text 30"/>
          <p:cNvSpPr txBox="1"/>
          <p:nvPr/>
        </p:nvSpPr>
        <p:spPr>
          <a:xfrm>
            <a:off x="10145316" y="1726555"/>
            <a:ext cx="868859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semantic_version</a:t>
            </a:r>
            <a:endParaRPr lang="en-US" sz="825" dirty="0"/>
          </a:p>
        </p:txBody>
      </p:sp>
      <p:pic>
        <p:nvPicPr>
          <p:cNvPr id="4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48525" y="2017068"/>
            <a:ext cx="1387673" cy="290513"/>
          </a:xfrm>
          <a:prstGeom prst="rect">
            <a:avLst/>
          </a:prstGeom>
        </p:spPr>
      </p:pic>
      <p:sp>
        <p:nvSpPr>
          <p:cNvPr id="50" name="Text 31"/>
          <p:cNvSpPr txBox="1"/>
          <p:nvPr/>
        </p:nvSpPr>
        <p:spPr>
          <a:xfrm>
            <a:off x="7353300" y="2093268"/>
            <a:ext cx="1178123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data_freshness_version</a:t>
            </a:r>
            <a:endParaRPr lang="en-US" sz="825" dirty="0"/>
          </a:p>
        </p:txBody>
      </p:sp>
      <p:pic>
        <p:nvPicPr>
          <p:cNvPr id="5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48525" y="2421880"/>
            <a:ext cx="4219575" cy="502741"/>
          </a:xfrm>
          <a:prstGeom prst="rect">
            <a:avLst/>
          </a:prstGeom>
        </p:spPr>
      </p:pic>
      <p:pic>
        <p:nvPicPr>
          <p:cNvPr id="5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72350" y="2545705"/>
            <a:ext cx="104775" cy="104775"/>
          </a:xfrm>
          <a:prstGeom prst="rect">
            <a:avLst/>
          </a:prstGeom>
        </p:spPr>
      </p:pic>
      <p:sp>
        <p:nvSpPr>
          <p:cNvPr id="53" name="Text 32"/>
          <p:cNvSpPr txBox="1"/>
          <p:nvPr/>
        </p:nvSpPr>
        <p:spPr>
          <a:xfrm>
            <a:off x="7553325" y="2526655"/>
            <a:ext cx="3790950" cy="2931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E262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Anti-pattern:</a:t>
            </a:r>
            <a:pPr indent="0" marL="0">
              <a:buNone/>
            </a:pPr>
            <a:r>
              <a:rPr lang="en-US" sz="825" dirty="0">
                <a:solidFill>
                  <a:srgbClr val="6E262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key = md5(question). User A in Bangkok sees User B in Chiang Mai data. Row-level leak. Cross-scope cache = security incident.</a:t>
            </a:r>
            <a:endParaRPr lang="en-US" sz="825" dirty="0"/>
          </a:p>
        </p:txBody>
      </p:sp>
      <p:sp>
        <p:nvSpPr>
          <p:cNvPr id="54" name="Text 33"/>
          <p:cNvSpPr txBox="1"/>
          <p:nvPr/>
        </p:nvSpPr>
        <p:spPr>
          <a:xfrm>
            <a:off x="7248525" y="3038475"/>
            <a:ext cx="0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34"/>
          <p:cNvSpPr txBox="1"/>
          <p:nvPr/>
        </p:nvSpPr>
        <p:spPr>
          <a:xfrm>
            <a:off x="7324725" y="3048446"/>
            <a:ext cx="4143375" cy="3190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b="1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 pattern:</a:t>
            </a:r>
            <a:pPr indent="0" marL="0"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key = hash(normalized_q + role_hash + region_hash + store_scope + sem_ver + data_ver)</a:t>
            </a:r>
            <a:endParaRPr lang="en-US" sz="863" dirty="0"/>
          </a:p>
        </p:txBody>
      </p:sp>
      <p:pic>
        <p:nvPicPr>
          <p:cNvPr id="56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48525" y="3424684"/>
            <a:ext cx="4219575" cy="691158"/>
          </a:xfrm>
          <a:prstGeom prst="rect">
            <a:avLst/>
          </a:prstGeom>
        </p:spPr>
      </p:pic>
      <p:sp>
        <p:nvSpPr>
          <p:cNvPr id="57" name="Text 35"/>
          <p:cNvSpPr txBox="1"/>
          <p:nvPr/>
        </p:nvSpPr>
        <p:spPr>
          <a:xfrm>
            <a:off x="7248525" y="3529459"/>
            <a:ext cx="4219575" cy="58638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4F5F4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• Redis namespace per dataset</a:t>
            </a:r>
            <a:endParaRPr lang="en-US" sz="825" dirty="0"/>
          </a:p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4F5F4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• PII never in cache value</a:t>
            </a:r>
            <a:endParaRPr lang="en-US" sz="825" dirty="0"/>
          </a:p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4F5F4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• Short-lived results only — no long TTL for sensitive metrics</a:t>
            </a:r>
            <a:endParaRPr lang="en-US" sz="825" dirty="0"/>
          </a:p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4F5F4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• Observability: cache hit rate by scope, not global </a:t>
            </a:r>
            <a:endParaRPr lang="en-US" sz="8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390525"/>
            <a:ext cx="11125200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150"/>
              </a:spcAft>
              <a:buNone/>
            </a:pPr>
            <a:r>
              <a:rPr lang="en-US" sz="900" b="1" spc="108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END-TO-END • AUDITED • VERSIONED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571500"/>
            <a:ext cx="11125200" cy="36001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b="1" spc="-54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Complete production flow - 13 steps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902940"/>
            <a:ext cx="2962275" cy="95785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179165"/>
            <a:ext cx="209550" cy="20955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42801" y="1214884"/>
            <a:ext cx="123974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825" dirty="0"/>
          </a:p>
        </p:txBody>
      </p:sp>
      <p:sp>
        <p:nvSpPr>
          <p:cNvPr id="7" name="Text 3"/>
          <p:cNvSpPr txBox="1"/>
          <p:nvPr/>
        </p:nvSpPr>
        <p:spPr>
          <a:xfrm>
            <a:off x="942975" y="1218158"/>
            <a:ext cx="956370" cy="13141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signs in SSO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657225" y="1445865"/>
            <a:ext cx="2447925" cy="13870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4"/>
              </a:lnSpc>
              <a:buNone/>
            </a:pPr>
            <a:r>
              <a:rPr lang="en-US" sz="810" dirty="0">
                <a:solidFill>
                  <a:srgbClr val="13302B">
                    <a:alpha val="7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Entra ID, roles, region, store scope</a:t>
            </a:r>
            <a:endParaRPr lang="en-US" sz="81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925" y="902940"/>
            <a:ext cx="2962275" cy="957858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7100" y="1179165"/>
            <a:ext cx="209550" cy="20955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3541514" y="1214884"/>
            <a:ext cx="135136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825" dirty="0"/>
          </a:p>
        </p:txBody>
      </p:sp>
      <p:sp>
        <p:nvSpPr>
          <p:cNvPr id="12" name="Text 6"/>
          <p:cNvSpPr txBox="1"/>
          <p:nvPr/>
        </p:nvSpPr>
        <p:spPr>
          <a:xfrm>
            <a:off x="3752850" y="1218158"/>
            <a:ext cx="1231255" cy="13141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Frontend sends query</a:t>
            </a:r>
            <a:endParaRPr lang="en-US" sz="900" dirty="0"/>
          </a:p>
        </p:txBody>
      </p:sp>
      <p:sp>
        <p:nvSpPr>
          <p:cNvPr id="13" name="Text 7"/>
          <p:cNvSpPr txBox="1"/>
          <p:nvPr/>
        </p:nvSpPr>
        <p:spPr>
          <a:xfrm>
            <a:off x="3467100" y="1445865"/>
            <a:ext cx="2447925" cy="13870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4"/>
              </a:lnSpc>
              <a:buNone/>
            </a:pPr>
            <a:r>
              <a:rPr lang="en-US" sz="810" dirty="0">
                <a:solidFill>
                  <a:srgbClr val="13302B">
                    <a:alpha val="7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 + conversation_id + token</a:t>
            </a:r>
            <a:endParaRPr lang="en-US" sz="81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800" y="902940"/>
            <a:ext cx="2962275" cy="957858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975" y="1179165"/>
            <a:ext cx="209550" cy="20955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6350050" y="1214884"/>
            <a:ext cx="136475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825" dirty="0"/>
          </a:p>
        </p:txBody>
      </p:sp>
      <p:sp>
        <p:nvSpPr>
          <p:cNvPr id="17" name="Text 9"/>
          <p:cNvSpPr txBox="1"/>
          <p:nvPr/>
        </p:nvSpPr>
        <p:spPr>
          <a:xfrm>
            <a:off x="6562725" y="1218158"/>
            <a:ext cx="703659" cy="13141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18" name="Text 10"/>
          <p:cNvSpPr txBox="1"/>
          <p:nvPr/>
        </p:nvSpPr>
        <p:spPr>
          <a:xfrm>
            <a:off x="6276975" y="1445865"/>
            <a:ext cx="2447925" cy="13870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4"/>
              </a:lnSpc>
              <a:buNone/>
            </a:pPr>
            <a:r>
              <a:rPr lang="en-US" sz="810" dirty="0">
                <a:solidFill>
                  <a:srgbClr val="13302B">
                    <a:alpha val="7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Validates token, rate-limits, trace_id</a:t>
            </a:r>
            <a:endParaRPr lang="en-US" sz="81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9675" y="902940"/>
            <a:ext cx="2962275" cy="957858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6850" y="1179165"/>
            <a:ext cx="209550" cy="209550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157543" y="1214884"/>
            <a:ext cx="138857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825" dirty="0"/>
          </a:p>
        </p:txBody>
      </p:sp>
      <p:sp>
        <p:nvSpPr>
          <p:cNvPr id="22" name="Text 12"/>
          <p:cNvSpPr txBox="1"/>
          <p:nvPr/>
        </p:nvSpPr>
        <p:spPr>
          <a:xfrm>
            <a:off x="9372600" y="1218158"/>
            <a:ext cx="1227832" cy="13141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Backend auth + intent</a:t>
            </a:r>
            <a:endParaRPr lang="en-US" sz="900" dirty="0"/>
          </a:p>
        </p:txBody>
      </p:sp>
      <p:sp>
        <p:nvSpPr>
          <p:cNvPr id="23" name="Text 13"/>
          <p:cNvSpPr txBox="1"/>
          <p:nvPr/>
        </p:nvSpPr>
        <p:spPr>
          <a:xfrm>
            <a:off x="9086850" y="1445865"/>
            <a:ext cx="2447925" cy="13870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4"/>
              </a:lnSpc>
              <a:buNone/>
            </a:pPr>
            <a:r>
              <a:rPr lang="en-US" sz="810" dirty="0">
                <a:solidFill>
                  <a:srgbClr val="13302B">
                    <a:alpha val="7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Verify roles, classify: SQL / RAG / API</a:t>
            </a:r>
            <a:endParaRPr lang="en-US" sz="81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050" y="1651248"/>
            <a:ext cx="2962275" cy="957858"/>
          </a:xfrm>
          <a:prstGeom prst="rect">
            <a:avLst/>
          </a:prstGeom>
        </p:spPr>
      </p:pic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" y="1927473"/>
            <a:ext cx="209550" cy="209550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729407" y="1963192"/>
            <a:ext cx="137368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825" dirty="0"/>
          </a:p>
        </p:txBody>
      </p:sp>
      <p:sp>
        <p:nvSpPr>
          <p:cNvPr id="27" name="Text 15"/>
          <p:cNvSpPr txBox="1"/>
          <p:nvPr/>
        </p:nvSpPr>
        <p:spPr>
          <a:xfrm>
            <a:off x="942975" y="1966466"/>
            <a:ext cx="1055787" cy="13141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Metadata retriever</a:t>
            </a:r>
            <a:endParaRPr lang="en-US" sz="900" dirty="0"/>
          </a:p>
        </p:txBody>
      </p:sp>
      <p:sp>
        <p:nvSpPr>
          <p:cNvPr id="28" name="Text 16"/>
          <p:cNvSpPr txBox="1"/>
          <p:nvPr/>
        </p:nvSpPr>
        <p:spPr>
          <a:xfrm>
            <a:off x="657225" y="2194173"/>
            <a:ext cx="2447925" cy="13870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4"/>
              </a:lnSpc>
              <a:buNone/>
            </a:pPr>
            <a:r>
              <a:rPr lang="en-US" sz="810" dirty="0">
                <a:solidFill>
                  <a:srgbClr val="13302B">
                    <a:alpha val="7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Relevant certified views + metrics only</a:t>
            </a:r>
            <a:endParaRPr lang="en-US" sz="810" dirty="0"/>
          </a:p>
        </p:txBody>
      </p:sp>
      <p:sp>
        <p:nvSpPr>
          <p:cNvPr id="29" name="Shape 17"/>
          <p:cNvSpPr/>
          <p:nvPr/>
        </p:nvSpPr>
        <p:spPr>
          <a:xfrm>
            <a:off x="3343275" y="1809750"/>
            <a:ext cx="2695575" cy="638175"/>
          </a:xfrm>
          <a:prstGeom prst="roundRect">
            <a:avLst>
              <a:gd name="adj" fmla="val 20896"/>
            </a:avLst>
          </a:prstGeom>
          <a:solidFill>
            <a:srgbClr val="13302B"/>
          </a:solidFill>
          <a:ln/>
          <a:effectLst>
            <a:outerShdw sx="100000" sy="100000" kx="0" ky="0" algn="bl" rotWithShape="0" blurRad="133350" dist="28575" dir="5400000">
              <a:srgbClr val="0F918B">
                <a:alpha val="5000"/>
              </a:srgbClr>
            </a:outerShdw>
          </a:effectLst>
        </p:spPr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57575" y="1917948"/>
            <a:ext cx="209550" cy="209550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3529013" y="1953667"/>
            <a:ext cx="138113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E26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825" dirty="0"/>
          </a:p>
        </p:txBody>
      </p:sp>
      <p:sp>
        <p:nvSpPr>
          <p:cNvPr id="32" name="Text 19"/>
          <p:cNvSpPr txBox="1"/>
          <p:nvPr/>
        </p:nvSpPr>
        <p:spPr>
          <a:xfrm>
            <a:off x="3743325" y="1956941"/>
            <a:ext cx="1042988" cy="13141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Gateway call 1</a:t>
            </a:r>
            <a:endParaRPr lang="en-US" sz="900" dirty="0"/>
          </a:p>
        </p:txBody>
      </p:sp>
      <p:sp>
        <p:nvSpPr>
          <p:cNvPr id="33" name="Text 20"/>
          <p:cNvSpPr txBox="1"/>
          <p:nvPr/>
        </p:nvSpPr>
        <p:spPr>
          <a:xfrm>
            <a:off x="3457575" y="2184648"/>
            <a:ext cx="2466975" cy="13870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4"/>
              </a:lnSpc>
              <a:buNone/>
            </a:pPr>
            <a:r>
              <a:rPr lang="en-US" sz="810" dirty="0">
                <a:solidFill>
                  <a:srgbClr val="E4F5F4">
                    <a:alpha val="7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 + controlled semantic context</a:t>
            </a:r>
            <a:endParaRPr lang="en-US" sz="810" dirty="0"/>
          </a:p>
        </p:txBody>
      </p:sp>
      <p:sp>
        <p:nvSpPr>
          <p:cNvPr id="34" name="Shape 21"/>
          <p:cNvSpPr/>
          <p:nvPr/>
        </p:nvSpPr>
        <p:spPr>
          <a:xfrm>
            <a:off x="6153150" y="1809750"/>
            <a:ext cx="2695575" cy="638175"/>
          </a:xfrm>
          <a:prstGeom prst="roundRect">
            <a:avLst>
              <a:gd name="adj" fmla="val 20896"/>
            </a:avLst>
          </a:prstGeom>
          <a:solidFill>
            <a:srgbClr val="13302B"/>
          </a:solidFill>
          <a:ln/>
          <a:effectLst>
            <a:outerShdw sx="100000" sy="100000" kx="0" ky="0" algn="bl" rotWithShape="0" blurRad="133350" dist="28575" dir="5400000">
              <a:srgbClr val="0F918B">
                <a:alpha val="5000"/>
              </a:srgbClr>
            </a:outerShdw>
          </a:effectLst>
        </p:spPr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7450" y="1917948"/>
            <a:ext cx="209550" cy="209550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6343948" y="1953667"/>
            <a:ext cx="133052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E26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825" dirty="0"/>
          </a:p>
        </p:txBody>
      </p:sp>
      <p:sp>
        <p:nvSpPr>
          <p:cNvPr id="37" name="Text 23"/>
          <p:cNvSpPr txBox="1"/>
          <p:nvPr/>
        </p:nvSpPr>
        <p:spPr>
          <a:xfrm>
            <a:off x="6553200" y="1956941"/>
            <a:ext cx="1030486" cy="13141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proposes SQL</a:t>
            </a:r>
            <a:endParaRPr lang="en-US" sz="900" dirty="0"/>
          </a:p>
        </p:txBody>
      </p:sp>
      <p:sp>
        <p:nvSpPr>
          <p:cNvPr id="38" name="Text 24"/>
          <p:cNvSpPr txBox="1"/>
          <p:nvPr/>
        </p:nvSpPr>
        <p:spPr>
          <a:xfrm>
            <a:off x="6267450" y="2184648"/>
            <a:ext cx="2466975" cy="13870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4"/>
              </a:lnSpc>
              <a:buNone/>
            </a:pPr>
            <a:r>
              <a:rPr lang="en-US" sz="810" dirty="0">
                <a:solidFill>
                  <a:srgbClr val="E4F5F4">
                    <a:alpha val="7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Structured JSON + assumptions + 0.91 conf</a:t>
            </a:r>
            <a:endParaRPr lang="en-US" sz="810" dirty="0"/>
          </a:p>
        </p:txBody>
      </p:sp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29675" y="1651248"/>
            <a:ext cx="2962275" cy="957858"/>
          </a:xfrm>
          <a:prstGeom prst="rect">
            <a:avLst/>
          </a:prstGeom>
        </p:spPr>
      </p:pic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86850" y="1927473"/>
            <a:ext cx="209550" cy="209550"/>
          </a:xfrm>
          <a:prstGeom prst="rect">
            <a:avLst/>
          </a:prstGeom>
        </p:spPr>
      </p:pic>
      <p:sp>
        <p:nvSpPr>
          <p:cNvPr id="41" name="Text 25"/>
          <p:cNvSpPr txBox="1"/>
          <p:nvPr/>
        </p:nvSpPr>
        <p:spPr>
          <a:xfrm>
            <a:off x="9158436" y="1963192"/>
            <a:ext cx="137964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825" dirty="0"/>
          </a:p>
        </p:txBody>
      </p:sp>
      <p:sp>
        <p:nvSpPr>
          <p:cNvPr id="42" name="Text 26"/>
          <p:cNvSpPr txBox="1"/>
          <p:nvPr/>
        </p:nvSpPr>
        <p:spPr>
          <a:xfrm>
            <a:off x="9372600" y="1966466"/>
            <a:ext cx="989409" cy="13141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 Policy Engine</a:t>
            </a:r>
            <a:endParaRPr lang="en-US" sz="900" dirty="0"/>
          </a:p>
        </p:txBody>
      </p:sp>
      <p:sp>
        <p:nvSpPr>
          <p:cNvPr id="43" name="Text 27"/>
          <p:cNvSpPr txBox="1"/>
          <p:nvPr/>
        </p:nvSpPr>
        <p:spPr>
          <a:xfrm>
            <a:off x="9086850" y="2194173"/>
            <a:ext cx="2447925" cy="13870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4"/>
              </a:lnSpc>
              <a:buNone/>
            </a:pPr>
            <a:r>
              <a:rPr lang="en-US" sz="810" dirty="0">
                <a:solidFill>
                  <a:srgbClr val="13302B">
                    <a:alpha val="7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Parser, allowlist, cost, permissions</a:t>
            </a:r>
            <a:endParaRPr lang="en-US" sz="810" dirty="0"/>
          </a:p>
        </p:txBody>
      </p:sp>
      <p:pic>
        <p:nvPicPr>
          <p:cNvPr id="4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0050" y="2399556"/>
            <a:ext cx="2962275" cy="957858"/>
          </a:xfrm>
          <a:prstGeom prst="rect">
            <a:avLst/>
          </a:prstGeom>
        </p:spPr>
      </p:pic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7225" y="2675781"/>
            <a:ext cx="209550" cy="209550"/>
          </a:xfrm>
          <a:prstGeom prst="rect">
            <a:avLst/>
          </a:prstGeom>
        </p:spPr>
      </p:pic>
      <p:sp>
        <p:nvSpPr>
          <p:cNvPr id="46" name="Text 28"/>
          <p:cNvSpPr txBox="1"/>
          <p:nvPr/>
        </p:nvSpPr>
        <p:spPr>
          <a:xfrm>
            <a:off x="728663" y="2711500"/>
            <a:ext cx="138113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</a:t>
            </a:r>
            <a:endParaRPr lang="en-US" sz="825" dirty="0"/>
          </a:p>
        </p:txBody>
      </p:sp>
      <p:sp>
        <p:nvSpPr>
          <p:cNvPr id="47" name="Text 29"/>
          <p:cNvSpPr txBox="1"/>
          <p:nvPr/>
        </p:nvSpPr>
        <p:spPr>
          <a:xfrm>
            <a:off x="942975" y="2714774"/>
            <a:ext cx="1330375" cy="13141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Query Service executes</a:t>
            </a:r>
            <a:endParaRPr lang="en-US" sz="900" dirty="0"/>
          </a:p>
        </p:txBody>
      </p:sp>
      <p:sp>
        <p:nvSpPr>
          <p:cNvPr id="48" name="Text 30"/>
          <p:cNvSpPr txBox="1"/>
          <p:nvPr/>
        </p:nvSpPr>
        <p:spPr>
          <a:xfrm>
            <a:off x="657225" y="2942481"/>
            <a:ext cx="2447925" cy="13870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4"/>
              </a:lnSpc>
              <a:buNone/>
            </a:pPr>
            <a:r>
              <a:rPr lang="en-US" sz="810" dirty="0">
                <a:solidFill>
                  <a:srgbClr val="13302B">
                    <a:alpha val="7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Read-only, User OAuth, timeout, LIMIT</a:t>
            </a:r>
            <a:endParaRPr lang="en-US" sz="810" dirty="0"/>
          </a:p>
        </p:txBody>
      </p:sp>
      <p:pic>
        <p:nvPicPr>
          <p:cNvPr id="4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09925" y="2399556"/>
            <a:ext cx="2962275" cy="957858"/>
          </a:xfrm>
          <a:prstGeom prst="rect">
            <a:avLst/>
          </a:prstGeom>
        </p:spPr>
      </p:pic>
      <p:pic>
        <p:nvPicPr>
          <p:cNvPr id="5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67100" y="2675781"/>
            <a:ext cx="209550" cy="209550"/>
          </a:xfrm>
          <a:prstGeom prst="rect">
            <a:avLst/>
          </a:prstGeom>
        </p:spPr>
      </p:pic>
      <p:sp>
        <p:nvSpPr>
          <p:cNvPr id="51" name="Text 31"/>
          <p:cNvSpPr txBox="1"/>
          <p:nvPr/>
        </p:nvSpPr>
        <p:spPr>
          <a:xfrm>
            <a:off x="3515916" y="2711500"/>
            <a:ext cx="160734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825" dirty="0"/>
          </a:p>
        </p:txBody>
      </p:sp>
      <p:sp>
        <p:nvSpPr>
          <p:cNvPr id="52" name="Text 32"/>
          <p:cNvSpPr txBox="1"/>
          <p:nvPr/>
        </p:nvSpPr>
        <p:spPr>
          <a:xfrm>
            <a:off x="3752850" y="2714774"/>
            <a:ext cx="871240" cy="13141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 validator</a:t>
            </a:r>
            <a:endParaRPr lang="en-US" sz="900" dirty="0"/>
          </a:p>
        </p:txBody>
      </p:sp>
      <p:sp>
        <p:nvSpPr>
          <p:cNvPr id="53" name="Text 33"/>
          <p:cNvSpPr txBox="1"/>
          <p:nvPr/>
        </p:nvSpPr>
        <p:spPr>
          <a:xfrm>
            <a:off x="3467100" y="2942481"/>
            <a:ext cx="2447925" cy="13870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4"/>
              </a:lnSpc>
              <a:buNone/>
            </a:pPr>
            <a:r>
              <a:rPr lang="en-US" sz="810" dirty="0">
                <a:solidFill>
                  <a:srgbClr val="13302B">
                    <a:alpha val="7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Empty? Abnormal? Truncated? Row caps</a:t>
            </a:r>
            <a:endParaRPr lang="en-US" sz="810" dirty="0"/>
          </a:p>
        </p:txBody>
      </p:sp>
      <p:sp>
        <p:nvSpPr>
          <p:cNvPr id="54" name="Shape 34"/>
          <p:cNvSpPr/>
          <p:nvPr/>
        </p:nvSpPr>
        <p:spPr>
          <a:xfrm>
            <a:off x="6153150" y="2562225"/>
            <a:ext cx="2695575" cy="638175"/>
          </a:xfrm>
          <a:prstGeom prst="roundRect">
            <a:avLst>
              <a:gd name="adj" fmla="val 20896"/>
            </a:avLst>
          </a:prstGeom>
          <a:solidFill>
            <a:srgbClr val="13302B"/>
          </a:solidFill>
          <a:ln/>
          <a:effectLst>
            <a:outerShdw sx="100000" sy="100000" kx="0" ky="0" algn="bl" rotWithShape="0" blurRad="133350" dist="28575" dir="5400000">
              <a:srgbClr val="0F918B">
                <a:alpha val="5000"/>
              </a:srgbClr>
            </a:outerShdw>
          </a:effectLst>
        </p:spPr>
      </p:sp>
      <p:pic>
        <p:nvPicPr>
          <p:cNvPr id="5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67450" y="2666256"/>
            <a:ext cx="209550" cy="209550"/>
          </a:xfrm>
          <a:prstGeom prst="rect">
            <a:avLst/>
          </a:prstGeom>
        </p:spPr>
      </p:pic>
      <p:sp>
        <p:nvSpPr>
          <p:cNvPr id="56" name="Text 35"/>
          <p:cNvSpPr txBox="1"/>
          <p:nvPr/>
        </p:nvSpPr>
        <p:spPr>
          <a:xfrm>
            <a:off x="6333976" y="2701975"/>
            <a:ext cx="143024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E26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endParaRPr lang="en-US" sz="825" dirty="0"/>
          </a:p>
        </p:txBody>
      </p:sp>
      <p:sp>
        <p:nvSpPr>
          <p:cNvPr id="57" name="Text 36"/>
          <p:cNvSpPr txBox="1"/>
          <p:nvPr/>
        </p:nvSpPr>
        <p:spPr>
          <a:xfrm>
            <a:off x="6553200" y="2705249"/>
            <a:ext cx="1067246" cy="13141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Gateway call 2</a:t>
            </a:r>
            <a:endParaRPr lang="en-US" sz="900" dirty="0"/>
          </a:p>
        </p:txBody>
      </p:sp>
      <p:sp>
        <p:nvSpPr>
          <p:cNvPr id="58" name="Text 37"/>
          <p:cNvSpPr txBox="1"/>
          <p:nvPr/>
        </p:nvSpPr>
        <p:spPr>
          <a:xfrm>
            <a:off x="6267450" y="2932956"/>
            <a:ext cx="2466975" cy="13870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4"/>
              </a:lnSpc>
              <a:buNone/>
            </a:pPr>
            <a:r>
              <a:rPr lang="en-US" sz="810" dirty="0">
                <a:solidFill>
                  <a:srgbClr val="E4F5F4">
                    <a:alpha val="7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Summarize evidence only, no invention</a:t>
            </a:r>
            <a:endParaRPr lang="en-US" sz="810" dirty="0"/>
          </a:p>
        </p:txBody>
      </p:sp>
      <p:pic>
        <p:nvPicPr>
          <p:cNvPr id="5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29675" y="2399556"/>
            <a:ext cx="2962275" cy="957858"/>
          </a:xfrm>
          <a:prstGeom prst="rect">
            <a:avLst/>
          </a:prstGeom>
        </p:spPr>
      </p:pic>
      <p:pic>
        <p:nvPicPr>
          <p:cNvPr id="60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086850" y="2675781"/>
            <a:ext cx="209550" cy="209550"/>
          </a:xfrm>
          <a:prstGeom prst="rect">
            <a:avLst/>
          </a:prstGeom>
        </p:spPr>
      </p:pic>
      <p:sp>
        <p:nvSpPr>
          <p:cNvPr id="61" name="Text 38"/>
          <p:cNvSpPr txBox="1"/>
          <p:nvPr/>
        </p:nvSpPr>
        <p:spPr>
          <a:xfrm>
            <a:off x="9142214" y="2711500"/>
            <a:ext cx="154186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</a:t>
            </a:r>
            <a:endParaRPr lang="en-US" sz="825" dirty="0"/>
          </a:p>
        </p:txBody>
      </p:sp>
      <p:sp>
        <p:nvSpPr>
          <p:cNvPr id="62" name="Text 39"/>
          <p:cNvSpPr txBox="1"/>
          <p:nvPr/>
        </p:nvSpPr>
        <p:spPr>
          <a:xfrm>
            <a:off x="9372600" y="2714774"/>
            <a:ext cx="975122" cy="13141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Frontend renders</a:t>
            </a:r>
            <a:endParaRPr lang="en-US" sz="900" dirty="0"/>
          </a:p>
        </p:txBody>
      </p:sp>
      <p:sp>
        <p:nvSpPr>
          <p:cNvPr id="63" name="Text 40"/>
          <p:cNvSpPr txBox="1"/>
          <p:nvPr/>
        </p:nvSpPr>
        <p:spPr>
          <a:xfrm>
            <a:off x="9086850" y="2942481"/>
            <a:ext cx="2447925" cy="13870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4"/>
              </a:lnSpc>
              <a:buNone/>
            </a:pPr>
            <a:r>
              <a:rPr lang="en-US" sz="810" dirty="0">
                <a:solidFill>
                  <a:srgbClr val="13302B">
                    <a:alpha val="7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Answer + chart + table + SQL + freshness</a:t>
            </a:r>
            <a:endParaRPr lang="en-US" sz="810" dirty="0"/>
          </a:p>
        </p:txBody>
      </p:sp>
      <p:pic>
        <p:nvPicPr>
          <p:cNvPr id="6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0050" y="3147864"/>
            <a:ext cx="2962275" cy="957858"/>
          </a:xfrm>
          <a:prstGeom prst="rect">
            <a:avLst/>
          </a:prstGeom>
        </p:spPr>
      </p:pic>
      <p:pic>
        <p:nvPicPr>
          <p:cNvPr id="6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7225" y="3424089"/>
            <a:ext cx="209550" cy="209550"/>
          </a:xfrm>
          <a:prstGeom prst="rect">
            <a:avLst/>
          </a:prstGeom>
        </p:spPr>
      </p:pic>
      <p:sp>
        <p:nvSpPr>
          <p:cNvPr id="66" name="Text 41"/>
          <p:cNvSpPr txBox="1"/>
          <p:nvPr/>
        </p:nvSpPr>
        <p:spPr>
          <a:xfrm>
            <a:off x="711250" y="3459807"/>
            <a:ext cx="155525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</a:t>
            </a:r>
            <a:endParaRPr lang="en-US" sz="825" dirty="0"/>
          </a:p>
        </p:txBody>
      </p:sp>
      <p:sp>
        <p:nvSpPr>
          <p:cNvPr id="67" name="Text 42"/>
          <p:cNvSpPr txBox="1"/>
          <p:nvPr/>
        </p:nvSpPr>
        <p:spPr>
          <a:xfrm>
            <a:off x="942975" y="3463082"/>
            <a:ext cx="755600" cy="13141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Observability</a:t>
            </a:r>
            <a:endParaRPr lang="en-US" sz="900" dirty="0"/>
          </a:p>
        </p:txBody>
      </p:sp>
      <p:sp>
        <p:nvSpPr>
          <p:cNvPr id="68" name="Text 43"/>
          <p:cNvSpPr txBox="1"/>
          <p:nvPr/>
        </p:nvSpPr>
        <p:spPr>
          <a:xfrm>
            <a:off x="657225" y="3690789"/>
            <a:ext cx="2447925" cy="13870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4"/>
              </a:lnSpc>
              <a:buNone/>
            </a:pPr>
            <a:r>
              <a:rPr lang="en-US" sz="810" dirty="0">
                <a:solidFill>
                  <a:srgbClr val="13302B">
                    <a:alpha val="7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trace, model, tokens, cost, latency, feedback</a:t>
            </a:r>
            <a:endParaRPr lang="en-US" sz="810" dirty="0"/>
          </a:p>
        </p:txBody>
      </p:sp>
      <p:pic>
        <p:nvPicPr>
          <p:cNvPr id="69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3400" y="5801469"/>
            <a:ext cx="6331148" cy="675531"/>
          </a:xfrm>
          <a:prstGeom prst="rect">
            <a:avLst/>
          </a:prstGeom>
        </p:spPr>
      </p:pic>
      <p:sp>
        <p:nvSpPr>
          <p:cNvPr id="70" name="Text 44"/>
          <p:cNvSpPr txBox="1"/>
          <p:nvPr/>
        </p:nvSpPr>
        <p:spPr>
          <a:xfrm>
            <a:off x="666750" y="6059091"/>
            <a:ext cx="6064448" cy="32265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9"/>
              </a:lnSpc>
              <a:spcAft>
                <a:spcPts val="300"/>
              </a:spcAft>
              <a:buNone/>
            </a:pPr>
            <a:r>
              <a:rPr lang="en-US" sz="675" b="1" spc="95" kern="0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VERSIONING &amp; AUDIT</a:t>
            </a:r>
            <a:endParaRPr lang="en-US" sz="675" dirty="0"/>
          </a:p>
          <a:p>
            <a:pPr algn="l" indent="0" marL="0">
              <a:lnSpc>
                <a:spcPts val="1196"/>
              </a:lnSpc>
              <a:buNone/>
            </a:pPr>
            <a:r>
              <a:rPr lang="en-US" sz="825" b="1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model_version + dataset_version + policy_version + feature_version + semantic_version + trace_id + user_scope</a:t>
            </a:r>
            <a:pPr indent="0" marL="0">
              <a:buNone/>
            </a:pPr>
            <a:r>
              <a:rPr lang="en-US" sz="825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every recommendation replayable. Logs redact PII, hash SQL.</a:t>
            </a:r>
            <a:endParaRPr lang="en-US" sz="675" dirty="0"/>
          </a:p>
        </p:txBody>
      </p:sp>
      <p:pic>
        <p:nvPicPr>
          <p:cNvPr id="71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78848" y="5801469"/>
            <a:ext cx="4679752" cy="675531"/>
          </a:xfrm>
          <a:prstGeom prst="rect">
            <a:avLst/>
          </a:prstGeom>
        </p:spPr>
      </p:pic>
      <p:sp>
        <p:nvSpPr>
          <p:cNvPr id="72" name="Text 45"/>
          <p:cNvSpPr txBox="1"/>
          <p:nvPr/>
        </p:nvSpPr>
        <p:spPr>
          <a:xfrm>
            <a:off x="7121723" y="6068616"/>
            <a:ext cx="4394002" cy="30360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9"/>
              </a:lnSpc>
              <a:spcAft>
                <a:spcPts val="300"/>
              </a:spcAft>
              <a:buNone/>
            </a:pPr>
            <a:r>
              <a:rPr lang="en-US" sz="675" b="1" spc="95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GOLDEN RULE</a:t>
            </a:r>
            <a:endParaRPr lang="en-US" sz="675" dirty="0"/>
          </a:p>
          <a:p>
            <a:pPr algn="l" indent="0" marL="0">
              <a:lnSpc>
                <a:spcPts val="1196"/>
              </a:lnSpc>
              <a:buNone/>
            </a:pPr>
            <a:r>
              <a:rPr lang="en-US" sz="825" b="1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reasons, backend authorizes.</a:t>
            </a:r>
            <a:pPr indent="0" marL="0">
              <a:buNone/>
            </a:pPr>
            <a:r>
              <a:rPr lang="en-US" sz="825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Two LLM calls only: SQL proposal + evidence summary. Validator between them cannot be skipped. Frontend untrusted.</a:t>
            </a:r>
            <a:endParaRPr lang="en-US" sz="675" dirty="0"/>
          </a:p>
        </p:txBody>
      </p:sp>
      <p:sp>
        <p:nvSpPr>
          <p:cNvPr id="73" name="Shape 46"/>
          <p:cNvSpPr/>
          <p:nvPr/>
        </p:nvSpPr>
        <p:spPr>
          <a:xfrm>
            <a:off x="3133725" y="13716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F918B"/>
          </a:solidFill>
          <a:ln/>
        </p:spPr>
      </p:sp>
      <p:pic>
        <p:nvPicPr>
          <p:cNvPr id="74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186113" y="1343769"/>
            <a:ext cx="66675" cy="76200"/>
          </a:xfrm>
          <a:prstGeom prst="rect">
            <a:avLst/>
          </a:prstGeom>
        </p:spPr>
      </p:pic>
      <p:sp>
        <p:nvSpPr>
          <p:cNvPr id="75" name="Shape 47"/>
          <p:cNvSpPr/>
          <p:nvPr/>
        </p:nvSpPr>
        <p:spPr>
          <a:xfrm>
            <a:off x="5943600" y="13716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F918B"/>
          </a:solidFill>
          <a:ln/>
        </p:spPr>
      </p:sp>
      <p:pic>
        <p:nvPicPr>
          <p:cNvPr id="76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995988" y="1343769"/>
            <a:ext cx="66675" cy="76200"/>
          </a:xfrm>
          <a:prstGeom prst="rect">
            <a:avLst/>
          </a:prstGeom>
        </p:spPr>
      </p:pic>
      <p:sp>
        <p:nvSpPr>
          <p:cNvPr id="77" name="Shape 48"/>
          <p:cNvSpPr/>
          <p:nvPr/>
        </p:nvSpPr>
        <p:spPr>
          <a:xfrm>
            <a:off x="8753475" y="13716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F918B"/>
          </a:solidFill>
          <a:ln/>
        </p:spPr>
      </p:sp>
      <p:pic>
        <p:nvPicPr>
          <p:cNvPr id="78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805863" y="1343769"/>
            <a:ext cx="66675" cy="76200"/>
          </a:xfrm>
          <a:prstGeom prst="rect">
            <a:avLst/>
          </a:prstGeom>
        </p:spPr>
      </p:pic>
      <p:sp>
        <p:nvSpPr>
          <p:cNvPr id="79" name="Shape 49"/>
          <p:cNvSpPr/>
          <p:nvPr/>
        </p:nvSpPr>
        <p:spPr>
          <a:xfrm>
            <a:off x="3133725" y="21145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F918B"/>
          </a:solidFill>
          <a:ln/>
        </p:spPr>
      </p:sp>
      <p:pic>
        <p:nvPicPr>
          <p:cNvPr id="8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186113" y="2092077"/>
            <a:ext cx="66675" cy="76200"/>
          </a:xfrm>
          <a:prstGeom prst="rect">
            <a:avLst/>
          </a:prstGeom>
        </p:spPr>
      </p:pic>
      <p:sp>
        <p:nvSpPr>
          <p:cNvPr id="81" name="Shape 50"/>
          <p:cNvSpPr/>
          <p:nvPr/>
        </p:nvSpPr>
        <p:spPr>
          <a:xfrm>
            <a:off x="5962650" y="21240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F918B"/>
          </a:solidFill>
          <a:ln/>
        </p:spPr>
      </p:sp>
      <p:pic>
        <p:nvPicPr>
          <p:cNvPr id="82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005513" y="2092077"/>
            <a:ext cx="66675" cy="76200"/>
          </a:xfrm>
          <a:prstGeom prst="rect">
            <a:avLst/>
          </a:prstGeom>
        </p:spPr>
      </p:pic>
      <p:sp>
        <p:nvSpPr>
          <p:cNvPr id="83" name="Shape 51"/>
          <p:cNvSpPr/>
          <p:nvPr/>
        </p:nvSpPr>
        <p:spPr>
          <a:xfrm>
            <a:off x="8772525" y="21240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F918B"/>
          </a:solidFill>
          <a:ln/>
        </p:spPr>
      </p:sp>
      <p:pic>
        <p:nvPicPr>
          <p:cNvPr id="84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815388" y="2092077"/>
            <a:ext cx="66675" cy="76200"/>
          </a:xfrm>
          <a:prstGeom prst="rect">
            <a:avLst/>
          </a:prstGeom>
        </p:spPr>
      </p:pic>
      <p:sp>
        <p:nvSpPr>
          <p:cNvPr id="85" name="Shape 52"/>
          <p:cNvSpPr/>
          <p:nvPr/>
        </p:nvSpPr>
        <p:spPr>
          <a:xfrm>
            <a:off x="3133725" y="286702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F918B"/>
          </a:solidFill>
          <a:ln/>
        </p:spPr>
      </p:sp>
      <p:pic>
        <p:nvPicPr>
          <p:cNvPr id="86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186113" y="2840385"/>
            <a:ext cx="66675" cy="76200"/>
          </a:xfrm>
          <a:prstGeom prst="rect">
            <a:avLst/>
          </a:prstGeom>
        </p:spPr>
      </p:pic>
      <p:sp>
        <p:nvSpPr>
          <p:cNvPr id="87" name="Shape 53"/>
          <p:cNvSpPr/>
          <p:nvPr/>
        </p:nvSpPr>
        <p:spPr>
          <a:xfrm>
            <a:off x="5943600" y="286702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F918B"/>
          </a:solidFill>
          <a:ln/>
        </p:spPr>
      </p:sp>
      <p:pic>
        <p:nvPicPr>
          <p:cNvPr id="88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995988" y="2840385"/>
            <a:ext cx="66675" cy="76200"/>
          </a:xfrm>
          <a:prstGeom prst="rect">
            <a:avLst/>
          </a:prstGeom>
        </p:spPr>
      </p:pic>
      <p:sp>
        <p:nvSpPr>
          <p:cNvPr id="89" name="Shape 54"/>
          <p:cNvSpPr/>
          <p:nvPr/>
        </p:nvSpPr>
        <p:spPr>
          <a:xfrm>
            <a:off x="8772525" y="28765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F918B"/>
          </a:solidFill>
          <a:ln/>
        </p:spPr>
      </p:sp>
      <p:pic>
        <p:nvPicPr>
          <p:cNvPr id="90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815388" y="2840385"/>
            <a:ext cx="66675" cy="76200"/>
          </a:xfrm>
          <a:prstGeom prst="rect">
            <a:avLst/>
          </a:prstGeom>
        </p:spPr>
      </p:pic>
      <p:sp>
        <p:nvSpPr>
          <p:cNvPr id="91" name="Shape 55"/>
          <p:cNvSpPr/>
          <p:nvPr/>
        </p:nvSpPr>
        <p:spPr>
          <a:xfrm>
            <a:off x="11563350" y="286702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F918B"/>
          </a:solidFill>
          <a:ln/>
        </p:spPr>
      </p:sp>
      <p:pic>
        <p:nvPicPr>
          <p:cNvPr id="92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1615738" y="2840385"/>
            <a:ext cx="66675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19100"/>
            <a:ext cx="11125200" cy="37995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92"/>
              </a:lnSpc>
              <a:buNone/>
            </a:pPr>
            <a:r>
              <a:rPr lang="en-US" sz="2850" b="1" spc="-57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Recommended retail stack — generic, governed, proven</a:t>
            </a:r>
            <a:endParaRPr lang="en-US" sz="285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808583"/>
            <a:ext cx="11125200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2302B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company names. Generic implementation you can run on Azure / AWS / Tencent. Front → Gateway → Orchestrator → Semantic Warehouse.</a:t>
            </a:r>
            <a:endParaRPr lang="en-US" sz="97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" y="927646"/>
            <a:ext cx="5838825" cy="30515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4375" y="1308646"/>
            <a:ext cx="513397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150"/>
              </a:spcAft>
              <a:buNone/>
            </a:pPr>
            <a:r>
              <a:rPr lang="en-US" sz="750" b="1" spc="113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FRONTEND &amp; ACCESS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714375" y="1609725"/>
            <a:ext cx="66675" cy="66675"/>
          </a:xfrm>
          <a:prstGeom prst="roundRect">
            <a:avLst>
              <a:gd name="adj" fmla="val 14271429"/>
            </a:avLst>
          </a:prstGeom>
          <a:solidFill>
            <a:srgbClr val="0F918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76300" y="1556296"/>
            <a:ext cx="3351907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Web:</a:t>
            </a:r>
            <a:pPr indent="0" marL="0">
              <a:buNone/>
            </a:pPr>
            <a:r>
              <a:rPr lang="en-US" sz="938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React / Next.js + TypeScript, charting, SSE / WebSocket</a:t>
            </a:r>
            <a:endParaRPr lang="en-US" sz="938" dirty="0"/>
          </a:p>
        </p:txBody>
      </p:sp>
      <p:sp>
        <p:nvSpPr>
          <p:cNvPr id="8" name="Shape 5"/>
          <p:cNvSpPr/>
          <p:nvPr/>
        </p:nvSpPr>
        <p:spPr>
          <a:xfrm>
            <a:off x="714375" y="1876425"/>
            <a:ext cx="66675" cy="66675"/>
          </a:xfrm>
          <a:prstGeom prst="roundRect">
            <a:avLst>
              <a:gd name="adj" fmla="val 14271429"/>
            </a:avLst>
          </a:prstGeom>
          <a:solidFill>
            <a:srgbClr val="0F918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76300" y="1818233"/>
            <a:ext cx="3092053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Identity:</a:t>
            </a:r>
            <a:pPr indent="0" marL="0">
              <a:buNone/>
            </a:pPr>
            <a:r>
              <a:rPr lang="en-US" sz="938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Entra ID / enterprise IdP, OAuth, corporate SSO</a:t>
            </a:r>
            <a:endParaRPr lang="en-US" sz="938" dirty="0"/>
          </a:p>
        </p:txBody>
      </p:sp>
      <p:sp>
        <p:nvSpPr>
          <p:cNvPr id="10" name="Shape 7"/>
          <p:cNvSpPr/>
          <p:nvPr/>
        </p:nvSpPr>
        <p:spPr>
          <a:xfrm>
            <a:off x="714375" y="2133600"/>
            <a:ext cx="66675" cy="66675"/>
          </a:xfrm>
          <a:prstGeom prst="roundRect">
            <a:avLst>
              <a:gd name="adj" fmla="val 14271429"/>
            </a:avLst>
          </a:prstGeom>
          <a:solidFill>
            <a:srgbClr val="0F918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76300" y="2080171"/>
            <a:ext cx="2983557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control:</a:t>
            </a:r>
            <a:pPr indent="0" marL="0">
              <a:buNone/>
            </a:pPr>
            <a:r>
              <a:rPr lang="en-US" sz="938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Azure APIM / Kong / Apigee / Tencent GW</a:t>
            </a:r>
            <a:endParaRPr lang="en-US" sz="938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361158"/>
            <a:ext cx="336203" cy="2381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0100" y="2418308"/>
            <a:ext cx="16475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TLS</a:t>
            </a:r>
            <a:endParaRPr lang="en-US" sz="7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28" y="2361158"/>
            <a:ext cx="613172" cy="23812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93453" y="2418308"/>
            <a:ext cx="44172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Rate limit</a:t>
            </a:r>
            <a:endParaRPr lang="en-US" sz="7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50" y="2361158"/>
            <a:ext cx="382339" cy="23812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863775" y="2418308"/>
            <a:ext cx="21088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WAF</a:t>
            </a:r>
            <a:endParaRPr lang="en-US" sz="7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7539" y="2361158"/>
            <a:ext cx="580281" cy="23812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2303264" y="2418308"/>
            <a:ext cx="40883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trace_id</a:t>
            </a:r>
            <a:endParaRPr lang="en-US" sz="750" dirty="0"/>
          </a:p>
        </p:txBody>
      </p:sp>
      <p:sp>
        <p:nvSpPr>
          <p:cNvPr id="20" name="Shape 13"/>
          <p:cNvSpPr/>
          <p:nvPr/>
        </p:nvSpPr>
        <p:spPr>
          <a:xfrm>
            <a:off x="6162675" y="1133475"/>
            <a:ext cx="5495925" cy="2628900"/>
          </a:xfrm>
          <a:prstGeom prst="roundRect">
            <a:avLst>
              <a:gd name="adj" fmla="val 6522"/>
            </a:avLst>
          </a:prstGeom>
          <a:solidFill>
            <a:srgbClr val="13302B"/>
          </a:solidFill>
          <a:ln/>
          <a:effectLst>
            <a:outerShdw sx="100000" sy="100000" kx="0" ky="0" algn="bl" rotWithShape="0" blurRad="171450" dist="38100" dir="5400000">
              <a:srgbClr val="0F918B">
                <a:alpha val="6000"/>
              </a:srgbClr>
            </a:outerShdw>
          </a:effectLst>
        </p:spPr>
      </p:sp>
      <p:sp>
        <p:nvSpPr>
          <p:cNvPr id="21" name="Text 14"/>
          <p:cNvSpPr txBox="1"/>
          <p:nvPr/>
        </p:nvSpPr>
        <p:spPr>
          <a:xfrm>
            <a:off x="6334125" y="1299121"/>
            <a:ext cx="515302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150"/>
              </a:spcAft>
              <a:buNone/>
            </a:pPr>
            <a:r>
              <a:rPr lang="en-US" sz="750" b="1" spc="113" kern="0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BACKEND &amp; AI ORCHESTRATION</a:t>
            </a:r>
            <a:endParaRPr lang="en-US" sz="750" dirty="0"/>
          </a:p>
        </p:txBody>
      </p:sp>
      <p:sp>
        <p:nvSpPr>
          <p:cNvPr id="22" name="Shape 15"/>
          <p:cNvSpPr/>
          <p:nvPr/>
        </p:nvSpPr>
        <p:spPr>
          <a:xfrm>
            <a:off x="6334125" y="1600200"/>
            <a:ext cx="66675" cy="66675"/>
          </a:xfrm>
          <a:prstGeom prst="roundRect">
            <a:avLst>
              <a:gd name="adj" fmla="val 14271429"/>
            </a:avLst>
          </a:prstGeom>
          <a:solidFill>
            <a:srgbClr val="5FD6DE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6496050" y="1546771"/>
            <a:ext cx="3523655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b="1" dirty="0">
                <a:solidFill>
                  <a:srgbClr val="E6F5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Backend:</a:t>
            </a:r>
            <a:pPr indent="0" marL="0">
              <a:buNone/>
            </a:pPr>
            <a:r>
              <a:rPr lang="en-US" sz="938" dirty="0">
                <a:solidFill>
                  <a:srgbClr val="E6F5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Python FastAPI, Pydantic, deterministic state machine</a:t>
            </a:r>
            <a:endParaRPr lang="en-US" sz="938" dirty="0"/>
          </a:p>
        </p:txBody>
      </p:sp>
      <p:sp>
        <p:nvSpPr>
          <p:cNvPr id="24" name="Shape 17"/>
          <p:cNvSpPr/>
          <p:nvPr/>
        </p:nvSpPr>
        <p:spPr>
          <a:xfrm>
            <a:off x="6334125" y="1866900"/>
            <a:ext cx="66675" cy="66675"/>
          </a:xfrm>
          <a:prstGeom prst="roundRect">
            <a:avLst>
              <a:gd name="adj" fmla="val 14271429"/>
            </a:avLst>
          </a:prstGeom>
          <a:solidFill>
            <a:srgbClr val="5FD6DE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6496050" y="1808708"/>
            <a:ext cx="3694658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b="1" dirty="0">
                <a:solidFill>
                  <a:srgbClr val="E6F5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Orchestration:</a:t>
            </a:r>
            <a:pPr indent="0" marL="0">
              <a:buNone/>
            </a:pPr>
            <a:r>
              <a:rPr lang="en-US" sz="938" dirty="0">
                <a:solidFill>
                  <a:srgbClr val="E6F5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RECEIVED → ANSWER states, optionally LangGraph</a:t>
            </a:r>
            <a:endParaRPr lang="en-US" sz="938" dirty="0"/>
          </a:p>
        </p:txBody>
      </p:sp>
      <p:sp>
        <p:nvSpPr>
          <p:cNvPr id="26" name="Shape 19"/>
          <p:cNvSpPr/>
          <p:nvPr/>
        </p:nvSpPr>
        <p:spPr>
          <a:xfrm>
            <a:off x="6334125" y="2124075"/>
            <a:ext cx="66675" cy="66675"/>
          </a:xfrm>
          <a:prstGeom prst="roundRect">
            <a:avLst>
              <a:gd name="adj" fmla="val 14271429"/>
            </a:avLst>
          </a:prstGeom>
          <a:solidFill>
            <a:srgbClr val="5FD6DE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6496050" y="2070646"/>
            <a:ext cx="3893195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b="1" dirty="0">
                <a:solidFill>
                  <a:srgbClr val="E6F5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Gateway:</a:t>
            </a:r>
            <a:pPr indent="0" marL="0">
              <a:buNone/>
            </a:pPr>
            <a:r>
              <a:rPr lang="en-US" sz="938" dirty="0">
                <a:solidFill>
                  <a:srgbClr val="E6F5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Provider abstraction, routing, budgets, redacted logging</a:t>
            </a:r>
            <a:endParaRPr lang="en-US" sz="938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125" y="2351633"/>
            <a:ext cx="360908" cy="238125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419850" y="2408783"/>
            <a:ext cx="18945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E6F5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GPT</a:t>
            </a:r>
            <a:endParaRPr lang="en-US" sz="75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2183" y="2351633"/>
            <a:ext cx="503634" cy="23812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837908" y="2408783"/>
            <a:ext cx="33218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E6F5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Gemini</a:t>
            </a:r>
            <a:endParaRPr lang="en-US" sz="75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2968" y="2351633"/>
            <a:ext cx="643235" cy="238125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7398693" y="2408783"/>
            <a:ext cx="47178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E6F5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DeepSeek</a:t>
            </a:r>
            <a:endParaRPr lang="en-US" sz="75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3353" y="2351633"/>
            <a:ext cx="438745" cy="238125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8099078" y="2408783"/>
            <a:ext cx="26729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E6F5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Qwen</a:t>
            </a:r>
            <a:endParaRPr lang="en-US" sz="75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950" y="3693468"/>
            <a:ext cx="5838825" cy="2954982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714375" y="4074468"/>
            <a:ext cx="513397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150"/>
              </a:spcAft>
              <a:buNone/>
            </a:pPr>
            <a:r>
              <a:rPr lang="en-US" sz="750" b="1" spc="113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SEMANTIC &amp; DATA PLANE</a:t>
            </a:r>
            <a:endParaRPr lang="en-US" sz="750" dirty="0"/>
          </a:p>
        </p:txBody>
      </p:sp>
      <p:sp>
        <p:nvSpPr>
          <p:cNvPr id="38" name="Shape 26"/>
          <p:cNvSpPr/>
          <p:nvPr/>
        </p:nvSpPr>
        <p:spPr>
          <a:xfrm>
            <a:off x="714375" y="4381500"/>
            <a:ext cx="66675" cy="66675"/>
          </a:xfrm>
          <a:prstGeom prst="roundRect">
            <a:avLst>
              <a:gd name="adj" fmla="val 14271429"/>
            </a:avLst>
          </a:prstGeom>
          <a:solidFill>
            <a:srgbClr val="0F918B"/>
          </a:solidFill>
          <a:ln/>
        </p:spPr>
      </p:sp>
      <p:sp>
        <p:nvSpPr>
          <p:cNvPr id="39" name="Text 27"/>
          <p:cNvSpPr txBox="1"/>
          <p:nvPr/>
        </p:nvSpPr>
        <p:spPr>
          <a:xfrm>
            <a:off x="876300" y="4322118"/>
            <a:ext cx="3543151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Metadata:</a:t>
            </a:r>
            <a:pPr indent="0" marL="0">
              <a:buNone/>
            </a:pPr>
            <a:r>
              <a:rPr lang="en-US" sz="938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Unity Catalog + semantic registry (genie_semantic.*)</a:t>
            </a:r>
            <a:endParaRPr lang="en-US" sz="938" dirty="0"/>
          </a:p>
        </p:txBody>
      </p:sp>
      <p:sp>
        <p:nvSpPr>
          <p:cNvPr id="40" name="Shape 28"/>
          <p:cNvSpPr/>
          <p:nvPr/>
        </p:nvSpPr>
        <p:spPr>
          <a:xfrm>
            <a:off x="714375" y="4638675"/>
            <a:ext cx="66675" cy="66675"/>
          </a:xfrm>
          <a:prstGeom prst="roundRect">
            <a:avLst>
              <a:gd name="adj" fmla="val 14271429"/>
            </a:avLst>
          </a:prstGeom>
          <a:solidFill>
            <a:srgbClr val="0F918B"/>
          </a:solidFill>
          <a:ln/>
        </p:spPr>
      </p:sp>
      <p:sp>
        <p:nvSpPr>
          <p:cNvPr id="41" name="Text 29"/>
          <p:cNvSpPr txBox="1"/>
          <p:nvPr/>
        </p:nvSpPr>
        <p:spPr>
          <a:xfrm>
            <a:off x="876300" y="4584055"/>
            <a:ext cx="3443139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Retrieval:</a:t>
            </a:r>
            <a:pPr indent="0" marL="0">
              <a:buNone/>
            </a:pPr>
            <a:r>
              <a:rPr lang="en-US" sz="938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Vector search over schemas, metrics, approved SQL</a:t>
            </a:r>
            <a:endParaRPr lang="en-US" sz="938" dirty="0"/>
          </a:p>
        </p:txBody>
      </p:sp>
      <p:sp>
        <p:nvSpPr>
          <p:cNvPr id="42" name="Shape 30"/>
          <p:cNvSpPr/>
          <p:nvPr/>
        </p:nvSpPr>
        <p:spPr>
          <a:xfrm>
            <a:off x="714375" y="4905375"/>
            <a:ext cx="66675" cy="66675"/>
          </a:xfrm>
          <a:prstGeom prst="roundRect">
            <a:avLst>
              <a:gd name="adj" fmla="val 14271429"/>
            </a:avLst>
          </a:prstGeom>
          <a:solidFill>
            <a:srgbClr val="0F918B"/>
          </a:solidFill>
          <a:ln/>
        </p:spPr>
      </p:sp>
      <p:sp>
        <p:nvSpPr>
          <p:cNvPr id="43" name="Text 31"/>
          <p:cNvSpPr txBox="1"/>
          <p:nvPr/>
        </p:nvSpPr>
        <p:spPr>
          <a:xfrm>
            <a:off x="876300" y="4845993"/>
            <a:ext cx="4286845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SQL:</a:t>
            </a:r>
            <a:pPr indent="0" marL="0">
              <a:buNone/>
            </a:pPr>
            <a:r>
              <a:rPr lang="en-US" sz="938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Databricks SQL Warehouse — certified views only, read-only, User OAuth</a:t>
            </a:r>
            <a:endParaRPr lang="en-US" sz="938" dirty="0"/>
          </a:p>
        </p:txBody>
      </p:sp>
      <p:sp>
        <p:nvSpPr>
          <p:cNvPr id="44" name="Text 32"/>
          <p:cNvSpPr txBox="1"/>
          <p:nvPr/>
        </p:nvSpPr>
        <p:spPr>
          <a:xfrm>
            <a:off x="714375" y="5126980"/>
            <a:ext cx="5133975" cy="1413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13302B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Certified views enforce THB norm, standard dates, sensitive-field exclusion, last_updated freshness.</a:t>
            </a:r>
            <a:endParaRPr lang="en-US" sz="825" dirty="0"/>
          </a:p>
        </p:txBody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91225" y="3693468"/>
            <a:ext cx="5838825" cy="2954982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6343650" y="4074468"/>
            <a:ext cx="513397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150"/>
              </a:spcAft>
              <a:buNone/>
            </a:pPr>
            <a:r>
              <a:rPr lang="en-US" sz="750" b="1" spc="113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INFRA, CACHE &amp; OBSERVABILITY</a:t>
            </a:r>
            <a:endParaRPr lang="en-US" sz="750" dirty="0"/>
          </a:p>
        </p:txBody>
      </p:sp>
      <p:sp>
        <p:nvSpPr>
          <p:cNvPr id="47" name="Shape 34"/>
          <p:cNvSpPr/>
          <p:nvPr/>
        </p:nvSpPr>
        <p:spPr>
          <a:xfrm>
            <a:off x="6343650" y="4381500"/>
            <a:ext cx="66675" cy="66675"/>
          </a:xfrm>
          <a:prstGeom prst="roundRect">
            <a:avLst>
              <a:gd name="adj" fmla="val 14271429"/>
            </a:avLst>
          </a:prstGeom>
          <a:solidFill>
            <a:srgbClr val="0F918B"/>
          </a:solidFill>
          <a:ln/>
        </p:spPr>
      </p:sp>
      <p:sp>
        <p:nvSpPr>
          <p:cNvPr id="48" name="Text 35"/>
          <p:cNvSpPr txBox="1"/>
          <p:nvPr/>
        </p:nvSpPr>
        <p:spPr>
          <a:xfrm>
            <a:off x="6505575" y="4322118"/>
            <a:ext cx="4972050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Cache:</a:t>
            </a:r>
            <a:pPr indent="0" marL="0">
              <a:buNone/>
            </a:pPr>
            <a:r>
              <a:rPr lang="en-US" sz="938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Redis — metadata 1h, results 5-15m, LLM 30m, key = question + scope + version + freshness</a:t>
            </a:r>
            <a:endParaRPr lang="en-US" sz="938" dirty="0"/>
          </a:p>
        </p:txBody>
      </p:sp>
      <p:sp>
        <p:nvSpPr>
          <p:cNvPr id="49" name="Shape 36"/>
          <p:cNvSpPr/>
          <p:nvPr/>
        </p:nvSpPr>
        <p:spPr>
          <a:xfrm>
            <a:off x="6343650" y="4810125"/>
            <a:ext cx="66675" cy="66675"/>
          </a:xfrm>
          <a:prstGeom prst="roundRect">
            <a:avLst>
              <a:gd name="adj" fmla="val 14271429"/>
            </a:avLst>
          </a:prstGeom>
          <a:solidFill>
            <a:srgbClr val="0F918B"/>
          </a:solidFill>
          <a:ln/>
        </p:spPr>
      </p:sp>
      <p:sp>
        <p:nvSpPr>
          <p:cNvPr id="50" name="Text 37"/>
          <p:cNvSpPr txBox="1"/>
          <p:nvPr/>
        </p:nvSpPr>
        <p:spPr>
          <a:xfrm>
            <a:off x="6505575" y="4750743"/>
            <a:ext cx="4775002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Observability:</a:t>
            </a:r>
            <a:pPr indent="0" marL="0">
              <a:buNone/>
            </a:pPr>
            <a:r>
              <a:rPr lang="en-US" sz="938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OpenTelemetry + logs + MLflow / eval store — trace, tokens, cost, policy</a:t>
            </a:r>
            <a:endParaRPr lang="en-US" sz="938" dirty="0"/>
          </a:p>
        </p:txBody>
      </p:sp>
      <p:sp>
        <p:nvSpPr>
          <p:cNvPr id="51" name="Shape 38"/>
          <p:cNvSpPr/>
          <p:nvPr/>
        </p:nvSpPr>
        <p:spPr>
          <a:xfrm>
            <a:off x="6343650" y="5067300"/>
            <a:ext cx="66675" cy="66675"/>
          </a:xfrm>
          <a:prstGeom prst="roundRect">
            <a:avLst>
              <a:gd name="adj" fmla="val 14271429"/>
            </a:avLst>
          </a:prstGeom>
          <a:solidFill>
            <a:srgbClr val="0F918B"/>
          </a:solidFill>
          <a:ln/>
        </p:spPr>
      </p:sp>
      <p:sp>
        <p:nvSpPr>
          <p:cNvPr id="52" name="Text 39"/>
          <p:cNvSpPr txBox="1"/>
          <p:nvPr/>
        </p:nvSpPr>
        <p:spPr>
          <a:xfrm>
            <a:off x="6505575" y="5012680"/>
            <a:ext cx="4053483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Deploy:</a:t>
            </a:r>
            <a:pPr indent="0" marL="0">
              <a:buNone/>
            </a:pPr>
            <a:r>
              <a:rPr lang="en-US" sz="938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Docker + Kubernetes, secrets in Key Vault / cloud secret manager</a:t>
            </a:r>
            <a:endParaRPr lang="en-US" sz="938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19100"/>
            <a:ext cx="11125200" cy="3810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spc="-60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 would NOT do - production killers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800100"/>
            <a:ext cx="11125200" cy="1732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2302B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anti-pattern is a security, cost, or trust failure. Avoiding them is what makes Text-to-SQL safe enough for enterprise retail data.</a:t>
            </a:r>
            <a:endParaRPr lang="en-US" sz="97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897136"/>
            <a:ext cx="3987701" cy="25268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2925" y="1154311"/>
            <a:ext cx="3587648" cy="381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1019175" y="1368623"/>
            <a:ext cx="2920901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20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SECURITY KILLERS</a:t>
            </a:r>
            <a:endParaRPr lang="en-US" sz="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325761"/>
            <a:ext cx="209550" cy="2095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23900" y="1314450"/>
            <a:ext cx="209550" cy="209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 txBox="1"/>
          <p:nvPr/>
        </p:nvSpPr>
        <p:spPr>
          <a:xfrm>
            <a:off x="723900" y="1638300"/>
            <a:ext cx="3209925" cy="3333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Frontend calling LLM directly</a:t>
            </a:r>
            <a:endParaRPr lang="en-US" sz="960" dirty="0"/>
          </a:p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12302B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Leaks API keys, bypasses auth, no audit</a:t>
            </a:r>
            <a:endParaRPr lang="en-US" sz="960" dirty="0"/>
          </a:p>
        </p:txBody>
      </p:sp>
      <p:sp>
        <p:nvSpPr>
          <p:cNvPr id="10" name="Shape 6"/>
          <p:cNvSpPr/>
          <p:nvPr/>
        </p:nvSpPr>
        <p:spPr>
          <a:xfrm>
            <a:off x="723900" y="1647825"/>
            <a:ext cx="190500" cy="190500"/>
          </a:xfrm>
          <a:prstGeom prst="roundRect">
            <a:avLst>
              <a:gd name="adj" fmla="val 4995000"/>
            </a:avLst>
          </a:prstGeom>
          <a:solidFill>
            <a:srgbClr val="F9E6E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09" y="1706761"/>
            <a:ext cx="59531" cy="9525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23900" y="2066925"/>
            <a:ext cx="3209925" cy="3333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holding DB credentials</a:t>
            </a:r>
            <a:endParaRPr lang="en-US" sz="960" dirty="0"/>
          </a:p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12302B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never connects to production warehouse</a:t>
            </a:r>
            <a:endParaRPr lang="en-US" sz="960" dirty="0"/>
          </a:p>
        </p:txBody>
      </p:sp>
      <p:sp>
        <p:nvSpPr>
          <p:cNvPr id="13" name="Shape 8"/>
          <p:cNvSpPr/>
          <p:nvPr/>
        </p:nvSpPr>
        <p:spPr>
          <a:xfrm>
            <a:off x="723900" y="2076450"/>
            <a:ext cx="190500" cy="190500"/>
          </a:xfrm>
          <a:prstGeom prst="roundRect">
            <a:avLst>
              <a:gd name="adj" fmla="val 4995000"/>
            </a:avLst>
          </a:prstGeom>
          <a:solidFill>
            <a:srgbClr val="F9E6E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909" y="2138214"/>
            <a:ext cx="59531" cy="9525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23900" y="2505075"/>
            <a:ext cx="3209925" cy="3333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unrestricted SA for every user</a:t>
            </a:r>
            <a:endParaRPr lang="en-US" sz="960" dirty="0"/>
          </a:p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12302B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Over-privileged, audit fails, cache leaks</a:t>
            </a:r>
            <a:endParaRPr lang="en-US" sz="960" dirty="0"/>
          </a:p>
        </p:txBody>
      </p:sp>
      <p:sp>
        <p:nvSpPr>
          <p:cNvPr id="16" name="Shape 10"/>
          <p:cNvSpPr/>
          <p:nvPr/>
        </p:nvSpPr>
        <p:spPr>
          <a:xfrm>
            <a:off x="723900" y="2514600"/>
            <a:ext cx="190500" cy="190500"/>
          </a:xfrm>
          <a:prstGeom prst="roundRect">
            <a:avLst>
              <a:gd name="adj" fmla="val 4995000"/>
            </a:avLst>
          </a:prstGeom>
          <a:solidFill>
            <a:srgbClr val="F9E6E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909" y="2569666"/>
            <a:ext cx="59531" cy="95250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2001" y="897136"/>
            <a:ext cx="3987850" cy="2526804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4302026" y="1154311"/>
            <a:ext cx="3587801" cy="381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20" name="Text 12"/>
          <p:cNvSpPr txBox="1"/>
          <p:nvPr/>
        </p:nvSpPr>
        <p:spPr>
          <a:xfrm>
            <a:off x="4778276" y="1368623"/>
            <a:ext cx="2921050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20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DATA &amp; COST KILLERS</a:t>
            </a:r>
            <a:endParaRPr lang="en-US" sz="7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2526" y="1325761"/>
            <a:ext cx="209550" cy="20955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4486275" y="1638300"/>
            <a:ext cx="3209925" cy="3333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querying raw prod tables</a:t>
            </a:r>
            <a:endParaRPr lang="en-US" sz="960" dirty="0"/>
          </a:p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12302B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1000s cols, sensitive fields, hallucinated joins</a:t>
            </a:r>
            <a:endParaRPr lang="en-US" sz="960" dirty="0"/>
          </a:p>
        </p:txBody>
      </p:sp>
      <p:sp>
        <p:nvSpPr>
          <p:cNvPr id="23" name="Shape 14"/>
          <p:cNvSpPr/>
          <p:nvPr/>
        </p:nvSpPr>
        <p:spPr>
          <a:xfrm>
            <a:off x="4486275" y="1647825"/>
            <a:ext cx="190500" cy="190500"/>
          </a:xfrm>
          <a:prstGeom prst="roundRect">
            <a:avLst>
              <a:gd name="adj" fmla="val 4995000"/>
            </a:avLst>
          </a:prstGeom>
          <a:solidFill>
            <a:srgbClr val="DBEEEE"/>
          </a:solidFill>
          <a:ln/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8010" y="1706761"/>
            <a:ext cx="59531" cy="9525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4486275" y="2066925"/>
            <a:ext cx="3209925" cy="3333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Sending entire catalog each prompt</a:t>
            </a:r>
            <a:endParaRPr lang="en-US" sz="960" dirty="0"/>
          </a:p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12302B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Token bloat, cost, slower, less accurate</a:t>
            </a:r>
            <a:endParaRPr lang="en-US" sz="960" dirty="0"/>
          </a:p>
        </p:txBody>
      </p:sp>
      <p:sp>
        <p:nvSpPr>
          <p:cNvPr id="26" name="Shape 16"/>
          <p:cNvSpPr/>
          <p:nvPr/>
        </p:nvSpPr>
        <p:spPr>
          <a:xfrm>
            <a:off x="4486275" y="2076450"/>
            <a:ext cx="190500" cy="190500"/>
          </a:xfrm>
          <a:prstGeom prst="roundRect">
            <a:avLst>
              <a:gd name="adj" fmla="val 4995000"/>
            </a:avLst>
          </a:prstGeom>
          <a:solidFill>
            <a:srgbClr val="DBEEEE"/>
          </a:solidFill>
          <a:ln/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8010" y="2138214"/>
            <a:ext cx="59531" cy="9525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4486275" y="2505075"/>
            <a:ext cx="3209925" cy="485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Allowing write SQL</a:t>
            </a:r>
            <a:endParaRPr lang="en-US" sz="960" dirty="0"/>
          </a:p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12302B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INSERT/UPDATE/DELETE/DROP — must be SELECT-only</a:t>
            </a:r>
            <a:endParaRPr lang="en-US" sz="960" dirty="0"/>
          </a:p>
        </p:txBody>
      </p:sp>
      <p:sp>
        <p:nvSpPr>
          <p:cNvPr id="29" name="Shape 18"/>
          <p:cNvSpPr/>
          <p:nvPr/>
        </p:nvSpPr>
        <p:spPr>
          <a:xfrm>
            <a:off x="4486275" y="2514600"/>
            <a:ext cx="190500" cy="190500"/>
          </a:xfrm>
          <a:prstGeom prst="roundRect">
            <a:avLst>
              <a:gd name="adj" fmla="val 4995000"/>
            </a:avLst>
          </a:prstGeom>
          <a:solidFill>
            <a:srgbClr val="DBEEEE"/>
          </a:solidFill>
          <a:ln/>
        </p:spPr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8010" y="2569666"/>
            <a:ext cx="59531" cy="95250"/>
          </a:xfrm>
          <a:prstGeom prst="rect">
            <a:avLst/>
          </a:prstGeom>
        </p:spPr>
      </p:pic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1250" y="897136"/>
            <a:ext cx="3987701" cy="2526804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8061275" y="1154311"/>
            <a:ext cx="3587648" cy="381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33" name="Text 20"/>
          <p:cNvSpPr txBox="1"/>
          <p:nvPr/>
        </p:nvSpPr>
        <p:spPr>
          <a:xfrm>
            <a:off x="8537525" y="1368623"/>
            <a:ext cx="2920901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20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TRUST &amp; COMPLIANCE KILLERS</a:t>
            </a:r>
            <a:endParaRPr lang="en-US" sz="750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51775" y="1325761"/>
            <a:ext cx="209550" cy="209550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8239125" y="1638300"/>
            <a:ext cx="3209925" cy="3333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Executing arbitrary SQL</a:t>
            </a:r>
            <a:endParaRPr lang="en-US" sz="960" dirty="0"/>
          </a:p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12302B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parser/allowlist/cost check → injection, scan bomb</a:t>
            </a:r>
            <a:endParaRPr lang="en-US" sz="960" dirty="0"/>
          </a:p>
        </p:txBody>
      </p:sp>
      <p:sp>
        <p:nvSpPr>
          <p:cNvPr id="36" name="Shape 22"/>
          <p:cNvSpPr/>
          <p:nvPr/>
        </p:nvSpPr>
        <p:spPr>
          <a:xfrm>
            <a:off x="8239125" y="1647825"/>
            <a:ext cx="190500" cy="190500"/>
          </a:xfrm>
          <a:prstGeom prst="roundRect">
            <a:avLst>
              <a:gd name="adj" fmla="val 4995000"/>
            </a:avLst>
          </a:prstGeom>
          <a:solidFill>
            <a:srgbClr val="DCE0DF"/>
          </a:solidFill>
          <a:ln/>
        </p:spPr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17260" y="1706761"/>
            <a:ext cx="59531" cy="95250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8239125" y="2066925"/>
            <a:ext cx="3209925" cy="3333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Trusting fluent answer without evidence</a:t>
            </a:r>
            <a:endParaRPr lang="en-US" sz="960" dirty="0"/>
          </a:p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12302B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Show chart/table/SQL/freshness/assumptions</a:t>
            </a:r>
            <a:endParaRPr lang="en-US" sz="960" dirty="0"/>
          </a:p>
        </p:txBody>
      </p:sp>
      <p:sp>
        <p:nvSpPr>
          <p:cNvPr id="39" name="Shape 24"/>
          <p:cNvSpPr/>
          <p:nvPr/>
        </p:nvSpPr>
        <p:spPr>
          <a:xfrm>
            <a:off x="8239125" y="2076450"/>
            <a:ext cx="190500" cy="190500"/>
          </a:xfrm>
          <a:prstGeom prst="roundRect">
            <a:avLst>
              <a:gd name="adj" fmla="val 4995000"/>
            </a:avLst>
          </a:prstGeom>
          <a:solidFill>
            <a:srgbClr val="DCE0DF"/>
          </a:solidFill>
          <a:ln/>
        </p:spPr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17260" y="2138214"/>
            <a:ext cx="59531" cy="95250"/>
          </a:xfrm>
          <a:prstGeom prst="rect">
            <a:avLst/>
          </a:prstGeom>
        </p:spPr>
      </p:pic>
      <p:sp>
        <p:nvSpPr>
          <p:cNvPr id="41" name="Text 25"/>
          <p:cNvSpPr txBox="1"/>
          <p:nvPr/>
        </p:nvSpPr>
        <p:spPr>
          <a:xfrm>
            <a:off x="8239125" y="2505075"/>
            <a:ext cx="3209925" cy="3333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Logging PII / caching across scopes</a:t>
            </a:r>
            <a:endParaRPr lang="en-US" sz="960" dirty="0"/>
          </a:p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12302B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≠ question only, redact logs</a:t>
            </a:r>
            <a:endParaRPr lang="en-US" sz="960" dirty="0"/>
          </a:p>
        </p:txBody>
      </p:sp>
      <p:sp>
        <p:nvSpPr>
          <p:cNvPr id="42" name="Shape 26"/>
          <p:cNvSpPr/>
          <p:nvPr/>
        </p:nvSpPr>
        <p:spPr>
          <a:xfrm>
            <a:off x="8239125" y="2514600"/>
            <a:ext cx="190500" cy="190500"/>
          </a:xfrm>
          <a:prstGeom prst="roundRect">
            <a:avLst>
              <a:gd name="adj" fmla="val 4995000"/>
            </a:avLst>
          </a:prstGeom>
          <a:solidFill>
            <a:srgbClr val="DCE0DF"/>
          </a:solidFill>
          <a:ln/>
        </p:spPr>
      </p:sp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17260" y="2569666"/>
            <a:ext cx="59531" cy="95250"/>
          </a:xfrm>
          <a:prstGeom prst="rect">
            <a:avLst/>
          </a:prstGeom>
        </p:spPr>
      </p:pic>
      <p:pic>
        <p:nvPicPr>
          <p:cNvPr id="4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400" y="5873651"/>
            <a:ext cx="6595021" cy="565249"/>
          </a:xfrm>
          <a:prstGeom prst="rect">
            <a:avLst/>
          </a:prstGeom>
        </p:spPr>
      </p:pic>
      <p:sp>
        <p:nvSpPr>
          <p:cNvPr id="45" name="Text 27"/>
          <p:cNvSpPr txBox="1"/>
          <p:nvPr/>
        </p:nvSpPr>
        <p:spPr>
          <a:xfrm>
            <a:off x="685800" y="5987951"/>
            <a:ext cx="6290221" cy="33664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63" b="1" dirty="0">
                <a:solidFill>
                  <a:srgbClr val="5FD6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Easy memory: </a:t>
            </a:r>
            <a:pPr indent="0" marL="0">
              <a:buNone/>
            </a:pPr>
            <a:r>
              <a:rPr lang="en-US" sz="863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User → API Gateway → Backend → Semantic Context → LLM Gateway → LLM proposes SQL → Validator approves → DB executes → LLM explains evidence. LLM reasons, deterministic services authorize/validate/execute.</a:t>
            </a:r>
            <a:endParaRPr lang="en-US" sz="863" dirty="0"/>
          </a:p>
        </p:txBody>
      </p:sp>
      <p:pic>
        <p:nvPicPr>
          <p:cNvPr id="4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61771" y="5873651"/>
            <a:ext cx="4396829" cy="565249"/>
          </a:xfrm>
          <a:prstGeom prst="rect">
            <a:avLst/>
          </a:prstGeom>
        </p:spPr>
      </p:pic>
      <p:sp>
        <p:nvSpPr>
          <p:cNvPr id="47" name="Text 28"/>
          <p:cNvSpPr txBox="1"/>
          <p:nvPr/>
        </p:nvSpPr>
        <p:spPr>
          <a:xfrm>
            <a:off x="7423696" y="5997476"/>
            <a:ext cx="4072979" cy="31759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63" b="1" dirty="0">
                <a:solidFill>
                  <a:srgbClr val="D55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you do one thing right: </a:t>
            </a:r>
            <a:pPr indent="0" marL="0">
              <a:buNone/>
            </a:pPr>
            <a:r>
              <a:rPr lang="en-US" sz="863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Enforce 3-level validation (parser → read-only role → Unity Catalog) + User OAuth + structured JSON. Never let frontend be trusted.</a:t>
            </a:r>
            <a:endParaRPr lang="en-US" sz="863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16597" y="428625"/>
            <a:ext cx="6158657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spc="144" kern="0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CLOSING — PRODUCTION READY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3016597" y="590550"/>
            <a:ext cx="6158657" cy="37995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92"/>
              </a:lnSpc>
              <a:buNone/>
            </a:pPr>
            <a:r>
              <a:rPr lang="en-US" sz="2850" b="1" spc="-57" kern="0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principles for retail Text-to-SQL</a:t>
            </a:r>
            <a:endParaRPr lang="en-US" sz="2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50" y="1909316"/>
            <a:ext cx="5419725" cy="124837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2280791"/>
            <a:ext cx="266700" cy="2667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45989" y="2337941"/>
            <a:ext cx="154186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514475" y="2280791"/>
            <a:ext cx="4333875" cy="1607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reasons &amp; proposes, backend authorizes</a:t>
            </a:r>
            <a:endParaRPr lang="en-US" sz="1013" dirty="0"/>
          </a:p>
        </p:txBody>
      </p:sp>
      <p:sp>
        <p:nvSpPr>
          <p:cNvPr id="8" name="Text 4"/>
          <p:cNvSpPr txBox="1"/>
          <p:nvPr/>
        </p:nvSpPr>
        <p:spPr>
          <a:xfrm>
            <a:off x="1514475" y="2479625"/>
            <a:ext cx="4333875" cy="3065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13302B">
                    <a:alpha val="7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Read-only assistant, human-in-the-loop for high-stakes. Deterministic services validate &amp; execute — LLM never has DB creds.</a:t>
            </a:r>
            <a:endParaRPr lang="en-US" sz="863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225" y="1909316"/>
            <a:ext cx="5419725" cy="124837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280791"/>
            <a:ext cx="266700" cy="26670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443960" y="2337941"/>
            <a:ext cx="166390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6"/>
          <p:cNvSpPr txBox="1"/>
          <p:nvPr/>
        </p:nvSpPr>
        <p:spPr>
          <a:xfrm>
            <a:off x="6724650" y="2280791"/>
            <a:ext cx="4333875" cy="1607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Semantic layer is exclusive interface</a:t>
            </a:r>
            <a:endParaRPr lang="en-US" sz="1013" dirty="0"/>
          </a:p>
        </p:txBody>
      </p:sp>
      <p:sp>
        <p:nvSpPr>
          <p:cNvPr id="13" name="Text 7"/>
          <p:cNvSpPr txBox="1"/>
          <p:nvPr/>
        </p:nvSpPr>
        <p:spPr>
          <a:xfrm>
            <a:off x="6724650" y="2479625"/>
            <a:ext cx="4333875" cy="3065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13302B">
                    <a:alpha val="7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Certified genie_semantic views only — business-friendly, THB normalized, versioned, sensitive fields excluded.</a:t>
            </a:r>
            <a:endParaRPr lang="en-US" sz="863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2871936"/>
            <a:ext cx="5419725" cy="1248370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475" y="3243411"/>
            <a:ext cx="266700" cy="26670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232297" y="3300561"/>
            <a:ext cx="167878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9"/>
          <p:cNvSpPr txBox="1"/>
          <p:nvPr/>
        </p:nvSpPr>
        <p:spPr>
          <a:xfrm>
            <a:off x="1514475" y="3243411"/>
            <a:ext cx="4333875" cy="1607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Retrieval, not full catalog dump</a:t>
            </a:r>
            <a:endParaRPr lang="en-US" sz="1013" dirty="0"/>
          </a:p>
        </p:txBody>
      </p:sp>
      <p:sp>
        <p:nvSpPr>
          <p:cNvPr id="18" name="Text 10"/>
          <p:cNvSpPr txBox="1"/>
          <p:nvPr/>
        </p:nvSpPr>
        <p:spPr>
          <a:xfrm>
            <a:off x="1514475" y="3442246"/>
            <a:ext cx="4333875" cy="3065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13302B">
                    <a:alpha val="7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Vector search over schemas + metrics + approved SQL. Send only relevant context — cheaper, safer, accurate.</a:t>
            </a:r>
            <a:endParaRPr lang="en-US" sz="863" dirty="0"/>
          </a:p>
        </p:txBody>
      </p:sp>
      <p:sp>
        <p:nvSpPr>
          <p:cNvPr id="19" name="Shape 11"/>
          <p:cNvSpPr/>
          <p:nvPr/>
        </p:nvSpPr>
        <p:spPr>
          <a:xfrm>
            <a:off x="6162675" y="3086100"/>
            <a:ext cx="5076825" cy="828675"/>
          </a:xfrm>
          <a:prstGeom prst="roundRect">
            <a:avLst>
              <a:gd name="adj" fmla="val 20690"/>
            </a:avLst>
          </a:prstGeom>
          <a:solidFill>
            <a:srgbClr val="13302B"/>
          </a:solidFill>
          <a:ln/>
          <a:effectLst>
            <a:outerShdw sx="100000" sy="100000" kx="0" ky="0" algn="bl" rotWithShape="0" blurRad="171450" dist="38100" dir="5400000">
              <a:srgbClr val="0F918B">
                <a:alpha val="6000"/>
              </a:srgbClr>
            </a:outerShdw>
          </a:effectLst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125" y="3233886"/>
            <a:ext cx="266700" cy="2667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6430268" y="3291036"/>
            <a:ext cx="170557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E262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13"/>
          <p:cNvSpPr txBox="1"/>
          <p:nvPr/>
        </p:nvSpPr>
        <p:spPr>
          <a:xfrm>
            <a:off x="6715125" y="3233886"/>
            <a:ext cx="4352925" cy="1607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E4F5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Structured output + 3-level validation</a:t>
            </a:r>
            <a:endParaRPr lang="en-US" sz="1013" dirty="0"/>
          </a:p>
        </p:txBody>
      </p:sp>
      <p:sp>
        <p:nvSpPr>
          <p:cNvPr id="23" name="Text 14"/>
          <p:cNvSpPr txBox="1"/>
          <p:nvPr/>
        </p:nvSpPr>
        <p:spPr>
          <a:xfrm>
            <a:off x="6715125" y="3432721"/>
            <a:ext cx="4352925" cy="3065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E4F5F4">
                    <a:alpha val="7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JSON contract → Parser/allowlist → Read-only warehouse → Unity Catalog row/col. SELECT-only, LIMIT, cost, timeout.</a:t>
            </a:r>
            <a:endParaRPr lang="en-US" sz="863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3834557"/>
            <a:ext cx="5419725" cy="1248370"/>
          </a:xfrm>
          <a:prstGeom prst="rect">
            <a:avLst/>
          </a:prstGeom>
        </p:spPr>
      </p:pic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3475" y="4206032"/>
            <a:ext cx="266700" cy="26670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1231255" y="4263182"/>
            <a:ext cx="168920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16"/>
          <p:cNvSpPr txBox="1"/>
          <p:nvPr/>
        </p:nvSpPr>
        <p:spPr>
          <a:xfrm>
            <a:off x="1514475" y="4206032"/>
            <a:ext cx="4333875" cy="1607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Versioning &amp; auditability by design</a:t>
            </a:r>
            <a:endParaRPr lang="en-US" sz="1013" dirty="0"/>
          </a:p>
        </p:txBody>
      </p:sp>
      <p:sp>
        <p:nvSpPr>
          <p:cNvPr id="28" name="Text 17"/>
          <p:cNvSpPr txBox="1"/>
          <p:nvPr/>
        </p:nvSpPr>
        <p:spPr>
          <a:xfrm>
            <a:off x="1514475" y="4404866"/>
            <a:ext cx="4333875" cy="3065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13302B">
                    <a:alpha val="7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model_version + feature_version + dataset_version + policy_version + trace_id + user_scope. Replayable, no PII in logs.</a:t>
            </a:r>
            <a:endParaRPr lang="en-US" sz="863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91225" y="3834557"/>
            <a:ext cx="5419725" cy="1248370"/>
          </a:xfrm>
          <a:prstGeom prst="rect">
            <a:avLst/>
          </a:prstGeom>
        </p:spPr>
      </p:pic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3650" y="4206032"/>
            <a:ext cx="266700" cy="266700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6440686" y="4263182"/>
            <a:ext cx="169664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900" dirty="0"/>
          </a:p>
        </p:txBody>
      </p:sp>
      <p:sp>
        <p:nvSpPr>
          <p:cNvPr id="32" name="Text 19"/>
          <p:cNvSpPr txBox="1"/>
          <p:nvPr/>
        </p:nvSpPr>
        <p:spPr>
          <a:xfrm>
            <a:off x="6724650" y="4206032"/>
            <a:ext cx="4333875" cy="1607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1330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Success = adoption + evidence + trust</a:t>
            </a:r>
            <a:endParaRPr lang="en-US" sz="1013" dirty="0"/>
          </a:p>
        </p:txBody>
      </p:sp>
      <p:sp>
        <p:nvSpPr>
          <p:cNvPr id="33" name="Text 20"/>
          <p:cNvSpPr txBox="1"/>
          <p:nvPr/>
        </p:nvSpPr>
        <p:spPr>
          <a:xfrm>
            <a:off x="6724650" y="4404866"/>
            <a:ext cx="4333875" cy="3065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13302B">
                    <a:alpha val="7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 4 layers: data quality, model quality, decision quality, business outcomes + cost. Answer with evidence, freshness, assumptions.</a:t>
            </a:r>
            <a:endParaRPr lang="en-US" sz="863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09750" y="6021884"/>
            <a:ext cx="8572500" cy="417016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1809750" y="6145709"/>
            <a:ext cx="8572500" cy="2931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91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Easy memory:</a:t>
            </a:r>
            <a:pPr indent="0" marL="0">
              <a:buNone/>
            </a:pPr>
            <a:r>
              <a:rPr lang="en-US" sz="825" dirty="0">
                <a:solidFill>
                  <a:srgbClr val="12302B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User → API GW → Backend → Semantic Context → LLM Gateway → LLM proposes SQL → Validator → Warehouse → LLM explains → User sees evidence. </a:t>
            </a:r>
            <a:pPr indent="0" marL="0">
              <a:buNone/>
            </a:pPr>
            <a:r>
              <a:rPr lang="en-US" sz="825" dirty="0">
                <a:solidFill>
                  <a:srgbClr val="12302B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Security = User OAuth + security-aware cache (question+scope+version) + never cache across scopes.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Text-to-SQL-for-Retail-Governed-Analytics-Assistant</dc:title>
  <dc:subject>PptxGenJS Presentation</dc:subject>
  <dc:creator>PptxGenJS</dc:creator>
  <cp:lastModifiedBy>PptxGenJS</cp:lastModifiedBy>
  <cp:revision>1</cp:revision>
  <dcterms:created xsi:type="dcterms:W3CDTF">2026-10-12T11:49:25Z</dcterms:created>
  <dcterms:modified xsi:type="dcterms:W3CDTF">2026-10-12T11:49:25Z</dcterms:modified>
</cp:coreProperties>
</file>