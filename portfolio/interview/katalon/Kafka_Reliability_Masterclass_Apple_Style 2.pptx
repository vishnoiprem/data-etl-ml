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10/4/2026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central promise: Kafka can be engineered for extremely strong durability and predictable ordering, but only when the guarantee is stated at the correct boundary. The audience should leave able to separate broker durability, producer duplicate prevention, consumer replay, and sink correctness.
[Sources]
- https://kafka.apache.org/41/configuration/producer-configs/
- Visual on this slide was generated with Microsoft Copilot.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audience through the layered structure. Emphasize that no single property creates zero-loss end to end. acks controls producer acknowledgement; ISR controls replication state; offset commits control replay; sink behavior determines whether replay is safe.
[Sources]
- https://kafka.apache.org/41/configuration/producer-configs/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offsets are monotonically increasing within one partition. A consumer observes records in partition offset order. Across partitions, records can be produced, replicated, fetched, and processed at different rates, so there is no total order.
[Sources]
- https://kafka.apache.org/documentation/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key selection concrete. The message key is not merely a distribution hint. It defines the entity for which Kafka can preserve partition order. Warn that increasing the partition count may remap keys with default hash partitioning, affecting future placement, though existing records do not move.
[Sources]
- https://kafka.apache.org/documentation/
- Visual on this slide was generated with Microsoft Copilot.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 common oversimplification: same key from multiple producers reaches the same partition, but concurrent arrival has no business-defined order unless producers coordinate. Use an entity version, source sequence, or single-writer pattern when causal order matters.
[Sources]
- https://kafka.apache.org/documentation/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protocol: each producer session receives an identity, and batches carry sequence numbers per partition. If a response is lost, the retry repeats the sequence and the broker recognizes the duplicate. This protects retry duplicates within the producer session; it is not a universal business-level deduplication mechanism.
[Sources]
- https://kafka.apache.org/41/configuration/producer-configs/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configuration as a contract. Current Kafka producer documentation describes retries as bounded by delivery.timeout.ms and documents idempotence constraints. Explain that max.in.flight up to five is compatible with idempotence; without idempotence, multiple in-flight requests plus retries can reorder batches.
[Sources]
- https://kafka.apache.org/41/configuration/producer-configs/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that replication factor is the number of replicas assigned to the partition, not the number required for every acknowledgement. Replica placement should span failure domains according to the deployment platform.
[Sources]
- https://kafka.apache.org/documentation/
- Visual on this slide was generated with Microsoft Copilot.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Distinguish the three concepts carefully. With RF=3 and min.insync.replicas=2, writes using acks=all can continue after one replica leaves ISR, but stop when only one ISR member remains. The rejected write is a safety behavior.
[Sources]
- https://kafka.apache.org/documentation/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Avoid saying acks=all means every assigned replica. It means all replicas currently required by the ISR protocol, with min.insync.replicas setting the minimum acceptable ISR size for writes. This distinction matters during degraded operation.
[Sources]
- https://kafka.apache.org/25/configuration/producer-configs/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the common claim that RF=3 and min ISR=2 allow continued operation after two broker losses. One surviving replica can preserve previously replicated data, but the partition cannot satisfy min ISR=2 for new acks=all writes. Also distinguish broker outage from replica leaving ISR; they often correlate but are not identical.
[Sources]
- https://kafka.apache.org/documentation/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a conscious CAP-style operational tradeoff. Disabling unclean election can extend unavailability, but avoids restoring service on a known-stale log. Validate the actual platform defaults and managed-service controls in the deployment environment.
[Sources]
- https://kafka.apache.org/documentation/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two crash windows. If processing succeeds but commit fails, the record is replayed, creating a duplicate effect unless the sink is idempotent. If the offset is committed before processing and the consumer crashes, the effect can be lost. Manual commit should be partition-aware in parallel processing.
[Sources]
- https://kafka.apache.org/documentation/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consumer group assigns each partition to at most one consumer at a time. During rebalance, the new owner resumes from the committed offset. Records processed but not committed may be redelivered. Cooperative rebalance strategies can reduce disruption, but do not remove the need for idempotent processing.
[Sources]
- https://kafka.apache.org/documentation/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separate three claims: no acknowledged record loss in Kafka, at-least-once processing through replay, and exactly-once business effects. A database upsert keyed by event ID can make replay harmless. A Kafka transaction can atomically publish output records and consumed offsets for Kafka-to-Kafka pipelines. External systems need compatible transactions, idempotency, or an outbox/inbox pattern.
[Sources]
- https://kafka.apache.org/documentation/
- Visual on this slide was generated with Microsoft Copilot.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this as a review checklist. Internal topics such as consumer offsets and transaction state also require appropriate replication settings. The environment must have enough brokers for the requested replication factors. Operational controls, alerting, capacity, disk health, and safe change management are part of the guarantee.
[Sources]
- https://kafka.apache.org/documentation/
- https://kafka.apache.org/41/configuration/producer-configs/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after each question and ask the audience to answer before revealing the second line. Encourage the answer pattern: state the exact scope, name the failure window, then give the design control.
[Sources]
- https://kafka.apache.org/documentation/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learners to explain each sentence in their own words. The highest-value distinction is between durable storage of a Kafka record and exactly-once application of its business effect.
[Sources]
- https://kafka.apache.org/documentation/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5F5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071E3"/>
          </a:solidFill>
          <a:ln w="12700">
            <a:solidFill>
              <a:srgbClr val="0071E3"/>
            </a:solidFill>
            <a:prstDash val="solid"/>
          </a:ln>
        </p:spPr>
      </p:sp>
      <p:sp>
        <p:nvSpPr>
          <p:cNvPr id="3" name="Text 1"/>
          <p:cNvSpPr/>
          <p:nvPr/>
        </p:nvSpPr>
        <p:spPr>
          <a:xfrm>
            <a:off x="502920" y="164592"/>
            <a:ext cx="5303520" cy="228600"/>
          </a:xfrm>
          <a:prstGeom prst="rect">
            <a:avLst/>
          </a:prstGeom>
          <a:noFill/>
          <a:ln/>
        </p:spPr>
        <p:txBody>
          <a:bodyPr wrap="square" lIns="0" tIns="0" rIns="0" bIns="0" rtlCol="0" anchor="ctr"/>
          <a:lstStyle/>
          <a:p>
            <a:pPr marL="0" indent="0">
              <a:buNone/>
            </a:pPr>
            <a:r>
              <a:rPr lang="en-US" sz="800" b="1" kern="0" spc="150" dirty="0">
                <a:solidFill>
                  <a:srgbClr val="6E6E73"/>
                </a:solidFill>
                <a:latin typeface="Aptos" pitchFamily="34" charset="0"/>
                <a:ea typeface="Aptos" pitchFamily="34" charset="-122"/>
                <a:cs typeface="Aptos" pitchFamily="34" charset="-120"/>
              </a:rPr>
              <a:t>KAFKA RELIABILITY MASTERCLASS</a:t>
            </a:r>
            <a:endParaRPr lang="en-US" sz="800" dirty="0"/>
          </a:p>
        </p:txBody>
      </p:sp>
      <p:sp>
        <p:nvSpPr>
          <p:cNvPr id="4" name="Text 2"/>
          <p:cNvSpPr/>
          <p:nvPr/>
        </p:nvSpPr>
        <p:spPr>
          <a:xfrm>
            <a:off x="9966960" y="164592"/>
            <a:ext cx="1691640" cy="228600"/>
          </a:xfrm>
          <a:prstGeom prst="rect">
            <a:avLst/>
          </a:prstGeom>
          <a:noFill/>
          <a:ln/>
        </p:spPr>
        <p:txBody>
          <a:bodyPr wrap="square" lIns="0" tIns="0" rIns="0" bIns="0" rtlCol="0" anchor="ctr"/>
          <a:lstStyle/>
          <a:p>
            <a:pPr marL="0" indent="0" algn="r">
              <a:buNone/>
            </a:pPr>
            <a:r>
              <a:rPr lang="en-US" sz="800" dirty="0">
                <a:solidFill>
                  <a:srgbClr val="86868B"/>
                </a:solidFill>
              </a:rPr>
              <a:t>Prem Vishnoi</a:t>
            </a:r>
            <a:endParaRPr lang="en-US" sz="800" dirty="0"/>
          </a:p>
        </p:txBody>
      </p:sp>
      <p:sp>
        <p:nvSpPr>
          <p:cNvPr id="25" name="Slide Number Placeholder 0"/>
          <p:cNvSpPr>
            <a:spLocks noGrp="1"/>
          </p:cNvSpPr>
          <p:nvPr>
            <p:ph type="sldNum" sz="quarter" idx="4294967295"/>
          </p:nvPr>
        </p:nvSpPr>
        <p:spPr>
          <a:xfrm>
            <a:off x="11686032" y="6510528"/>
            <a:ext cx="228600"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86868B"/>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86032" y="6510528"/>
            <a:ext cx="228600"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86868B"/>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B0D"/>
        </a:solidFill>
        <a:effectLst/>
      </p:bgPr>
    </p:bg>
    <p:spTree>
      <p:nvGrpSpPr>
        <p:cNvPr id="1" name=""/>
        <p:cNvGrpSpPr/>
        <p:nvPr/>
      </p:nvGrpSpPr>
      <p:grpSpPr>
        <a:xfrm>
          <a:off x="0" y="0"/>
          <a:ext cx="1" cy="1"/>
          <a:chOff x="0" y="0"/>
          <a:chExt cx="1" cy="1"/>
        </a:xfrm>
      </p:grpSpPr>
      <p:pic>
        <p:nvPicPr>
          <p:cNvPr id="2" name="Image 0" descr="/mnt/data/kafka_ppt_work/generated_image_8B424B426329_01.png"/>
          <p:cNvPicPr>
            <a:picLocks noChangeAspect="1"/>
          </p:cNvPicPr>
          <p:nvPr/>
        </p:nvPicPr>
        <p:blipFill>
          <a:blip r:embed="rId3"/>
          <a:srcRect t="7811" b="7811"/>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65000"/>
            </a:srgbClr>
          </a:solidFill>
          <a:ln w="12700">
            <a:solidFill>
              <a:srgbClr val="000000">
                <a:alpha val="0"/>
              </a:srgbClr>
            </a:solidFill>
            <a:prstDash val="solid"/>
          </a:ln>
        </p:spPr>
      </p:sp>
      <p:sp>
        <p:nvSpPr>
          <p:cNvPr id="4" name="Text 1"/>
          <p:cNvSpPr/>
          <p:nvPr/>
        </p:nvSpPr>
        <p:spPr>
          <a:xfrm>
            <a:off x="685800" y="640080"/>
            <a:ext cx="3657600" cy="365760"/>
          </a:xfrm>
          <a:prstGeom prst="rect">
            <a:avLst/>
          </a:prstGeom>
          <a:noFill/>
          <a:ln/>
        </p:spPr>
        <p:txBody>
          <a:bodyPr wrap="square" lIns="0" tIns="0" rIns="0" bIns="0" rtlCol="0" anchor="ctr"/>
          <a:lstStyle/>
          <a:p>
            <a:pPr marL="0" indent="0">
              <a:buNone/>
            </a:pPr>
            <a:r>
              <a:rPr lang="en-US" sz="1300" b="1" kern="0" spc="300" dirty="0">
                <a:solidFill>
                  <a:srgbClr val="64D2FF"/>
                </a:solidFill>
              </a:rPr>
              <a:t>KAFKA</a:t>
            </a:r>
            <a:endParaRPr lang="en-US" sz="1300" dirty="0"/>
          </a:p>
        </p:txBody>
      </p:sp>
      <p:sp>
        <p:nvSpPr>
          <p:cNvPr id="5" name="Text 2"/>
          <p:cNvSpPr/>
          <p:nvPr/>
        </p:nvSpPr>
        <p:spPr>
          <a:xfrm>
            <a:off x="685800" y="1143000"/>
            <a:ext cx="6583680" cy="1554480"/>
          </a:xfrm>
          <a:prstGeom prst="rect">
            <a:avLst/>
          </a:prstGeom>
          <a:noFill/>
          <a:ln/>
        </p:spPr>
        <p:txBody>
          <a:bodyPr wrap="square" lIns="0" tIns="0" rIns="0" bIns="0" rtlCol="0" anchor="ctr"/>
          <a:lstStyle/>
          <a:p>
            <a:pPr marL="0" indent="0">
              <a:buNone/>
            </a:pPr>
            <a:r>
              <a:rPr lang="en-US" sz="3800" b="1" dirty="0">
                <a:solidFill>
                  <a:srgbClr val="FFFFFF"/>
                </a:solidFill>
              </a:rPr>
              <a:t>Ordering. Durability.</a:t>
            </a:r>
            <a:endParaRPr lang="en-US" sz="3800" dirty="0"/>
          </a:p>
          <a:p>
            <a:pPr marL="0" indent="0">
              <a:buNone/>
            </a:pPr>
            <a:r>
              <a:rPr lang="en-US" sz="3800" b="1" dirty="0">
                <a:solidFill>
                  <a:srgbClr val="FFFFFF"/>
                </a:solidFill>
              </a:rPr>
              <a:t>No loss by design.</a:t>
            </a:r>
            <a:endParaRPr lang="en-US" sz="3800" dirty="0"/>
          </a:p>
        </p:txBody>
      </p:sp>
      <p:sp>
        <p:nvSpPr>
          <p:cNvPr id="6" name="Text 3"/>
          <p:cNvSpPr/>
          <p:nvPr/>
        </p:nvSpPr>
        <p:spPr>
          <a:xfrm>
            <a:off x="731520" y="2926080"/>
            <a:ext cx="6126480" cy="640080"/>
          </a:xfrm>
          <a:prstGeom prst="rect">
            <a:avLst/>
          </a:prstGeom>
          <a:noFill/>
          <a:ln/>
        </p:spPr>
        <p:txBody>
          <a:bodyPr wrap="square" lIns="0" tIns="0" rIns="0" bIns="0" rtlCol="0" anchor="ctr"/>
          <a:lstStyle/>
          <a:p>
            <a:pPr marL="0" indent="0">
              <a:buNone/>
            </a:pPr>
            <a:r>
              <a:rPr lang="en-US" sz="1700" dirty="0">
                <a:solidFill>
                  <a:srgbClr val="E5E5EA"/>
                </a:solidFill>
              </a:rPr>
              <a:t>A deep technical masterclass from partition semantics to end-to-end correctness</a:t>
            </a:r>
            <a:endParaRPr lang="en-US" sz="1700" dirty="0"/>
          </a:p>
        </p:txBody>
      </p:sp>
      <p:sp>
        <p:nvSpPr>
          <p:cNvPr id="7" name="Text 4"/>
          <p:cNvSpPr/>
          <p:nvPr/>
        </p:nvSpPr>
        <p:spPr>
          <a:xfrm>
            <a:off x="731520" y="5989320"/>
            <a:ext cx="4114800" cy="274320"/>
          </a:xfrm>
          <a:prstGeom prst="rect">
            <a:avLst/>
          </a:prstGeom>
          <a:noFill/>
          <a:ln/>
        </p:spPr>
        <p:txBody>
          <a:bodyPr wrap="square" lIns="0" tIns="0" rIns="0" bIns="0" rtlCol="0" anchor="ctr"/>
          <a:lstStyle/>
          <a:p>
            <a:pPr marL="0" indent="0">
              <a:buNone/>
            </a:pPr>
            <a:r>
              <a:rPr lang="en-US" sz="1100" dirty="0">
                <a:solidFill>
                  <a:srgbClr val="D1D1D6"/>
                </a:solidFill>
              </a:rPr>
              <a:t>Instructor-ready  |  Prem Vishnoi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1" cy="1"/>
          <a:chOff x="0" y="0"/>
          <a:chExt cx="1" cy="1"/>
        </a:xfrm>
      </p:grpSpPr>
      <p:sp>
        <p:nvSpPr>
          <p:cNvPr id="2" name="Text 0"/>
          <p:cNvSpPr/>
          <p:nvPr/>
        </p:nvSpPr>
        <p:spPr>
          <a:xfrm>
            <a:off x="594360" y="502920"/>
            <a:ext cx="4389120" cy="228600"/>
          </a:xfrm>
          <a:prstGeom prst="rect">
            <a:avLst/>
          </a:prstGeom>
          <a:noFill/>
          <a:ln/>
        </p:spPr>
        <p:txBody>
          <a:bodyPr wrap="square" lIns="0" tIns="0" rIns="0" bIns="0" rtlCol="0" anchor="ctr"/>
          <a:lstStyle/>
          <a:p>
            <a:pPr marL="0" indent="0">
              <a:buNone/>
            </a:pPr>
            <a:r>
              <a:rPr lang="en-US" sz="1000" b="1" kern="0" spc="150" dirty="0">
                <a:solidFill>
                  <a:srgbClr val="0071E3"/>
                </a:solidFill>
              </a:rPr>
              <a:t>LEARNING PATH</a:t>
            </a:r>
            <a:endParaRPr lang="en-US" sz="1000" dirty="0"/>
          </a:p>
        </p:txBody>
      </p:sp>
      <p:sp>
        <p:nvSpPr>
          <p:cNvPr id="3" name="Text 1"/>
          <p:cNvSpPr/>
          <p:nvPr/>
        </p:nvSpPr>
        <p:spPr>
          <a:xfrm>
            <a:off x="594360" y="822960"/>
            <a:ext cx="10972800" cy="594360"/>
          </a:xfrm>
          <a:prstGeom prst="rect">
            <a:avLst/>
          </a:prstGeom>
          <a:noFill/>
          <a:ln/>
        </p:spPr>
        <p:txBody>
          <a:bodyPr wrap="square" lIns="0" tIns="0" rIns="0" bIns="0" rtlCol="0" anchor="ctr"/>
          <a:lstStyle/>
          <a:p>
            <a:pPr marL="0" indent="0">
              <a:buNone/>
            </a:pPr>
            <a:r>
              <a:rPr lang="en-US" sz="2800" b="1" dirty="0">
                <a:solidFill>
                  <a:srgbClr val="1D1D1F"/>
                </a:solidFill>
              </a:rPr>
              <a:t>Install the right mental model</a:t>
            </a:r>
            <a:endParaRPr lang="en-US" sz="2800" dirty="0"/>
          </a:p>
        </p:txBody>
      </p:sp>
      <p:sp>
        <p:nvSpPr>
          <p:cNvPr id="4" name="Text 2"/>
          <p:cNvSpPr/>
          <p:nvPr/>
        </p:nvSpPr>
        <p:spPr>
          <a:xfrm>
            <a:off x="612648" y="1444752"/>
            <a:ext cx="10789920" cy="256032"/>
          </a:xfrm>
          <a:prstGeom prst="rect">
            <a:avLst/>
          </a:prstGeom>
          <a:noFill/>
          <a:ln/>
        </p:spPr>
        <p:txBody>
          <a:bodyPr wrap="square" lIns="0" tIns="0" rIns="0" bIns="0" rtlCol="0" anchor="ctr"/>
          <a:lstStyle/>
          <a:p>
            <a:pPr marL="0" indent="0">
              <a:buNone/>
            </a:pPr>
            <a:r>
              <a:rPr lang="en-US" sz="1400" dirty="0">
                <a:solidFill>
                  <a:srgbClr val="6E6E73"/>
                </a:solidFill>
              </a:rPr>
              <a:t>Six layers, one end-to-end reliability chain.</a:t>
            </a:r>
            <a:endParaRPr lang="en-US" sz="1400" dirty="0"/>
          </a:p>
        </p:txBody>
      </p:sp>
      <p:sp>
        <p:nvSpPr>
          <p:cNvPr id="5" name="Shape 3"/>
          <p:cNvSpPr/>
          <p:nvPr/>
        </p:nvSpPr>
        <p:spPr>
          <a:xfrm>
            <a:off x="685800" y="2057400"/>
            <a:ext cx="3383280" cy="1143000"/>
          </a:xfrm>
          <a:prstGeom prst="roundRect">
            <a:avLst>
              <a:gd name="adj" fmla="val 8000"/>
            </a:avLst>
          </a:prstGeom>
          <a:solidFill>
            <a:srgbClr val="FFFFFF"/>
          </a:solidFill>
          <a:ln w="12700">
            <a:solidFill>
              <a:srgbClr val="E5E5EA"/>
            </a:solidFill>
            <a:prstDash val="solid"/>
          </a:ln>
          <a:effectLst>
            <a:outerShdw blurRad="15240" dist="12700" dir="2700000" algn="bl" rotWithShape="0">
              <a:srgbClr val="000000">
                <a:alpha val="10000"/>
              </a:srgbClr>
            </a:outerShdw>
          </a:effectLst>
        </p:spPr>
      </p:sp>
      <p:sp>
        <p:nvSpPr>
          <p:cNvPr id="6" name="Shape 4"/>
          <p:cNvSpPr/>
          <p:nvPr/>
        </p:nvSpPr>
        <p:spPr>
          <a:xfrm>
            <a:off x="914400" y="2286000"/>
            <a:ext cx="146304" cy="146304"/>
          </a:xfrm>
          <a:prstGeom prst="ellipse">
            <a:avLst/>
          </a:prstGeom>
          <a:solidFill>
            <a:srgbClr val="0071E3"/>
          </a:solidFill>
          <a:ln w="12700">
            <a:solidFill>
              <a:srgbClr val="0071E3"/>
            </a:solidFill>
            <a:prstDash val="solid"/>
          </a:ln>
        </p:spPr>
      </p:sp>
      <p:sp>
        <p:nvSpPr>
          <p:cNvPr id="7" name="Text 5"/>
          <p:cNvSpPr/>
          <p:nvPr/>
        </p:nvSpPr>
        <p:spPr>
          <a:xfrm>
            <a:off x="1161288" y="2221992"/>
            <a:ext cx="2697480" cy="310896"/>
          </a:xfrm>
          <a:prstGeom prst="rect">
            <a:avLst/>
          </a:prstGeom>
          <a:noFill/>
          <a:ln/>
        </p:spPr>
        <p:txBody>
          <a:bodyPr wrap="square" lIns="0" tIns="0" rIns="0" bIns="0" rtlCol="0" anchor="ctr"/>
          <a:lstStyle/>
          <a:p>
            <a:pPr marL="0" indent="0">
              <a:buNone/>
            </a:pPr>
            <a:r>
              <a:rPr lang="en-US" sz="1400" b="1" dirty="0">
                <a:solidFill>
                  <a:srgbClr val="1D1D1F"/>
                </a:solidFill>
              </a:rPr>
              <a:t>1  Log &amp; partition</a:t>
            </a:r>
            <a:endParaRPr lang="en-US" sz="1400" dirty="0"/>
          </a:p>
        </p:txBody>
      </p:sp>
      <p:sp>
        <p:nvSpPr>
          <p:cNvPr id="8" name="Text 6"/>
          <p:cNvSpPr/>
          <p:nvPr/>
        </p:nvSpPr>
        <p:spPr>
          <a:xfrm>
            <a:off x="914400" y="2679192"/>
            <a:ext cx="2926080" cy="365760"/>
          </a:xfrm>
          <a:prstGeom prst="rect">
            <a:avLst/>
          </a:prstGeom>
          <a:noFill/>
          <a:ln/>
        </p:spPr>
        <p:txBody>
          <a:bodyPr wrap="square" lIns="0" tIns="0" rIns="0" bIns="0" rtlCol="0" anchor="ctr">
            <a:normAutofit/>
          </a:bodyPr>
          <a:lstStyle/>
          <a:p>
            <a:pPr marL="0" indent="0">
              <a:buNone/>
            </a:pPr>
            <a:r>
              <a:rPr lang="en-US" sz="1150" dirty="0">
                <a:solidFill>
                  <a:srgbClr val="6E6E73"/>
                </a:solidFill>
              </a:rPr>
              <a:t>What is guaranteed</a:t>
            </a:r>
            <a:endParaRPr lang="en-US" sz="1150" dirty="0"/>
          </a:p>
        </p:txBody>
      </p:sp>
      <p:sp>
        <p:nvSpPr>
          <p:cNvPr id="9" name="Shape 7"/>
          <p:cNvSpPr/>
          <p:nvPr/>
        </p:nvSpPr>
        <p:spPr>
          <a:xfrm>
            <a:off x="4480560" y="2057400"/>
            <a:ext cx="3383280" cy="1143000"/>
          </a:xfrm>
          <a:prstGeom prst="roundRect">
            <a:avLst>
              <a:gd name="adj" fmla="val 8000"/>
            </a:avLst>
          </a:prstGeom>
          <a:solidFill>
            <a:srgbClr val="FFFFFF"/>
          </a:solidFill>
          <a:ln w="12700">
            <a:solidFill>
              <a:srgbClr val="E5E5EA"/>
            </a:solidFill>
            <a:prstDash val="solid"/>
          </a:ln>
          <a:effectLst>
            <a:outerShdw blurRad="15240" dist="12700" dir="2700000" algn="bl" rotWithShape="0">
              <a:srgbClr val="000000">
                <a:alpha val="10000"/>
              </a:srgbClr>
            </a:outerShdw>
          </a:effectLst>
        </p:spPr>
      </p:sp>
      <p:sp>
        <p:nvSpPr>
          <p:cNvPr id="10" name="Shape 8"/>
          <p:cNvSpPr/>
          <p:nvPr/>
        </p:nvSpPr>
        <p:spPr>
          <a:xfrm>
            <a:off x="4709160" y="2286000"/>
            <a:ext cx="146304" cy="146304"/>
          </a:xfrm>
          <a:prstGeom prst="ellipse">
            <a:avLst/>
          </a:prstGeom>
          <a:solidFill>
            <a:srgbClr val="0071E3"/>
          </a:solidFill>
          <a:ln w="12700">
            <a:solidFill>
              <a:srgbClr val="0071E3"/>
            </a:solidFill>
            <a:prstDash val="solid"/>
          </a:ln>
        </p:spPr>
      </p:sp>
      <p:sp>
        <p:nvSpPr>
          <p:cNvPr id="11" name="Text 9"/>
          <p:cNvSpPr/>
          <p:nvPr/>
        </p:nvSpPr>
        <p:spPr>
          <a:xfrm>
            <a:off x="4956048" y="2221992"/>
            <a:ext cx="2697480" cy="310896"/>
          </a:xfrm>
          <a:prstGeom prst="rect">
            <a:avLst/>
          </a:prstGeom>
          <a:noFill/>
          <a:ln/>
        </p:spPr>
        <p:txBody>
          <a:bodyPr wrap="square" lIns="0" tIns="0" rIns="0" bIns="0" rtlCol="0" anchor="ctr"/>
          <a:lstStyle/>
          <a:p>
            <a:pPr marL="0" indent="0">
              <a:buNone/>
            </a:pPr>
            <a:r>
              <a:rPr lang="en-US" sz="1400" b="1" dirty="0">
                <a:solidFill>
                  <a:srgbClr val="1D1D1F"/>
                </a:solidFill>
              </a:rPr>
              <a:t>2  Key &amp; ordering</a:t>
            </a:r>
            <a:endParaRPr lang="en-US" sz="1400" dirty="0"/>
          </a:p>
        </p:txBody>
      </p:sp>
      <p:sp>
        <p:nvSpPr>
          <p:cNvPr id="12" name="Text 10"/>
          <p:cNvSpPr/>
          <p:nvPr/>
        </p:nvSpPr>
        <p:spPr>
          <a:xfrm>
            <a:off x="4709160" y="2679192"/>
            <a:ext cx="2926080" cy="365760"/>
          </a:xfrm>
          <a:prstGeom prst="rect">
            <a:avLst/>
          </a:prstGeom>
          <a:noFill/>
          <a:ln/>
        </p:spPr>
        <p:txBody>
          <a:bodyPr wrap="square" lIns="0" tIns="0" rIns="0" bIns="0" rtlCol="0" anchor="ctr">
            <a:normAutofit/>
          </a:bodyPr>
          <a:lstStyle/>
          <a:p>
            <a:pPr marL="0" indent="0">
              <a:buNone/>
            </a:pPr>
            <a:r>
              <a:rPr lang="en-US" sz="1150" dirty="0">
                <a:solidFill>
                  <a:srgbClr val="6E6E73"/>
                </a:solidFill>
              </a:rPr>
              <a:t>What can fail</a:t>
            </a:r>
            <a:endParaRPr lang="en-US" sz="1150" dirty="0"/>
          </a:p>
        </p:txBody>
      </p:sp>
      <p:sp>
        <p:nvSpPr>
          <p:cNvPr id="13" name="Shape 11"/>
          <p:cNvSpPr/>
          <p:nvPr/>
        </p:nvSpPr>
        <p:spPr>
          <a:xfrm>
            <a:off x="8275320" y="2057400"/>
            <a:ext cx="3383280" cy="1143000"/>
          </a:xfrm>
          <a:prstGeom prst="roundRect">
            <a:avLst>
              <a:gd name="adj" fmla="val 8000"/>
            </a:avLst>
          </a:prstGeom>
          <a:solidFill>
            <a:srgbClr val="FFFFFF"/>
          </a:solidFill>
          <a:ln w="12700">
            <a:solidFill>
              <a:srgbClr val="E5E5EA"/>
            </a:solidFill>
            <a:prstDash val="solid"/>
          </a:ln>
          <a:effectLst>
            <a:outerShdw blurRad="15240" dist="12700" dir="2700000" algn="bl" rotWithShape="0">
              <a:srgbClr val="000000">
                <a:alpha val="10000"/>
              </a:srgbClr>
            </a:outerShdw>
          </a:effectLst>
        </p:spPr>
      </p:sp>
      <p:sp>
        <p:nvSpPr>
          <p:cNvPr id="14" name="Shape 12"/>
          <p:cNvSpPr/>
          <p:nvPr/>
        </p:nvSpPr>
        <p:spPr>
          <a:xfrm>
            <a:off x="8503920" y="2286000"/>
            <a:ext cx="146304" cy="146304"/>
          </a:xfrm>
          <a:prstGeom prst="ellipse">
            <a:avLst/>
          </a:prstGeom>
          <a:solidFill>
            <a:srgbClr val="0071E3"/>
          </a:solidFill>
          <a:ln w="12700">
            <a:solidFill>
              <a:srgbClr val="0071E3"/>
            </a:solidFill>
            <a:prstDash val="solid"/>
          </a:ln>
        </p:spPr>
      </p:sp>
      <p:sp>
        <p:nvSpPr>
          <p:cNvPr id="15" name="Text 13"/>
          <p:cNvSpPr/>
          <p:nvPr/>
        </p:nvSpPr>
        <p:spPr>
          <a:xfrm>
            <a:off x="8750808" y="2221992"/>
            <a:ext cx="2697480" cy="310896"/>
          </a:xfrm>
          <a:prstGeom prst="rect">
            <a:avLst/>
          </a:prstGeom>
          <a:noFill/>
          <a:ln/>
        </p:spPr>
        <p:txBody>
          <a:bodyPr wrap="square" lIns="0" tIns="0" rIns="0" bIns="0" rtlCol="0" anchor="ctr"/>
          <a:lstStyle/>
          <a:p>
            <a:pPr marL="0" indent="0">
              <a:buNone/>
            </a:pPr>
            <a:r>
              <a:rPr lang="en-US" sz="1400" b="1" dirty="0">
                <a:solidFill>
                  <a:srgbClr val="1D1D1F"/>
                </a:solidFill>
              </a:rPr>
              <a:t>3  Producer protocol</a:t>
            </a:r>
            <a:endParaRPr lang="en-US" sz="1400" dirty="0"/>
          </a:p>
        </p:txBody>
      </p:sp>
      <p:sp>
        <p:nvSpPr>
          <p:cNvPr id="16" name="Text 14"/>
          <p:cNvSpPr/>
          <p:nvPr/>
        </p:nvSpPr>
        <p:spPr>
          <a:xfrm>
            <a:off x="8503920" y="2679192"/>
            <a:ext cx="2926080" cy="365760"/>
          </a:xfrm>
          <a:prstGeom prst="rect">
            <a:avLst/>
          </a:prstGeom>
          <a:noFill/>
          <a:ln/>
        </p:spPr>
        <p:txBody>
          <a:bodyPr wrap="square" lIns="0" tIns="0" rIns="0" bIns="0" rtlCol="0" anchor="ctr">
            <a:normAutofit/>
          </a:bodyPr>
          <a:lstStyle/>
          <a:p>
            <a:pPr marL="0" indent="0">
              <a:buNone/>
            </a:pPr>
            <a:r>
              <a:rPr lang="en-US" sz="1150" dirty="0">
                <a:solidFill>
                  <a:srgbClr val="6E6E73"/>
                </a:solidFill>
              </a:rPr>
              <a:t>How to configure</a:t>
            </a:r>
            <a:endParaRPr lang="en-US" sz="1150" dirty="0"/>
          </a:p>
        </p:txBody>
      </p:sp>
      <p:sp>
        <p:nvSpPr>
          <p:cNvPr id="17" name="Shape 15"/>
          <p:cNvSpPr/>
          <p:nvPr/>
        </p:nvSpPr>
        <p:spPr>
          <a:xfrm>
            <a:off x="685800" y="3566160"/>
            <a:ext cx="3383280" cy="1143000"/>
          </a:xfrm>
          <a:prstGeom prst="roundRect">
            <a:avLst>
              <a:gd name="adj" fmla="val 8000"/>
            </a:avLst>
          </a:prstGeom>
          <a:solidFill>
            <a:srgbClr val="FFFFFF"/>
          </a:solidFill>
          <a:ln w="12700">
            <a:solidFill>
              <a:srgbClr val="E5E5EA"/>
            </a:solidFill>
            <a:prstDash val="solid"/>
          </a:ln>
          <a:effectLst>
            <a:outerShdw blurRad="15240" dist="12700" dir="2700000" algn="bl" rotWithShape="0">
              <a:srgbClr val="000000">
                <a:alpha val="10000"/>
              </a:srgbClr>
            </a:outerShdw>
          </a:effectLst>
        </p:spPr>
      </p:sp>
      <p:sp>
        <p:nvSpPr>
          <p:cNvPr id="18" name="Shape 16"/>
          <p:cNvSpPr/>
          <p:nvPr/>
        </p:nvSpPr>
        <p:spPr>
          <a:xfrm>
            <a:off x="914400" y="3794760"/>
            <a:ext cx="146304" cy="146304"/>
          </a:xfrm>
          <a:prstGeom prst="ellipse">
            <a:avLst/>
          </a:prstGeom>
          <a:solidFill>
            <a:srgbClr val="BF5AF2"/>
          </a:solidFill>
          <a:ln w="12700">
            <a:solidFill>
              <a:srgbClr val="BF5AF2"/>
            </a:solidFill>
            <a:prstDash val="solid"/>
          </a:ln>
        </p:spPr>
      </p:sp>
      <p:sp>
        <p:nvSpPr>
          <p:cNvPr id="19" name="Text 17"/>
          <p:cNvSpPr/>
          <p:nvPr/>
        </p:nvSpPr>
        <p:spPr>
          <a:xfrm>
            <a:off x="1161288" y="3730752"/>
            <a:ext cx="2697480" cy="310896"/>
          </a:xfrm>
          <a:prstGeom prst="rect">
            <a:avLst/>
          </a:prstGeom>
          <a:noFill/>
          <a:ln/>
        </p:spPr>
        <p:txBody>
          <a:bodyPr wrap="square" lIns="0" tIns="0" rIns="0" bIns="0" rtlCol="0" anchor="ctr"/>
          <a:lstStyle/>
          <a:p>
            <a:pPr marL="0" indent="0">
              <a:buNone/>
            </a:pPr>
            <a:r>
              <a:rPr lang="en-US" sz="1400" b="1" dirty="0">
                <a:solidFill>
                  <a:srgbClr val="1D1D1F"/>
                </a:solidFill>
              </a:rPr>
              <a:t>4  Replication &amp; ISR</a:t>
            </a:r>
            <a:endParaRPr lang="en-US" sz="1400" dirty="0"/>
          </a:p>
        </p:txBody>
      </p:sp>
      <p:sp>
        <p:nvSpPr>
          <p:cNvPr id="20" name="Text 18"/>
          <p:cNvSpPr/>
          <p:nvPr/>
        </p:nvSpPr>
        <p:spPr>
          <a:xfrm>
            <a:off x="914400" y="4187952"/>
            <a:ext cx="2926080" cy="365760"/>
          </a:xfrm>
          <a:prstGeom prst="rect">
            <a:avLst/>
          </a:prstGeom>
          <a:noFill/>
          <a:ln/>
        </p:spPr>
        <p:txBody>
          <a:bodyPr wrap="square" lIns="0" tIns="0" rIns="0" bIns="0" rtlCol="0" anchor="ctr">
            <a:normAutofit/>
          </a:bodyPr>
          <a:lstStyle/>
          <a:p>
            <a:pPr marL="0" indent="0">
              <a:buNone/>
            </a:pPr>
            <a:r>
              <a:rPr lang="en-US" sz="1150" dirty="0">
                <a:solidFill>
                  <a:srgbClr val="6E6E73"/>
                </a:solidFill>
              </a:rPr>
              <a:t>What is guaranteed</a:t>
            </a:r>
            <a:endParaRPr lang="en-US" sz="1150" dirty="0"/>
          </a:p>
        </p:txBody>
      </p:sp>
      <p:sp>
        <p:nvSpPr>
          <p:cNvPr id="21" name="Shape 19"/>
          <p:cNvSpPr/>
          <p:nvPr/>
        </p:nvSpPr>
        <p:spPr>
          <a:xfrm>
            <a:off x="4480560" y="3566160"/>
            <a:ext cx="3383280" cy="1143000"/>
          </a:xfrm>
          <a:prstGeom prst="roundRect">
            <a:avLst>
              <a:gd name="adj" fmla="val 8000"/>
            </a:avLst>
          </a:prstGeom>
          <a:solidFill>
            <a:srgbClr val="FFFFFF"/>
          </a:solidFill>
          <a:ln w="12700">
            <a:solidFill>
              <a:srgbClr val="E5E5EA"/>
            </a:solidFill>
            <a:prstDash val="solid"/>
          </a:ln>
          <a:effectLst>
            <a:outerShdw blurRad="15240" dist="12700" dir="2700000" algn="bl" rotWithShape="0">
              <a:srgbClr val="000000">
                <a:alpha val="10000"/>
              </a:srgbClr>
            </a:outerShdw>
          </a:effectLst>
        </p:spPr>
      </p:sp>
      <p:sp>
        <p:nvSpPr>
          <p:cNvPr id="22" name="Shape 20"/>
          <p:cNvSpPr/>
          <p:nvPr/>
        </p:nvSpPr>
        <p:spPr>
          <a:xfrm>
            <a:off x="4709160" y="3794760"/>
            <a:ext cx="146304" cy="146304"/>
          </a:xfrm>
          <a:prstGeom prst="ellipse">
            <a:avLst/>
          </a:prstGeom>
          <a:solidFill>
            <a:srgbClr val="BF5AF2"/>
          </a:solidFill>
          <a:ln w="12700">
            <a:solidFill>
              <a:srgbClr val="BF5AF2"/>
            </a:solidFill>
            <a:prstDash val="solid"/>
          </a:ln>
        </p:spPr>
      </p:sp>
      <p:sp>
        <p:nvSpPr>
          <p:cNvPr id="23" name="Text 21"/>
          <p:cNvSpPr/>
          <p:nvPr/>
        </p:nvSpPr>
        <p:spPr>
          <a:xfrm>
            <a:off x="4956048" y="3730752"/>
            <a:ext cx="2697480" cy="310896"/>
          </a:xfrm>
          <a:prstGeom prst="rect">
            <a:avLst/>
          </a:prstGeom>
          <a:noFill/>
          <a:ln/>
        </p:spPr>
        <p:txBody>
          <a:bodyPr wrap="square" lIns="0" tIns="0" rIns="0" bIns="0" rtlCol="0" anchor="ctr"/>
          <a:lstStyle/>
          <a:p>
            <a:pPr marL="0" indent="0">
              <a:buNone/>
            </a:pPr>
            <a:r>
              <a:rPr lang="en-US" sz="1400" b="1" dirty="0">
                <a:solidFill>
                  <a:srgbClr val="1D1D1F"/>
                </a:solidFill>
              </a:rPr>
              <a:t>5  Consumer offsets</a:t>
            </a:r>
            <a:endParaRPr lang="en-US" sz="1400" dirty="0"/>
          </a:p>
        </p:txBody>
      </p:sp>
      <p:sp>
        <p:nvSpPr>
          <p:cNvPr id="24" name="Text 22"/>
          <p:cNvSpPr/>
          <p:nvPr/>
        </p:nvSpPr>
        <p:spPr>
          <a:xfrm>
            <a:off x="4709160" y="4187952"/>
            <a:ext cx="2926080" cy="365760"/>
          </a:xfrm>
          <a:prstGeom prst="rect">
            <a:avLst/>
          </a:prstGeom>
          <a:noFill/>
          <a:ln/>
        </p:spPr>
        <p:txBody>
          <a:bodyPr wrap="square" lIns="0" tIns="0" rIns="0" bIns="0" rtlCol="0" anchor="ctr">
            <a:normAutofit/>
          </a:bodyPr>
          <a:lstStyle/>
          <a:p>
            <a:pPr marL="0" indent="0">
              <a:buNone/>
            </a:pPr>
            <a:r>
              <a:rPr lang="en-US" sz="1150" dirty="0">
                <a:solidFill>
                  <a:srgbClr val="6E6E73"/>
                </a:solidFill>
              </a:rPr>
              <a:t>What can fail</a:t>
            </a:r>
            <a:endParaRPr lang="en-US" sz="1150" dirty="0"/>
          </a:p>
        </p:txBody>
      </p:sp>
      <p:sp>
        <p:nvSpPr>
          <p:cNvPr id="25" name="Shape 23"/>
          <p:cNvSpPr/>
          <p:nvPr/>
        </p:nvSpPr>
        <p:spPr>
          <a:xfrm>
            <a:off x="8275320" y="3566160"/>
            <a:ext cx="3383280" cy="1143000"/>
          </a:xfrm>
          <a:prstGeom prst="roundRect">
            <a:avLst>
              <a:gd name="adj" fmla="val 8000"/>
            </a:avLst>
          </a:prstGeom>
          <a:solidFill>
            <a:srgbClr val="FFFFFF"/>
          </a:solidFill>
          <a:ln w="12700">
            <a:solidFill>
              <a:srgbClr val="E5E5EA"/>
            </a:solidFill>
            <a:prstDash val="solid"/>
          </a:ln>
          <a:effectLst>
            <a:outerShdw blurRad="15240" dist="12700" dir="2700000" algn="bl" rotWithShape="0">
              <a:srgbClr val="000000">
                <a:alpha val="10000"/>
              </a:srgbClr>
            </a:outerShdw>
          </a:effectLst>
        </p:spPr>
      </p:sp>
      <p:sp>
        <p:nvSpPr>
          <p:cNvPr id="26" name="Shape 24"/>
          <p:cNvSpPr/>
          <p:nvPr/>
        </p:nvSpPr>
        <p:spPr>
          <a:xfrm>
            <a:off x="8503920" y="3794760"/>
            <a:ext cx="146304" cy="146304"/>
          </a:xfrm>
          <a:prstGeom prst="ellipse">
            <a:avLst/>
          </a:prstGeom>
          <a:solidFill>
            <a:srgbClr val="BF5AF2"/>
          </a:solidFill>
          <a:ln w="12700">
            <a:solidFill>
              <a:srgbClr val="BF5AF2"/>
            </a:solidFill>
            <a:prstDash val="solid"/>
          </a:ln>
        </p:spPr>
      </p:sp>
      <p:sp>
        <p:nvSpPr>
          <p:cNvPr id="27" name="Text 25"/>
          <p:cNvSpPr/>
          <p:nvPr/>
        </p:nvSpPr>
        <p:spPr>
          <a:xfrm>
            <a:off x="8750808" y="3730752"/>
            <a:ext cx="2697480" cy="310896"/>
          </a:xfrm>
          <a:prstGeom prst="rect">
            <a:avLst/>
          </a:prstGeom>
          <a:noFill/>
          <a:ln/>
        </p:spPr>
        <p:txBody>
          <a:bodyPr wrap="square" lIns="0" tIns="0" rIns="0" bIns="0" rtlCol="0" anchor="ctr"/>
          <a:lstStyle/>
          <a:p>
            <a:pPr marL="0" indent="0">
              <a:buNone/>
            </a:pPr>
            <a:r>
              <a:rPr lang="en-US" sz="1400" b="1" dirty="0">
                <a:solidFill>
                  <a:srgbClr val="1D1D1F"/>
                </a:solidFill>
              </a:rPr>
              <a:t>6  Sink correctness</a:t>
            </a:r>
            <a:endParaRPr lang="en-US" sz="1400" dirty="0"/>
          </a:p>
        </p:txBody>
      </p:sp>
      <p:sp>
        <p:nvSpPr>
          <p:cNvPr id="28" name="Text 26"/>
          <p:cNvSpPr/>
          <p:nvPr/>
        </p:nvSpPr>
        <p:spPr>
          <a:xfrm>
            <a:off x="8503920" y="4187952"/>
            <a:ext cx="2926080" cy="365760"/>
          </a:xfrm>
          <a:prstGeom prst="rect">
            <a:avLst/>
          </a:prstGeom>
          <a:noFill/>
          <a:ln/>
        </p:spPr>
        <p:txBody>
          <a:bodyPr wrap="square" lIns="0" tIns="0" rIns="0" bIns="0" rtlCol="0" anchor="ctr">
            <a:normAutofit/>
          </a:bodyPr>
          <a:lstStyle/>
          <a:p>
            <a:pPr marL="0" indent="0">
              <a:buNone/>
            </a:pPr>
            <a:r>
              <a:rPr lang="en-US" sz="1150" dirty="0">
                <a:solidFill>
                  <a:srgbClr val="6E6E73"/>
                </a:solidFill>
              </a:rPr>
              <a:t>How to configure</a:t>
            </a:r>
            <a:endParaRPr lang="en-US" sz="1150" dirty="0"/>
          </a:p>
        </p:txBody>
      </p:sp>
      <p:sp>
        <p:nvSpPr>
          <p:cNvPr id="29" name="Text 27"/>
          <p:cNvSpPr/>
          <p:nvPr/>
        </p:nvSpPr>
        <p:spPr>
          <a:xfrm>
            <a:off x="594360" y="6272784"/>
            <a:ext cx="10789920" cy="228600"/>
          </a:xfrm>
          <a:prstGeom prst="rect">
            <a:avLst/>
          </a:prstGeom>
          <a:noFill/>
          <a:ln/>
        </p:spPr>
        <p:txBody>
          <a:bodyPr wrap="square" lIns="0" tIns="0" rIns="0" bIns="0" rtlCol="0" anchor="ctr"/>
          <a:lstStyle/>
          <a:p>
            <a:pPr marL="0" indent="0" algn="ctr">
              <a:buNone/>
            </a:pPr>
            <a:r>
              <a:rPr lang="en-US" sz="1000" i="1" dirty="0">
                <a:solidFill>
                  <a:srgbClr val="6E6E73"/>
                </a:solidFill>
              </a:rPr>
              <a:t>Reliability is a chain. The weakest link defines the outcome.</a:t>
            </a:r>
            <a:endParaRPr lang="en-US" sz="1000" dirty="0"/>
          </a:p>
        </p:txBody>
      </p:sp>
      <p:sp>
        <p:nvSpPr>
          <p:cNvPr id="30" name="Slide Number Placeholder 0"/>
          <p:cNvSpPr>
            <a:spLocks noGrp="1"/>
          </p:cNvSpPr>
          <p:nvPr>
            <p:ph type="sldNum" sz="quarter" idx="4294967295"/>
          </p:nvPr>
        </p:nvSpPr>
        <p:spPr>
          <a:xfrm>
            <a:off x="11686032" y="6510528"/>
            <a:ext cx="228600"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86868B"/>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1" cy="1"/>
          <a:chOff x="0" y="0"/>
          <a:chExt cx="1" cy="1"/>
        </a:xfrm>
      </p:grpSpPr>
      <p:sp>
        <p:nvSpPr>
          <p:cNvPr id="2" name="Text 0"/>
          <p:cNvSpPr/>
          <p:nvPr/>
        </p:nvSpPr>
        <p:spPr>
          <a:xfrm>
            <a:off x="594360" y="502920"/>
            <a:ext cx="4389120" cy="228600"/>
          </a:xfrm>
          <a:prstGeom prst="rect">
            <a:avLst/>
          </a:prstGeom>
          <a:noFill/>
          <a:ln/>
        </p:spPr>
        <p:txBody>
          <a:bodyPr wrap="square" lIns="0" tIns="0" rIns="0" bIns="0" rtlCol="0" anchor="ctr"/>
          <a:lstStyle/>
          <a:p>
            <a:pPr marL="0" indent="0">
              <a:buNone/>
            </a:pPr>
            <a:r>
              <a:rPr lang="en-US" sz="1000" b="1" kern="0" spc="150" dirty="0">
                <a:solidFill>
                  <a:srgbClr val="0071E3"/>
                </a:solidFill>
              </a:rPr>
              <a:t>CORE PRIMITIVE</a:t>
            </a:r>
            <a:endParaRPr lang="en-US" sz="1000" dirty="0"/>
          </a:p>
        </p:txBody>
      </p:sp>
      <p:sp>
        <p:nvSpPr>
          <p:cNvPr id="3" name="Text 1"/>
          <p:cNvSpPr/>
          <p:nvPr/>
        </p:nvSpPr>
        <p:spPr>
          <a:xfrm>
            <a:off x="594360" y="822960"/>
            <a:ext cx="10972800" cy="594360"/>
          </a:xfrm>
          <a:prstGeom prst="rect">
            <a:avLst/>
          </a:prstGeom>
          <a:noFill/>
          <a:ln/>
        </p:spPr>
        <p:txBody>
          <a:bodyPr wrap="square" lIns="0" tIns="0" rIns="0" bIns="0" rtlCol="0" anchor="ctr"/>
          <a:lstStyle/>
          <a:p>
            <a:pPr marL="0" indent="0">
              <a:buNone/>
            </a:pPr>
            <a:r>
              <a:rPr lang="en-US" sz="2800" b="1" dirty="0">
                <a:solidFill>
                  <a:srgbClr val="1D1D1F"/>
                </a:solidFill>
              </a:rPr>
              <a:t>A partition is the unit of order</a:t>
            </a:r>
            <a:endParaRPr lang="en-US" sz="2800" dirty="0"/>
          </a:p>
        </p:txBody>
      </p:sp>
      <p:sp>
        <p:nvSpPr>
          <p:cNvPr id="4" name="Text 2"/>
          <p:cNvSpPr/>
          <p:nvPr/>
        </p:nvSpPr>
        <p:spPr>
          <a:xfrm>
            <a:off x="612648" y="1444752"/>
            <a:ext cx="10789920" cy="256032"/>
          </a:xfrm>
          <a:prstGeom prst="rect">
            <a:avLst/>
          </a:prstGeom>
          <a:noFill/>
          <a:ln/>
        </p:spPr>
        <p:txBody>
          <a:bodyPr wrap="square" lIns="0" tIns="0" rIns="0" bIns="0" rtlCol="0" anchor="ctr"/>
          <a:lstStyle/>
          <a:p>
            <a:pPr marL="0" indent="0">
              <a:buNone/>
            </a:pPr>
            <a:r>
              <a:rPr lang="en-US" sz="1400" dirty="0">
                <a:solidFill>
                  <a:srgbClr val="6E6E73"/>
                </a:solidFill>
              </a:rPr>
              <a:t>Kafka is a sharded append-only log, not one global queue.</a:t>
            </a:r>
            <a:endParaRPr lang="en-US" sz="1400" dirty="0"/>
          </a:p>
        </p:txBody>
      </p:sp>
      <p:sp>
        <p:nvSpPr>
          <p:cNvPr id="5" name="Text 3"/>
          <p:cNvSpPr/>
          <p:nvPr/>
        </p:nvSpPr>
        <p:spPr>
          <a:xfrm>
            <a:off x="640080" y="2212848"/>
            <a:ext cx="1051560" cy="274320"/>
          </a:xfrm>
          <a:prstGeom prst="rect">
            <a:avLst/>
          </a:prstGeom>
          <a:noFill/>
          <a:ln/>
        </p:spPr>
        <p:txBody>
          <a:bodyPr wrap="square" lIns="0" tIns="0" rIns="0" bIns="0" rtlCol="0" anchor="ctr"/>
          <a:lstStyle/>
          <a:p>
            <a:pPr marL="0" indent="0">
              <a:buNone/>
            </a:pPr>
            <a:r>
              <a:rPr lang="en-US" sz="1300" b="1" dirty="0">
                <a:solidFill>
                  <a:srgbClr val="1D1D1F"/>
                </a:solidFill>
              </a:rPr>
              <a:t>Partition 0</a:t>
            </a:r>
            <a:endParaRPr lang="en-US" sz="1300" dirty="0"/>
          </a:p>
        </p:txBody>
      </p:sp>
      <p:sp>
        <p:nvSpPr>
          <p:cNvPr id="6" name="Shape 4"/>
          <p:cNvSpPr/>
          <p:nvPr/>
        </p:nvSpPr>
        <p:spPr>
          <a:xfrm>
            <a:off x="1828800" y="2057400"/>
            <a:ext cx="1234440" cy="621792"/>
          </a:xfrm>
          <a:prstGeom prst="roundRect">
            <a:avLst>
              <a:gd name="adj" fmla="val 11765"/>
            </a:avLst>
          </a:prstGeom>
          <a:solidFill>
            <a:srgbClr val="FFFFFF"/>
          </a:solidFill>
          <a:ln w="15240">
            <a:solidFill>
              <a:srgbClr val="D2D2D7"/>
            </a:solidFill>
            <a:prstDash val="solid"/>
          </a:ln>
        </p:spPr>
      </p:sp>
      <p:sp>
        <p:nvSpPr>
          <p:cNvPr id="7" name="Text 5"/>
          <p:cNvSpPr/>
          <p:nvPr/>
        </p:nvSpPr>
        <p:spPr>
          <a:xfrm>
            <a:off x="1828800" y="2231136"/>
            <a:ext cx="1234440" cy="201168"/>
          </a:xfrm>
          <a:prstGeom prst="rect">
            <a:avLst/>
          </a:prstGeom>
          <a:noFill/>
          <a:ln/>
        </p:spPr>
        <p:txBody>
          <a:bodyPr wrap="square" lIns="0" tIns="0" rIns="0" bIns="0" rtlCol="0" anchor="ctr"/>
          <a:lstStyle/>
          <a:p>
            <a:pPr marL="0" indent="0" algn="ctr">
              <a:buNone/>
            </a:pPr>
            <a:r>
              <a:rPr lang="en-US" sz="1200" b="1" dirty="0">
                <a:solidFill>
                  <a:srgbClr val="1D1D1F"/>
                </a:solidFill>
              </a:rPr>
              <a:t>0:0</a:t>
            </a:r>
            <a:endParaRPr lang="en-US" sz="1200" dirty="0"/>
          </a:p>
        </p:txBody>
      </p:sp>
      <p:sp>
        <p:nvSpPr>
          <p:cNvPr id="8" name="Shape 6"/>
          <p:cNvSpPr/>
          <p:nvPr/>
        </p:nvSpPr>
        <p:spPr>
          <a:xfrm>
            <a:off x="3090672" y="2258568"/>
            <a:ext cx="228600" cy="219456"/>
          </a:xfrm>
          <a:prstGeom prst="chevron">
            <a:avLst/>
          </a:prstGeom>
          <a:solidFill>
            <a:srgbClr val="A1A1A6"/>
          </a:solidFill>
          <a:ln w="12700">
            <a:solidFill>
              <a:srgbClr val="A1A1A6"/>
            </a:solidFill>
            <a:prstDash val="solid"/>
          </a:ln>
        </p:spPr>
      </p:sp>
      <p:sp>
        <p:nvSpPr>
          <p:cNvPr id="9" name="Shape 7"/>
          <p:cNvSpPr/>
          <p:nvPr/>
        </p:nvSpPr>
        <p:spPr>
          <a:xfrm>
            <a:off x="3383280" y="2057400"/>
            <a:ext cx="1234440" cy="621792"/>
          </a:xfrm>
          <a:prstGeom prst="roundRect">
            <a:avLst>
              <a:gd name="adj" fmla="val 11765"/>
            </a:avLst>
          </a:prstGeom>
          <a:solidFill>
            <a:srgbClr val="FFFFFF"/>
          </a:solidFill>
          <a:ln w="15240">
            <a:solidFill>
              <a:srgbClr val="D2D2D7"/>
            </a:solidFill>
            <a:prstDash val="solid"/>
          </a:ln>
        </p:spPr>
      </p:sp>
      <p:sp>
        <p:nvSpPr>
          <p:cNvPr id="10" name="Text 8"/>
          <p:cNvSpPr/>
          <p:nvPr/>
        </p:nvSpPr>
        <p:spPr>
          <a:xfrm>
            <a:off x="3383280" y="2231136"/>
            <a:ext cx="1234440" cy="201168"/>
          </a:xfrm>
          <a:prstGeom prst="rect">
            <a:avLst/>
          </a:prstGeom>
          <a:noFill/>
          <a:ln/>
        </p:spPr>
        <p:txBody>
          <a:bodyPr wrap="square" lIns="0" tIns="0" rIns="0" bIns="0" rtlCol="0" anchor="ctr"/>
          <a:lstStyle/>
          <a:p>
            <a:pPr marL="0" indent="0" algn="ctr">
              <a:buNone/>
            </a:pPr>
            <a:r>
              <a:rPr lang="en-US" sz="1200" b="1" dirty="0">
                <a:solidFill>
                  <a:srgbClr val="1D1D1F"/>
                </a:solidFill>
              </a:rPr>
              <a:t>0:1</a:t>
            </a:r>
            <a:endParaRPr lang="en-US" sz="1200" dirty="0"/>
          </a:p>
        </p:txBody>
      </p:sp>
      <p:sp>
        <p:nvSpPr>
          <p:cNvPr id="11" name="Shape 9"/>
          <p:cNvSpPr/>
          <p:nvPr/>
        </p:nvSpPr>
        <p:spPr>
          <a:xfrm>
            <a:off x="4645152" y="2258568"/>
            <a:ext cx="228600" cy="219456"/>
          </a:xfrm>
          <a:prstGeom prst="chevron">
            <a:avLst/>
          </a:prstGeom>
          <a:solidFill>
            <a:srgbClr val="A1A1A6"/>
          </a:solidFill>
          <a:ln w="12700">
            <a:solidFill>
              <a:srgbClr val="A1A1A6"/>
            </a:solidFill>
            <a:prstDash val="solid"/>
          </a:ln>
        </p:spPr>
      </p:sp>
      <p:sp>
        <p:nvSpPr>
          <p:cNvPr id="12" name="Shape 10"/>
          <p:cNvSpPr/>
          <p:nvPr/>
        </p:nvSpPr>
        <p:spPr>
          <a:xfrm>
            <a:off x="4937760" y="2057400"/>
            <a:ext cx="1234440" cy="621792"/>
          </a:xfrm>
          <a:prstGeom prst="roundRect">
            <a:avLst>
              <a:gd name="adj" fmla="val 11765"/>
            </a:avLst>
          </a:prstGeom>
          <a:solidFill>
            <a:srgbClr val="FFFFFF"/>
          </a:solidFill>
          <a:ln w="15240">
            <a:solidFill>
              <a:srgbClr val="D2D2D7"/>
            </a:solidFill>
            <a:prstDash val="solid"/>
          </a:ln>
        </p:spPr>
      </p:sp>
      <p:sp>
        <p:nvSpPr>
          <p:cNvPr id="13" name="Text 11"/>
          <p:cNvSpPr/>
          <p:nvPr/>
        </p:nvSpPr>
        <p:spPr>
          <a:xfrm>
            <a:off x="4937760" y="2231136"/>
            <a:ext cx="1234440" cy="201168"/>
          </a:xfrm>
          <a:prstGeom prst="rect">
            <a:avLst/>
          </a:prstGeom>
          <a:noFill/>
          <a:ln/>
        </p:spPr>
        <p:txBody>
          <a:bodyPr wrap="square" lIns="0" tIns="0" rIns="0" bIns="0" rtlCol="0" anchor="ctr"/>
          <a:lstStyle/>
          <a:p>
            <a:pPr marL="0" indent="0" algn="ctr">
              <a:buNone/>
            </a:pPr>
            <a:r>
              <a:rPr lang="en-US" sz="1200" b="1" dirty="0">
                <a:solidFill>
                  <a:srgbClr val="1D1D1F"/>
                </a:solidFill>
              </a:rPr>
              <a:t>0:2</a:t>
            </a:r>
            <a:endParaRPr lang="en-US" sz="1200" dirty="0"/>
          </a:p>
        </p:txBody>
      </p:sp>
      <p:sp>
        <p:nvSpPr>
          <p:cNvPr id="14" name="Shape 12"/>
          <p:cNvSpPr/>
          <p:nvPr/>
        </p:nvSpPr>
        <p:spPr>
          <a:xfrm>
            <a:off x="6199632" y="2258568"/>
            <a:ext cx="228600" cy="219456"/>
          </a:xfrm>
          <a:prstGeom prst="chevron">
            <a:avLst/>
          </a:prstGeom>
          <a:solidFill>
            <a:srgbClr val="A1A1A6"/>
          </a:solidFill>
          <a:ln w="12700">
            <a:solidFill>
              <a:srgbClr val="A1A1A6"/>
            </a:solidFill>
            <a:prstDash val="solid"/>
          </a:ln>
        </p:spPr>
      </p:sp>
      <p:sp>
        <p:nvSpPr>
          <p:cNvPr id="15" name="Shape 13"/>
          <p:cNvSpPr/>
          <p:nvPr/>
        </p:nvSpPr>
        <p:spPr>
          <a:xfrm>
            <a:off x="6492240" y="2057400"/>
            <a:ext cx="1234440" cy="621792"/>
          </a:xfrm>
          <a:prstGeom prst="roundRect">
            <a:avLst>
              <a:gd name="adj" fmla="val 11765"/>
            </a:avLst>
          </a:prstGeom>
          <a:solidFill>
            <a:srgbClr val="FFFFFF"/>
          </a:solidFill>
          <a:ln w="15240">
            <a:solidFill>
              <a:srgbClr val="D2D2D7"/>
            </a:solidFill>
            <a:prstDash val="solid"/>
          </a:ln>
        </p:spPr>
      </p:sp>
      <p:sp>
        <p:nvSpPr>
          <p:cNvPr id="16" name="Text 14"/>
          <p:cNvSpPr/>
          <p:nvPr/>
        </p:nvSpPr>
        <p:spPr>
          <a:xfrm>
            <a:off x="6492240" y="2231136"/>
            <a:ext cx="1234440" cy="201168"/>
          </a:xfrm>
          <a:prstGeom prst="rect">
            <a:avLst/>
          </a:prstGeom>
          <a:noFill/>
          <a:ln/>
        </p:spPr>
        <p:txBody>
          <a:bodyPr wrap="square" lIns="0" tIns="0" rIns="0" bIns="0" rtlCol="0" anchor="ctr"/>
          <a:lstStyle/>
          <a:p>
            <a:pPr marL="0" indent="0" algn="ctr">
              <a:buNone/>
            </a:pPr>
            <a:r>
              <a:rPr lang="en-US" sz="1200" b="1" dirty="0">
                <a:solidFill>
                  <a:srgbClr val="1D1D1F"/>
                </a:solidFill>
              </a:rPr>
              <a:t>0:3</a:t>
            </a:r>
            <a:endParaRPr lang="en-US" sz="1200" dirty="0"/>
          </a:p>
        </p:txBody>
      </p:sp>
      <p:sp>
        <p:nvSpPr>
          <p:cNvPr id="17" name="Shape 15"/>
          <p:cNvSpPr/>
          <p:nvPr/>
        </p:nvSpPr>
        <p:spPr>
          <a:xfrm>
            <a:off x="7754112" y="2258568"/>
            <a:ext cx="228600" cy="219456"/>
          </a:xfrm>
          <a:prstGeom prst="chevron">
            <a:avLst/>
          </a:prstGeom>
          <a:solidFill>
            <a:srgbClr val="A1A1A6"/>
          </a:solidFill>
          <a:ln w="12700">
            <a:solidFill>
              <a:srgbClr val="A1A1A6"/>
            </a:solidFill>
            <a:prstDash val="solid"/>
          </a:ln>
        </p:spPr>
      </p:sp>
      <p:sp>
        <p:nvSpPr>
          <p:cNvPr id="18" name="Shape 16"/>
          <p:cNvSpPr/>
          <p:nvPr/>
        </p:nvSpPr>
        <p:spPr>
          <a:xfrm>
            <a:off x="8046720" y="2057400"/>
            <a:ext cx="1234440" cy="621792"/>
          </a:xfrm>
          <a:prstGeom prst="roundRect">
            <a:avLst>
              <a:gd name="adj" fmla="val 11765"/>
            </a:avLst>
          </a:prstGeom>
          <a:solidFill>
            <a:srgbClr val="E8F3FF"/>
          </a:solidFill>
          <a:ln w="15240">
            <a:solidFill>
              <a:srgbClr val="0071E3"/>
            </a:solidFill>
            <a:prstDash val="solid"/>
          </a:ln>
        </p:spPr>
      </p:sp>
      <p:sp>
        <p:nvSpPr>
          <p:cNvPr id="19" name="Text 17"/>
          <p:cNvSpPr/>
          <p:nvPr/>
        </p:nvSpPr>
        <p:spPr>
          <a:xfrm>
            <a:off x="8046720" y="2231136"/>
            <a:ext cx="1234440" cy="201168"/>
          </a:xfrm>
          <a:prstGeom prst="rect">
            <a:avLst/>
          </a:prstGeom>
          <a:noFill/>
          <a:ln/>
        </p:spPr>
        <p:txBody>
          <a:bodyPr wrap="square" lIns="0" tIns="0" rIns="0" bIns="0" rtlCol="0" anchor="ctr"/>
          <a:lstStyle/>
          <a:p>
            <a:pPr marL="0" indent="0" algn="ctr">
              <a:buNone/>
            </a:pPr>
            <a:r>
              <a:rPr lang="en-US" sz="1200" b="1" dirty="0">
                <a:solidFill>
                  <a:srgbClr val="1D1D1F"/>
                </a:solidFill>
              </a:rPr>
              <a:t>0:4</a:t>
            </a:r>
            <a:endParaRPr lang="en-US" sz="1200" dirty="0"/>
          </a:p>
        </p:txBody>
      </p:sp>
      <p:sp>
        <p:nvSpPr>
          <p:cNvPr id="20" name="Text 18"/>
          <p:cNvSpPr/>
          <p:nvPr/>
        </p:nvSpPr>
        <p:spPr>
          <a:xfrm>
            <a:off x="640080" y="3291840"/>
            <a:ext cx="1051560" cy="274320"/>
          </a:xfrm>
          <a:prstGeom prst="rect">
            <a:avLst/>
          </a:prstGeom>
          <a:noFill/>
          <a:ln/>
        </p:spPr>
        <p:txBody>
          <a:bodyPr wrap="square" lIns="0" tIns="0" rIns="0" bIns="0" rtlCol="0" anchor="ctr"/>
          <a:lstStyle/>
          <a:p>
            <a:pPr marL="0" indent="0">
              <a:buNone/>
            </a:pPr>
            <a:r>
              <a:rPr lang="en-US" sz="1300" b="1" dirty="0">
                <a:solidFill>
                  <a:srgbClr val="1D1D1F"/>
                </a:solidFill>
              </a:rPr>
              <a:t>Partition 1</a:t>
            </a:r>
            <a:endParaRPr lang="en-US" sz="1300" dirty="0"/>
          </a:p>
        </p:txBody>
      </p:sp>
      <p:sp>
        <p:nvSpPr>
          <p:cNvPr id="21" name="Shape 19"/>
          <p:cNvSpPr/>
          <p:nvPr/>
        </p:nvSpPr>
        <p:spPr>
          <a:xfrm>
            <a:off x="1828800" y="3136392"/>
            <a:ext cx="1234440" cy="621792"/>
          </a:xfrm>
          <a:prstGeom prst="roundRect">
            <a:avLst>
              <a:gd name="adj" fmla="val 11765"/>
            </a:avLst>
          </a:prstGeom>
          <a:solidFill>
            <a:srgbClr val="FFFFFF"/>
          </a:solidFill>
          <a:ln w="15240">
            <a:solidFill>
              <a:srgbClr val="D2D2D7"/>
            </a:solidFill>
            <a:prstDash val="solid"/>
          </a:ln>
        </p:spPr>
      </p:sp>
      <p:sp>
        <p:nvSpPr>
          <p:cNvPr id="22" name="Text 20"/>
          <p:cNvSpPr/>
          <p:nvPr/>
        </p:nvSpPr>
        <p:spPr>
          <a:xfrm>
            <a:off x="1828800" y="3310128"/>
            <a:ext cx="1234440" cy="201168"/>
          </a:xfrm>
          <a:prstGeom prst="rect">
            <a:avLst/>
          </a:prstGeom>
          <a:noFill/>
          <a:ln/>
        </p:spPr>
        <p:txBody>
          <a:bodyPr wrap="square" lIns="0" tIns="0" rIns="0" bIns="0" rtlCol="0" anchor="ctr"/>
          <a:lstStyle/>
          <a:p>
            <a:pPr marL="0" indent="0" algn="ctr">
              <a:buNone/>
            </a:pPr>
            <a:r>
              <a:rPr lang="en-US" sz="1200" b="1" dirty="0">
                <a:solidFill>
                  <a:srgbClr val="1D1D1F"/>
                </a:solidFill>
              </a:rPr>
              <a:t>1:0</a:t>
            </a:r>
            <a:endParaRPr lang="en-US" sz="1200" dirty="0"/>
          </a:p>
        </p:txBody>
      </p:sp>
      <p:sp>
        <p:nvSpPr>
          <p:cNvPr id="23" name="Shape 21"/>
          <p:cNvSpPr/>
          <p:nvPr/>
        </p:nvSpPr>
        <p:spPr>
          <a:xfrm>
            <a:off x="3090672" y="3337560"/>
            <a:ext cx="228600" cy="219456"/>
          </a:xfrm>
          <a:prstGeom prst="chevron">
            <a:avLst/>
          </a:prstGeom>
          <a:solidFill>
            <a:srgbClr val="A1A1A6"/>
          </a:solidFill>
          <a:ln w="12700">
            <a:solidFill>
              <a:srgbClr val="A1A1A6"/>
            </a:solidFill>
            <a:prstDash val="solid"/>
          </a:ln>
        </p:spPr>
      </p:sp>
      <p:sp>
        <p:nvSpPr>
          <p:cNvPr id="24" name="Shape 22"/>
          <p:cNvSpPr/>
          <p:nvPr/>
        </p:nvSpPr>
        <p:spPr>
          <a:xfrm>
            <a:off x="3383280" y="3136392"/>
            <a:ext cx="1234440" cy="621792"/>
          </a:xfrm>
          <a:prstGeom prst="roundRect">
            <a:avLst>
              <a:gd name="adj" fmla="val 11765"/>
            </a:avLst>
          </a:prstGeom>
          <a:solidFill>
            <a:srgbClr val="FFFFFF"/>
          </a:solidFill>
          <a:ln w="15240">
            <a:solidFill>
              <a:srgbClr val="D2D2D7"/>
            </a:solidFill>
            <a:prstDash val="solid"/>
          </a:ln>
        </p:spPr>
      </p:sp>
      <p:sp>
        <p:nvSpPr>
          <p:cNvPr id="25" name="Text 23"/>
          <p:cNvSpPr/>
          <p:nvPr/>
        </p:nvSpPr>
        <p:spPr>
          <a:xfrm>
            <a:off x="3383280" y="3310128"/>
            <a:ext cx="1234440" cy="201168"/>
          </a:xfrm>
          <a:prstGeom prst="rect">
            <a:avLst/>
          </a:prstGeom>
          <a:noFill/>
          <a:ln/>
        </p:spPr>
        <p:txBody>
          <a:bodyPr wrap="square" lIns="0" tIns="0" rIns="0" bIns="0" rtlCol="0" anchor="ctr"/>
          <a:lstStyle/>
          <a:p>
            <a:pPr marL="0" indent="0" algn="ctr">
              <a:buNone/>
            </a:pPr>
            <a:r>
              <a:rPr lang="en-US" sz="1200" b="1" dirty="0">
                <a:solidFill>
                  <a:srgbClr val="1D1D1F"/>
                </a:solidFill>
              </a:rPr>
              <a:t>1:1</a:t>
            </a:r>
            <a:endParaRPr lang="en-US" sz="1200" dirty="0"/>
          </a:p>
        </p:txBody>
      </p:sp>
      <p:sp>
        <p:nvSpPr>
          <p:cNvPr id="26" name="Shape 24"/>
          <p:cNvSpPr/>
          <p:nvPr/>
        </p:nvSpPr>
        <p:spPr>
          <a:xfrm>
            <a:off x="4645152" y="3337560"/>
            <a:ext cx="228600" cy="219456"/>
          </a:xfrm>
          <a:prstGeom prst="chevron">
            <a:avLst/>
          </a:prstGeom>
          <a:solidFill>
            <a:srgbClr val="A1A1A6"/>
          </a:solidFill>
          <a:ln w="12700">
            <a:solidFill>
              <a:srgbClr val="A1A1A6"/>
            </a:solidFill>
            <a:prstDash val="solid"/>
          </a:ln>
        </p:spPr>
      </p:sp>
      <p:sp>
        <p:nvSpPr>
          <p:cNvPr id="27" name="Shape 25"/>
          <p:cNvSpPr/>
          <p:nvPr/>
        </p:nvSpPr>
        <p:spPr>
          <a:xfrm>
            <a:off x="4937760" y="3136392"/>
            <a:ext cx="1234440" cy="621792"/>
          </a:xfrm>
          <a:prstGeom prst="roundRect">
            <a:avLst>
              <a:gd name="adj" fmla="val 11765"/>
            </a:avLst>
          </a:prstGeom>
          <a:solidFill>
            <a:srgbClr val="FFFFFF"/>
          </a:solidFill>
          <a:ln w="15240">
            <a:solidFill>
              <a:srgbClr val="D2D2D7"/>
            </a:solidFill>
            <a:prstDash val="solid"/>
          </a:ln>
        </p:spPr>
      </p:sp>
      <p:sp>
        <p:nvSpPr>
          <p:cNvPr id="28" name="Text 26"/>
          <p:cNvSpPr/>
          <p:nvPr/>
        </p:nvSpPr>
        <p:spPr>
          <a:xfrm>
            <a:off x="4937760" y="3310128"/>
            <a:ext cx="1234440" cy="201168"/>
          </a:xfrm>
          <a:prstGeom prst="rect">
            <a:avLst/>
          </a:prstGeom>
          <a:noFill/>
          <a:ln/>
        </p:spPr>
        <p:txBody>
          <a:bodyPr wrap="square" lIns="0" tIns="0" rIns="0" bIns="0" rtlCol="0" anchor="ctr"/>
          <a:lstStyle/>
          <a:p>
            <a:pPr marL="0" indent="0" algn="ctr">
              <a:buNone/>
            </a:pPr>
            <a:r>
              <a:rPr lang="en-US" sz="1200" b="1" dirty="0">
                <a:solidFill>
                  <a:srgbClr val="1D1D1F"/>
                </a:solidFill>
              </a:rPr>
              <a:t>1:2</a:t>
            </a:r>
            <a:endParaRPr lang="en-US" sz="1200" dirty="0"/>
          </a:p>
        </p:txBody>
      </p:sp>
      <p:sp>
        <p:nvSpPr>
          <p:cNvPr id="29" name="Shape 27"/>
          <p:cNvSpPr/>
          <p:nvPr/>
        </p:nvSpPr>
        <p:spPr>
          <a:xfrm>
            <a:off x="6199632" y="3337560"/>
            <a:ext cx="228600" cy="219456"/>
          </a:xfrm>
          <a:prstGeom prst="chevron">
            <a:avLst/>
          </a:prstGeom>
          <a:solidFill>
            <a:srgbClr val="A1A1A6"/>
          </a:solidFill>
          <a:ln w="12700">
            <a:solidFill>
              <a:srgbClr val="A1A1A6"/>
            </a:solidFill>
            <a:prstDash val="solid"/>
          </a:ln>
        </p:spPr>
      </p:sp>
      <p:sp>
        <p:nvSpPr>
          <p:cNvPr id="30" name="Shape 28"/>
          <p:cNvSpPr/>
          <p:nvPr/>
        </p:nvSpPr>
        <p:spPr>
          <a:xfrm>
            <a:off x="6492240" y="3136392"/>
            <a:ext cx="1234440" cy="621792"/>
          </a:xfrm>
          <a:prstGeom prst="roundRect">
            <a:avLst>
              <a:gd name="adj" fmla="val 11765"/>
            </a:avLst>
          </a:prstGeom>
          <a:solidFill>
            <a:srgbClr val="FFFFFF"/>
          </a:solidFill>
          <a:ln w="15240">
            <a:solidFill>
              <a:srgbClr val="D2D2D7"/>
            </a:solidFill>
            <a:prstDash val="solid"/>
          </a:ln>
        </p:spPr>
      </p:sp>
      <p:sp>
        <p:nvSpPr>
          <p:cNvPr id="31" name="Text 29"/>
          <p:cNvSpPr/>
          <p:nvPr/>
        </p:nvSpPr>
        <p:spPr>
          <a:xfrm>
            <a:off x="6492240" y="3310128"/>
            <a:ext cx="1234440" cy="201168"/>
          </a:xfrm>
          <a:prstGeom prst="rect">
            <a:avLst/>
          </a:prstGeom>
          <a:noFill/>
          <a:ln/>
        </p:spPr>
        <p:txBody>
          <a:bodyPr wrap="square" lIns="0" tIns="0" rIns="0" bIns="0" rtlCol="0" anchor="ctr"/>
          <a:lstStyle/>
          <a:p>
            <a:pPr marL="0" indent="0" algn="ctr">
              <a:buNone/>
            </a:pPr>
            <a:r>
              <a:rPr lang="en-US" sz="1200" b="1" dirty="0">
                <a:solidFill>
                  <a:srgbClr val="1D1D1F"/>
                </a:solidFill>
              </a:rPr>
              <a:t>1:3</a:t>
            </a:r>
            <a:endParaRPr lang="en-US" sz="1200" dirty="0"/>
          </a:p>
        </p:txBody>
      </p:sp>
      <p:sp>
        <p:nvSpPr>
          <p:cNvPr id="32" name="Shape 30"/>
          <p:cNvSpPr/>
          <p:nvPr/>
        </p:nvSpPr>
        <p:spPr>
          <a:xfrm>
            <a:off x="7754112" y="3337560"/>
            <a:ext cx="228600" cy="219456"/>
          </a:xfrm>
          <a:prstGeom prst="chevron">
            <a:avLst/>
          </a:prstGeom>
          <a:solidFill>
            <a:srgbClr val="A1A1A6"/>
          </a:solidFill>
          <a:ln w="12700">
            <a:solidFill>
              <a:srgbClr val="A1A1A6"/>
            </a:solidFill>
            <a:prstDash val="solid"/>
          </a:ln>
        </p:spPr>
      </p:sp>
      <p:sp>
        <p:nvSpPr>
          <p:cNvPr id="33" name="Shape 31"/>
          <p:cNvSpPr/>
          <p:nvPr/>
        </p:nvSpPr>
        <p:spPr>
          <a:xfrm>
            <a:off x="8046720" y="3136392"/>
            <a:ext cx="1234440" cy="621792"/>
          </a:xfrm>
          <a:prstGeom prst="roundRect">
            <a:avLst>
              <a:gd name="adj" fmla="val 11765"/>
            </a:avLst>
          </a:prstGeom>
          <a:solidFill>
            <a:srgbClr val="E8F3FF"/>
          </a:solidFill>
          <a:ln w="15240">
            <a:solidFill>
              <a:srgbClr val="0071E3"/>
            </a:solidFill>
            <a:prstDash val="solid"/>
          </a:ln>
        </p:spPr>
      </p:sp>
      <p:sp>
        <p:nvSpPr>
          <p:cNvPr id="34" name="Text 32"/>
          <p:cNvSpPr/>
          <p:nvPr/>
        </p:nvSpPr>
        <p:spPr>
          <a:xfrm>
            <a:off x="8046720" y="3310128"/>
            <a:ext cx="1234440" cy="201168"/>
          </a:xfrm>
          <a:prstGeom prst="rect">
            <a:avLst/>
          </a:prstGeom>
          <a:noFill/>
          <a:ln/>
        </p:spPr>
        <p:txBody>
          <a:bodyPr wrap="square" lIns="0" tIns="0" rIns="0" bIns="0" rtlCol="0" anchor="ctr"/>
          <a:lstStyle/>
          <a:p>
            <a:pPr marL="0" indent="0" algn="ctr">
              <a:buNone/>
            </a:pPr>
            <a:r>
              <a:rPr lang="en-US" sz="1200" b="1" dirty="0">
                <a:solidFill>
                  <a:srgbClr val="1D1D1F"/>
                </a:solidFill>
              </a:rPr>
              <a:t>1:4</a:t>
            </a:r>
            <a:endParaRPr lang="en-US" sz="1200" dirty="0"/>
          </a:p>
        </p:txBody>
      </p:sp>
      <p:sp>
        <p:nvSpPr>
          <p:cNvPr id="35" name="Text 33"/>
          <p:cNvSpPr/>
          <p:nvPr/>
        </p:nvSpPr>
        <p:spPr>
          <a:xfrm>
            <a:off x="640080" y="4370832"/>
            <a:ext cx="1051560" cy="274320"/>
          </a:xfrm>
          <a:prstGeom prst="rect">
            <a:avLst/>
          </a:prstGeom>
          <a:noFill/>
          <a:ln/>
        </p:spPr>
        <p:txBody>
          <a:bodyPr wrap="square" lIns="0" tIns="0" rIns="0" bIns="0" rtlCol="0" anchor="ctr"/>
          <a:lstStyle/>
          <a:p>
            <a:pPr marL="0" indent="0">
              <a:buNone/>
            </a:pPr>
            <a:r>
              <a:rPr lang="en-US" sz="1300" b="1" dirty="0">
                <a:solidFill>
                  <a:srgbClr val="1D1D1F"/>
                </a:solidFill>
              </a:rPr>
              <a:t>Partition 2</a:t>
            </a:r>
            <a:endParaRPr lang="en-US" sz="1300" dirty="0"/>
          </a:p>
        </p:txBody>
      </p:sp>
      <p:sp>
        <p:nvSpPr>
          <p:cNvPr id="36" name="Shape 34"/>
          <p:cNvSpPr/>
          <p:nvPr/>
        </p:nvSpPr>
        <p:spPr>
          <a:xfrm>
            <a:off x="1828800" y="4215384"/>
            <a:ext cx="1234440" cy="621792"/>
          </a:xfrm>
          <a:prstGeom prst="roundRect">
            <a:avLst>
              <a:gd name="adj" fmla="val 11765"/>
            </a:avLst>
          </a:prstGeom>
          <a:solidFill>
            <a:srgbClr val="FFFFFF"/>
          </a:solidFill>
          <a:ln w="15240">
            <a:solidFill>
              <a:srgbClr val="D2D2D7"/>
            </a:solidFill>
            <a:prstDash val="solid"/>
          </a:ln>
        </p:spPr>
      </p:sp>
      <p:sp>
        <p:nvSpPr>
          <p:cNvPr id="37" name="Text 35"/>
          <p:cNvSpPr/>
          <p:nvPr/>
        </p:nvSpPr>
        <p:spPr>
          <a:xfrm>
            <a:off x="1828800" y="4389120"/>
            <a:ext cx="1234440" cy="201168"/>
          </a:xfrm>
          <a:prstGeom prst="rect">
            <a:avLst/>
          </a:prstGeom>
          <a:noFill/>
          <a:ln/>
        </p:spPr>
        <p:txBody>
          <a:bodyPr wrap="square" lIns="0" tIns="0" rIns="0" bIns="0" rtlCol="0" anchor="ctr"/>
          <a:lstStyle/>
          <a:p>
            <a:pPr marL="0" indent="0" algn="ctr">
              <a:buNone/>
            </a:pPr>
            <a:r>
              <a:rPr lang="en-US" sz="1200" b="1" dirty="0">
                <a:solidFill>
                  <a:srgbClr val="1D1D1F"/>
                </a:solidFill>
              </a:rPr>
              <a:t>2:0</a:t>
            </a:r>
            <a:endParaRPr lang="en-US" sz="1200" dirty="0"/>
          </a:p>
        </p:txBody>
      </p:sp>
      <p:sp>
        <p:nvSpPr>
          <p:cNvPr id="38" name="Shape 36"/>
          <p:cNvSpPr/>
          <p:nvPr/>
        </p:nvSpPr>
        <p:spPr>
          <a:xfrm>
            <a:off x="3090672" y="4416552"/>
            <a:ext cx="228600" cy="219456"/>
          </a:xfrm>
          <a:prstGeom prst="chevron">
            <a:avLst/>
          </a:prstGeom>
          <a:solidFill>
            <a:srgbClr val="A1A1A6"/>
          </a:solidFill>
          <a:ln w="12700">
            <a:solidFill>
              <a:srgbClr val="A1A1A6"/>
            </a:solidFill>
            <a:prstDash val="solid"/>
          </a:ln>
        </p:spPr>
      </p:sp>
      <p:sp>
        <p:nvSpPr>
          <p:cNvPr id="39" name="Shape 37"/>
          <p:cNvSpPr/>
          <p:nvPr/>
        </p:nvSpPr>
        <p:spPr>
          <a:xfrm>
            <a:off x="3383280" y="4215384"/>
            <a:ext cx="1234440" cy="621792"/>
          </a:xfrm>
          <a:prstGeom prst="roundRect">
            <a:avLst>
              <a:gd name="adj" fmla="val 11765"/>
            </a:avLst>
          </a:prstGeom>
          <a:solidFill>
            <a:srgbClr val="FFFFFF"/>
          </a:solidFill>
          <a:ln w="15240">
            <a:solidFill>
              <a:srgbClr val="D2D2D7"/>
            </a:solidFill>
            <a:prstDash val="solid"/>
          </a:ln>
        </p:spPr>
      </p:sp>
      <p:sp>
        <p:nvSpPr>
          <p:cNvPr id="40" name="Text 38"/>
          <p:cNvSpPr/>
          <p:nvPr/>
        </p:nvSpPr>
        <p:spPr>
          <a:xfrm>
            <a:off x="3383280" y="4389120"/>
            <a:ext cx="1234440" cy="201168"/>
          </a:xfrm>
          <a:prstGeom prst="rect">
            <a:avLst/>
          </a:prstGeom>
          <a:noFill/>
          <a:ln/>
        </p:spPr>
        <p:txBody>
          <a:bodyPr wrap="square" lIns="0" tIns="0" rIns="0" bIns="0" rtlCol="0" anchor="ctr"/>
          <a:lstStyle/>
          <a:p>
            <a:pPr marL="0" indent="0" algn="ctr">
              <a:buNone/>
            </a:pPr>
            <a:r>
              <a:rPr lang="en-US" sz="1200" b="1" dirty="0">
                <a:solidFill>
                  <a:srgbClr val="1D1D1F"/>
                </a:solidFill>
              </a:rPr>
              <a:t>2:1</a:t>
            </a:r>
            <a:endParaRPr lang="en-US" sz="1200" dirty="0"/>
          </a:p>
        </p:txBody>
      </p:sp>
      <p:sp>
        <p:nvSpPr>
          <p:cNvPr id="41" name="Shape 39"/>
          <p:cNvSpPr/>
          <p:nvPr/>
        </p:nvSpPr>
        <p:spPr>
          <a:xfrm>
            <a:off x="4645152" y="4416552"/>
            <a:ext cx="228600" cy="219456"/>
          </a:xfrm>
          <a:prstGeom prst="chevron">
            <a:avLst/>
          </a:prstGeom>
          <a:solidFill>
            <a:srgbClr val="A1A1A6"/>
          </a:solidFill>
          <a:ln w="12700">
            <a:solidFill>
              <a:srgbClr val="A1A1A6"/>
            </a:solidFill>
            <a:prstDash val="solid"/>
          </a:ln>
        </p:spPr>
      </p:sp>
      <p:sp>
        <p:nvSpPr>
          <p:cNvPr id="42" name="Shape 40"/>
          <p:cNvSpPr/>
          <p:nvPr/>
        </p:nvSpPr>
        <p:spPr>
          <a:xfrm>
            <a:off x="4937760" y="4215384"/>
            <a:ext cx="1234440" cy="621792"/>
          </a:xfrm>
          <a:prstGeom prst="roundRect">
            <a:avLst>
              <a:gd name="adj" fmla="val 11765"/>
            </a:avLst>
          </a:prstGeom>
          <a:solidFill>
            <a:srgbClr val="FFFFFF"/>
          </a:solidFill>
          <a:ln w="15240">
            <a:solidFill>
              <a:srgbClr val="D2D2D7"/>
            </a:solidFill>
            <a:prstDash val="solid"/>
          </a:ln>
        </p:spPr>
      </p:sp>
      <p:sp>
        <p:nvSpPr>
          <p:cNvPr id="43" name="Text 41"/>
          <p:cNvSpPr/>
          <p:nvPr/>
        </p:nvSpPr>
        <p:spPr>
          <a:xfrm>
            <a:off x="4937760" y="4389120"/>
            <a:ext cx="1234440" cy="201168"/>
          </a:xfrm>
          <a:prstGeom prst="rect">
            <a:avLst/>
          </a:prstGeom>
          <a:noFill/>
          <a:ln/>
        </p:spPr>
        <p:txBody>
          <a:bodyPr wrap="square" lIns="0" tIns="0" rIns="0" bIns="0" rtlCol="0" anchor="ctr"/>
          <a:lstStyle/>
          <a:p>
            <a:pPr marL="0" indent="0" algn="ctr">
              <a:buNone/>
            </a:pPr>
            <a:r>
              <a:rPr lang="en-US" sz="1200" b="1" dirty="0">
                <a:solidFill>
                  <a:srgbClr val="1D1D1F"/>
                </a:solidFill>
              </a:rPr>
              <a:t>2:2</a:t>
            </a:r>
            <a:endParaRPr lang="en-US" sz="1200" dirty="0"/>
          </a:p>
        </p:txBody>
      </p:sp>
      <p:sp>
        <p:nvSpPr>
          <p:cNvPr id="44" name="Shape 42"/>
          <p:cNvSpPr/>
          <p:nvPr/>
        </p:nvSpPr>
        <p:spPr>
          <a:xfrm>
            <a:off x="6199632" y="4416552"/>
            <a:ext cx="228600" cy="219456"/>
          </a:xfrm>
          <a:prstGeom prst="chevron">
            <a:avLst/>
          </a:prstGeom>
          <a:solidFill>
            <a:srgbClr val="A1A1A6"/>
          </a:solidFill>
          <a:ln w="12700">
            <a:solidFill>
              <a:srgbClr val="A1A1A6"/>
            </a:solidFill>
            <a:prstDash val="solid"/>
          </a:ln>
        </p:spPr>
      </p:sp>
      <p:sp>
        <p:nvSpPr>
          <p:cNvPr id="45" name="Shape 43"/>
          <p:cNvSpPr/>
          <p:nvPr/>
        </p:nvSpPr>
        <p:spPr>
          <a:xfrm>
            <a:off x="6492240" y="4215384"/>
            <a:ext cx="1234440" cy="621792"/>
          </a:xfrm>
          <a:prstGeom prst="roundRect">
            <a:avLst>
              <a:gd name="adj" fmla="val 11765"/>
            </a:avLst>
          </a:prstGeom>
          <a:solidFill>
            <a:srgbClr val="FFFFFF"/>
          </a:solidFill>
          <a:ln w="15240">
            <a:solidFill>
              <a:srgbClr val="D2D2D7"/>
            </a:solidFill>
            <a:prstDash val="solid"/>
          </a:ln>
        </p:spPr>
      </p:sp>
      <p:sp>
        <p:nvSpPr>
          <p:cNvPr id="46" name="Text 44"/>
          <p:cNvSpPr/>
          <p:nvPr/>
        </p:nvSpPr>
        <p:spPr>
          <a:xfrm>
            <a:off x="6492240" y="4389120"/>
            <a:ext cx="1234440" cy="201168"/>
          </a:xfrm>
          <a:prstGeom prst="rect">
            <a:avLst/>
          </a:prstGeom>
          <a:noFill/>
          <a:ln/>
        </p:spPr>
        <p:txBody>
          <a:bodyPr wrap="square" lIns="0" tIns="0" rIns="0" bIns="0" rtlCol="0" anchor="ctr"/>
          <a:lstStyle/>
          <a:p>
            <a:pPr marL="0" indent="0" algn="ctr">
              <a:buNone/>
            </a:pPr>
            <a:r>
              <a:rPr lang="en-US" sz="1200" b="1" dirty="0">
                <a:solidFill>
                  <a:srgbClr val="1D1D1F"/>
                </a:solidFill>
              </a:rPr>
              <a:t>2:3</a:t>
            </a:r>
            <a:endParaRPr lang="en-US" sz="1200" dirty="0"/>
          </a:p>
        </p:txBody>
      </p:sp>
      <p:sp>
        <p:nvSpPr>
          <p:cNvPr id="47" name="Shape 45"/>
          <p:cNvSpPr/>
          <p:nvPr/>
        </p:nvSpPr>
        <p:spPr>
          <a:xfrm>
            <a:off x="7754112" y="4416552"/>
            <a:ext cx="228600" cy="219456"/>
          </a:xfrm>
          <a:prstGeom prst="chevron">
            <a:avLst/>
          </a:prstGeom>
          <a:solidFill>
            <a:srgbClr val="A1A1A6"/>
          </a:solidFill>
          <a:ln w="12700">
            <a:solidFill>
              <a:srgbClr val="A1A1A6"/>
            </a:solidFill>
            <a:prstDash val="solid"/>
          </a:ln>
        </p:spPr>
      </p:sp>
      <p:sp>
        <p:nvSpPr>
          <p:cNvPr id="48" name="Shape 46"/>
          <p:cNvSpPr/>
          <p:nvPr/>
        </p:nvSpPr>
        <p:spPr>
          <a:xfrm>
            <a:off x="8046720" y="4215384"/>
            <a:ext cx="1234440" cy="621792"/>
          </a:xfrm>
          <a:prstGeom prst="roundRect">
            <a:avLst>
              <a:gd name="adj" fmla="val 11765"/>
            </a:avLst>
          </a:prstGeom>
          <a:solidFill>
            <a:srgbClr val="E8F3FF"/>
          </a:solidFill>
          <a:ln w="15240">
            <a:solidFill>
              <a:srgbClr val="0071E3"/>
            </a:solidFill>
            <a:prstDash val="solid"/>
          </a:ln>
        </p:spPr>
      </p:sp>
      <p:sp>
        <p:nvSpPr>
          <p:cNvPr id="49" name="Text 47"/>
          <p:cNvSpPr/>
          <p:nvPr/>
        </p:nvSpPr>
        <p:spPr>
          <a:xfrm>
            <a:off x="8046720" y="4389120"/>
            <a:ext cx="1234440" cy="201168"/>
          </a:xfrm>
          <a:prstGeom prst="rect">
            <a:avLst/>
          </a:prstGeom>
          <a:noFill/>
          <a:ln/>
        </p:spPr>
        <p:txBody>
          <a:bodyPr wrap="square" lIns="0" tIns="0" rIns="0" bIns="0" rtlCol="0" anchor="ctr"/>
          <a:lstStyle/>
          <a:p>
            <a:pPr marL="0" indent="0" algn="ctr">
              <a:buNone/>
            </a:pPr>
            <a:r>
              <a:rPr lang="en-US" sz="1200" b="1" dirty="0">
                <a:solidFill>
                  <a:srgbClr val="1D1D1F"/>
                </a:solidFill>
              </a:rPr>
              <a:t>2:4</a:t>
            </a:r>
            <a:endParaRPr lang="en-US" sz="1200" dirty="0"/>
          </a:p>
        </p:txBody>
      </p:sp>
      <p:sp>
        <p:nvSpPr>
          <p:cNvPr id="50" name="Shape 48"/>
          <p:cNvSpPr/>
          <p:nvPr/>
        </p:nvSpPr>
        <p:spPr>
          <a:xfrm>
            <a:off x="9875520" y="2212848"/>
            <a:ext cx="1691640" cy="347472"/>
          </a:xfrm>
          <a:prstGeom prst="roundRect">
            <a:avLst>
              <a:gd name="adj" fmla="val 47368"/>
            </a:avLst>
          </a:prstGeom>
          <a:solidFill>
            <a:srgbClr val="30D158"/>
          </a:solidFill>
          <a:ln w="12700">
            <a:solidFill>
              <a:srgbClr val="30D158"/>
            </a:solidFill>
            <a:prstDash val="solid"/>
          </a:ln>
        </p:spPr>
      </p:sp>
      <p:sp>
        <p:nvSpPr>
          <p:cNvPr id="51" name="Text 49"/>
          <p:cNvSpPr/>
          <p:nvPr/>
        </p:nvSpPr>
        <p:spPr>
          <a:xfrm>
            <a:off x="9875520" y="2267712"/>
            <a:ext cx="1691640" cy="182880"/>
          </a:xfrm>
          <a:prstGeom prst="rect">
            <a:avLst/>
          </a:prstGeom>
          <a:noFill/>
          <a:ln/>
        </p:spPr>
        <p:txBody>
          <a:bodyPr wrap="square" lIns="0" tIns="0" rIns="0" bIns="0" rtlCol="0" anchor="ctr"/>
          <a:lstStyle/>
          <a:p>
            <a:pPr marL="0" indent="0" algn="ctr">
              <a:buNone/>
            </a:pPr>
            <a:r>
              <a:rPr lang="en-US" sz="1000" b="1" dirty="0">
                <a:solidFill>
                  <a:srgbClr val="FFFFFF"/>
                </a:solidFill>
              </a:rPr>
              <a:t>FIFO INSIDE EACH ROW</a:t>
            </a:r>
            <a:endParaRPr lang="en-US" sz="1000" dirty="0"/>
          </a:p>
        </p:txBody>
      </p:sp>
      <p:sp>
        <p:nvSpPr>
          <p:cNvPr id="52" name="Text 50"/>
          <p:cNvSpPr/>
          <p:nvPr/>
        </p:nvSpPr>
        <p:spPr>
          <a:xfrm>
            <a:off x="8915400" y="4983480"/>
            <a:ext cx="2560320" cy="640080"/>
          </a:xfrm>
          <a:prstGeom prst="rect">
            <a:avLst/>
          </a:prstGeom>
          <a:noFill/>
          <a:ln/>
        </p:spPr>
        <p:txBody>
          <a:bodyPr wrap="square" lIns="0" tIns="0" rIns="0" bIns="0" rtlCol="0" anchor="ctr"/>
          <a:lstStyle/>
          <a:p>
            <a:pPr marL="0" indent="0" algn="ctr">
              <a:buNone/>
            </a:pPr>
            <a:r>
              <a:rPr lang="en-US" sz="1800" b="1" dirty="0">
                <a:solidFill>
                  <a:srgbClr val="FF453A"/>
                </a:solidFill>
              </a:rPr>
              <a:t>No comparable order exists between rows.</a:t>
            </a:r>
            <a:endParaRPr lang="en-US" sz="1800" dirty="0"/>
          </a:p>
        </p:txBody>
      </p:sp>
      <p:sp>
        <p:nvSpPr>
          <p:cNvPr id="53" name="Text 51"/>
          <p:cNvSpPr/>
          <p:nvPr/>
        </p:nvSpPr>
        <p:spPr>
          <a:xfrm>
            <a:off x="594360" y="6272784"/>
            <a:ext cx="10789920" cy="228600"/>
          </a:xfrm>
          <a:prstGeom prst="rect">
            <a:avLst/>
          </a:prstGeom>
          <a:noFill/>
          <a:ln/>
        </p:spPr>
        <p:txBody>
          <a:bodyPr wrap="square" lIns="0" tIns="0" rIns="0" bIns="0" rtlCol="0" anchor="ctr"/>
          <a:lstStyle/>
          <a:p>
            <a:pPr marL="0" indent="0" algn="ctr">
              <a:buNone/>
            </a:pPr>
            <a:r>
              <a:rPr lang="en-US" sz="1000" i="1" dirty="0">
                <a:solidFill>
                  <a:srgbClr val="6E6E73"/>
                </a:solidFill>
              </a:rPr>
              <a:t>Offset order is local to a partition.</a:t>
            </a:r>
            <a:endParaRPr lang="en-US" sz="1000" dirty="0"/>
          </a:p>
        </p:txBody>
      </p:sp>
      <p:sp>
        <p:nvSpPr>
          <p:cNvPr id="54" name="Slide Number Placeholder 0"/>
          <p:cNvSpPr>
            <a:spLocks noGrp="1"/>
          </p:cNvSpPr>
          <p:nvPr>
            <p:ph type="sldNum" sz="quarter" idx="4294967295"/>
          </p:nvPr>
        </p:nvSpPr>
        <p:spPr>
          <a:xfrm>
            <a:off x="11686032" y="6510528"/>
            <a:ext cx="228600"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86868B"/>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1" cy="1"/>
          <a:chOff x="0" y="0"/>
          <a:chExt cx="1" cy="1"/>
        </a:xfrm>
      </p:grpSpPr>
      <p:sp>
        <p:nvSpPr>
          <p:cNvPr id="2" name="Text 0"/>
          <p:cNvSpPr/>
          <p:nvPr/>
        </p:nvSpPr>
        <p:spPr>
          <a:xfrm>
            <a:off x="594360" y="502920"/>
            <a:ext cx="4389120" cy="228600"/>
          </a:xfrm>
          <a:prstGeom prst="rect">
            <a:avLst/>
          </a:prstGeom>
          <a:noFill/>
          <a:ln/>
        </p:spPr>
        <p:txBody>
          <a:bodyPr wrap="square" lIns="0" tIns="0" rIns="0" bIns="0" rtlCol="0" anchor="ctr"/>
          <a:lstStyle/>
          <a:p>
            <a:pPr marL="0" indent="0">
              <a:buNone/>
            </a:pPr>
            <a:r>
              <a:rPr lang="en-US" sz="1000" b="1" kern="0" spc="150" dirty="0">
                <a:solidFill>
                  <a:srgbClr val="0071E3"/>
                </a:solidFill>
              </a:rPr>
              <a:t>KEYING</a:t>
            </a:r>
            <a:endParaRPr lang="en-US" sz="1000" dirty="0"/>
          </a:p>
        </p:txBody>
      </p:sp>
      <p:sp>
        <p:nvSpPr>
          <p:cNvPr id="3" name="Text 1"/>
          <p:cNvSpPr/>
          <p:nvPr/>
        </p:nvSpPr>
        <p:spPr>
          <a:xfrm>
            <a:off x="594360" y="822960"/>
            <a:ext cx="10972800" cy="594360"/>
          </a:xfrm>
          <a:prstGeom prst="rect">
            <a:avLst/>
          </a:prstGeom>
          <a:noFill/>
          <a:ln/>
        </p:spPr>
        <p:txBody>
          <a:bodyPr wrap="square" lIns="0" tIns="0" rIns="0" bIns="0" rtlCol="0" anchor="ctr"/>
          <a:lstStyle/>
          <a:p>
            <a:pPr marL="0" indent="0">
              <a:buNone/>
            </a:pPr>
            <a:r>
              <a:rPr lang="en-US" sz="2800" b="1" dirty="0">
                <a:solidFill>
                  <a:srgbClr val="1D1D1F"/>
                </a:solidFill>
              </a:rPr>
              <a:t>Same key creates a business-entity timeline</a:t>
            </a:r>
            <a:endParaRPr lang="en-US" sz="2800" dirty="0"/>
          </a:p>
        </p:txBody>
      </p:sp>
      <p:sp>
        <p:nvSpPr>
          <p:cNvPr id="4" name="Text 2"/>
          <p:cNvSpPr/>
          <p:nvPr/>
        </p:nvSpPr>
        <p:spPr>
          <a:xfrm>
            <a:off x="612648" y="1444752"/>
            <a:ext cx="10789920" cy="256032"/>
          </a:xfrm>
          <a:prstGeom prst="rect">
            <a:avLst/>
          </a:prstGeom>
          <a:noFill/>
          <a:ln/>
        </p:spPr>
        <p:txBody>
          <a:bodyPr wrap="square" lIns="0" tIns="0" rIns="0" bIns="0" rtlCol="0" anchor="ctr"/>
          <a:lstStyle/>
          <a:p>
            <a:pPr marL="0" indent="0">
              <a:buNone/>
            </a:pPr>
            <a:r>
              <a:rPr lang="en-US" sz="1400" dirty="0">
                <a:solidFill>
                  <a:srgbClr val="6E6E73"/>
                </a:solidFill>
              </a:rPr>
              <a:t>Choose the key that owns the state transition.</a:t>
            </a:r>
            <a:endParaRPr lang="en-US" sz="1400" dirty="0"/>
          </a:p>
        </p:txBody>
      </p:sp>
      <p:pic>
        <p:nvPicPr>
          <p:cNvPr id="5" name="Image 0" descr="/mnt/data/kafka_ppt_work/generated_image_8B424B426329_04.png"/>
          <p:cNvPicPr>
            <a:picLocks noChangeAspect="1"/>
          </p:cNvPicPr>
          <p:nvPr/>
        </p:nvPicPr>
        <p:blipFill>
          <a:blip r:embed="rId3"/>
          <a:srcRect l="8889" r="8889"/>
          <a:stretch/>
        </p:blipFill>
        <p:spPr>
          <a:xfrm>
            <a:off x="6629400" y="1874520"/>
            <a:ext cx="5074920" cy="4114800"/>
          </a:xfrm>
          <a:prstGeom prst="rect">
            <a:avLst/>
          </a:prstGeom>
        </p:spPr>
      </p:pic>
      <p:sp>
        <p:nvSpPr>
          <p:cNvPr id="6" name="Shape 3"/>
          <p:cNvSpPr/>
          <p:nvPr/>
        </p:nvSpPr>
        <p:spPr>
          <a:xfrm>
            <a:off x="640080" y="1828800"/>
            <a:ext cx="5303520" cy="1097280"/>
          </a:xfrm>
          <a:prstGeom prst="roundRect">
            <a:avLst>
              <a:gd name="adj" fmla="val 8333"/>
            </a:avLst>
          </a:prstGeom>
          <a:solidFill>
            <a:srgbClr val="FFFFFF"/>
          </a:solidFill>
          <a:ln w="12700">
            <a:solidFill>
              <a:srgbClr val="E5E5EA"/>
            </a:solidFill>
            <a:prstDash val="solid"/>
          </a:ln>
          <a:effectLst>
            <a:outerShdw blurRad="15240" dist="12700" dir="2700000" algn="bl" rotWithShape="0">
              <a:srgbClr val="000000">
                <a:alpha val="10000"/>
              </a:srgbClr>
            </a:outerShdw>
          </a:effectLst>
        </p:spPr>
      </p:sp>
      <p:sp>
        <p:nvSpPr>
          <p:cNvPr id="7" name="Shape 4"/>
          <p:cNvSpPr/>
          <p:nvPr/>
        </p:nvSpPr>
        <p:spPr>
          <a:xfrm>
            <a:off x="868680" y="2057400"/>
            <a:ext cx="146304" cy="146304"/>
          </a:xfrm>
          <a:prstGeom prst="ellipse">
            <a:avLst/>
          </a:prstGeom>
          <a:solidFill>
            <a:srgbClr val="30D158"/>
          </a:solidFill>
          <a:ln w="12700">
            <a:solidFill>
              <a:srgbClr val="30D158"/>
            </a:solidFill>
            <a:prstDash val="solid"/>
          </a:ln>
        </p:spPr>
      </p:sp>
      <p:sp>
        <p:nvSpPr>
          <p:cNvPr id="8" name="Text 5"/>
          <p:cNvSpPr/>
          <p:nvPr/>
        </p:nvSpPr>
        <p:spPr>
          <a:xfrm>
            <a:off x="1115568" y="1993392"/>
            <a:ext cx="4617720" cy="310896"/>
          </a:xfrm>
          <a:prstGeom prst="rect">
            <a:avLst/>
          </a:prstGeom>
          <a:noFill/>
          <a:ln/>
        </p:spPr>
        <p:txBody>
          <a:bodyPr wrap="square" lIns="0" tIns="0" rIns="0" bIns="0" rtlCol="0" anchor="ctr"/>
          <a:lstStyle/>
          <a:p>
            <a:pPr marL="0" indent="0">
              <a:buNone/>
            </a:pPr>
            <a:r>
              <a:rPr lang="en-US" sz="1400" b="1" dirty="0">
                <a:solidFill>
                  <a:srgbClr val="1D1D1F"/>
                </a:solidFill>
              </a:rPr>
              <a:t>Order 42</a:t>
            </a:r>
            <a:endParaRPr lang="en-US" sz="1400" dirty="0"/>
          </a:p>
        </p:txBody>
      </p:sp>
      <p:sp>
        <p:nvSpPr>
          <p:cNvPr id="9" name="Text 6"/>
          <p:cNvSpPr/>
          <p:nvPr/>
        </p:nvSpPr>
        <p:spPr>
          <a:xfrm>
            <a:off x="868680" y="2450592"/>
            <a:ext cx="4846320" cy="320040"/>
          </a:xfrm>
          <a:prstGeom prst="rect">
            <a:avLst/>
          </a:prstGeom>
          <a:noFill/>
          <a:ln/>
        </p:spPr>
        <p:txBody>
          <a:bodyPr wrap="square" lIns="0" tIns="0" rIns="0" bIns="0" rtlCol="0" anchor="ctr">
            <a:normAutofit/>
          </a:bodyPr>
          <a:lstStyle/>
          <a:p>
            <a:pPr marL="0" indent="0">
              <a:buNone/>
            </a:pPr>
            <a:r>
              <a:rPr lang="en-US" sz="1150" dirty="0">
                <a:solidFill>
                  <a:srgbClr val="6E6E73"/>
                </a:solidFill>
              </a:rPr>
              <a:t>created → paid → packed → shipped</a:t>
            </a:r>
            <a:endParaRPr lang="en-US" sz="1150" dirty="0"/>
          </a:p>
        </p:txBody>
      </p:sp>
      <p:sp>
        <p:nvSpPr>
          <p:cNvPr id="10" name="Shape 7"/>
          <p:cNvSpPr/>
          <p:nvPr/>
        </p:nvSpPr>
        <p:spPr>
          <a:xfrm>
            <a:off x="640080" y="3154680"/>
            <a:ext cx="5303520" cy="1097280"/>
          </a:xfrm>
          <a:prstGeom prst="roundRect">
            <a:avLst>
              <a:gd name="adj" fmla="val 8333"/>
            </a:avLst>
          </a:prstGeom>
          <a:solidFill>
            <a:srgbClr val="FFFFFF"/>
          </a:solidFill>
          <a:ln w="12700">
            <a:solidFill>
              <a:srgbClr val="E5E5EA"/>
            </a:solidFill>
            <a:prstDash val="solid"/>
          </a:ln>
          <a:effectLst>
            <a:outerShdw blurRad="15240" dist="12700" dir="2700000" algn="bl" rotWithShape="0">
              <a:srgbClr val="000000">
                <a:alpha val="10000"/>
              </a:srgbClr>
            </a:outerShdw>
          </a:effectLst>
        </p:spPr>
      </p:sp>
      <p:sp>
        <p:nvSpPr>
          <p:cNvPr id="11" name="Shape 8"/>
          <p:cNvSpPr/>
          <p:nvPr/>
        </p:nvSpPr>
        <p:spPr>
          <a:xfrm>
            <a:off x="868680" y="3383280"/>
            <a:ext cx="146304" cy="146304"/>
          </a:xfrm>
          <a:prstGeom prst="ellipse">
            <a:avLst/>
          </a:prstGeom>
          <a:solidFill>
            <a:srgbClr val="0071E3"/>
          </a:solidFill>
          <a:ln w="12700">
            <a:solidFill>
              <a:srgbClr val="0071E3"/>
            </a:solidFill>
            <a:prstDash val="solid"/>
          </a:ln>
        </p:spPr>
      </p:sp>
      <p:sp>
        <p:nvSpPr>
          <p:cNvPr id="12" name="Text 9"/>
          <p:cNvSpPr/>
          <p:nvPr/>
        </p:nvSpPr>
        <p:spPr>
          <a:xfrm>
            <a:off x="1115568" y="3319272"/>
            <a:ext cx="4617720" cy="310896"/>
          </a:xfrm>
          <a:prstGeom prst="rect">
            <a:avLst/>
          </a:prstGeom>
          <a:noFill/>
          <a:ln/>
        </p:spPr>
        <p:txBody>
          <a:bodyPr wrap="square" lIns="0" tIns="0" rIns="0" bIns="0" rtlCol="0" anchor="ctr"/>
          <a:lstStyle/>
          <a:p>
            <a:pPr marL="0" indent="0">
              <a:buNone/>
            </a:pPr>
            <a:r>
              <a:rPr lang="en-US" sz="1400" b="1" dirty="0">
                <a:solidFill>
                  <a:srgbClr val="1D1D1F"/>
                </a:solidFill>
              </a:rPr>
              <a:t>Partitioner</a:t>
            </a:r>
            <a:endParaRPr lang="en-US" sz="1400" dirty="0"/>
          </a:p>
        </p:txBody>
      </p:sp>
      <p:sp>
        <p:nvSpPr>
          <p:cNvPr id="13" name="Text 10"/>
          <p:cNvSpPr/>
          <p:nvPr/>
        </p:nvSpPr>
        <p:spPr>
          <a:xfrm>
            <a:off x="868680" y="3776472"/>
            <a:ext cx="4846320" cy="320040"/>
          </a:xfrm>
          <a:prstGeom prst="rect">
            <a:avLst/>
          </a:prstGeom>
          <a:noFill/>
          <a:ln/>
        </p:spPr>
        <p:txBody>
          <a:bodyPr wrap="square" lIns="0" tIns="0" rIns="0" bIns="0" rtlCol="0" anchor="ctr">
            <a:normAutofit/>
          </a:bodyPr>
          <a:lstStyle/>
          <a:p>
            <a:pPr marL="0" indent="0">
              <a:buNone/>
            </a:pPr>
            <a:r>
              <a:rPr lang="en-US" sz="1150" dirty="0">
                <a:solidFill>
                  <a:srgbClr val="6E6E73"/>
                </a:solidFill>
              </a:rPr>
              <a:t>hash(key) selects one partition; every event for the key follows that route.</a:t>
            </a:r>
            <a:endParaRPr lang="en-US" sz="1150" dirty="0"/>
          </a:p>
        </p:txBody>
      </p:sp>
      <p:sp>
        <p:nvSpPr>
          <p:cNvPr id="14" name="Shape 11"/>
          <p:cNvSpPr/>
          <p:nvPr/>
        </p:nvSpPr>
        <p:spPr>
          <a:xfrm>
            <a:off x="640080" y="4480560"/>
            <a:ext cx="5303520" cy="1097280"/>
          </a:xfrm>
          <a:prstGeom prst="roundRect">
            <a:avLst>
              <a:gd name="adj" fmla="val 8333"/>
            </a:avLst>
          </a:prstGeom>
          <a:solidFill>
            <a:srgbClr val="FFFFFF"/>
          </a:solidFill>
          <a:ln w="12700">
            <a:solidFill>
              <a:srgbClr val="E5E5EA"/>
            </a:solidFill>
            <a:prstDash val="solid"/>
          </a:ln>
          <a:effectLst>
            <a:outerShdw blurRad="15240" dist="12700" dir="2700000" algn="bl" rotWithShape="0">
              <a:srgbClr val="000000">
                <a:alpha val="10000"/>
              </a:srgbClr>
            </a:outerShdw>
          </a:effectLst>
        </p:spPr>
      </p:sp>
      <p:sp>
        <p:nvSpPr>
          <p:cNvPr id="15" name="Shape 12"/>
          <p:cNvSpPr/>
          <p:nvPr/>
        </p:nvSpPr>
        <p:spPr>
          <a:xfrm>
            <a:off x="868680" y="4709160"/>
            <a:ext cx="146304" cy="146304"/>
          </a:xfrm>
          <a:prstGeom prst="ellipse">
            <a:avLst/>
          </a:prstGeom>
          <a:solidFill>
            <a:srgbClr val="FF9F0A"/>
          </a:solidFill>
          <a:ln w="12700">
            <a:solidFill>
              <a:srgbClr val="FF9F0A"/>
            </a:solidFill>
            <a:prstDash val="solid"/>
          </a:ln>
        </p:spPr>
      </p:sp>
      <p:sp>
        <p:nvSpPr>
          <p:cNvPr id="16" name="Text 13"/>
          <p:cNvSpPr/>
          <p:nvPr/>
        </p:nvSpPr>
        <p:spPr>
          <a:xfrm>
            <a:off x="1115568" y="4645152"/>
            <a:ext cx="4617720" cy="310896"/>
          </a:xfrm>
          <a:prstGeom prst="rect">
            <a:avLst/>
          </a:prstGeom>
          <a:noFill/>
          <a:ln/>
        </p:spPr>
        <p:txBody>
          <a:bodyPr wrap="square" lIns="0" tIns="0" rIns="0" bIns="0" rtlCol="0" anchor="ctr"/>
          <a:lstStyle/>
          <a:p>
            <a:pPr marL="0" indent="0">
              <a:buNone/>
            </a:pPr>
            <a:r>
              <a:rPr lang="en-US" sz="1400" b="1" dirty="0">
                <a:solidFill>
                  <a:srgbClr val="1D1D1F"/>
                </a:solidFill>
              </a:rPr>
              <a:t>Design consequence</a:t>
            </a:r>
            <a:endParaRPr lang="en-US" sz="1400" dirty="0"/>
          </a:p>
        </p:txBody>
      </p:sp>
      <p:sp>
        <p:nvSpPr>
          <p:cNvPr id="17" name="Text 14"/>
          <p:cNvSpPr/>
          <p:nvPr/>
        </p:nvSpPr>
        <p:spPr>
          <a:xfrm>
            <a:off x="868680" y="5102352"/>
            <a:ext cx="4846320" cy="320040"/>
          </a:xfrm>
          <a:prstGeom prst="rect">
            <a:avLst/>
          </a:prstGeom>
          <a:noFill/>
          <a:ln/>
        </p:spPr>
        <p:txBody>
          <a:bodyPr wrap="square" lIns="0" tIns="0" rIns="0" bIns="0" rtlCol="0" anchor="ctr">
            <a:normAutofit/>
          </a:bodyPr>
          <a:lstStyle/>
          <a:p>
            <a:pPr marL="0" indent="0">
              <a:buNone/>
            </a:pPr>
            <a:r>
              <a:rPr lang="en-US" sz="1150" dirty="0">
                <a:solidFill>
                  <a:srgbClr val="6E6E73"/>
                </a:solidFill>
              </a:rPr>
              <a:t>Ordering scope equals key scope. A poor key produces a poor consistency boundary.</a:t>
            </a:r>
            <a:endParaRPr lang="en-US" sz="1150" dirty="0"/>
          </a:p>
        </p:txBody>
      </p:sp>
      <p:sp>
        <p:nvSpPr>
          <p:cNvPr id="18" name="Text 15"/>
          <p:cNvSpPr/>
          <p:nvPr/>
        </p:nvSpPr>
        <p:spPr>
          <a:xfrm>
            <a:off x="594360" y="6272784"/>
            <a:ext cx="10789920" cy="228600"/>
          </a:xfrm>
          <a:prstGeom prst="rect">
            <a:avLst/>
          </a:prstGeom>
          <a:noFill/>
          <a:ln/>
        </p:spPr>
        <p:txBody>
          <a:bodyPr wrap="square" lIns="0" tIns="0" rIns="0" bIns="0" rtlCol="0" anchor="ctr"/>
          <a:lstStyle/>
          <a:p>
            <a:pPr marL="0" indent="0" algn="ctr">
              <a:buNone/>
            </a:pPr>
            <a:r>
              <a:rPr lang="en-US" sz="1000" i="1" dirty="0">
                <a:solidFill>
                  <a:srgbClr val="6E6E73"/>
                </a:solidFill>
              </a:rPr>
              <a:t>Key by order_id for order state, customer_id for customer state, account_id for ledger state.</a:t>
            </a:r>
            <a:endParaRPr lang="en-US" sz="1000" dirty="0"/>
          </a:p>
        </p:txBody>
      </p:sp>
      <p:sp>
        <p:nvSpPr>
          <p:cNvPr id="25" name="Slide Number Placeholder 0"/>
          <p:cNvSpPr>
            <a:spLocks noGrp="1"/>
          </p:cNvSpPr>
          <p:nvPr>
            <p:ph type="sldNum" sz="quarter" idx="4294967295"/>
          </p:nvPr>
        </p:nvSpPr>
        <p:spPr>
          <a:xfrm>
            <a:off x="11686032" y="6510528"/>
            <a:ext cx="228600"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86868B"/>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1" cy="1"/>
          <a:chOff x="0" y="0"/>
          <a:chExt cx="1" cy="1"/>
        </a:xfrm>
      </p:grpSpPr>
      <p:sp>
        <p:nvSpPr>
          <p:cNvPr id="2" name="Text 0"/>
          <p:cNvSpPr/>
          <p:nvPr/>
        </p:nvSpPr>
        <p:spPr>
          <a:xfrm>
            <a:off x="594360" y="502920"/>
            <a:ext cx="4389120" cy="228600"/>
          </a:xfrm>
          <a:prstGeom prst="rect">
            <a:avLst/>
          </a:prstGeom>
          <a:noFill/>
          <a:ln/>
        </p:spPr>
        <p:txBody>
          <a:bodyPr wrap="square" lIns="0" tIns="0" rIns="0" bIns="0" rtlCol="0" anchor="ctr"/>
          <a:lstStyle/>
          <a:p>
            <a:pPr marL="0" indent="0">
              <a:buNone/>
            </a:pPr>
            <a:r>
              <a:rPr lang="en-US" sz="1000" b="1" kern="0" spc="150" dirty="0">
                <a:solidFill>
                  <a:srgbClr val="0071E3"/>
                </a:solidFill>
              </a:rPr>
              <a:t>CONCURRENCY</a:t>
            </a:r>
            <a:endParaRPr lang="en-US" sz="1000" dirty="0"/>
          </a:p>
        </p:txBody>
      </p:sp>
      <p:sp>
        <p:nvSpPr>
          <p:cNvPr id="3" name="Text 1"/>
          <p:cNvSpPr/>
          <p:nvPr/>
        </p:nvSpPr>
        <p:spPr>
          <a:xfrm>
            <a:off x="594360" y="822960"/>
            <a:ext cx="10972800" cy="594360"/>
          </a:xfrm>
          <a:prstGeom prst="rect">
            <a:avLst/>
          </a:prstGeom>
          <a:noFill/>
          <a:ln/>
        </p:spPr>
        <p:txBody>
          <a:bodyPr wrap="square" lIns="0" tIns="0" rIns="0" bIns="0" rtlCol="0" anchor="ctr"/>
          <a:lstStyle/>
          <a:p>
            <a:pPr marL="0" indent="0">
              <a:buNone/>
            </a:pPr>
            <a:r>
              <a:rPr lang="en-US" sz="2800" b="1" dirty="0">
                <a:solidFill>
                  <a:srgbClr val="1D1D1F"/>
                </a:solidFill>
              </a:rPr>
              <a:t>Multiple producers do not create causal order</a:t>
            </a:r>
            <a:endParaRPr lang="en-US" sz="2800" dirty="0"/>
          </a:p>
        </p:txBody>
      </p:sp>
      <p:sp>
        <p:nvSpPr>
          <p:cNvPr id="4" name="Text 2"/>
          <p:cNvSpPr/>
          <p:nvPr/>
        </p:nvSpPr>
        <p:spPr>
          <a:xfrm>
            <a:off x="612648" y="1444752"/>
            <a:ext cx="10789920" cy="256032"/>
          </a:xfrm>
          <a:prstGeom prst="rect">
            <a:avLst/>
          </a:prstGeom>
          <a:noFill/>
          <a:ln/>
        </p:spPr>
        <p:txBody>
          <a:bodyPr wrap="square" lIns="0" tIns="0" rIns="0" bIns="0" rtlCol="0" anchor="ctr"/>
          <a:lstStyle/>
          <a:p>
            <a:pPr marL="0" indent="0">
              <a:buNone/>
            </a:pPr>
            <a:r>
              <a:rPr lang="en-US" sz="1400" dirty="0">
                <a:solidFill>
                  <a:srgbClr val="6E6E73"/>
                </a:solidFill>
              </a:rPr>
              <a:t>The broker serializes appends, but arrival order may not equal business order.</a:t>
            </a:r>
            <a:endParaRPr lang="en-US" sz="1400" dirty="0"/>
          </a:p>
        </p:txBody>
      </p:sp>
      <p:sp>
        <p:nvSpPr>
          <p:cNvPr id="5" name="Shape 3"/>
          <p:cNvSpPr/>
          <p:nvPr/>
        </p:nvSpPr>
        <p:spPr>
          <a:xfrm>
            <a:off x="640080" y="1828800"/>
            <a:ext cx="3200400" cy="1261872"/>
          </a:xfrm>
          <a:prstGeom prst="roundRect">
            <a:avLst>
              <a:gd name="adj" fmla="val 7246"/>
            </a:avLst>
          </a:prstGeom>
          <a:solidFill>
            <a:srgbClr val="FFFFFF"/>
          </a:solidFill>
          <a:ln w="12700">
            <a:solidFill>
              <a:srgbClr val="E5E5EA"/>
            </a:solidFill>
            <a:prstDash val="solid"/>
          </a:ln>
          <a:effectLst>
            <a:outerShdw blurRad="15240" dist="12700" dir="2700000" algn="bl" rotWithShape="0">
              <a:srgbClr val="000000">
                <a:alpha val="10000"/>
              </a:srgbClr>
            </a:outerShdw>
          </a:effectLst>
        </p:spPr>
      </p:sp>
      <p:sp>
        <p:nvSpPr>
          <p:cNvPr id="6" name="Shape 4"/>
          <p:cNvSpPr/>
          <p:nvPr/>
        </p:nvSpPr>
        <p:spPr>
          <a:xfrm>
            <a:off x="868680" y="2057400"/>
            <a:ext cx="146304" cy="146304"/>
          </a:xfrm>
          <a:prstGeom prst="ellipse">
            <a:avLst/>
          </a:prstGeom>
          <a:solidFill>
            <a:srgbClr val="0071E3"/>
          </a:solidFill>
          <a:ln w="12700">
            <a:solidFill>
              <a:srgbClr val="0071E3"/>
            </a:solidFill>
            <a:prstDash val="solid"/>
          </a:ln>
        </p:spPr>
      </p:sp>
      <p:sp>
        <p:nvSpPr>
          <p:cNvPr id="7" name="Text 5"/>
          <p:cNvSpPr/>
          <p:nvPr/>
        </p:nvSpPr>
        <p:spPr>
          <a:xfrm>
            <a:off x="1115568" y="1993392"/>
            <a:ext cx="2514600" cy="310896"/>
          </a:xfrm>
          <a:prstGeom prst="rect">
            <a:avLst/>
          </a:prstGeom>
          <a:noFill/>
          <a:ln/>
        </p:spPr>
        <p:txBody>
          <a:bodyPr wrap="square" lIns="0" tIns="0" rIns="0" bIns="0" rtlCol="0" anchor="ctr"/>
          <a:lstStyle/>
          <a:p>
            <a:pPr marL="0" indent="0">
              <a:buNone/>
            </a:pPr>
            <a:r>
              <a:rPr lang="en-US" sz="1400" b="1" dirty="0">
                <a:solidFill>
                  <a:srgbClr val="1D1D1F"/>
                </a:solidFill>
              </a:rPr>
              <a:t>Producer A</a:t>
            </a:r>
            <a:endParaRPr lang="en-US" sz="1400" dirty="0"/>
          </a:p>
        </p:txBody>
      </p:sp>
      <p:sp>
        <p:nvSpPr>
          <p:cNvPr id="8" name="Text 6"/>
          <p:cNvSpPr/>
          <p:nvPr/>
        </p:nvSpPr>
        <p:spPr>
          <a:xfrm>
            <a:off x="868680" y="2450592"/>
            <a:ext cx="2743200" cy="484632"/>
          </a:xfrm>
          <a:prstGeom prst="rect">
            <a:avLst/>
          </a:prstGeom>
          <a:noFill/>
          <a:ln/>
        </p:spPr>
        <p:txBody>
          <a:bodyPr wrap="square" lIns="0" tIns="0" rIns="0" bIns="0" rtlCol="0" anchor="ctr">
            <a:normAutofit/>
          </a:bodyPr>
          <a:lstStyle/>
          <a:p>
            <a:pPr marL="0" indent="0">
              <a:buNone/>
            </a:pPr>
            <a:r>
              <a:rPr lang="en-US" sz="1150" dirty="0">
                <a:solidFill>
                  <a:srgbClr val="6E6E73"/>
                </a:solidFill>
              </a:rPr>
              <a:t>payment_captured</a:t>
            </a:r>
            <a:endParaRPr lang="en-US" sz="1150" dirty="0"/>
          </a:p>
          <a:p>
            <a:pPr marL="0" indent="0">
              <a:buNone/>
            </a:pPr>
            <a:r>
              <a:rPr lang="en-US" sz="1150" dirty="0">
                <a:solidFill>
                  <a:srgbClr val="6E6E73"/>
                </a:solidFill>
              </a:rPr>
              <a:t>Event time 10:00:02</a:t>
            </a:r>
            <a:endParaRPr lang="en-US" sz="1150" dirty="0"/>
          </a:p>
        </p:txBody>
      </p:sp>
      <p:sp>
        <p:nvSpPr>
          <p:cNvPr id="9" name="Shape 7"/>
          <p:cNvSpPr/>
          <p:nvPr/>
        </p:nvSpPr>
        <p:spPr>
          <a:xfrm>
            <a:off x="640080" y="3703320"/>
            <a:ext cx="3200400" cy="1261872"/>
          </a:xfrm>
          <a:prstGeom prst="roundRect">
            <a:avLst>
              <a:gd name="adj" fmla="val 7246"/>
            </a:avLst>
          </a:prstGeom>
          <a:solidFill>
            <a:srgbClr val="FFFFFF"/>
          </a:solidFill>
          <a:ln w="12700">
            <a:solidFill>
              <a:srgbClr val="E5E5EA"/>
            </a:solidFill>
            <a:prstDash val="solid"/>
          </a:ln>
          <a:effectLst>
            <a:outerShdw blurRad="15240" dist="12700" dir="2700000" algn="bl" rotWithShape="0">
              <a:srgbClr val="000000">
                <a:alpha val="10000"/>
              </a:srgbClr>
            </a:outerShdw>
          </a:effectLst>
        </p:spPr>
      </p:sp>
      <p:sp>
        <p:nvSpPr>
          <p:cNvPr id="10" name="Shape 8"/>
          <p:cNvSpPr/>
          <p:nvPr/>
        </p:nvSpPr>
        <p:spPr>
          <a:xfrm>
            <a:off x="868680" y="3931920"/>
            <a:ext cx="146304" cy="146304"/>
          </a:xfrm>
          <a:prstGeom prst="ellipse">
            <a:avLst/>
          </a:prstGeom>
          <a:solidFill>
            <a:srgbClr val="BF5AF2"/>
          </a:solidFill>
          <a:ln w="12700">
            <a:solidFill>
              <a:srgbClr val="BF5AF2"/>
            </a:solidFill>
            <a:prstDash val="solid"/>
          </a:ln>
        </p:spPr>
      </p:sp>
      <p:sp>
        <p:nvSpPr>
          <p:cNvPr id="11" name="Text 9"/>
          <p:cNvSpPr/>
          <p:nvPr/>
        </p:nvSpPr>
        <p:spPr>
          <a:xfrm>
            <a:off x="1115568" y="3867912"/>
            <a:ext cx="2514600" cy="310896"/>
          </a:xfrm>
          <a:prstGeom prst="rect">
            <a:avLst/>
          </a:prstGeom>
          <a:noFill/>
          <a:ln/>
        </p:spPr>
        <p:txBody>
          <a:bodyPr wrap="square" lIns="0" tIns="0" rIns="0" bIns="0" rtlCol="0" anchor="ctr"/>
          <a:lstStyle/>
          <a:p>
            <a:pPr marL="0" indent="0">
              <a:buNone/>
            </a:pPr>
            <a:r>
              <a:rPr lang="en-US" sz="1400" b="1" dirty="0">
                <a:solidFill>
                  <a:srgbClr val="1D1D1F"/>
                </a:solidFill>
              </a:rPr>
              <a:t>Producer B</a:t>
            </a:r>
            <a:endParaRPr lang="en-US" sz="1400" dirty="0"/>
          </a:p>
        </p:txBody>
      </p:sp>
      <p:sp>
        <p:nvSpPr>
          <p:cNvPr id="12" name="Text 10"/>
          <p:cNvSpPr/>
          <p:nvPr/>
        </p:nvSpPr>
        <p:spPr>
          <a:xfrm>
            <a:off x="868680" y="4325112"/>
            <a:ext cx="2743200" cy="484632"/>
          </a:xfrm>
          <a:prstGeom prst="rect">
            <a:avLst/>
          </a:prstGeom>
          <a:noFill/>
          <a:ln/>
        </p:spPr>
        <p:txBody>
          <a:bodyPr wrap="square" lIns="0" tIns="0" rIns="0" bIns="0" rtlCol="0" anchor="ctr">
            <a:normAutofit/>
          </a:bodyPr>
          <a:lstStyle/>
          <a:p>
            <a:pPr marL="0" indent="0">
              <a:buNone/>
            </a:pPr>
            <a:r>
              <a:rPr lang="en-US" sz="1150" dirty="0">
                <a:solidFill>
                  <a:srgbClr val="6E6E73"/>
                </a:solidFill>
              </a:rPr>
              <a:t>order_created</a:t>
            </a:r>
            <a:endParaRPr lang="en-US" sz="1150" dirty="0"/>
          </a:p>
          <a:p>
            <a:pPr marL="0" indent="0">
              <a:buNone/>
            </a:pPr>
            <a:r>
              <a:rPr lang="en-US" sz="1150" dirty="0">
                <a:solidFill>
                  <a:srgbClr val="6E6E73"/>
                </a:solidFill>
              </a:rPr>
              <a:t>Event time 10:00:01</a:t>
            </a:r>
            <a:endParaRPr lang="en-US" sz="1150" dirty="0"/>
          </a:p>
        </p:txBody>
      </p:sp>
      <p:sp>
        <p:nvSpPr>
          <p:cNvPr id="13" name="Shape 11"/>
          <p:cNvSpPr/>
          <p:nvPr/>
        </p:nvSpPr>
        <p:spPr>
          <a:xfrm>
            <a:off x="3840480" y="2423160"/>
            <a:ext cx="1920240" cy="960120"/>
          </a:xfrm>
          <a:prstGeom prst="line">
            <a:avLst/>
          </a:prstGeom>
          <a:noFill/>
          <a:ln w="38100">
            <a:solidFill>
              <a:srgbClr val="0071E3"/>
            </a:solidFill>
            <a:prstDash val="solid"/>
            <a:headEnd type="none"/>
            <a:tailEnd type="triangle"/>
          </a:ln>
        </p:spPr>
      </p:sp>
      <p:sp>
        <p:nvSpPr>
          <p:cNvPr id="14" name="Shape 12"/>
          <p:cNvSpPr/>
          <p:nvPr/>
        </p:nvSpPr>
        <p:spPr>
          <a:xfrm flipV="1">
            <a:off x="3840480" y="3794760"/>
            <a:ext cx="1920240" cy="502920"/>
          </a:xfrm>
          <a:prstGeom prst="line">
            <a:avLst/>
          </a:prstGeom>
          <a:noFill/>
          <a:ln w="38100">
            <a:solidFill>
              <a:srgbClr val="BF5AF2"/>
            </a:solidFill>
            <a:prstDash val="solid"/>
            <a:headEnd type="none"/>
            <a:tailEnd type="triangle"/>
          </a:ln>
        </p:spPr>
      </p:sp>
      <p:sp>
        <p:nvSpPr>
          <p:cNvPr id="15" name="Shape 13"/>
          <p:cNvSpPr/>
          <p:nvPr/>
        </p:nvSpPr>
        <p:spPr>
          <a:xfrm>
            <a:off x="5943600" y="2468880"/>
            <a:ext cx="5212080" cy="2057400"/>
          </a:xfrm>
          <a:prstGeom prst="roundRect">
            <a:avLst>
              <a:gd name="adj" fmla="val 4444"/>
            </a:avLst>
          </a:prstGeom>
          <a:solidFill>
            <a:srgbClr val="FFFFFF"/>
          </a:solidFill>
          <a:ln w="12700">
            <a:solidFill>
              <a:srgbClr val="E5E5EA"/>
            </a:solidFill>
            <a:prstDash val="solid"/>
          </a:ln>
          <a:effectLst>
            <a:outerShdw blurRad="15240" dist="12700" dir="2700000" algn="bl" rotWithShape="0">
              <a:srgbClr val="000000">
                <a:alpha val="10000"/>
              </a:srgbClr>
            </a:outerShdw>
          </a:effectLst>
        </p:spPr>
      </p:sp>
      <p:sp>
        <p:nvSpPr>
          <p:cNvPr id="16" name="Shape 14"/>
          <p:cNvSpPr/>
          <p:nvPr/>
        </p:nvSpPr>
        <p:spPr>
          <a:xfrm>
            <a:off x="6172200" y="2697480"/>
            <a:ext cx="146304" cy="146304"/>
          </a:xfrm>
          <a:prstGeom prst="ellipse">
            <a:avLst/>
          </a:prstGeom>
          <a:solidFill>
            <a:srgbClr val="FF9F0A"/>
          </a:solidFill>
          <a:ln w="12700">
            <a:solidFill>
              <a:srgbClr val="FF9F0A"/>
            </a:solidFill>
            <a:prstDash val="solid"/>
          </a:ln>
        </p:spPr>
      </p:sp>
      <p:sp>
        <p:nvSpPr>
          <p:cNvPr id="17" name="Text 15"/>
          <p:cNvSpPr/>
          <p:nvPr/>
        </p:nvSpPr>
        <p:spPr>
          <a:xfrm>
            <a:off x="6419088" y="2633472"/>
            <a:ext cx="4526280" cy="310896"/>
          </a:xfrm>
          <a:prstGeom prst="rect">
            <a:avLst/>
          </a:prstGeom>
          <a:noFill/>
          <a:ln/>
        </p:spPr>
        <p:txBody>
          <a:bodyPr wrap="square" lIns="0" tIns="0" rIns="0" bIns="0" rtlCol="0" anchor="ctr"/>
          <a:lstStyle/>
          <a:p>
            <a:pPr marL="0" indent="0">
              <a:buNone/>
            </a:pPr>
            <a:r>
              <a:rPr lang="en-US" sz="1400" b="1" dirty="0">
                <a:solidFill>
                  <a:srgbClr val="1D1D1F"/>
                </a:solidFill>
              </a:rPr>
              <a:t>One partition, one append sequence</a:t>
            </a:r>
            <a:endParaRPr lang="en-US" sz="1400" dirty="0"/>
          </a:p>
        </p:txBody>
      </p:sp>
      <p:sp>
        <p:nvSpPr>
          <p:cNvPr id="18" name="Text 16"/>
          <p:cNvSpPr/>
          <p:nvPr/>
        </p:nvSpPr>
        <p:spPr>
          <a:xfrm>
            <a:off x="6172200" y="3090672"/>
            <a:ext cx="4754880" cy="1280160"/>
          </a:xfrm>
          <a:prstGeom prst="rect">
            <a:avLst/>
          </a:prstGeom>
          <a:noFill/>
          <a:ln/>
        </p:spPr>
        <p:txBody>
          <a:bodyPr wrap="square" lIns="0" tIns="0" rIns="0" bIns="0" rtlCol="0" anchor="ctr">
            <a:normAutofit/>
          </a:bodyPr>
          <a:lstStyle/>
          <a:p>
            <a:pPr marL="0" indent="0">
              <a:buNone/>
            </a:pPr>
            <a:r>
              <a:rPr lang="en-US" sz="1150" dirty="0">
                <a:solidFill>
                  <a:srgbClr val="6E6E73"/>
                </a:solidFill>
              </a:rPr>
              <a:t>Whichever request reaches the leader first gets the earlier offset. Kafka preserves broker append order, not external causality. Add entity versions or sequence numbers when business causality spans producers.</a:t>
            </a:r>
            <a:endParaRPr lang="en-US" sz="1150" dirty="0"/>
          </a:p>
        </p:txBody>
      </p:sp>
      <p:sp>
        <p:nvSpPr>
          <p:cNvPr id="19" name="Text 17"/>
          <p:cNvSpPr/>
          <p:nvPr/>
        </p:nvSpPr>
        <p:spPr>
          <a:xfrm>
            <a:off x="594360" y="6272784"/>
            <a:ext cx="10789920" cy="228600"/>
          </a:xfrm>
          <a:prstGeom prst="rect">
            <a:avLst/>
          </a:prstGeom>
          <a:noFill/>
          <a:ln/>
        </p:spPr>
        <p:txBody>
          <a:bodyPr wrap="square" lIns="0" tIns="0" rIns="0" bIns="0" rtlCol="0" anchor="ctr"/>
          <a:lstStyle/>
          <a:p>
            <a:pPr marL="0" indent="0" algn="ctr">
              <a:buNone/>
            </a:pPr>
            <a:r>
              <a:rPr lang="en-US" sz="1000" i="1" dirty="0">
                <a:solidFill>
                  <a:srgbClr val="6E6E73"/>
                </a:solidFill>
              </a:rPr>
              <a:t>Partition order is deterministic after append, not necessarily causally correct before append.</a:t>
            </a:r>
            <a:endParaRPr lang="en-US" sz="1000" dirty="0"/>
          </a:p>
        </p:txBody>
      </p:sp>
      <p:sp>
        <p:nvSpPr>
          <p:cNvPr id="25" name="Slide Number Placeholder 0"/>
          <p:cNvSpPr>
            <a:spLocks noGrp="1"/>
          </p:cNvSpPr>
          <p:nvPr>
            <p:ph type="sldNum" sz="quarter" idx="4294967295"/>
          </p:nvPr>
        </p:nvSpPr>
        <p:spPr>
          <a:xfrm>
            <a:off x="11686032" y="6510528"/>
            <a:ext cx="228600"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86868B"/>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1" cy="1"/>
          <a:chOff x="0" y="0"/>
          <a:chExt cx="1" cy="1"/>
        </a:xfrm>
      </p:grpSpPr>
      <p:sp>
        <p:nvSpPr>
          <p:cNvPr id="2" name="Text 0"/>
          <p:cNvSpPr/>
          <p:nvPr/>
        </p:nvSpPr>
        <p:spPr>
          <a:xfrm>
            <a:off x="594360" y="502920"/>
            <a:ext cx="4389120" cy="228600"/>
          </a:xfrm>
          <a:prstGeom prst="rect">
            <a:avLst/>
          </a:prstGeom>
          <a:noFill/>
          <a:ln/>
        </p:spPr>
        <p:txBody>
          <a:bodyPr wrap="square" lIns="0" tIns="0" rIns="0" bIns="0" rtlCol="0" anchor="ctr"/>
          <a:lstStyle/>
          <a:p>
            <a:pPr marL="0" indent="0">
              <a:buNone/>
            </a:pPr>
            <a:r>
              <a:rPr lang="en-US" sz="1000" b="1" kern="0" spc="150" dirty="0">
                <a:solidFill>
                  <a:srgbClr val="0071E3"/>
                </a:solidFill>
              </a:rPr>
              <a:t>RETRIES</a:t>
            </a:r>
            <a:endParaRPr lang="en-US" sz="1000" dirty="0"/>
          </a:p>
        </p:txBody>
      </p:sp>
      <p:sp>
        <p:nvSpPr>
          <p:cNvPr id="3" name="Text 1"/>
          <p:cNvSpPr/>
          <p:nvPr/>
        </p:nvSpPr>
        <p:spPr>
          <a:xfrm>
            <a:off x="594360" y="822960"/>
            <a:ext cx="10972800" cy="594360"/>
          </a:xfrm>
          <a:prstGeom prst="rect">
            <a:avLst/>
          </a:prstGeom>
          <a:noFill/>
          <a:ln/>
        </p:spPr>
        <p:txBody>
          <a:bodyPr wrap="square" lIns="0" tIns="0" rIns="0" bIns="0" rtlCol="0" anchor="ctr"/>
          <a:lstStyle/>
          <a:p>
            <a:pPr marL="0" indent="0">
              <a:buNone/>
            </a:pPr>
            <a:r>
              <a:rPr lang="en-US" sz="2800" b="1" dirty="0">
                <a:solidFill>
                  <a:srgbClr val="1D1D1F"/>
                </a:solidFill>
              </a:rPr>
              <a:t>The lost ACK problem creates duplicates</a:t>
            </a:r>
            <a:endParaRPr lang="en-US" sz="2800" dirty="0"/>
          </a:p>
        </p:txBody>
      </p:sp>
      <p:sp>
        <p:nvSpPr>
          <p:cNvPr id="4" name="Text 2"/>
          <p:cNvSpPr/>
          <p:nvPr/>
        </p:nvSpPr>
        <p:spPr>
          <a:xfrm>
            <a:off x="612648" y="1444752"/>
            <a:ext cx="10789920" cy="256032"/>
          </a:xfrm>
          <a:prstGeom prst="rect">
            <a:avLst/>
          </a:prstGeom>
          <a:noFill/>
          <a:ln/>
        </p:spPr>
        <p:txBody>
          <a:bodyPr wrap="square" lIns="0" tIns="0" rIns="0" bIns="0" rtlCol="0" anchor="ctr"/>
          <a:lstStyle/>
          <a:p>
            <a:pPr marL="0" indent="0">
              <a:buNone/>
            </a:pPr>
            <a:r>
              <a:rPr lang="en-US" sz="1400" dirty="0">
                <a:solidFill>
                  <a:srgbClr val="6E6E73"/>
                </a:solidFill>
              </a:rPr>
              <a:t>Idempotence turns an ambiguous retry into a safe retry.</a:t>
            </a:r>
            <a:endParaRPr lang="en-US" sz="1400" dirty="0"/>
          </a:p>
        </p:txBody>
      </p:sp>
      <p:sp>
        <p:nvSpPr>
          <p:cNvPr id="5" name="Shape 3"/>
          <p:cNvSpPr/>
          <p:nvPr/>
        </p:nvSpPr>
        <p:spPr>
          <a:xfrm>
            <a:off x="731520" y="2743200"/>
            <a:ext cx="1005840" cy="1005840"/>
          </a:xfrm>
          <a:prstGeom prst="ellipse">
            <a:avLst/>
          </a:prstGeom>
          <a:solidFill>
            <a:srgbClr val="E8F3FF"/>
          </a:solidFill>
          <a:ln w="25400">
            <a:solidFill>
              <a:srgbClr val="0071E3"/>
            </a:solidFill>
            <a:prstDash val="solid"/>
          </a:ln>
        </p:spPr>
      </p:sp>
      <p:sp>
        <p:nvSpPr>
          <p:cNvPr id="6" name="Text 4"/>
          <p:cNvSpPr/>
          <p:nvPr/>
        </p:nvSpPr>
        <p:spPr>
          <a:xfrm>
            <a:off x="457200" y="3886200"/>
            <a:ext cx="1554480" cy="502920"/>
          </a:xfrm>
          <a:prstGeom prst="rect">
            <a:avLst/>
          </a:prstGeom>
          <a:noFill/>
          <a:ln/>
        </p:spPr>
        <p:txBody>
          <a:bodyPr wrap="square" lIns="0" tIns="0" rIns="0" bIns="0" rtlCol="0" anchor="ctr"/>
          <a:lstStyle/>
          <a:p>
            <a:pPr marL="0" indent="0" algn="ctr">
              <a:buNone/>
            </a:pPr>
            <a:r>
              <a:rPr lang="en-US" sz="1100" b="1" dirty="0">
                <a:solidFill>
                  <a:srgbClr val="1D1D1F"/>
                </a:solidFill>
              </a:rPr>
              <a:t>Send #17</a:t>
            </a:r>
            <a:endParaRPr lang="en-US" sz="1100" dirty="0"/>
          </a:p>
        </p:txBody>
      </p:sp>
      <p:sp>
        <p:nvSpPr>
          <p:cNvPr id="7" name="Shape 5"/>
          <p:cNvSpPr/>
          <p:nvPr/>
        </p:nvSpPr>
        <p:spPr>
          <a:xfrm>
            <a:off x="1874520" y="3054096"/>
            <a:ext cx="502920" cy="365760"/>
          </a:xfrm>
          <a:prstGeom prst="chevron">
            <a:avLst/>
          </a:prstGeom>
          <a:solidFill>
            <a:srgbClr val="D2D2D7"/>
          </a:solidFill>
          <a:ln w="12700">
            <a:solidFill>
              <a:srgbClr val="D2D2D7"/>
            </a:solidFill>
            <a:prstDash val="solid"/>
          </a:ln>
        </p:spPr>
      </p:sp>
      <p:sp>
        <p:nvSpPr>
          <p:cNvPr id="8" name="Shape 6"/>
          <p:cNvSpPr/>
          <p:nvPr/>
        </p:nvSpPr>
        <p:spPr>
          <a:xfrm>
            <a:off x="3200400" y="2743200"/>
            <a:ext cx="1005840" cy="1005840"/>
          </a:xfrm>
          <a:prstGeom prst="ellipse">
            <a:avLst/>
          </a:prstGeom>
          <a:solidFill>
            <a:srgbClr val="E8F3FF"/>
          </a:solidFill>
          <a:ln w="25400">
            <a:solidFill>
              <a:srgbClr val="0071E3"/>
            </a:solidFill>
            <a:prstDash val="solid"/>
          </a:ln>
        </p:spPr>
      </p:sp>
      <p:sp>
        <p:nvSpPr>
          <p:cNvPr id="9" name="Text 7"/>
          <p:cNvSpPr/>
          <p:nvPr/>
        </p:nvSpPr>
        <p:spPr>
          <a:xfrm>
            <a:off x="2926080" y="3886200"/>
            <a:ext cx="1554480" cy="502920"/>
          </a:xfrm>
          <a:prstGeom prst="rect">
            <a:avLst/>
          </a:prstGeom>
          <a:noFill/>
          <a:ln/>
        </p:spPr>
        <p:txBody>
          <a:bodyPr wrap="square" lIns="0" tIns="0" rIns="0" bIns="0" rtlCol="0" anchor="ctr"/>
          <a:lstStyle/>
          <a:p>
            <a:pPr marL="0" indent="0" algn="ctr">
              <a:buNone/>
            </a:pPr>
            <a:r>
              <a:rPr lang="en-US" sz="1100" b="1" dirty="0">
                <a:solidFill>
                  <a:srgbClr val="1D1D1F"/>
                </a:solidFill>
              </a:rPr>
              <a:t>Broker appends</a:t>
            </a:r>
            <a:endParaRPr lang="en-US" sz="1100" dirty="0"/>
          </a:p>
        </p:txBody>
      </p:sp>
      <p:sp>
        <p:nvSpPr>
          <p:cNvPr id="10" name="Shape 8"/>
          <p:cNvSpPr/>
          <p:nvPr/>
        </p:nvSpPr>
        <p:spPr>
          <a:xfrm>
            <a:off x="4343400" y="3054096"/>
            <a:ext cx="502920" cy="365760"/>
          </a:xfrm>
          <a:prstGeom prst="chevron">
            <a:avLst/>
          </a:prstGeom>
          <a:solidFill>
            <a:srgbClr val="D2D2D7"/>
          </a:solidFill>
          <a:ln w="12700">
            <a:solidFill>
              <a:srgbClr val="D2D2D7"/>
            </a:solidFill>
            <a:prstDash val="solid"/>
          </a:ln>
        </p:spPr>
      </p:sp>
      <p:sp>
        <p:nvSpPr>
          <p:cNvPr id="11" name="Shape 9"/>
          <p:cNvSpPr/>
          <p:nvPr/>
        </p:nvSpPr>
        <p:spPr>
          <a:xfrm>
            <a:off x="5669280" y="2743200"/>
            <a:ext cx="1005840" cy="1005840"/>
          </a:xfrm>
          <a:prstGeom prst="ellipse">
            <a:avLst/>
          </a:prstGeom>
          <a:solidFill>
            <a:srgbClr val="E8F3FF"/>
          </a:solidFill>
          <a:ln w="25400">
            <a:solidFill>
              <a:srgbClr val="0071E3"/>
            </a:solidFill>
            <a:prstDash val="solid"/>
          </a:ln>
        </p:spPr>
      </p:sp>
      <p:sp>
        <p:nvSpPr>
          <p:cNvPr id="12" name="Text 10"/>
          <p:cNvSpPr/>
          <p:nvPr/>
        </p:nvSpPr>
        <p:spPr>
          <a:xfrm>
            <a:off x="5394960" y="3886200"/>
            <a:ext cx="1554480" cy="502920"/>
          </a:xfrm>
          <a:prstGeom prst="rect">
            <a:avLst/>
          </a:prstGeom>
          <a:noFill/>
          <a:ln/>
        </p:spPr>
        <p:txBody>
          <a:bodyPr wrap="square" lIns="0" tIns="0" rIns="0" bIns="0" rtlCol="0" anchor="ctr"/>
          <a:lstStyle/>
          <a:p>
            <a:pPr marL="0" indent="0" algn="ctr">
              <a:buNone/>
            </a:pPr>
            <a:r>
              <a:rPr lang="en-US" sz="1100" b="1" dirty="0">
                <a:solidFill>
                  <a:srgbClr val="1D1D1F"/>
                </a:solidFill>
              </a:rPr>
              <a:t>ACK lost</a:t>
            </a:r>
            <a:endParaRPr lang="en-US" sz="1100" dirty="0"/>
          </a:p>
        </p:txBody>
      </p:sp>
      <p:sp>
        <p:nvSpPr>
          <p:cNvPr id="13" name="Shape 11"/>
          <p:cNvSpPr/>
          <p:nvPr/>
        </p:nvSpPr>
        <p:spPr>
          <a:xfrm>
            <a:off x="6812280" y="3054096"/>
            <a:ext cx="502920" cy="365760"/>
          </a:xfrm>
          <a:prstGeom prst="chevron">
            <a:avLst/>
          </a:prstGeom>
          <a:solidFill>
            <a:srgbClr val="D2D2D7"/>
          </a:solidFill>
          <a:ln w="12700">
            <a:solidFill>
              <a:srgbClr val="D2D2D7"/>
            </a:solidFill>
            <a:prstDash val="solid"/>
          </a:ln>
        </p:spPr>
      </p:sp>
      <p:sp>
        <p:nvSpPr>
          <p:cNvPr id="14" name="Shape 12"/>
          <p:cNvSpPr/>
          <p:nvPr/>
        </p:nvSpPr>
        <p:spPr>
          <a:xfrm>
            <a:off x="8138160" y="2743200"/>
            <a:ext cx="1005840" cy="1005840"/>
          </a:xfrm>
          <a:prstGeom prst="ellipse">
            <a:avLst/>
          </a:prstGeom>
          <a:solidFill>
            <a:srgbClr val="E8F3FF"/>
          </a:solidFill>
          <a:ln w="25400">
            <a:solidFill>
              <a:srgbClr val="0071E3"/>
            </a:solidFill>
            <a:prstDash val="solid"/>
          </a:ln>
        </p:spPr>
      </p:sp>
      <p:sp>
        <p:nvSpPr>
          <p:cNvPr id="15" name="Text 13"/>
          <p:cNvSpPr/>
          <p:nvPr/>
        </p:nvSpPr>
        <p:spPr>
          <a:xfrm>
            <a:off x="7863840" y="3886200"/>
            <a:ext cx="1554480" cy="502920"/>
          </a:xfrm>
          <a:prstGeom prst="rect">
            <a:avLst/>
          </a:prstGeom>
          <a:noFill/>
          <a:ln/>
        </p:spPr>
        <p:txBody>
          <a:bodyPr wrap="square" lIns="0" tIns="0" rIns="0" bIns="0" rtlCol="0" anchor="ctr"/>
          <a:lstStyle/>
          <a:p>
            <a:pPr marL="0" indent="0" algn="ctr">
              <a:buNone/>
            </a:pPr>
            <a:r>
              <a:rPr lang="en-US" sz="1100" b="1" dirty="0">
                <a:solidFill>
                  <a:srgbClr val="1D1D1F"/>
                </a:solidFill>
              </a:rPr>
              <a:t>Retry #17</a:t>
            </a:r>
            <a:endParaRPr lang="en-US" sz="1100" dirty="0"/>
          </a:p>
        </p:txBody>
      </p:sp>
      <p:sp>
        <p:nvSpPr>
          <p:cNvPr id="16" name="Shape 14"/>
          <p:cNvSpPr/>
          <p:nvPr/>
        </p:nvSpPr>
        <p:spPr>
          <a:xfrm>
            <a:off x="9281160" y="3054096"/>
            <a:ext cx="502920" cy="365760"/>
          </a:xfrm>
          <a:prstGeom prst="chevron">
            <a:avLst/>
          </a:prstGeom>
          <a:solidFill>
            <a:srgbClr val="D2D2D7"/>
          </a:solidFill>
          <a:ln w="12700">
            <a:solidFill>
              <a:srgbClr val="D2D2D7"/>
            </a:solidFill>
            <a:prstDash val="solid"/>
          </a:ln>
        </p:spPr>
      </p:sp>
      <p:sp>
        <p:nvSpPr>
          <p:cNvPr id="17" name="Shape 15"/>
          <p:cNvSpPr/>
          <p:nvPr/>
        </p:nvSpPr>
        <p:spPr>
          <a:xfrm>
            <a:off x="10149840" y="2743200"/>
            <a:ext cx="1005840" cy="1005840"/>
          </a:xfrm>
          <a:prstGeom prst="ellipse">
            <a:avLst/>
          </a:prstGeom>
          <a:solidFill>
            <a:srgbClr val="EAFBEF"/>
          </a:solidFill>
          <a:ln w="25400">
            <a:solidFill>
              <a:srgbClr val="30D158"/>
            </a:solidFill>
            <a:prstDash val="solid"/>
          </a:ln>
        </p:spPr>
      </p:sp>
      <p:sp>
        <p:nvSpPr>
          <p:cNvPr id="18" name="Text 16"/>
          <p:cNvSpPr/>
          <p:nvPr/>
        </p:nvSpPr>
        <p:spPr>
          <a:xfrm>
            <a:off x="9875520" y="3886200"/>
            <a:ext cx="1554480" cy="502920"/>
          </a:xfrm>
          <a:prstGeom prst="rect">
            <a:avLst/>
          </a:prstGeom>
          <a:noFill/>
          <a:ln/>
        </p:spPr>
        <p:txBody>
          <a:bodyPr wrap="square" lIns="0" tIns="0" rIns="0" bIns="0" rtlCol="0" anchor="ctr"/>
          <a:lstStyle/>
          <a:p>
            <a:pPr marL="0" indent="0" algn="ctr">
              <a:buNone/>
            </a:pPr>
            <a:r>
              <a:rPr lang="en-US" sz="1100" b="1" dirty="0">
                <a:solidFill>
                  <a:srgbClr val="1D1D1F"/>
                </a:solidFill>
              </a:rPr>
              <a:t>Broker dedupes</a:t>
            </a:r>
            <a:endParaRPr lang="en-US" sz="1100" dirty="0"/>
          </a:p>
        </p:txBody>
      </p:sp>
      <p:sp>
        <p:nvSpPr>
          <p:cNvPr id="19" name="Shape 17"/>
          <p:cNvSpPr/>
          <p:nvPr/>
        </p:nvSpPr>
        <p:spPr>
          <a:xfrm>
            <a:off x="4407408" y="1874520"/>
            <a:ext cx="2788920" cy="347472"/>
          </a:xfrm>
          <a:prstGeom prst="roundRect">
            <a:avLst>
              <a:gd name="adj" fmla="val 47368"/>
            </a:avLst>
          </a:prstGeom>
          <a:solidFill>
            <a:srgbClr val="BF5AF2"/>
          </a:solidFill>
          <a:ln w="12700">
            <a:solidFill>
              <a:srgbClr val="BF5AF2"/>
            </a:solidFill>
            <a:prstDash val="solid"/>
          </a:ln>
        </p:spPr>
      </p:sp>
      <p:sp>
        <p:nvSpPr>
          <p:cNvPr id="20" name="Text 18"/>
          <p:cNvSpPr/>
          <p:nvPr/>
        </p:nvSpPr>
        <p:spPr>
          <a:xfrm>
            <a:off x="4407408" y="1929384"/>
            <a:ext cx="2788920" cy="182880"/>
          </a:xfrm>
          <a:prstGeom prst="rect">
            <a:avLst/>
          </a:prstGeom>
          <a:noFill/>
          <a:ln/>
        </p:spPr>
        <p:txBody>
          <a:bodyPr wrap="square" lIns="0" tIns="0" rIns="0" bIns="0" rtlCol="0" anchor="ctr"/>
          <a:lstStyle/>
          <a:p>
            <a:pPr marL="0" indent="0" algn="ctr">
              <a:buNone/>
            </a:pPr>
            <a:r>
              <a:rPr lang="en-US" sz="1000" b="1" dirty="0">
                <a:solidFill>
                  <a:srgbClr val="FFFFFF"/>
                </a:solidFill>
              </a:rPr>
              <a:t>PID + EPOCH + SEQUENCE</a:t>
            </a:r>
            <a:endParaRPr lang="en-US" sz="1000" dirty="0"/>
          </a:p>
        </p:txBody>
      </p:sp>
      <p:sp>
        <p:nvSpPr>
          <p:cNvPr id="21" name="Text 19"/>
          <p:cNvSpPr/>
          <p:nvPr/>
        </p:nvSpPr>
        <p:spPr>
          <a:xfrm>
            <a:off x="594360" y="6272784"/>
            <a:ext cx="10789920" cy="228600"/>
          </a:xfrm>
          <a:prstGeom prst="rect">
            <a:avLst/>
          </a:prstGeom>
          <a:noFill/>
          <a:ln/>
        </p:spPr>
        <p:txBody>
          <a:bodyPr wrap="square" lIns="0" tIns="0" rIns="0" bIns="0" rtlCol="0" anchor="ctr"/>
          <a:lstStyle/>
          <a:p>
            <a:pPr marL="0" indent="0" algn="ctr">
              <a:buNone/>
            </a:pPr>
            <a:r>
              <a:rPr lang="en-US" sz="1000" i="1" dirty="0">
                <a:solidFill>
                  <a:srgbClr val="6E6E73"/>
                </a:solidFill>
              </a:rPr>
              <a:t>Idempotence prevents duplicate log appends caused by producer retries.</a:t>
            </a:r>
            <a:endParaRPr lang="en-US" sz="1000" dirty="0"/>
          </a:p>
        </p:txBody>
      </p:sp>
      <p:sp>
        <p:nvSpPr>
          <p:cNvPr id="25" name="Slide Number Placeholder 0"/>
          <p:cNvSpPr>
            <a:spLocks noGrp="1"/>
          </p:cNvSpPr>
          <p:nvPr>
            <p:ph type="sldNum" sz="quarter" idx="4294967295"/>
          </p:nvPr>
        </p:nvSpPr>
        <p:spPr>
          <a:xfrm>
            <a:off x="11686032" y="6510528"/>
            <a:ext cx="228600"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86868B"/>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1" cy="1"/>
          <a:chOff x="0" y="0"/>
          <a:chExt cx="1" cy="1"/>
        </a:xfrm>
      </p:grpSpPr>
      <p:sp>
        <p:nvSpPr>
          <p:cNvPr id="2" name="Text 0"/>
          <p:cNvSpPr/>
          <p:nvPr/>
        </p:nvSpPr>
        <p:spPr>
          <a:xfrm>
            <a:off x="594360" y="502920"/>
            <a:ext cx="4389120" cy="228600"/>
          </a:xfrm>
          <a:prstGeom prst="rect">
            <a:avLst/>
          </a:prstGeom>
          <a:noFill/>
          <a:ln/>
        </p:spPr>
        <p:txBody>
          <a:bodyPr wrap="square" lIns="0" tIns="0" rIns="0" bIns="0" rtlCol="0" anchor="ctr"/>
          <a:lstStyle/>
          <a:p>
            <a:pPr marL="0" indent="0">
              <a:buNone/>
            </a:pPr>
            <a:r>
              <a:rPr lang="en-US" sz="1000" b="1" kern="0" spc="150" dirty="0">
                <a:solidFill>
                  <a:srgbClr val="0071E3"/>
                </a:solidFill>
              </a:rPr>
              <a:t>PRODUCER CONTRACT</a:t>
            </a:r>
            <a:endParaRPr lang="en-US" sz="1000" dirty="0"/>
          </a:p>
        </p:txBody>
      </p:sp>
      <p:sp>
        <p:nvSpPr>
          <p:cNvPr id="3" name="Text 1"/>
          <p:cNvSpPr/>
          <p:nvPr/>
        </p:nvSpPr>
        <p:spPr>
          <a:xfrm>
            <a:off x="594360" y="822960"/>
            <a:ext cx="10972800" cy="594360"/>
          </a:xfrm>
          <a:prstGeom prst="rect">
            <a:avLst/>
          </a:prstGeom>
          <a:noFill/>
          <a:ln/>
        </p:spPr>
        <p:txBody>
          <a:bodyPr wrap="square" lIns="0" tIns="0" rIns="0" bIns="0" rtlCol="0" anchor="ctr"/>
          <a:lstStyle/>
          <a:p>
            <a:pPr marL="0" indent="0">
              <a:buNone/>
            </a:pPr>
            <a:r>
              <a:rPr lang="en-US" sz="2800" b="1" dirty="0">
                <a:solidFill>
                  <a:srgbClr val="1D1D1F"/>
                </a:solidFill>
              </a:rPr>
              <a:t>The safe ordering configuration</a:t>
            </a:r>
            <a:endParaRPr lang="en-US" sz="2800" dirty="0"/>
          </a:p>
        </p:txBody>
      </p:sp>
      <p:sp>
        <p:nvSpPr>
          <p:cNvPr id="4" name="Text 2"/>
          <p:cNvSpPr/>
          <p:nvPr/>
        </p:nvSpPr>
        <p:spPr>
          <a:xfrm>
            <a:off x="612648" y="1444752"/>
            <a:ext cx="10789920" cy="256032"/>
          </a:xfrm>
          <a:prstGeom prst="rect">
            <a:avLst/>
          </a:prstGeom>
          <a:noFill/>
          <a:ln/>
        </p:spPr>
        <p:txBody>
          <a:bodyPr wrap="square" lIns="0" tIns="0" rIns="0" bIns="0" rtlCol="0" anchor="ctr"/>
          <a:lstStyle/>
          <a:p>
            <a:pPr marL="0" indent="0">
              <a:buNone/>
            </a:pPr>
            <a:r>
              <a:rPr lang="en-US" sz="1400" dirty="0">
                <a:solidFill>
                  <a:srgbClr val="6E6E73"/>
                </a:solidFill>
              </a:rPr>
              <a:t>Make the reliability intent explicit, even when defaults are strong.</a:t>
            </a:r>
            <a:endParaRPr lang="en-US" sz="1400" dirty="0"/>
          </a:p>
        </p:txBody>
      </p:sp>
      <p:sp>
        <p:nvSpPr>
          <p:cNvPr id="5" name="Shape 3"/>
          <p:cNvSpPr/>
          <p:nvPr/>
        </p:nvSpPr>
        <p:spPr>
          <a:xfrm>
            <a:off x="685800" y="1874520"/>
            <a:ext cx="4937760" cy="3291840"/>
          </a:xfrm>
          <a:prstGeom prst="roundRect">
            <a:avLst>
              <a:gd name="adj" fmla="val 3333"/>
            </a:avLst>
          </a:prstGeom>
          <a:solidFill>
            <a:srgbClr val="1C1C1E"/>
          </a:solidFill>
          <a:ln w="12700">
            <a:solidFill>
              <a:srgbClr val="1C1C1E"/>
            </a:solidFill>
            <a:prstDash val="solid"/>
          </a:ln>
          <a:effectLst>
            <a:outerShdw blurRad="19050" dist="12700" dir="2700000" algn="bl" rotWithShape="0">
              <a:srgbClr val="000000">
                <a:alpha val="18000"/>
              </a:srgbClr>
            </a:outerShdw>
          </a:effectLst>
        </p:spPr>
      </p:sp>
      <p:sp>
        <p:nvSpPr>
          <p:cNvPr id="6" name="Text 4"/>
          <p:cNvSpPr/>
          <p:nvPr/>
        </p:nvSpPr>
        <p:spPr>
          <a:xfrm>
            <a:off x="1005840" y="2212848"/>
            <a:ext cx="4297680" cy="2651760"/>
          </a:xfrm>
          <a:prstGeom prst="rect">
            <a:avLst/>
          </a:prstGeom>
          <a:noFill/>
          <a:ln/>
        </p:spPr>
        <p:txBody>
          <a:bodyPr wrap="square" lIns="0" tIns="0" rIns="0" bIns="0" rtlCol="0" anchor="ctr"/>
          <a:lstStyle/>
          <a:p>
            <a:pPr marL="0" indent="0">
              <a:buNone/>
            </a:pPr>
            <a:r>
              <a:rPr lang="en-US" sz="1700" dirty="0">
                <a:solidFill>
                  <a:srgbClr val="F2F2F7"/>
                </a:solidFill>
                <a:latin typeface="Courier New" pitchFamily="34" charset="0"/>
                <a:ea typeface="Courier New" pitchFamily="34" charset="-122"/>
                <a:cs typeface="Courier New" pitchFamily="34" charset="-120"/>
              </a:rPr>
              <a:t>acks=all</a:t>
            </a:r>
            <a:endParaRPr lang="en-US" sz="1700" dirty="0"/>
          </a:p>
          <a:p>
            <a:pPr marL="0" indent="0">
              <a:buNone/>
            </a:pPr>
            <a:r>
              <a:rPr lang="en-US" sz="1700" dirty="0">
                <a:solidFill>
                  <a:srgbClr val="F2F2F7"/>
                </a:solidFill>
                <a:latin typeface="Courier New" pitchFamily="34" charset="0"/>
                <a:ea typeface="Courier New" pitchFamily="34" charset="-122"/>
                <a:cs typeface="Courier New" pitchFamily="34" charset="-120"/>
              </a:rPr>
              <a:t>enable.idempotence=true</a:t>
            </a:r>
            <a:endParaRPr lang="en-US" sz="1700" dirty="0"/>
          </a:p>
          <a:p>
            <a:pPr marL="0" indent="0">
              <a:buNone/>
            </a:pPr>
            <a:r>
              <a:rPr lang="en-US" sz="1700" dirty="0">
                <a:solidFill>
                  <a:srgbClr val="F2F2F7"/>
                </a:solidFill>
                <a:latin typeface="Courier New" pitchFamily="34" charset="0"/>
                <a:ea typeface="Courier New" pitchFamily="34" charset="-122"/>
                <a:cs typeface="Courier New" pitchFamily="34" charset="-120"/>
              </a:rPr>
              <a:t>retries=2147483647</a:t>
            </a:r>
            <a:endParaRPr lang="en-US" sz="1700" dirty="0"/>
          </a:p>
          <a:p>
            <a:pPr marL="0" indent="0">
              <a:buNone/>
            </a:pPr>
            <a:r>
              <a:rPr lang="en-US" sz="1700" dirty="0">
                <a:solidFill>
                  <a:srgbClr val="F2F2F7"/>
                </a:solidFill>
                <a:latin typeface="Courier New" pitchFamily="34" charset="0"/>
                <a:ea typeface="Courier New" pitchFamily="34" charset="-122"/>
                <a:cs typeface="Courier New" pitchFamily="34" charset="-120"/>
              </a:rPr>
              <a:t>max.in.flight.requests.per.connection=5</a:t>
            </a:r>
            <a:endParaRPr lang="en-US" sz="1700" dirty="0"/>
          </a:p>
          <a:p>
            <a:pPr marL="0" indent="0">
              <a:buNone/>
            </a:pPr>
            <a:r>
              <a:rPr lang="en-US" sz="1700" dirty="0">
                <a:solidFill>
                  <a:srgbClr val="F2F2F7"/>
                </a:solidFill>
                <a:latin typeface="Courier New" pitchFamily="34" charset="0"/>
                <a:ea typeface="Courier New" pitchFamily="34" charset="-122"/>
                <a:cs typeface="Courier New" pitchFamily="34" charset="-120"/>
              </a:rPr>
              <a:t>delivery.timeout.ms=120000</a:t>
            </a:r>
            <a:endParaRPr lang="en-US" sz="1700" dirty="0"/>
          </a:p>
        </p:txBody>
      </p:sp>
      <p:sp>
        <p:nvSpPr>
          <p:cNvPr id="7" name="Shape 5"/>
          <p:cNvSpPr/>
          <p:nvPr/>
        </p:nvSpPr>
        <p:spPr>
          <a:xfrm>
            <a:off x="5989320" y="1874520"/>
            <a:ext cx="5166360" cy="914400"/>
          </a:xfrm>
          <a:prstGeom prst="roundRect">
            <a:avLst>
              <a:gd name="adj" fmla="val 10000"/>
            </a:avLst>
          </a:prstGeom>
          <a:solidFill>
            <a:srgbClr val="FFFFFF"/>
          </a:solidFill>
          <a:ln w="12700">
            <a:solidFill>
              <a:srgbClr val="E5E5EA"/>
            </a:solidFill>
            <a:prstDash val="solid"/>
          </a:ln>
          <a:effectLst>
            <a:outerShdw blurRad="15240" dist="12700" dir="2700000" algn="bl" rotWithShape="0">
              <a:srgbClr val="000000">
                <a:alpha val="10000"/>
              </a:srgbClr>
            </a:outerShdw>
          </a:effectLst>
        </p:spPr>
      </p:sp>
      <p:sp>
        <p:nvSpPr>
          <p:cNvPr id="8" name="Shape 6"/>
          <p:cNvSpPr/>
          <p:nvPr/>
        </p:nvSpPr>
        <p:spPr>
          <a:xfrm>
            <a:off x="6217920" y="2103120"/>
            <a:ext cx="146304" cy="146304"/>
          </a:xfrm>
          <a:prstGeom prst="ellipse">
            <a:avLst/>
          </a:prstGeom>
          <a:solidFill>
            <a:srgbClr val="30D158"/>
          </a:solidFill>
          <a:ln w="12700">
            <a:solidFill>
              <a:srgbClr val="30D158"/>
            </a:solidFill>
            <a:prstDash val="solid"/>
          </a:ln>
        </p:spPr>
      </p:sp>
      <p:sp>
        <p:nvSpPr>
          <p:cNvPr id="9" name="Text 7"/>
          <p:cNvSpPr/>
          <p:nvPr/>
        </p:nvSpPr>
        <p:spPr>
          <a:xfrm>
            <a:off x="6464808" y="2039112"/>
            <a:ext cx="4480560" cy="310896"/>
          </a:xfrm>
          <a:prstGeom prst="rect">
            <a:avLst/>
          </a:prstGeom>
          <a:noFill/>
          <a:ln/>
        </p:spPr>
        <p:txBody>
          <a:bodyPr wrap="square" lIns="0" tIns="0" rIns="0" bIns="0" rtlCol="0" anchor="ctr"/>
          <a:lstStyle/>
          <a:p>
            <a:pPr marL="0" indent="0">
              <a:buNone/>
            </a:pPr>
            <a:r>
              <a:rPr lang="en-US" sz="1400" b="1" dirty="0">
                <a:solidFill>
                  <a:srgbClr val="1D1D1F"/>
                </a:solidFill>
              </a:rPr>
              <a:t>acks=all</a:t>
            </a:r>
            <a:endParaRPr lang="en-US" sz="1400" dirty="0"/>
          </a:p>
        </p:txBody>
      </p:sp>
      <p:sp>
        <p:nvSpPr>
          <p:cNvPr id="10" name="Text 8"/>
          <p:cNvSpPr/>
          <p:nvPr/>
        </p:nvSpPr>
        <p:spPr>
          <a:xfrm>
            <a:off x="6217920" y="2496312"/>
            <a:ext cx="4709160" cy="137160"/>
          </a:xfrm>
          <a:prstGeom prst="rect">
            <a:avLst/>
          </a:prstGeom>
          <a:noFill/>
          <a:ln/>
        </p:spPr>
        <p:txBody>
          <a:bodyPr wrap="square" lIns="0" tIns="0" rIns="0" bIns="0" rtlCol="0" anchor="ctr">
            <a:normAutofit/>
          </a:bodyPr>
          <a:lstStyle/>
          <a:p>
            <a:pPr marL="0" indent="0">
              <a:buNone/>
            </a:pPr>
            <a:r>
              <a:rPr lang="en-US" sz="1150" dirty="0">
                <a:solidFill>
                  <a:srgbClr val="6E6E73"/>
                </a:solidFill>
              </a:rPr>
              <a:t>Wait for the current ISR acknowledgement rule.</a:t>
            </a:r>
            <a:endParaRPr lang="en-US" sz="1150" dirty="0"/>
          </a:p>
        </p:txBody>
      </p:sp>
      <p:sp>
        <p:nvSpPr>
          <p:cNvPr id="11" name="Shape 9"/>
          <p:cNvSpPr/>
          <p:nvPr/>
        </p:nvSpPr>
        <p:spPr>
          <a:xfrm>
            <a:off x="5989320" y="2971800"/>
            <a:ext cx="5166360" cy="914400"/>
          </a:xfrm>
          <a:prstGeom prst="roundRect">
            <a:avLst>
              <a:gd name="adj" fmla="val 10000"/>
            </a:avLst>
          </a:prstGeom>
          <a:solidFill>
            <a:srgbClr val="FFFFFF"/>
          </a:solidFill>
          <a:ln w="12700">
            <a:solidFill>
              <a:srgbClr val="E5E5EA"/>
            </a:solidFill>
            <a:prstDash val="solid"/>
          </a:ln>
          <a:effectLst>
            <a:outerShdw blurRad="15240" dist="12700" dir="2700000" algn="bl" rotWithShape="0">
              <a:srgbClr val="000000">
                <a:alpha val="10000"/>
              </a:srgbClr>
            </a:outerShdw>
          </a:effectLst>
        </p:spPr>
      </p:sp>
      <p:sp>
        <p:nvSpPr>
          <p:cNvPr id="12" name="Shape 10"/>
          <p:cNvSpPr/>
          <p:nvPr/>
        </p:nvSpPr>
        <p:spPr>
          <a:xfrm>
            <a:off x="6217920" y="3200400"/>
            <a:ext cx="146304" cy="146304"/>
          </a:xfrm>
          <a:prstGeom prst="ellipse">
            <a:avLst/>
          </a:prstGeom>
          <a:solidFill>
            <a:srgbClr val="0071E3"/>
          </a:solidFill>
          <a:ln w="12700">
            <a:solidFill>
              <a:srgbClr val="0071E3"/>
            </a:solidFill>
            <a:prstDash val="solid"/>
          </a:ln>
        </p:spPr>
      </p:sp>
      <p:sp>
        <p:nvSpPr>
          <p:cNvPr id="13" name="Text 11"/>
          <p:cNvSpPr/>
          <p:nvPr/>
        </p:nvSpPr>
        <p:spPr>
          <a:xfrm>
            <a:off x="6464808" y="3136392"/>
            <a:ext cx="4480560" cy="310896"/>
          </a:xfrm>
          <a:prstGeom prst="rect">
            <a:avLst/>
          </a:prstGeom>
          <a:noFill/>
          <a:ln/>
        </p:spPr>
        <p:txBody>
          <a:bodyPr wrap="square" lIns="0" tIns="0" rIns="0" bIns="0" rtlCol="0" anchor="ctr"/>
          <a:lstStyle/>
          <a:p>
            <a:pPr marL="0" indent="0">
              <a:buNone/>
            </a:pPr>
            <a:r>
              <a:rPr lang="en-US" sz="1400" b="1" dirty="0">
                <a:solidFill>
                  <a:srgbClr val="1D1D1F"/>
                </a:solidFill>
              </a:rPr>
              <a:t>idempotence</a:t>
            </a:r>
            <a:endParaRPr lang="en-US" sz="1400" dirty="0"/>
          </a:p>
        </p:txBody>
      </p:sp>
      <p:sp>
        <p:nvSpPr>
          <p:cNvPr id="14" name="Text 12"/>
          <p:cNvSpPr/>
          <p:nvPr/>
        </p:nvSpPr>
        <p:spPr>
          <a:xfrm>
            <a:off x="6217920" y="3593592"/>
            <a:ext cx="4709160" cy="137160"/>
          </a:xfrm>
          <a:prstGeom prst="rect">
            <a:avLst/>
          </a:prstGeom>
          <a:noFill/>
          <a:ln/>
        </p:spPr>
        <p:txBody>
          <a:bodyPr wrap="square" lIns="0" tIns="0" rIns="0" bIns="0" rtlCol="0" anchor="ctr">
            <a:normAutofit/>
          </a:bodyPr>
          <a:lstStyle/>
          <a:p>
            <a:pPr marL="0" indent="0">
              <a:buNone/>
            </a:pPr>
            <a:r>
              <a:rPr lang="en-US" sz="1150" dirty="0">
                <a:solidFill>
                  <a:srgbClr val="6E6E73"/>
                </a:solidFill>
              </a:rPr>
              <a:t>Retry without duplicate append and preserve per-partition ordering.</a:t>
            </a:r>
            <a:endParaRPr lang="en-US" sz="1150" dirty="0"/>
          </a:p>
        </p:txBody>
      </p:sp>
      <p:sp>
        <p:nvSpPr>
          <p:cNvPr id="15" name="Shape 13"/>
          <p:cNvSpPr/>
          <p:nvPr/>
        </p:nvSpPr>
        <p:spPr>
          <a:xfrm>
            <a:off x="5989320" y="4069080"/>
            <a:ext cx="5166360" cy="914400"/>
          </a:xfrm>
          <a:prstGeom prst="roundRect">
            <a:avLst>
              <a:gd name="adj" fmla="val 10000"/>
            </a:avLst>
          </a:prstGeom>
          <a:solidFill>
            <a:srgbClr val="FFFFFF"/>
          </a:solidFill>
          <a:ln w="12700">
            <a:solidFill>
              <a:srgbClr val="E5E5EA"/>
            </a:solidFill>
            <a:prstDash val="solid"/>
          </a:ln>
          <a:effectLst>
            <a:outerShdw blurRad="15240" dist="12700" dir="2700000" algn="bl" rotWithShape="0">
              <a:srgbClr val="000000">
                <a:alpha val="10000"/>
              </a:srgbClr>
            </a:outerShdw>
          </a:effectLst>
        </p:spPr>
      </p:sp>
      <p:sp>
        <p:nvSpPr>
          <p:cNvPr id="16" name="Shape 14"/>
          <p:cNvSpPr/>
          <p:nvPr/>
        </p:nvSpPr>
        <p:spPr>
          <a:xfrm>
            <a:off x="6217920" y="4297680"/>
            <a:ext cx="146304" cy="146304"/>
          </a:xfrm>
          <a:prstGeom prst="ellipse">
            <a:avLst/>
          </a:prstGeom>
          <a:solidFill>
            <a:srgbClr val="FF9F0A"/>
          </a:solidFill>
          <a:ln w="12700">
            <a:solidFill>
              <a:srgbClr val="FF9F0A"/>
            </a:solidFill>
            <a:prstDash val="solid"/>
          </a:ln>
        </p:spPr>
      </p:sp>
      <p:sp>
        <p:nvSpPr>
          <p:cNvPr id="17" name="Text 15"/>
          <p:cNvSpPr/>
          <p:nvPr/>
        </p:nvSpPr>
        <p:spPr>
          <a:xfrm>
            <a:off x="6464808" y="4233672"/>
            <a:ext cx="4480560" cy="310896"/>
          </a:xfrm>
          <a:prstGeom prst="rect">
            <a:avLst/>
          </a:prstGeom>
          <a:noFill/>
          <a:ln/>
        </p:spPr>
        <p:txBody>
          <a:bodyPr wrap="square" lIns="0" tIns="0" rIns="0" bIns="0" rtlCol="0" anchor="ctr"/>
          <a:lstStyle/>
          <a:p>
            <a:pPr marL="0" indent="0">
              <a:buNone/>
            </a:pPr>
            <a:r>
              <a:rPr lang="en-US" sz="1400" b="1" dirty="0">
                <a:solidFill>
                  <a:srgbClr val="1D1D1F"/>
                </a:solidFill>
              </a:rPr>
              <a:t>delivery timeout</a:t>
            </a:r>
            <a:endParaRPr lang="en-US" sz="1400" dirty="0"/>
          </a:p>
        </p:txBody>
      </p:sp>
      <p:sp>
        <p:nvSpPr>
          <p:cNvPr id="18" name="Text 16"/>
          <p:cNvSpPr/>
          <p:nvPr/>
        </p:nvSpPr>
        <p:spPr>
          <a:xfrm>
            <a:off x="6217920" y="4690872"/>
            <a:ext cx="4709160" cy="137160"/>
          </a:xfrm>
          <a:prstGeom prst="rect">
            <a:avLst/>
          </a:prstGeom>
          <a:noFill/>
          <a:ln/>
        </p:spPr>
        <p:txBody>
          <a:bodyPr wrap="square" lIns="0" tIns="0" rIns="0" bIns="0" rtlCol="0" anchor="ctr">
            <a:normAutofit/>
          </a:bodyPr>
          <a:lstStyle/>
          <a:p>
            <a:pPr marL="0" indent="0">
              <a:buNone/>
            </a:pPr>
            <a:r>
              <a:rPr lang="en-US" sz="1150" dirty="0">
                <a:solidFill>
                  <a:srgbClr val="6E6E73"/>
                </a:solidFill>
              </a:rPr>
              <a:t>Bound how long the client may keep trying before surfacing failure.</a:t>
            </a:r>
            <a:endParaRPr lang="en-US" sz="1150" dirty="0"/>
          </a:p>
        </p:txBody>
      </p:sp>
      <p:sp>
        <p:nvSpPr>
          <p:cNvPr id="19" name="Text 17"/>
          <p:cNvSpPr/>
          <p:nvPr/>
        </p:nvSpPr>
        <p:spPr>
          <a:xfrm>
            <a:off x="594360" y="6272784"/>
            <a:ext cx="10789920" cy="228600"/>
          </a:xfrm>
          <a:prstGeom prst="rect">
            <a:avLst/>
          </a:prstGeom>
          <a:noFill/>
          <a:ln/>
        </p:spPr>
        <p:txBody>
          <a:bodyPr wrap="square" lIns="0" tIns="0" rIns="0" bIns="0" rtlCol="0" anchor="ctr"/>
          <a:lstStyle/>
          <a:p>
            <a:pPr marL="0" indent="0" algn="ctr">
              <a:buNone/>
            </a:pPr>
            <a:r>
              <a:rPr lang="en-US" sz="1000" i="1" dirty="0">
                <a:solidFill>
                  <a:srgbClr val="6E6E73"/>
                </a:solidFill>
              </a:rPr>
              <a:t>A client-side success means the configured durability threshold was met, not that the whole system completed.</a:t>
            </a:r>
            <a:endParaRPr lang="en-US" sz="1000" dirty="0"/>
          </a:p>
        </p:txBody>
      </p:sp>
      <p:sp>
        <p:nvSpPr>
          <p:cNvPr id="25" name="Slide Number Placeholder 0"/>
          <p:cNvSpPr>
            <a:spLocks noGrp="1"/>
          </p:cNvSpPr>
          <p:nvPr>
            <p:ph type="sldNum" sz="quarter" idx="4294967295"/>
          </p:nvPr>
        </p:nvSpPr>
        <p:spPr>
          <a:xfrm>
            <a:off x="11686032" y="6510528"/>
            <a:ext cx="228600"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86868B"/>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1" cy="1"/>
          <a:chOff x="0" y="0"/>
          <a:chExt cx="1" cy="1"/>
        </a:xfrm>
      </p:grpSpPr>
      <p:sp>
        <p:nvSpPr>
          <p:cNvPr id="2" name="Text 0"/>
          <p:cNvSpPr/>
          <p:nvPr/>
        </p:nvSpPr>
        <p:spPr>
          <a:xfrm>
            <a:off x="594360" y="502920"/>
            <a:ext cx="4389120" cy="228600"/>
          </a:xfrm>
          <a:prstGeom prst="rect">
            <a:avLst/>
          </a:prstGeom>
          <a:noFill/>
          <a:ln/>
        </p:spPr>
        <p:txBody>
          <a:bodyPr wrap="square" lIns="0" tIns="0" rIns="0" bIns="0" rtlCol="0" anchor="ctr"/>
          <a:lstStyle/>
          <a:p>
            <a:pPr marL="0" indent="0">
              <a:buNone/>
            </a:pPr>
            <a:r>
              <a:rPr lang="en-US" sz="1000" b="1" kern="0" spc="150" dirty="0">
                <a:solidFill>
                  <a:srgbClr val="0071E3"/>
                </a:solidFill>
              </a:rPr>
              <a:t>REPLICATION</a:t>
            </a:r>
            <a:endParaRPr lang="en-US" sz="1000" dirty="0"/>
          </a:p>
        </p:txBody>
      </p:sp>
      <p:sp>
        <p:nvSpPr>
          <p:cNvPr id="3" name="Text 1"/>
          <p:cNvSpPr/>
          <p:nvPr/>
        </p:nvSpPr>
        <p:spPr>
          <a:xfrm>
            <a:off x="594360" y="822960"/>
            <a:ext cx="10972800" cy="594360"/>
          </a:xfrm>
          <a:prstGeom prst="rect">
            <a:avLst/>
          </a:prstGeom>
          <a:noFill/>
          <a:ln/>
        </p:spPr>
        <p:txBody>
          <a:bodyPr wrap="square" lIns="0" tIns="0" rIns="0" bIns="0" rtlCol="0" anchor="ctr"/>
          <a:lstStyle/>
          <a:p>
            <a:pPr marL="0" indent="0">
              <a:buNone/>
            </a:pPr>
            <a:r>
              <a:rPr lang="en-US" sz="2800" b="1" dirty="0">
                <a:solidFill>
                  <a:srgbClr val="1D1D1F"/>
                </a:solidFill>
              </a:rPr>
              <a:t>RF = 3 means three replica copies</a:t>
            </a:r>
            <a:endParaRPr lang="en-US" sz="2800" dirty="0"/>
          </a:p>
        </p:txBody>
      </p:sp>
      <p:sp>
        <p:nvSpPr>
          <p:cNvPr id="4" name="Text 2"/>
          <p:cNvSpPr/>
          <p:nvPr/>
        </p:nvSpPr>
        <p:spPr>
          <a:xfrm>
            <a:off x="612648" y="1444752"/>
            <a:ext cx="10789920" cy="256032"/>
          </a:xfrm>
          <a:prstGeom prst="rect">
            <a:avLst/>
          </a:prstGeom>
          <a:noFill/>
          <a:ln/>
        </p:spPr>
        <p:txBody>
          <a:bodyPr wrap="square" lIns="0" tIns="0" rIns="0" bIns="0" rtlCol="0" anchor="ctr"/>
          <a:lstStyle/>
          <a:p>
            <a:pPr marL="0" indent="0">
              <a:buNone/>
            </a:pPr>
            <a:r>
              <a:rPr lang="en-US" sz="1400" dirty="0">
                <a:solidFill>
                  <a:srgbClr val="6E6E73"/>
                </a:solidFill>
              </a:rPr>
              <a:t>Only one replica is leader; followers continuously fetch.</a:t>
            </a:r>
            <a:endParaRPr lang="en-US" sz="1400" dirty="0"/>
          </a:p>
        </p:txBody>
      </p:sp>
      <p:pic>
        <p:nvPicPr>
          <p:cNvPr id="5" name="Image 0" descr="/mnt/data/kafka_ppt_work/generated_image_8B424B426329_02.png"/>
          <p:cNvPicPr>
            <a:picLocks noChangeAspect="1"/>
          </p:cNvPicPr>
          <p:nvPr/>
        </p:nvPicPr>
        <p:blipFill>
          <a:blip r:embed="rId3"/>
          <a:srcRect t="21874" b="21874"/>
          <a:stretch/>
        </p:blipFill>
        <p:spPr>
          <a:xfrm>
            <a:off x="0" y="1828800"/>
            <a:ext cx="12191695" cy="4572000"/>
          </a:xfrm>
          <a:prstGeom prst="rect">
            <a:avLst/>
          </a:prstGeom>
        </p:spPr>
      </p:pic>
      <p:sp>
        <p:nvSpPr>
          <p:cNvPr id="6" name="Shape 3"/>
          <p:cNvSpPr/>
          <p:nvPr/>
        </p:nvSpPr>
        <p:spPr>
          <a:xfrm>
            <a:off x="594360" y="5212080"/>
            <a:ext cx="10972800" cy="777240"/>
          </a:xfrm>
          <a:prstGeom prst="roundRect">
            <a:avLst>
              <a:gd name="adj" fmla="val 9412"/>
            </a:avLst>
          </a:prstGeom>
          <a:solidFill>
            <a:srgbClr val="000000">
              <a:alpha val="82000"/>
            </a:srgbClr>
          </a:solidFill>
          <a:ln w="12700">
            <a:solidFill>
              <a:srgbClr val="FFFFFF">
                <a:alpha val="0"/>
              </a:srgbClr>
            </a:solidFill>
            <a:prstDash val="solid"/>
          </a:ln>
        </p:spPr>
      </p:sp>
      <p:sp>
        <p:nvSpPr>
          <p:cNvPr id="7" name="Text 4"/>
          <p:cNvSpPr/>
          <p:nvPr/>
        </p:nvSpPr>
        <p:spPr>
          <a:xfrm>
            <a:off x="868680" y="5440680"/>
            <a:ext cx="10424160" cy="274320"/>
          </a:xfrm>
          <a:prstGeom prst="rect">
            <a:avLst/>
          </a:prstGeom>
          <a:noFill/>
          <a:ln/>
        </p:spPr>
        <p:txBody>
          <a:bodyPr wrap="square" lIns="0" tIns="0" rIns="0" bIns="0" rtlCol="0" anchor="ctr"/>
          <a:lstStyle/>
          <a:p>
            <a:pPr marL="0" indent="0" algn="ctr">
              <a:buNone/>
            </a:pPr>
            <a:r>
              <a:rPr lang="en-US" sz="1600" b="1" dirty="0">
                <a:solidFill>
                  <a:srgbClr val="FFFFFF"/>
                </a:solidFill>
              </a:rPr>
              <a:t>Leader accepts appends  •  Followers fetch  •  ISR tracks replicas caught up enough for the protocol</a:t>
            </a:r>
            <a:endParaRPr lang="en-US" sz="1600" dirty="0"/>
          </a:p>
        </p:txBody>
      </p:sp>
      <p:sp>
        <p:nvSpPr>
          <p:cNvPr id="25" name="Slide Number Placeholder 0"/>
          <p:cNvSpPr>
            <a:spLocks noGrp="1"/>
          </p:cNvSpPr>
          <p:nvPr>
            <p:ph type="sldNum" sz="quarter" idx="4294967295"/>
          </p:nvPr>
        </p:nvSpPr>
        <p:spPr>
          <a:xfrm>
            <a:off x="11686032" y="6510528"/>
            <a:ext cx="228600"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86868B"/>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1" cy="1"/>
          <a:chOff x="0" y="0"/>
          <a:chExt cx="1" cy="1"/>
        </a:xfrm>
      </p:grpSpPr>
      <p:sp>
        <p:nvSpPr>
          <p:cNvPr id="2" name="Text 0"/>
          <p:cNvSpPr/>
          <p:nvPr/>
        </p:nvSpPr>
        <p:spPr>
          <a:xfrm>
            <a:off x="594360" y="502920"/>
            <a:ext cx="4389120" cy="228600"/>
          </a:xfrm>
          <a:prstGeom prst="rect">
            <a:avLst/>
          </a:prstGeom>
          <a:noFill/>
          <a:ln/>
        </p:spPr>
        <p:txBody>
          <a:bodyPr wrap="square" lIns="0" tIns="0" rIns="0" bIns="0" rtlCol="0" anchor="ctr"/>
          <a:lstStyle/>
          <a:p>
            <a:pPr marL="0" indent="0">
              <a:buNone/>
            </a:pPr>
            <a:r>
              <a:rPr lang="en-US" sz="1000" b="1" kern="0" spc="150" dirty="0">
                <a:solidFill>
                  <a:srgbClr val="0071E3"/>
                </a:solidFill>
              </a:rPr>
              <a:t>ISR</a:t>
            </a:r>
            <a:endParaRPr lang="en-US" sz="1000" dirty="0"/>
          </a:p>
        </p:txBody>
      </p:sp>
      <p:sp>
        <p:nvSpPr>
          <p:cNvPr id="3" name="Text 1"/>
          <p:cNvSpPr/>
          <p:nvPr/>
        </p:nvSpPr>
        <p:spPr>
          <a:xfrm>
            <a:off x="594360" y="822960"/>
            <a:ext cx="10972800" cy="594360"/>
          </a:xfrm>
          <a:prstGeom prst="rect">
            <a:avLst/>
          </a:prstGeom>
          <a:noFill/>
          <a:ln/>
        </p:spPr>
        <p:txBody>
          <a:bodyPr wrap="square" lIns="0" tIns="0" rIns="0" bIns="0" rtlCol="0" anchor="ctr"/>
          <a:lstStyle/>
          <a:p>
            <a:pPr marL="0" indent="0">
              <a:buNone/>
            </a:pPr>
            <a:r>
              <a:rPr lang="en-US" sz="2800" b="1" dirty="0">
                <a:solidFill>
                  <a:srgbClr val="1D1D1F"/>
                </a:solidFill>
              </a:rPr>
              <a:t>In-sync is a live protocol state</a:t>
            </a:r>
            <a:endParaRPr lang="en-US" sz="2800" dirty="0"/>
          </a:p>
        </p:txBody>
      </p:sp>
      <p:sp>
        <p:nvSpPr>
          <p:cNvPr id="4" name="Text 2"/>
          <p:cNvSpPr/>
          <p:nvPr/>
        </p:nvSpPr>
        <p:spPr>
          <a:xfrm>
            <a:off x="612648" y="1444752"/>
            <a:ext cx="10789920" cy="256032"/>
          </a:xfrm>
          <a:prstGeom prst="rect">
            <a:avLst/>
          </a:prstGeom>
          <a:noFill/>
          <a:ln/>
        </p:spPr>
        <p:txBody>
          <a:bodyPr wrap="square" lIns="0" tIns="0" rIns="0" bIns="0" rtlCol="0" anchor="ctr"/>
          <a:lstStyle/>
          <a:p>
            <a:pPr marL="0" indent="0">
              <a:buNone/>
            </a:pPr>
            <a:r>
              <a:rPr lang="en-US" sz="1400" dirty="0">
                <a:solidFill>
                  <a:srgbClr val="6E6E73"/>
                </a:solidFill>
              </a:rPr>
              <a:t>RF is topology. ISR is health. min ISR is admission control.</a:t>
            </a:r>
            <a:endParaRPr lang="en-US" sz="1400" dirty="0"/>
          </a:p>
        </p:txBody>
      </p:sp>
      <p:sp>
        <p:nvSpPr>
          <p:cNvPr id="5" name="Shape 3"/>
          <p:cNvSpPr/>
          <p:nvPr/>
        </p:nvSpPr>
        <p:spPr>
          <a:xfrm>
            <a:off x="640080" y="1828800"/>
            <a:ext cx="3383280" cy="2468880"/>
          </a:xfrm>
          <a:prstGeom prst="roundRect">
            <a:avLst>
              <a:gd name="adj" fmla="val 3704"/>
            </a:avLst>
          </a:prstGeom>
          <a:solidFill>
            <a:srgbClr val="FFFFFF"/>
          </a:solidFill>
          <a:ln w="12700">
            <a:solidFill>
              <a:srgbClr val="E5E5EA"/>
            </a:solidFill>
            <a:prstDash val="solid"/>
          </a:ln>
          <a:effectLst>
            <a:outerShdw blurRad="15240" dist="12700" dir="2700000" algn="bl" rotWithShape="0">
              <a:srgbClr val="000000">
                <a:alpha val="10000"/>
              </a:srgbClr>
            </a:outerShdw>
          </a:effectLst>
        </p:spPr>
      </p:sp>
      <p:sp>
        <p:nvSpPr>
          <p:cNvPr id="6" name="Shape 4"/>
          <p:cNvSpPr/>
          <p:nvPr/>
        </p:nvSpPr>
        <p:spPr>
          <a:xfrm>
            <a:off x="868680" y="2057400"/>
            <a:ext cx="146304" cy="146304"/>
          </a:xfrm>
          <a:prstGeom prst="ellipse">
            <a:avLst/>
          </a:prstGeom>
          <a:solidFill>
            <a:srgbClr val="0071E3"/>
          </a:solidFill>
          <a:ln w="12700">
            <a:solidFill>
              <a:srgbClr val="0071E3"/>
            </a:solidFill>
            <a:prstDash val="solid"/>
          </a:ln>
        </p:spPr>
      </p:sp>
      <p:sp>
        <p:nvSpPr>
          <p:cNvPr id="7" name="Text 5"/>
          <p:cNvSpPr/>
          <p:nvPr/>
        </p:nvSpPr>
        <p:spPr>
          <a:xfrm>
            <a:off x="1115568" y="1993392"/>
            <a:ext cx="2697480" cy="310896"/>
          </a:xfrm>
          <a:prstGeom prst="rect">
            <a:avLst/>
          </a:prstGeom>
          <a:noFill/>
          <a:ln/>
        </p:spPr>
        <p:txBody>
          <a:bodyPr wrap="square" lIns="0" tIns="0" rIns="0" bIns="0" rtlCol="0" anchor="ctr"/>
          <a:lstStyle/>
          <a:p>
            <a:pPr marL="0" indent="0">
              <a:buNone/>
            </a:pPr>
            <a:r>
              <a:rPr lang="en-US" sz="1400" b="1" dirty="0">
                <a:solidFill>
                  <a:srgbClr val="1D1D1F"/>
                </a:solidFill>
              </a:rPr>
              <a:t>RF = 3</a:t>
            </a:r>
            <a:endParaRPr lang="en-US" sz="1400" dirty="0"/>
          </a:p>
        </p:txBody>
      </p:sp>
      <p:sp>
        <p:nvSpPr>
          <p:cNvPr id="8" name="Text 6"/>
          <p:cNvSpPr/>
          <p:nvPr/>
        </p:nvSpPr>
        <p:spPr>
          <a:xfrm>
            <a:off x="868680" y="2450592"/>
            <a:ext cx="2926080" cy="1691640"/>
          </a:xfrm>
          <a:prstGeom prst="rect">
            <a:avLst/>
          </a:prstGeom>
          <a:noFill/>
          <a:ln/>
        </p:spPr>
        <p:txBody>
          <a:bodyPr wrap="square" lIns="0" tIns="0" rIns="0" bIns="0" rtlCol="0" anchor="ctr">
            <a:normAutofit/>
          </a:bodyPr>
          <a:lstStyle/>
          <a:p>
            <a:pPr marL="0" indent="0">
              <a:buNone/>
            </a:pPr>
            <a:r>
              <a:rPr lang="en-US" sz="1150" dirty="0">
                <a:solidFill>
                  <a:srgbClr val="6E6E73"/>
                </a:solidFill>
              </a:rPr>
              <a:t>Three assigned replicas.</a:t>
            </a:r>
            <a:endParaRPr lang="en-US" sz="1150" dirty="0"/>
          </a:p>
          <a:p>
            <a:pPr marL="0" indent="0">
              <a:buNone/>
            </a:pPr>
            <a:endParaRPr lang="en-US" sz="1150" dirty="0"/>
          </a:p>
          <a:p>
            <a:pPr marL="0" indent="0">
              <a:buNone/>
            </a:pPr>
            <a:r>
              <a:rPr lang="en-US" sz="1150" dirty="0">
                <a:solidFill>
                  <a:srgbClr val="6E6E73"/>
                </a:solidFill>
              </a:rPr>
              <a:t>This describes the intended redundancy.</a:t>
            </a:r>
            <a:endParaRPr lang="en-US" sz="1150" dirty="0"/>
          </a:p>
        </p:txBody>
      </p:sp>
      <p:sp>
        <p:nvSpPr>
          <p:cNvPr id="9" name="Shape 7"/>
          <p:cNvSpPr/>
          <p:nvPr/>
        </p:nvSpPr>
        <p:spPr>
          <a:xfrm>
            <a:off x="4407408" y="1828800"/>
            <a:ext cx="3383280" cy="2468880"/>
          </a:xfrm>
          <a:prstGeom prst="roundRect">
            <a:avLst>
              <a:gd name="adj" fmla="val 3704"/>
            </a:avLst>
          </a:prstGeom>
          <a:solidFill>
            <a:srgbClr val="FFFFFF"/>
          </a:solidFill>
          <a:ln w="12700">
            <a:solidFill>
              <a:srgbClr val="E5E5EA"/>
            </a:solidFill>
            <a:prstDash val="solid"/>
          </a:ln>
          <a:effectLst>
            <a:outerShdw blurRad="15240" dist="12700" dir="2700000" algn="bl" rotWithShape="0">
              <a:srgbClr val="000000">
                <a:alpha val="10000"/>
              </a:srgbClr>
            </a:outerShdw>
          </a:effectLst>
        </p:spPr>
      </p:sp>
      <p:sp>
        <p:nvSpPr>
          <p:cNvPr id="10" name="Shape 8"/>
          <p:cNvSpPr/>
          <p:nvPr/>
        </p:nvSpPr>
        <p:spPr>
          <a:xfrm>
            <a:off x="4636008" y="2057400"/>
            <a:ext cx="146304" cy="146304"/>
          </a:xfrm>
          <a:prstGeom prst="ellipse">
            <a:avLst/>
          </a:prstGeom>
          <a:solidFill>
            <a:srgbClr val="30D158"/>
          </a:solidFill>
          <a:ln w="12700">
            <a:solidFill>
              <a:srgbClr val="30D158"/>
            </a:solidFill>
            <a:prstDash val="solid"/>
          </a:ln>
        </p:spPr>
      </p:sp>
      <p:sp>
        <p:nvSpPr>
          <p:cNvPr id="11" name="Text 9"/>
          <p:cNvSpPr/>
          <p:nvPr/>
        </p:nvSpPr>
        <p:spPr>
          <a:xfrm>
            <a:off x="4882896" y="1993392"/>
            <a:ext cx="2697480" cy="310896"/>
          </a:xfrm>
          <a:prstGeom prst="rect">
            <a:avLst/>
          </a:prstGeom>
          <a:noFill/>
          <a:ln/>
        </p:spPr>
        <p:txBody>
          <a:bodyPr wrap="square" lIns="0" tIns="0" rIns="0" bIns="0" rtlCol="0" anchor="ctr"/>
          <a:lstStyle/>
          <a:p>
            <a:pPr marL="0" indent="0">
              <a:buNone/>
            </a:pPr>
            <a:r>
              <a:rPr lang="en-US" sz="1400" b="1" dirty="0">
                <a:solidFill>
                  <a:srgbClr val="1D1D1F"/>
                </a:solidFill>
              </a:rPr>
              <a:t>ISR = {A, B, C}</a:t>
            </a:r>
            <a:endParaRPr lang="en-US" sz="1400" dirty="0"/>
          </a:p>
        </p:txBody>
      </p:sp>
      <p:sp>
        <p:nvSpPr>
          <p:cNvPr id="12" name="Text 10"/>
          <p:cNvSpPr/>
          <p:nvPr/>
        </p:nvSpPr>
        <p:spPr>
          <a:xfrm>
            <a:off x="4636008" y="2450592"/>
            <a:ext cx="2926080" cy="1691640"/>
          </a:xfrm>
          <a:prstGeom prst="rect">
            <a:avLst/>
          </a:prstGeom>
          <a:noFill/>
          <a:ln/>
        </p:spPr>
        <p:txBody>
          <a:bodyPr wrap="square" lIns="0" tIns="0" rIns="0" bIns="0" rtlCol="0" anchor="ctr">
            <a:normAutofit/>
          </a:bodyPr>
          <a:lstStyle/>
          <a:p>
            <a:pPr marL="0" indent="0">
              <a:buNone/>
            </a:pPr>
            <a:r>
              <a:rPr lang="en-US" sz="1150" dirty="0">
                <a:solidFill>
                  <a:srgbClr val="6E6E73"/>
                </a:solidFill>
              </a:rPr>
              <a:t>Replicas currently considered in sync with the leader under broker rules.</a:t>
            </a:r>
            <a:endParaRPr lang="en-US" sz="1150" dirty="0"/>
          </a:p>
        </p:txBody>
      </p:sp>
      <p:sp>
        <p:nvSpPr>
          <p:cNvPr id="13" name="Shape 11"/>
          <p:cNvSpPr/>
          <p:nvPr/>
        </p:nvSpPr>
        <p:spPr>
          <a:xfrm>
            <a:off x="8165592" y="1828800"/>
            <a:ext cx="3383280" cy="2468880"/>
          </a:xfrm>
          <a:prstGeom prst="roundRect">
            <a:avLst>
              <a:gd name="adj" fmla="val 3704"/>
            </a:avLst>
          </a:prstGeom>
          <a:solidFill>
            <a:srgbClr val="FFFFFF"/>
          </a:solidFill>
          <a:ln w="12700">
            <a:solidFill>
              <a:srgbClr val="E5E5EA"/>
            </a:solidFill>
            <a:prstDash val="solid"/>
          </a:ln>
          <a:effectLst>
            <a:outerShdw blurRad="15240" dist="12700" dir="2700000" algn="bl" rotWithShape="0">
              <a:srgbClr val="000000">
                <a:alpha val="10000"/>
              </a:srgbClr>
            </a:outerShdw>
          </a:effectLst>
        </p:spPr>
      </p:sp>
      <p:sp>
        <p:nvSpPr>
          <p:cNvPr id="14" name="Shape 12"/>
          <p:cNvSpPr/>
          <p:nvPr/>
        </p:nvSpPr>
        <p:spPr>
          <a:xfrm>
            <a:off x="8394192" y="2057400"/>
            <a:ext cx="146304" cy="146304"/>
          </a:xfrm>
          <a:prstGeom prst="ellipse">
            <a:avLst/>
          </a:prstGeom>
          <a:solidFill>
            <a:srgbClr val="FF9F0A"/>
          </a:solidFill>
          <a:ln w="12700">
            <a:solidFill>
              <a:srgbClr val="FF9F0A"/>
            </a:solidFill>
            <a:prstDash val="solid"/>
          </a:ln>
        </p:spPr>
      </p:sp>
      <p:sp>
        <p:nvSpPr>
          <p:cNvPr id="15" name="Text 13"/>
          <p:cNvSpPr/>
          <p:nvPr/>
        </p:nvSpPr>
        <p:spPr>
          <a:xfrm>
            <a:off x="8641080" y="1993392"/>
            <a:ext cx="2697480" cy="310896"/>
          </a:xfrm>
          <a:prstGeom prst="rect">
            <a:avLst/>
          </a:prstGeom>
          <a:noFill/>
          <a:ln/>
        </p:spPr>
        <p:txBody>
          <a:bodyPr wrap="square" lIns="0" tIns="0" rIns="0" bIns="0" rtlCol="0" anchor="ctr"/>
          <a:lstStyle/>
          <a:p>
            <a:pPr marL="0" indent="0">
              <a:buNone/>
            </a:pPr>
            <a:r>
              <a:rPr lang="en-US" sz="1400" b="1" dirty="0">
                <a:solidFill>
                  <a:srgbClr val="1D1D1F"/>
                </a:solidFill>
              </a:rPr>
              <a:t>min ISR = 2</a:t>
            </a:r>
            <a:endParaRPr lang="en-US" sz="1400" dirty="0"/>
          </a:p>
        </p:txBody>
      </p:sp>
      <p:sp>
        <p:nvSpPr>
          <p:cNvPr id="16" name="Text 14"/>
          <p:cNvSpPr/>
          <p:nvPr/>
        </p:nvSpPr>
        <p:spPr>
          <a:xfrm>
            <a:off x="8394192" y="2450592"/>
            <a:ext cx="2926080" cy="1691640"/>
          </a:xfrm>
          <a:prstGeom prst="rect">
            <a:avLst/>
          </a:prstGeom>
          <a:noFill/>
          <a:ln/>
        </p:spPr>
        <p:txBody>
          <a:bodyPr wrap="square" lIns="0" tIns="0" rIns="0" bIns="0" rtlCol="0" anchor="ctr">
            <a:normAutofit/>
          </a:bodyPr>
          <a:lstStyle/>
          <a:p>
            <a:pPr marL="0" indent="0">
              <a:buNone/>
            </a:pPr>
            <a:r>
              <a:rPr lang="en-US" sz="1150" dirty="0">
                <a:solidFill>
                  <a:srgbClr val="6E6E73"/>
                </a:solidFill>
              </a:rPr>
              <a:t>With acks=all, reject new writes when the ISR falls below two.</a:t>
            </a:r>
            <a:endParaRPr lang="en-US" sz="1150" dirty="0"/>
          </a:p>
        </p:txBody>
      </p:sp>
      <p:sp>
        <p:nvSpPr>
          <p:cNvPr id="17" name="Text 15"/>
          <p:cNvSpPr/>
          <p:nvPr/>
        </p:nvSpPr>
        <p:spPr>
          <a:xfrm>
            <a:off x="1143000" y="4800600"/>
            <a:ext cx="9875520" cy="594360"/>
          </a:xfrm>
          <a:prstGeom prst="rect">
            <a:avLst/>
          </a:prstGeom>
          <a:noFill/>
          <a:ln/>
        </p:spPr>
        <p:txBody>
          <a:bodyPr wrap="square" lIns="0" tIns="0" rIns="0" bIns="0" rtlCol="0" anchor="ctr"/>
          <a:lstStyle/>
          <a:p>
            <a:pPr marL="0" indent="0" algn="ctr">
              <a:buNone/>
            </a:pPr>
            <a:r>
              <a:rPr lang="en-US" sz="2200" b="1" dirty="0">
                <a:solidFill>
                  <a:srgbClr val="1D1D1F"/>
                </a:solidFill>
              </a:rPr>
              <a:t>The system prefers an explicit write failure over acknowledging a record with insufficient redundancy.</a:t>
            </a:r>
            <a:endParaRPr lang="en-US" sz="2200" dirty="0"/>
          </a:p>
        </p:txBody>
      </p:sp>
      <p:sp>
        <p:nvSpPr>
          <p:cNvPr id="18" name="Text 16"/>
          <p:cNvSpPr/>
          <p:nvPr/>
        </p:nvSpPr>
        <p:spPr>
          <a:xfrm>
            <a:off x="594360" y="6272784"/>
            <a:ext cx="10789920" cy="228600"/>
          </a:xfrm>
          <a:prstGeom prst="rect">
            <a:avLst/>
          </a:prstGeom>
          <a:noFill/>
          <a:ln/>
        </p:spPr>
        <p:txBody>
          <a:bodyPr wrap="square" lIns="0" tIns="0" rIns="0" bIns="0" rtlCol="0" anchor="ctr"/>
          <a:lstStyle/>
          <a:p>
            <a:pPr marL="0" indent="0" algn="ctr">
              <a:buNone/>
            </a:pPr>
            <a:r>
              <a:rPr lang="en-US" sz="1000" i="1" dirty="0">
                <a:solidFill>
                  <a:srgbClr val="6E6E73"/>
                </a:solidFill>
              </a:rPr>
              <a:t>Availability is intentionally traded for durability.</a:t>
            </a:r>
            <a:endParaRPr lang="en-US" sz="1000" dirty="0"/>
          </a:p>
        </p:txBody>
      </p:sp>
      <p:sp>
        <p:nvSpPr>
          <p:cNvPr id="25" name="Slide Number Placeholder 0"/>
          <p:cNvSpPr>
            <a:spLocks noGrp="1"/>
          </p:cNvSpPr>
          <p:nvPr>
            <p:ph type="sldNum" sz="quarter" idx="4294967295"/>
          </p:nvPr>
        </p:nvSpPr>
        <p:spPr>
          <a:xfrm>
            <a:off x="11686032" y="6510528"/>
            <a:ext cx="228600"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86868B"/>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1" cy="1"/>
          <a:chOff x="0" y="0"/>
          <a:chExt cx="1" cy="1"/>
        </a:xfrm>
      </p:grpSpPr>
      <p:sp>
        <p:nvSpPr>
          <p:cNvPr id="2" name="Text 0"/>
          <p:cNvSpPr/>
          <p:nvPr/>
        </p:nvSpPr>
        <p:spPr>
          <a:xfrm>
            <a:off x="594360" y="502920"/>
            <a:ext cx="4389120" cy="228600"/>
          </a:xfrm>
          <a:prstGeom prst="rect">
            <a:avLst/>
          </a:prstGeom>
          <a:noFill/>
          <a:ln/>
        </p:spPr>
        <p:txBody>
          <a:bodyPr wrap="square" lIns="0" tIns="0" rIns="0" bIns="0" rtlCol="0" anchor="ctr"/>
          <a:lstStyle/>
          <a:p>
            <a:pPr marL="0" indent="0">
              <a:buNone/>
            </a:pPr>
            <a:r>
              <a:rPr lang="en-US" sz="1000" b="1" kern="0" spc="150" dirty="0">
                <a:solidFill>
                  <a:srgbClr val="0071E3"/>
                </a:solidFill>
              </a:rPr>
              <a:t>ACKNOWLEDGEMENT</a:t>
            </a:r>
            <a:endParaRPr lang="en-US" sz="1000" dirty="0"/>
          </a:p>
        </p:txBody>
      </p:sp>
      <p:sp>
        <p:nvSpPr>
          <p:cNvPr id="3" name="Text 1"/>
          <p:cNvSpPr/>
          <p:nvPr/>
        </p:nvSpPr>
        <p:spPr>
          <a:xfrm>
            <a:off x="594360" y="822960"/>
            <a:ext cx="10972800" cy="594360"/>
          </a:xfrm>
          <a:prstGeom prst="rect">
            <a:avLst/>
          </a:prstGeom>
          <a:noFill/>
          <a:ln/>
        </p:spPr>
        <p:txBody>
          <a:bodyPr wrap="square" lIns="0" tIns="0" rIns="0" bIns="0" rtlCol="0" anchor="ctr"/>
          <a:lstStyle/>
          <a:p>
            <a:pPr marL="0" indent="0">
              <a:buNone/>
            </a:pPr>
            <a:r>
              <a:rPr lang="en-US" sz="2800" b="1" dirty="0">
                <a:solidFill>
                  <a:srgbClr val="1D1D1F"/>
                </a:solidFill>
              </a:rPr>
              <a:t>acks=all and min ISR must be reasoned together</a:t>
            </a:r>
            <a:endParaRPr lang="en-US" sz="2800" dirty="0"/>
          </a:p>
        </p:txBody>
      </p:sp>
      <p:sp>
        <p:nvSpPr>
          <p:cNvPr id="4" name="Text 2"/>
          <p:cNvSpPr/>
          <p:nvPr/>
        </p:nvSpPr>
        <p:spPr>
          <a:xfrm>
            <a:off x="612648" y="1444752"/>
            <a:ext cx="10789920" cy="256032"/>
          </a:xfrm>
          <a:prstGeom prst="rect">
            <a:avLst/>
          </a:prstGeom>
          <a:noFill/>
          <a:ln/>
        </p:spPr>
        <p:txBody>
          <a:bodyPr wrap="square" lIns="0" tIns="0" rIns="0" bIns="0" rtlCol="0" anchor="ctr"/>
          <a:lstStyle/>
          <a:p>
            <a:pPr marL="0" indent="0">
              <a:buNone/>
            </a:pPr>
            <a:r>
              <a:rPr lang="en-US" sz="1400" dirty="0">
                <a:solidFill>
                  <a:srgbClr val="6E6E73"/>
                </a:solidFill>
              </a:rPr>
              <a:t>The acknowledgement threshold depends on the current ISR and topic policy.</a:t>
            </a:r>
            <a:endParaRPr lang="en-US" sz="1400" dirty="0"/>
          </a:p>
        </p:txBody>
      </p:sp>
      <p:sp>
        <p:nvSpPr>
          <p:cNvPr id="5" name="Shape 3"/>
          <p:cNvSpPr/>
          <p:nvPr/>
        </p:nvSpPr>
        <p:spPr>
          <a:xfrm>
            <a:off x="685800" y="1874520"/>
            <a:ext cx="3383280" cy="2423160"/>
          </a:xfrm>
          <a:prstGeom prst="roundRect">
            <a:avLst>
              <a:gd name="adj" fmla="val 3774"/>
            </a:avLst>
          </a:prstGeom>
          <a:solidFill>
            <a:srgbClr val="FFFFFF"/>
          </a:solidFill>
          <a:ln w="12700">
            <a:solidFill>
              <a:srgbClr val="E5E5EA"/>
            </a:solidFill>
            <a:prstDash val="solid"/>
          </a:ln>
          <a:effectLst>
            <a:outerShdw blurRad="15240" dist="12700" dir="2700000" algn="bl" rotWithShape="0">
              <a:srgbClr val="000000">
                <a:alpha val="10000"/>
              </a:srgbClr>
            </a:outerShdw>
          </a:effectLst>
        </p:spPr>
      </p:sp>
      <p:sp>
        <p:nvSpPr>
          <p:cNvPr id="6" name="Shape 4"/>
          <p:cNvSpPr/>
          <p:nvPr/>
        </p:nvSpPr>
        <p:spPr>
          <a:xfrm>
            <a:off x="914400" y="2103120"/>
            <a:ext cx="146304" cy="146304"/>
          </a:xfrm>
          <a:prstGeom prst="ellipse">
            <a:avLst/>
          </a:prstGeom>
          <a:solidFill>
            <a:srgbClr val="FF453A"/>
          </a:solidFill>
          <a:ln w="12700">
            <a:solidFill>
              <a:srgbClr val="FF453A"/>
            </a:solidFill>
            <a:prstDash val="solid"/>
          </a:ln>
        </p:spPr>
      </p:sp>
      <p:sp>
        <p:nvSpPr>
          <p:cNvPr id="7" name="Text 5"/>
          <p:cNvSpPr/>
          <p:nvPr/>
        </p:nvSpPr>
        <p:spPr>
          <a:xfrm>
            <a:off x="1161288" y="2039112"/>
            <a:ext cx="2697480" cy="310896"/>
          </a:xfrm>
          <a:prstGeom prst="rect">
            <a:avLst/>
          </a:prstGeom>
          <a:noFill/>
          <a:ln/>
        </p:spPr>
        <p:txBody>
          <a:bodyPr wrap="square" lIns="0" tIns="0" rIns="0" bIns="0" rtlCol="0" anchor="ctr"/>
          <a:lstStyle/>
          <a:p>
            <a:pPr marL="0" indent="0">
              <a:buNone/>
            </a:pPr>
            <a:r>
              <a:rPr lang="en-US" sz="1400" b="1" dirty="0">
                <a:solidFill>
                  <a:srgbClr val="1D1D1F"/>
                </a:solidFill>
              </a:rPr>
              <a:t>acks=0</a:t>
            </a:r>
            <a:endParaRPr lang="en-US" sz="1400" dirty="0"/>
          </a:p>
        </p:txBody>
      </p:sp>
      <p:sp>
        <p:nvSpPr>
          <p:cNvPr id="8" name="Text 6"/>
          <p:cNvSpPr/>
          <p:nvPr/>
        </p:nvSpPr>
        <p:spPr>
          <a:xfrm>
            <a:off x="914400" y="2496312"/>
            <a:ext cx="2926080" cy="1645920"/>
          </a:xfrm>
          <a:prstGeom prst="rect">
            <a:avLst/>
          </a:prstGeom>
          <a:noFill/>
          <a:ln/>
        </p:spPr>
        <p:txBody>
          <a:bodyPr wrap="square" lIns="0" tIns="0" rIns="0" bIns="0" rtlCol="0" anchor="ctr">
            <a:normAutofit/>
          </a:bodyPr>
          <a:lstStyle/>
          <a:p>
            <a:pPr marL="0" indent="0">
              <a:buNone/>
            </a:pPr>
            <a:r>
              <a:rPr lang="en-US" sz="1150" dirty="0">
                <a:solidFill>
                  <a:srgbClr val="6E6E73"/>
                </a:solidFill>
              </a:rPr>
              <a:t>No broker confirmation</a:t>
            </a:r>
            <a:endParaRPr lang="en-US" sz="1150" dirty="0"/>
          </a:p>
          <a:p>
            <a:pPr marL="0" indent="0">
              <a:buNone/>
            </a:pPr>
            <a:endParaRPr lang="en-US" sz="1150" dirty="0"/>
          </a:p>
          <a:p>
            <a:pPr marL="0" indent="0">
              <a:buNone/>
            </a:pPr>
            <a:r>
              <a:rPr lang="en-US" sz="1150" dirty="0">
                <a:solidFill>
                  <a:srgbClr val="6E6E73"/>
                </a:solidFill>
              </a:rPr>
              <a:t>Maximum loss exposure</a:t>
            </a:r>
            <a:endParaRPr lang="en-US" sz="1150" dirty="0"/>
          </a:p>
        </p:txBody>
      </p:sp>
      <p:sp>
        <p:nvSpPr>
          <p:cNvPr id="9" name="Shape 7"/>
          <p:cNvSpPr/>
          <p:nvPr/>
        </p:nvSpPr>
        <p:spPr>
          <a:xfrm>
            <a:off x="4480560" y="1874520"/>
            <a:ext cx="3383280" cy="2423160"/>
          </a:xfrm>
          <a:prstGeom prst="roundRect">
            <a:avLst>
              <a:gd name="adj" fmla="val 3774"/>
            </a:avLst>
          </a:prstGeom>
          <a:solidFill>
            <a:srgbClr val="FFFFFF"/>
          </a:solidFill>
          <a:ln w="12700">
            <a:solidFill>
              <a:srgbClr val="E5E5EA"/>
            </a:solidFill>
            <a:prstDash val="solid"/>
          </a:ln>
          <a:effectLst>
            <a:outerShdw blurRad="15240" dist="12700" dir="2700000" algn="bl" rotWithShape="0">
              <a:srgbClr val="000000">
                <a:alpha val="10000"/>
              </a:srgbClr>
            </a:outerShdw>
          </a:effectLst>
        </p:spPr>
      </p:sp>
      <p:sp>
        <p:nvSpPr>
          <p:cNvPr id="10" name="Shape 8"/>
          <p:cNvSpPr/>
          <p:nvPr/>
        </p:nvSpPr>
        <p:spPr>
          <a:xfrm>
            <a:off x="4709160" y="2103120"/>
            <a:ext cx="146304" cy="146304"/>
          </a:xfrm>
          <a:prstGeom prst="ellipse">
            <a:avLst/>
          </a:prstGeom>
          <a:solidFill>
            <a:srgbClr val="FF9F0A"/>
          </a:solidFill>
          <a:ln w="12700">
            <a:solidFill>
              <a:srgbClr val="FF9F0A"/>
            </a:solidFill>
            <a:prstDash val="solid"/>
          </a:ln>
        </p:spPr>
      </p:sp>
      <p:sp>
        <p:nvSpPr>
          <p:cNvPr id="11" name="Text 9"/>
          <p:cNvSpPr/>
          <p:nvPr/>
        </p:nvSpPr>
        <p:spPr>
          <a:xfrm>
            <a:off x="4956048" y="2039112"/>
            <a:ext cx="2697480" cy="310896"/>
          </a:xfrm>
          <a:prstGeom prst="rect">
            <a:avLst/>
          </a:prstGeom>
          <a:noFill/>
          <a:ln/>
        </p:spPr>
        <p:txBody>
          <a:bodyPr wrap="square" lIns="0" tIns="0" rIns="0" bIns="0" rtlCol="0" anchor="ctr"/>
          <a:lstStyle/>
          <a:p>
            <a:pPr marL="0" indent="0">
              <a:buNone/>
            </a:pPr>
            <a:r>
              <a:rPr lang="en-US" sz="1400" b="1" dirty="0">
                <a:solidFill>
                  <a:srgbClr val="1D1D1F"/>
                </a:solidFill>
              </a:rPr>
              <a:t>acks=1</a:t>
            </a:r>
            <a:endParaRPr lang="en-US" sz="1400" dirty="0"/>
          </a:p>
        </p:txBody>
      </p:sp>
      <p:sp>
        <p:nvSpPr>
          <p:cNvPr id="12" name="Text 10"/>
          <p:cNvSpPr/>
          <p:nvPr/>
        </p:nvSpPr>
        <p:spPr>
          <a:xfrm>
            <a:off x="4709160" y="2496312"/>
            <a:ext cx="2926080" cy="1645920"/>
          </a:xfrm>
          <a:prstGeom prst="rect">
            <a:avLst/>
          </a:prstGeom>
          <a:noFill/>
          <a:ln/>
        </p:spPr>
        <p:txBody>
          <a:bodyPr wrap="square" lIns="0" tIns="0" rIns="0" bIns="0" rtlCol="0" anchor="ctr">
            <a:normAutofit/>
          </a:bodyPr>
          <a:lstStyle/>
          <a:p>
            <a:pPr marL="0" indent="0">
              <a:buNone/>
            </a:pPr>
            <a:r>
              <a:rPr lang="en-US" sz="1150" dirty="0">
                <a:solidFill>
                  <a:srgbClr val="6E6E73"/>
                </a:solidFill>
              </a:rPr>
              <a:t>Leader local append</a:t>
            </a:r>
            <a:endParaRPr lang="en-US" sz="1150" dirty="0"/>
          </a:p>
          <a:p>
            <a:pPr marL="0" indent="0">
              <a:buNone/>
            </a:pPr>
            <a:endParaRPr lang="en-US" sz="1150" dirty="0"/>
          </a:p>
          <a:p>
            <a:pPr marL="0" indent="0">
              <a:buNone/>
            </a:pPr>
            <a:r>
              <a:rPr lang="en-US" sz="1150" dirty="0">
                <a:solidFill>
                  <a:srgbClr val="6E6E73"/>
                </a:solidFill>
              </a:rPr>
              <a:t>Leader failure can expose a gap</a:t>
            </a:r>
            <a:endParaRPr lang="en-US" sz="1150" dirty="0"/>
          </a:p>
        </p:txBody>
      </p:sp>
      <p:sp>
        <p:nvSpPr>
          <p:cNvPr id="13" name="Shape 11"/>
          <p:cNvSpPr/>
          <p:nvPr/>
        </p:nvSpPr>
        <p:spPr>
          <a:xfrm>
            <a:off x="8275320" y="1874520"/>
            <a:ext cx="3383280" cy="2423160"/>
          </a:xfrm>
          <a:prstGeom prst="roundRect">
            <a:avLst>
              <a:gd name="adj" fmla="val 3774"/>
            </a:avLst>
          </a:prstGeom>
          <a:solidFill>
            <a:srgbClr val="FFFFFF"/>
          </a:solidFill>
          <a:ln w="12700">
            <a:solidFill>
              <a:srgbClr val="E5E5EA"/>
            </a:solidFill>
            <a:prstDash val="solid"/>
          </a:ln>
          <a:effectLst>
            <a:outerShdw blurRad="15240" dist="12700" dir="2700000" algn="bl" rotWithShape="0">
              <a:srgbClr val="000000">
                <a:alpha val="10000"/>
              </a:srgbClr>
            </a:outerShdw>
          </a:effectLst>
        </p:spPr>
      </p:sp>
      <p:sp>
        <p:nvSpPr>
          <p:cNvPr id="14" name="Shape 12"/>
          <p:cNvSpPr/>
          <p:nvPr/>
        </p:nvSpPr>
        <p:spPr>
          <a:xfrm>
            <a:off x="8503920" y="2103120"/>
            <a:ext cx="146304" cy="146304"/>
          </a:xfrm>
          <a:prstGeom prst="ellipse">
            <a:avLst/>
          </a:prstGeom>
          <a:solidFill>
            <a:srgbClr val="30D158"/>
          </a:solidFill>
          <a:ln w="12700">
            <a:solidFill>
              <a:srgbClr val="30D158"/>
            </a:solidFill>
            <a:prstDash val="solid"/>
          </a:ln>
        </p:spPr>
      </p:sp>
      <p:sp>
        <p:nvSpPr>
          <p:cNvPr id="15" name="Text 13"/>
          <p:cNvSpPr/>
          <p:nvPr/>
        </p:nvSpPr>
        <p:spPr>
          <a:xfrm>
            <a:off x="8750808" y="2039112"/>
            <a:ext cx="2697480" cy="310896"/>
          </a:xfrm>
          <a:prstGeom prst="rect">
            <a:avLst/>
          </a:prstGeom>
          <a:noFill/>
          <a:ln/>
        </p:spPr>
        <p:txBody>
          <a:bodyPr wrap="square" lIns="0" tIns="0" rIns="0" bIns="0" rtlCol="0" anchor="ctr"/>
          <a:lstStyle/>
          <a:p>
            <a:pPr marL="0" indent="0">
              <a:buNone/>
            </a:pPr>
            <a:r>
              <a:rPr lang="en-US" sz="1400" b="1" dirty="0">
                <a:solidFill>
                  <a:srgbClr val="1D1D1F"/>
                </a:solidFill>
              </a:rPr>
              <a:t>acks=all</a:t>
            </a:r>
            <a:endParaRPr lang="en-US" sz="1400" dirty="0"/>
          </a:p>
        </p:txBody>
      </p:sp>
      <p:sp>
        <p:nvSpPr>
          <p:cNvPr id="16" name="Text 14"/>
          <p:cNvSpPr/>
          <p:nvPr/>
        </p:nvSpPr>
        <p:spPr>
          <a:xfrm>
            <a:off x="8503920" y="2496312"/>
            <a:ext cx="2926080" cy="1645920"/>
          </a:xfrm>
          <a:prstGeom prst="rect">
            <a:avLst/>
          </a:prstGeom>
          <a:noFill/>
          <a:ln/>
        </p:spPr>
        <p:txBody>
          <a:bodyPr wrap="square" lIns="0" tIns="0" rIns="0" bIns="0" rtlCol="0" anchor="ctr">
            <a:normAutofit/>
          </a:bodyPr>
          <a:lstStyle/>
          <a:p>
            <a:pPr marL="0" indent="0">
              <a:buNone/>
            </a:pPr>
            <a:r>
              <a:rPr lang="en-US" sz="1150" dirty="0">
                <a:solidFill>
                  <a:srgbClr val="6E6E73"/>
                </a:solidFill>
              </a:rPr>
              <a:t>Required ISR acknowledgement</a:t>
            </a:r>
            <a:endParaRPr lang="en-US" sz="1150" dirty="0"/>
          </a:p>
          <a:p>
            <a:pPr marL="0" indent="0">
              <a:buNone/>
            </a:pPr>
            <a:endParaRPr lang="en-US" sz="1150" dirty="0"/>
          </a:p>
          <a:p>
            <a:pPr marL="0" indent="0">
              <a:buNone/>
            </a:pPr>
            <a:r>
              <a:rPr lang="en-US" sz="1150" dirty="0">
                <a:solidFill>
                  <a:srgbClr val="6E6E73"/>
                </a:solidFill>
              </a:rPr>
              <a:t>Strongest producer durability</a:t>
            </a:r>
            <a:endParaRPr lang="en-US" sz="1150" dirty="0"/>
          </a:p>
        </p:txBody>
      </p:sp>
      <p:sp>
        <p:nvSpPr>
          <p:cNvPr id="17" name="Shape 15"/>
          <p:cNvSpPr/>
          <p:nvPr/>
        </p:nvSpPr>
        <p:spPr>
          <a:xfrm>
            <a:off x="1828800" y="4709160"/>
            <a:ext cx="8503920" cy="777240"/>
          </a:xfrm>
          <a:prstGeom prst="roundRect">
            <a:avLst>
              <a:gd name="adj" fmla="val 14118"/>
            </a:avLst>
          </a:prstGeom>
          <a:solidFill>
            <a:srgbClr val="E8F3FF"/>
          </a:solidFill>
          <a:ln w="12700">
            <a:solidFill>
              <a:srgbClr val="B9DDFF"/>
            </a:solidFill>
            <a:prstDash val="solid"/>
          </a:ln>
        </p:spPr>
      </p:sp>
      <p:sp>
        <p:nvSpPr>
          <p:cNvPr id="18" name="Text 16"/>
          <p:cNvSpPr/>
          <p:nvPr/>
        </p:nvSpPr>
        <p:spPr>
          <a:xfrm>
            <a:off x="2148840" y="4937760"/>
            <a:ext cx="7863840" cy="274320"/>
          </a:xfrm>
          <a:prstGeom prst="rect">
            <a:avLst/>
          </a:prstGeom>
          <a:noFill/>
          <a:ln/>
        </p:spPr>
        <p:txBody>
          <a:bodyPr wrap="square" lIns="0" tIns="0" rIns="0" bIns="0" rtlCol="0" anchor="ctr"/>
          <a:lstStyle/>
          <a:p>
            <a:pPr marL="0" indent="0" algn="ctr">
              <a:buNone/>
            </a:pPr>
            <a:r>
              <a:rPr lang="en-US" sz="1500" b="1" dirty="0">
                <a:solidFill>
                  <a:srgbClr val="0071E3"/>
                </a:solidFill>
              </a:rPr>
              <a:t>RF=3 + min ISR=2 + acks=all  →  success requires the leader plus enough ISR replication to satisfy the policy.</a:t>
            </a:r>
            <a:endParaRPr lang="en-US" sz="1500" dirty="0"/>
          </a:p>
        </p:txBody>
      </p:sp>
      <p:sp>
        <p:nvSpPr>
          <p:cNvPr id="25" name="Slide Number Placeholder 0"/>
          <p:cNvSpPr>
            <a:spLocks noGrp="1"/>
          </p:cNvSpPr>
          <p:nvPr>
            <p:ph type="sldNum" sz="quarter" idx="4294967295"/>
          </p:nvPr>
        </p:nvSpPr>
        <p:spPr>
          <a:xfrm>
            <a:off x="11686032" y="6510528"/>
            <a:ext cx="228600"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86868B"/>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1" cy="1"/>
          <a:chOff x="0" y="0"/>
          <a:chExt cx="1" cy="1"/>
        </a:xfrm>
      </p:grpSpPr>
      <p:sp>
        <p:nvSpPr>
          <p:cNvPr id="2" name="Text 0"/>
          <p:cNvSpPr/>
          <p:nvPr/>
        </p:nvSpPr>
        <p:spPr>
          <a:xfrm>
            <a:off x="594360" y="502920"/>
            <a:ext cx="4389120" cy="228600"/>
          </a:xfrm>
          <a:prstGeom prst="rect">
            <a:avLst/>
          </a:prstGeom>
          <a:noFill/>
          <a:ln/>
        </p:spPr>
        <p:txBody>
          <a:bodyPr wrap="square" lIns="0" tIns="0" rIns="0" bIns="0" rtlCol="0" anchor="ctr"/>
          <a:lstStyle/>
          <a:p>
            <a:pPr marL="0" indent="0">
              <a:buNone/>
            </a:pPr>
            <a:r>
              <a:rPr lang="en-US" sz="1000" b="1" kern="0" spc="150" dirty="0">
                <a:solidFill>
                  <a:srgbClr val="0071E3"/>
                </a:solidFill>
              </a:rPr>
              <a:t>FAILURE MATRIX</a:t>
            </a:r>
            <a:endParaRPr lang="en-US" sz="1000" dirty="0"/>
          </a:p>
        </p:txBody>
      </p:sp>
      <p:sp>
        <p:nvSpPr>
          <p:cNvPr id="3" name="Text 1"/>
          <p:cNvSpPr/>
          <p:nvPr/>
        </p:nvSpPr>
        <p:spPr>
          <a:xfrm>
            <a:off x="594360" y="822960"/>
            <a:ext cx="10972800" cy="594360"/>
          </a:xfrm>
          <a:prstGeom prst="rect">
            <a:avLst/>
          </a:prstGeom>
          <a:noFill/>
          <a:ln/>
        </p:spPr>
        <p:txBody>
          <a:bodyPr wrap="square" lIns="0" tIns="0" rIns="0" bIns="0" rtlCol="0" anchor="ctr"/>
          <a:lstStyle/>
          <a:p>
            <a:pPr marL="0" indent="0">
              <a:buNone/>
            </a:pPr>
            <a:r>
              <a:rPr lang="en-US" sz="2800" b="1" dirty="0">
                <a:solidFill>
                  <a:srgbClr val="1D1D1F"/>
                </a:solidFill>
              </a:rPr>
              <a:t>RF=3, min ISR=2: what actually happens</a:t>
            </a:r>
            <a:endParaRPr lang="en-US" sz="2800" dirty="0"/>
          </a:p>
        </p:txBody>
      </p:sp>
      <p:sp>
        <p:nvSpPr>
          <p:cNvPr id="4" name="Text 2"/>
          <p:cNvSpPr/>
          <p:nvPr/>
        </p:nvSpPr>
        <p:spPr>
          <a:xfrm>
            <a:off x="612648" y="1444752"/>
            <a:ext cx="10789920" cy="256032"/>
          </a:xfrm>
          <a:prstGeom prst="rect">
            <a:avLst/>
          </a:prstGeom>
          <a:noFill/>
          <a:ln/>
        </p:spPr>
        <p:txBody>
          <a:bodyPr wrap="square" lIns="0" tIns="0" rIns="0" bIns="0" rtlCol="0" anchor="ctr"/>
          <a:lstStyle/>
          <a:p>
            <a:pPr marL="0" indent="0">
              <a:buNone/>
            </a:pPr>
            <a:r>
              <a:rPr lang="en-US" sz="1400" dirty="0">
                <a:solidFill>
                  <a:srgbClr val="6E6E73"/>
                </a:solidFill>
              </a:rPr>
              <a:t>Survive one broker outage and keep writing; a second outage usually stops writes.</a:t>
            </a:r>
            <a:endParaRPr lang="en-US" sz="1400" dirty="0"/>
          </a:p>
        </p:txBody>
      </p:sp>
      <p:sp>
        <p:nvSpPr>
          <p:cNvPr id="5" name="Shape 3"/>
          <p:cNvSpPr/>
          <p:nvPr/>
        </p:nvSpPr>
        <p:spPr>
          <a:xfrm>
            <a:off x="731520" y="1828800"/>
            <a:ext cx="10789920" cy="713232"/>
          </a:xfrm>
          <a:prstGeom prst="roundRect">
            <a:avLst>
              <a:gd name="adj" fmla="val 10256"/>
            </a:avLst>
          </a:prstGeom>
          <a:solidFill>
            <a:srgbClr val="FFFFFF"/>
          </a:solidFill>
          <a:ln w="12700">
            <a:solidFill>
              <a:srgbClr val="E5E5EA"/>
            </a:solidFill>
            <a:prstDash val="solid"/>
          </a:ln>
        </p:spPr>
      </p:sp>
      <p:sp>
        <p:nvSpPr>
          <p:cNvPr id="6" name="Shape 4"/>
          <p:cNvSpPr/>
          <p:nvPr/>
        </p:nvSpPr>
        <p:spPr>
          <a:xfrm>
            <a:off x="960120" y="2011680"/>
            <a:ext cx="914400" cy="347472"/>
          </a:xfrm>
          <a:prstGeom prst="roundRect">
            <a:avLst>
              <a:gd name="adj" fmla="val 47368"/>
            </a:avLst>
          </a:prstGeom>
          <a:solidFill>
            <a:srgbClr val="30D158"/>
          </a:solidFill>
          <a:ln w="12700">
            <a:solidFill>
              <a:srgbClr val="30D158"/>
            </a:solidFill>
            <a:prstDash val="solid"/>
          </a:ln>
        </p:spPr>
      </p:sp>
      <p:sp>
        <p:nvSpPr>
          <p:cNvPr id="7" name="Text 5"/>
          <p:cNvSpPr/>
          <p:nvPr/>
        </p:nvSpPr>
        <p:spPr>
          <a:xfrm>
            <a:off x="960120" y="2066544"/>
            <a:ext cx="914400" cy="182880"/>
          </a:xfrm>
          <a:prstGeom prst="rect">
            <a:avLst/>
          </a:prstGeom>
          <a:noFill/>
          <a:ln/>
        </p:spPr>
        <p:txBody>
          <a:bodyPr wrap="square" lIns="0" tIns="0" rIns="0" bIns="0" rtlCol="0" anchor="ctr"/>
          <a:lstStyle/>
          <a:p>
            <a:pPr marL="0" indent="0" algn="ctr">
              <a:buNone/>
            </a:pPr>
            <a:r>
              <a:rPr lang="en-US" sz="1000" b="1" dirty="0">
                <a:solidFill>
                  <a:srgbClr val="FFFFFF"/>
                </a:solidFill>
              </a:rPr>
              <a:t>3 ISR</a:t>
            </a:r>
            <a:endParaRPr lang="en-US" sz="1000" dirty="0"/>
          </a:p>
        </p:txBody>
      </p:sp>
      <p:sp>
        <p:nvSpPr>
          <p:cNvPr id="8" name="Text 6"/>
          <p:cNvSpPr/>
          <p:nvPr/>
        </p:nvSpPr>
        <p:spPr>
          <a:xfrm>
            <a:off x="2240280" y="2002536"/>
            <a:ext cx="2194560" cy="274320"/>
          </a:xfrm>
          <a:prstGeom prst="rect">
            <a:avLst/>
          </a:prstGeom>
          <a:noFill/>
          <a:ln/>
        </p:spPr>
        <p:txBody>
          <a:bodyPr wrap="square" lIns="0" tIns="0" rIns="0" bIns="0" rtlCol="0" anchor="ctr"/>
          <a:lstStyle/>
          <a:p>
            <a:pPr marL="0" indent="0">
              <a:buNone/>
            </a:pPr>
            <a:r>
              <a:rPr lang="en-US" sz="1500" b="1" dirty="0">
                <a:solidFill>
                  <a:srgbClr val="1D1D1F"/>
                </a:solidFill>
              </a:rPr>
              <a:t>Write succeeds</a:t>
            </a:r>
            <a:endParaRPr lang="en-US" sz="1500" dirty="0"/>
          </a:p>
        </p:txBody>
      </p:sp>
      <p:sp>
        <p:nvSpPr>
          <p:cNvPr id="9" name="Text 7"/>
          <p:cNvSpPr/>
          <p:nvPr/>
        </p:nvSpPr>
        <p:spPr>
          <a:xfrm>
            <a:off x="4572000" y="2002536"/>
            <a:ext cx="6217920" cy="274320"/>
          </a:xfrm>
          <a:prstGeom prst="rect">
            <a:avLst/>
          </a:prstGeom>
          <a:noFill/>
          <a:ln/>
        </p:spPr>
        <p:txBody>
          <a:bodyPr wrap="square" lIns="0" tIns="0" rIns="0" bIns="0" rtlCol="0" anchor="ctr"/>
          <a:lstStyle/>
          <a:p>
            <a:pPr marL="0" indent="0">
              <a:buNone/>
            </a:pPr>
            <a:r>
              <a:rPr lang="en-US" sz="1300" dirty="0">
                <a:solidFill>
                  <a:srgbClr val="6E6E73"/>
                </a:solidFill>
              </a:rPr>
              <a:t>Full redundancy</a:t>
            </a:r>
            <a:endParaRPr lang="en-US" sz="1300" dirty="0"/>
          </a:p>
        </p:txBody>
      </p:sp>
      <p:sp>
        <p:nvSpPr>
          <p:cNvPr id="10" name="Shape 8"/>
          <p:cNvSpPr/>
          <p:nvPr/>
        </p:nvSpPr>
        <p:spPr>
          <a:xfrm>
            <a:off x="731520" y="2788920"/>
            <a:ext cx="10789920" cy="713232"/>
          </a:xfrm>
          <a:prstGeom prst="roundRect">
            <a:avLst>
              <a:gd name="adj" fmla="val 10256"/>
            </a:avLst>
          </a:prstGeom>
          <a:solidFill>
            <a:srgbClr val="F9F9FB"/>
          </a:solidFill>
          <a:ln w="12700">
            <a:solidFill>
              <a:srgbClr val="E5E5EA"/>
            </a:solidFill>
            <a:prstDash val="solid"/>
          </a:ln>
        </p:spPr>
      </p:sp>
      <p:sp>
        <p:nvSpPr>
          <p:cNvPr id="11" name="Shape 9"/>
          <p:cNvSpPr/>
          <p:nvPr/>
        </p:nvSpPr>
        <p:spPr>
          <a:xfrm>
            <a:off x="960120" y="2971800"/>
            <a:ext cx="914400" cy="347472"/>
          </a:xfrm>
          <a:prstGeom prst="roundRect">
            <a:avLst>
              <a:gd name="adj" fmla="val 47368"/>
            </a:avLst>
          </a:prstGeom>
          <a:solidFill>
            <a:srgbClr val="FF9F0A"/>
          </a:solidFill>
          <a:ln w="12700">
            <a:solidFill>
              <a:srgbClr val="FF9F0A"/>
            </a:solidFill>
            <a:prstDash val="solid"/>
          </a:ln>
        </p:spPr>
      </p:sp>
      <p:sp>
        <p:nvSpPr>
          <p:cNvPr id="12" name="Text 10"/>
          <p:cNvSpPr/>
          <p:nvPr/>
        </p:nvSpPr>
        <p:spPr>
          <a:xfrm>
            <a:off x="960120" y="3026664"/>
            <a:ext cx="914400" cy="182880"/>
          </a:xfrm>
          <a:prstGeom prst="rect">
            <a:avLst/>
          </a:prstGeom>
          <a:noFill/>
          <a:ln/>
        </p:spPr>
        <p:txBody>
          <a:bodyPr wrap="square" lIns="0" tIns="0" rIns="0" bIns="0" rtlCol="0" anchor="ctr"/>
          <a:lstStyle/>
          <a:p>
            <a:pPr marL="0" indent="0" algn="ctr">
              <a:buNone/>
            </a:pPr>
            <a:r>
              <a:rPr lang="en-US" sz="1000" b="1" dirty="0">
                <a:solidFill>
                  <a:srgbClr val="FFFFFF"/>
                </a:solidFill>
              </a:rPr>
              <a:t>2 ISR</a:t>
            </a:r>
            <a:endParaRPr lang="en-US" sz="1000" dirty="0"/>
          </a:p>
        </p:txBody>
      </p:sp>
      <p:sp>
        <p:nvSpPr>
          <p:cNvPr id="13" name="Text 11"/>
          <p:cNvSpPr/>
          <p:nvPr/>
        </p:nvSpPr>
        <p:spPr>
          <a:xfrm>
            <a:off x="2240280" y="2962656"/>
            <a:ext cx="2194560" cy="274320"/>
          </a:xfrm>
          <a:prstGeom prst="rect">
            <a:avLst/>
          </a:prstGeom>
          <a:noFill/>
          <a:ln/>
        </p:spPr>
        <p:txBody>
          <a:bodyPr wrap="square" lIns="0" tIns="0" rIns="0" bIns="0" rtlCol="0" anchor="ctr"/>
          <a:lstStyle/>
          <a:p>
            <a:pPr marL="0" indent="0">
              <a:buNone/>
            </a:pPr>
            <a:r>
              <a:rPr lang="en-US" sz="1500" b="1" dirty="0">
                <a:solidFill>
                  <a:srgbClr val="1D1D1F"/>
                </a:solidFill>
              </a:rPr>
              <a:t>Write succeeds</a:t>
            </a:r>
            <a:endParaRPr lang="en-US" sz="1500" dirty="0"/>
          </a:p>
        </p:txBody>
      </p:sp>
      <p:sp>
        <p:nvSpPr>
          <p:cNvPr id="14" name="Text 12"/>
          <p:cNvSpPr/>
          <p:nvPr/>
        </p:nvSpPr>
        <p:spPr>
          <a:xfrm>
            <a:off x="4572000" y="2962656"/>
            <a:ext cx="6217920" cy="274320"/>
          </a:xfrm>
          <a:prstGeom prst="rect">
            <a:avLst/>
          </a:prstGeom>
          <a:noFill/>
          <a:ln/>
        </p:spPr>
        <p:txBody>
          <a:bodyPr wrap="square" lIns="0" tIns="0" rIns="0" bIns="0" rtlCol="0" anchor="ctr"/>
          <a:lstStyle/>
          <a:p>
            <a:pPr marL="0" indent="0">
              <a:buNone/>
            </a:pPr>
            <a:r>
              <a:rPr lang="en-US" sz="1300" dirty="0">
                <a:solidFill>
                  <a:srgbClr val="6E6E73"/>
                </a:solidFill>
              </a:rPr>
              <a:t>Degraded, one more failure blocks</a:t>
            </a:r>
            <a:endParaRPr lang="en-US" sz="1300" dirty="0"/>
          </a:p>
        </p:txBody>
      </p:sp>
      <p:sp>
        <p:nvSpPr>
          <p:cNvPr id="15" name="Shape 13"/>
          <p:cNvSpPr/>
          <p:nvPr/>
        </p:nvSpPr>
        <p:spPr>
          <a:xfrm>
            <a:off x="731520" y="3749040"/>
            <a:ext cx="10789920" cy="713232"/>
          </a:xfrm>
          <a:prstGeom prst="roundRect">
            <a:avLst>
              <a:gd name="adj" fmla="val 10256"/>
            </a:avLst>
          </a:prstGeom>
          <a:solidFill>
            <a:srgbClr val="FFFFFF"/>
          </a:solidFill>
          <a:ln w="12700">
            <a:solidFill>
              <a:srgbClr val="E5E5EA"/>
            </a:solidFill>
            <a:prstDash val="solid"/>
          </a:ln>
        </p:spPr>
      </p:sp>
      <p:sp>
        <p:nvSpPr>
          <p:cNvPr id="16" name="Shape 14"/>
          <p:cNvSpPr/>
          <p:nvPr/>
        </p:nvSpPr>
        <p:spPr>
          <a:xfrm>
            <a:off x="960120" y="3931920"/>
            <a:ext cx="914400" cy="347472"/>
          </a:xfrm>
          <a:prstGeom prst="roundRect">
            <a:avLst>
              <a:gd name="adj" fmla="val 47368"/>
            </a:avLst>
          </a:prstGeom>
          <a:solidFill>
            <a:srgbClr val="FF453A"/>
          </a:solidFill>
          <a:ln w="12700">
            <a:solidFill>
              <a:srgbClr val="FF453A"/>
            </a:solidFill>
            <a:prstDash val="solid"/>
          </a:ln>
        </p:spPr>
      </p:sp>
      <p:sp>
        <p:nvSpPr>
          <p:cNvPr id="17" name="Text 15"/>
          <p:cNvSpPr/>
          <p:nvPr/>
        </p:nvSpPr>
        <p:spPr>
          <a:xfrm>
            <a:off x="960120" y="3986784"/>
            <a:ext cx="914400" cy="182880"/>
          </a:xfrm>
          <a:prstGeom prst="rect">
            <a:avLst/>
          </a:prstGeom>
          <a:noFill/>
          <a:ln/>
        </p:spPr>
        <p:txBody>
          <a:bodyPr wrap="square" lIns="0" tIns="0" rIns="0" bIns="0" rtlCol="0" anchor="ctr"/>
          <a:lstStyle/>
          <a:p>
            <a:pPr marL="0" indent="0" algn="ctr">
              <a:buNone/>
            </a:pPr>
            <a:r>
              <a:rPr lang="en-US" sz="1000" b="1" dirty="0">
                <a:solidFill>
                  <a:srgbClr val="FFFFFF"/>
                </a:solidFill>
              </a:rPr>
              <a:t>1 ISR</a:t>
            </a:r>
            <a:endParaRPr lang="en-US" sz="1000" dirty="0"/>
          </a:p>
        </p:txBody>
      </p:sp>
      <p:sp>
        <p:nvSpPr>
          <p:cNvPr id="18" name="Text 16"/>
          <p:cNvSpPr/>
          <p:nvPr/>
        </p:nvSpPr>
        <p:spPr>
          <a:xfrm>
            <a:off x="2240280" y="3922776"/>
            <a:ext cx="2194560" cy="274320"/>
          </a:xfrm>
          <a:prstGeom prst="rect">
            <a:avLst/>
          </a:prstGeom>
          <a:noFill/>
          <a:ln/>
        </p:spPr>
        <p:txBody>
          <a:bodyPr wrap="square" lIns="0" tIns="0" rIns="0" bIns="0" rtlCol="0" anchor="ctr"/>
          <a:lstStyle/>
          <a:p>
            <a:pPr marL="0" indent="0">
              <a:buNone/>
            </a:pPr>
            <a:r>
              <a:rPr lang="en-US" sz="1500" b="1" dirty="0">
                <a:solidFill>
                  <a:srgbClr val="1D1D1F"/>
                </a:solidFill>
              </a:rPr>
              <a:t>Write rejected</a:t>
            </a:r>
            <a:endParaRPr lang="en-US" sz="1500" dirty="0"/>
          </a:p>
        </p:txBody>
      </p:sp>
      <p:sp>
        <p:nvSpPr>
          <p:cNvPr id="19" name="Text 17"/>
          <p:cNvSpPr/>
          <p:nvPr/>
        </p:nvSpPr>
        <p:spPr>
          <a:xfrm>
            <a:off x="4572000" y="3922776"/>
            <a:ext cx="6217920" cy="274320"/>
          </a:xfrm>
          <a:prstGeom prst="rect">
            <a:avLst/>
          </a:prstGeom>
          <a:noFill/>
          <a:ln/>
        </p:spPr>
        <p:txBody>
          <a:bodyPr wrap="square" lIns="0" tIns="0" rIns="0" bIns="0" rtlCol="0" anchor="ctr"/>
          <a:lstStyle/>
          <a:p>
            <a:pPr marL="0" indent="0">
              <a:buNone/>
            </a:pPr>
            <a:r>
              <a:rPr lang="en-US" sz="1300" dirty="0">
                <a:solidFill>
                  <a:srgbClr val="6E6E73"/>
                </a:solidFill>
              </a:rPr>
              <a:t>Data may remain readable; durability policy halts writes</a:t>
            </a:r>
            <a:endParaRPr lang="en-US" sz="1300" dirty="0"/>
          </a:p>
        </p:txBody>
      </p:sp>
      <p:sp>
        <p:nvSpPr>
          <p:cNvPr id="20" name="Shape 18"/>
          <p:cNvSpPr/>
          <p:nvPr/>
        </p:nvSpPr>
        <p:spPr>
          <a:xfrm>
            <a:off x="731520" y="4709160"/>
            <a:ext cx="10789920" cy="713232"/>
          </a:xfrm>
          <a:prstGeom prst="roundRect">
            <a:avLst>
              <a:gd name="adj" fmla="val 10256"/>
            </a:avLst>
          </a:prstGeom>
          <a:solidFill>
            <a:srgbClr val="F9F9FB"/>
          </a:solidFill>
          <a:ln w="12700">
            <a:solidFill>
              <a:srgbClr val="E5E5EA"/>
            </a:solidFill>
            <a:prstDash val="solid"/>
          </a:ln>
        </p:spPr>
      </p:sp>
      <p:sp>
        <p:nvSpPr>
          <p:cNvPr id="21" name="Shape 19"/>
          <p:cNvSpPr/>
          <p:nvPr/>
        </p:nvSpPr>
        <p:spPr>
          <a:xfrm>
            <a:off x="960120" y="4892040"/>
            <a:ext cx="914400" cy="347472"/>
          </a:xfrm>
          <a:prstGeom prst="roundRect">
            <a:avLst>
              <a:gd name="adj" fmla="val 47368"/>
            </a:avLst>
          </a:prstGeom>
          <a:solidFill>
            <a:srgbClr val="FF453A"/>
          </a:solidFill>
          <a:ln w="12700">
            <a:solidFill>
              <a:srgbClr val="FF453A"/>
            </a:solidFill>
            <a:prstDash val="solid"/>
          </a:ln>
        </p:spPr>
      </p:sp>
      <p:sp>
        <p:nvSpPr>
          <p:cNvPr id="22" name="Text 20"/>
          <p:cNvSpPr/>
          <p:nvPr/>
        </p:nvSpPr>
        <p:spPr>
          <a:xfrm>
            <a:off x="960120" y="4946904"/>
            <a:ext cx="914400" cy="182880"/>
          </a:xfrm>
          <a:prstGeom prst="rect">
            <a:avLst/>
          </a:prstGeom>
          <a:noFill/>
          <a:ln/>
        </p:spPr>
        <p:txBody>
          <a:bodyPr wrap="square" lIns="0" tIns="0" rIns="0" bIns="0" rtlCol="0" anchor="ctr"/>
          <a:lstStyle/>
          <a:p>
            <a:pPr marL="0" indent="0" algn="ctr">
              <a:buNone/>
            </a:pPr>
            <a:r>
              <a:rPr lang="en-US" sz="1000" b="1" dirty="0">
                <a:solidFill>
                  <a:srgbClr val="FFFFFF"/>
                </a:solidFill>
              </a:rPr>
              <a:t>0 ISR</a:t>
            </a:r>
            <a:endParaRPr lang="en-US" sz="1000" dirty="0"/>
          </a:p>
        </p:txBody>
      </p:sp>
      <p:sp>
        <p:nvSpPr>
          <p:cNvPr id="23" name="Text 21"/>
          <p:cNvSpPr/>
          <p:nvPr/>
        </p:nvSpPr>
        <p:spPr>
          <a:xfrm>
            <a:off x="2240280" y="4882896"/>
            <a:ext cx="2194560" cy="274320"/>
          </a:xfrm>
          <a:prstGeom prst="rect">
            <a:avLst/>
          </a:prstGeom>
          <a:noFill/>
          <a:ln/>
        </p:spPr>
        <p:txBody>
          <a:bodyPr wrap="square" lIns="0" tIns="0" rIns="0" bIns="0" rtlCol="0" anchor="ctr"/>
          <a:lstStyle/>
          <a:p>
            <a:pPr marL="0" indent="0">
              <a:buNone/>
            </a:pPr>
            <a:r>
              <a:rPr lang="en-US" sz="1500" b="1" dirty="0">
                <a:solidFill>
                  <a:srgbClr val="1D1D1F"/>
                </a:solidFill>
              </a:rPr>
              <a:t>Unavailable</a:t>
            </a:r>
            <a:endParaRPr lang="en-US" sz="1500" dirty="0"/>
          </a:p>
        </p:txBody>
      </p:sp>
      <p:sp>
        <p:nvSpPr>
          <p:cNvPr id="24" name="Text 22"/>
          <p:cNvSpPr/>
          <p:nvPr/>
        </p:nvSpPr>
        <p:spPr>
          <a:xfrm>
            <a:off x="4572000" y="4882896"/>
            <a:ext cx="6217920" cy="274320"/>
          </a:xfrm>
          <a:prstGeom prst="rect">
            <a:avLst/>
          </a:prstGeom>
          <a:noFill/>
          <a:ln/>
        </p:spPr>
        <p:txBody>
          <a:bodyPr wrap="square" lIns="0" tIns="0" rIns="0" bIns="0" rtlCol="0" anchor="ctr"/>
          <a:lstStyle/>
          <a:p>
            <a:pPr marL="0" indent="0">
              <a:buNone/>
            </a:pPr>
            <a:r>
              <a:rPr lang="en-US" sz="1300" dirty="0">
                <a:solidFill>
                  <a:srgbClr val="6E6E73"/>
                </a:solidFill>
              </a:rPr>
              <a:t>No eligible leader</a:t>
            </a:r>
            <a:endParaRPr lang="en-US" sz="1300" dirty="0"/>
          </a:p>
        </p:txBody>
      </p:sp>
      <p:sp>
        <p:nvSpPr>
          <p:cNvPr id="25" name="Text 23"/>
          <p:cNvSpPr/>
          <p:nvPr/>
        </p:nvSpPr>
        <p:spPr>
          <a:xfrm>
            <a:off x="594360" y="6272784"/>
            <a:ext cx="10789920" cy="228600"/>
          </a:xfrm>
          <a:prstGeom prst="rect">
            <a:avLst/>
          </a:prstGeom>
          <a:noFill/>
          <a:ln/>
        </p:spPr>
        <p:txBody>
          <a:bodyPr wrap="square" lIns="0" tIns="0" rIns="0" bIns="0" rtlCol="0" anchor="ctr"/>
          <a:lstStyle/>
          <a:p>
            <a:pPr marL="0" indent="0" algn="ctr">
              <a:buNone/>
            </a:pPr>
            <a:r>
              <a:rPr lang="en-US" sz="1000" i="1" dirty="0">
                <a:solidFill>
                  <a:srgbClr val="6E6E73"/>
                </a:solidFill>
              </a:rPr>
              <a:t>RF=3 preserves copies across failures; min ISR=2 governs whether new writes may be acknowledged.</a:t>
            </a:r>
            <a:endParaRPr lang="en-US" sz="1000" dirty="0"/>
          </a:p>
        </p:txBody>
      </p:sp>
      <p:sp>
        <p:nvSpPr>
          <p:cNvPr id="26" name="Slide Number Placeholder 0"/>
          <p:cNvSpPr>
            <a:spLocks noGrp="1"/>
          </p:cNvSpPr>
          <p:nvPr>
            <p:ph type="sldNum" sz="quarter" idx="4294967295"/>
          </p:nvPr>
        </p:nvSpPr>
        <p:spPr>
          <a:xfrm>
            <a:off x="11686032" y="6510528"/>
            <a:ext cx="228600"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86868B"/>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1" cy="1"/>
          <a:chOff x="0" y="0"/>
          <a:chExt cx="1" cy="1"/>
        </a:xfrm>
      </p:grpSpPr>
      <p:sp>
        <p:nvSpPr>
          <p:cNvPr id="2" name="Text 0"/>
          <p:cNvSpPr/>
          <p:nvPr/>
        </p:nvSpPr>
        <p:spPr>
          <a:xfrm>
            <a:off x="594360" y="502920"/>
            <a:ext cx="4389120" cy="228600"/>
          </a:xfrm>
          <a:prstGeom prst="rect">
            <a:avLst/>
          </a:prstGeom>
          <a:noFill/>
          <a:ln/>
        </p:spPr>
        <p:txBody>
          <a:bodyPr wrap="square" lIns="0" tIns="0" rIns="0" bIns="0" rtlCol="0" anchor="ctr"/>
          <a:lstStyle/>
          <a:p>
            <a:pPr marL="0" indent="0">
              <a:buNone/>
            </a:pPr>
            <a:r>
              <a:rPr lang="en-US" sz="1000" b="1" kern="0" spc="150" dirty="0">
                <a:solidFill>
                  <a:srgbClr val="0071E3"/>
                </a:solidFill>
              </a:rPr>
              <a:t>LEADER ELECTION</a:t>
            </a:r>
            <a:endParaRPr lang="en-US" sz="1000" dirty="0"/>
          </a:p>
        </p:txBody>
      </p:sp>
      <p:sp>
        <p:nvSpPr>
          <p:cNvPr id="3" name="Text 1"/>
          <p:cNvSpPr/>
          <p:nvPr/>
        </p:nvSpPr>
        <p:spPr>
          <a:xfrm>
            <a:off x="594360" y="822960"/>
            <a:ext cx="10972800" cy="594360"/>
          </a:xfrm>
          <a:prstGeom prst="rect">
            <a:avLst/>
          </a:prstGeom>
          <a:noFill/>
          <a:ln/>
        </p:spPr>
        <p:txBody>
          <a:bodyPr wrap="square" lIns="0" tIns="0" rIns="0" bIns="0" rtlCol="0" anchor="ctr"/>
          <a:lstStyle/>
          <a:p>
            <a:pPr marL="0" indent="0">
              <a:buNone/>
            </a:pPr>
            <a:r>
              <a:rPr lang="en-US" sz="2800" b="1" dirty="0">
                <a:solidFill>
                  <a:srgbClr val="1D1D1F"/>
                </a:solidFill>
              </a:rPr>
              <a:t>Never elect a stale replica just to restore service</a:t>
            </a:r>
            <a:endParaRPr lang="en-US" sz="2800" dirty="0"/>
          </a:p>
        </p:txBody>
      </p:sp>
      <p:sp>
        <p:nvSpPr>
          <p:cNvPr id="4" name="Text 2"/>
          <p:cNvSpPr/>
          <p:nvPr/>
        </p:nvSpPr>
        <p:spPr>
          <a:xfrm>
            <a:off x="612648" y="1444752"/>
            <a:ext cx="10789920" cy="256032"/>
          </a:xfrm>
          <a:prstGeom prst="rect">
            <a:avLst/>
          </a:prstGeom>
          <a:noFill/>
          <a:ln/>
        </p:spPr>
        <p:txBody>
          <a:bodyPr wrap="square" lIns="0" tIns="0" rIns="0" bIns="0" rtlCol="0" anchor="ctr"/>
          <a:lstStyle/>
          <a:p>
            <a:pPr marL="0" indent="0">
              <a:buNone/>
            </a:pPr>
            <a:r>
              <a:rPr lang="en-US" sz="1400" dirty="0">
                <a:solidFill>
                  <a:srgbClr val="6E6E73"/>
                </a:solidFill>
              </a:rPr>
              <a:t>unclean leader election trades data integrity for availability.</a:t>
            </a:r>
            <a:endParaRPr lang="en-US" sz="1400" dirty="0"/>
          </a:p>
        </p:txBody>
      </p:sp>
      <p:sp>
        <p:nvSpPr>
          <p:cNvPr id="5" name="Shape 3"/>
          <p:cNvSpPr/>
          <p:nvPr/>
        </p:nvSpPr>
        <p:spPr>
          <a:xfrm>
            <a:off x="685800" y="1828800"/>
            <a:ext cx="5120640" cy="2971800"/>
          </a:xfrm>
          <a:prstGeom prst="roundRect">
            <a:avLst>
              <a:gd name="adj" fmla="val 3077"/>
            </a:avLst>
          </a:prstGeom>
          <a:solidFill>
            <a:srgbClr val="FFFFFF"/>
          </a:solidFill>
          <a:ln w="12700">
            <a:solidFill>
              <a:srgbClr val="E5E5EA"/>
            </a:solidFill>
            <a:prstDash val="solid"/>
          </a:ln>
          <a:effectLst>
            <a:outerShdw blurRad="15240" dist="12700" dir="2700000" algn="bl" rotWithShape="0">
              <a:srgbClr val="000000">
                <a:alpha val="10000"/>
              </a:srgbClr>
            </a:outerShdw>
          </a:effectLst>
        </p:spPr>
      </p:sp>
      <p:sp>
        <p:nvSpPr>
          <p:cNvPr id="6" name="Shape 4"/>
          <p:cNvSpPr/>
          <p:nvPr/>
        </p:nvSpPr>
        <p:spPr>
          <a:xfrm>
            <a:off x="914400" y="2057400"/>
            <a:ext cx="146304" cy="146304"/>
          </a:xfrm>
          <a:prstGeom prst="ellipse">
            <a:avLst/>
          </a:prstGeom>
          <a:solidFill>
            <a:srgbClr val="30D158"/>
          </a:solidFill>
          <a:ln w="12700">
            <a:solidFill>
              <a:srgbClr val="30D158"/>
            </a:solidFill>
            <a:prstDash val="solid"/>
          </a:ln>
        </p:spPr>
      </p:sp>
      <p:sp>
        <p:nvSpPr>
          <p:cNvPr id="7" name="Text 5"/>
          <p:cNvSpPr/>
          <p:nvPr/>
        </p:nvSpPr>
        <p:spPr>
          <a:xfrm>
            <a:off x="1161288" y="1993392"/>
            <a:ext cx="4434840" cy="310896"/>
          </a:xfrm>
          <a:prstGeom prst="rect">
            <a:avLst/>
          </a:prstGeom>
          <a:noFill/>
          <a:ln/>
        </p:spPr>
        <p:txBody>
          <a:bodyPr wrap="square" lIns="0" tIns="0" rIns="0" bIns="0" rtlCol="0" anchor="ctr"/>
          <a:lstStyle/>
          <a:p>
            <a:pPr marL="0" indent="0">
              <a:buNone/>
            </a:pPr>
            <a:r>
              <a:rPr lang="en-US" sz="1400" b="1" dirty="0">
                <a:solidFill>
                  <a:srgbClr val="1D1D1F"/>
                </a:solidFill>
              </a:rPr>
              <a:t>Clean election</a:t>
            </a:r>
            <a:endParaRPr lang="en-US" sz="1400" dirty="0"/>
          </a:p>
        </p:txBody>
      </p:sp>
      <p:sp>
        <p:nvSpPr>
          <p:cNvPr id="8" name="Text 6"/>
          <p:cNvSpPr/>
          <p:nvPr/>
        </p:nvSpPr>
        <p:spPr>
          <a:xfrm>
            <a:off x="914400" y="2450592"/>
            <a:ext cx="4663440" cy="2194560"/>
          </a:xfrm>
          <a:prstGeom prst="rect">
            <a:avLst/>
          </a:prstGeom>
          <a:noFill/>
          <a:ln/>
        </p:spPr>
        <p:txBody>
          <a:bodyPr wrap="square" lIns="0" tIns="0" rIns="0" bIns="0" rtlCol="0" anchor="ctr">
            <a:normAutofit/>
          </a:bodyPr>
          <a:lstStyle/>
          <a:p>
            <a:pPr marL="0" indent="0">
              <a:buNone/>
            </a:pPr>
            <a:r>
              <a:rPr lang="en-US" sz="1150" dirty="0">
                <a:solidFill>
                  <a:srgbClr val="6E6E73"/>
                </a:solidFill>
              </a:rPr>
              <a:t>A new leader is selected from eligible in-sync replicas. Previously acknowledged records remain represented by the elected history.</a:t>
            </a:r>
            <a:endParaRPr lang="en-US" sz="1150" dirty="0"/>
          </a:p>
        </p:txBody>
      </p:sp>
      <p:sp>
        <p:nvSpPr>
          <p:cNvPr id="9" name="Shape 7"/>
          <p:cNvSpPr/>
          <p:nvPr/>
        </p:nvSpPr>
        <p:spPr>
          <a:xfrm>
            <a:off x="6355080" y="1828800"/>
            <a:ext cx="5120640" cy="2971800"/>
          </a:xfrm>
          <a:prstGeom prst="roundRect">
            <a:avLst>
              <a:gd name="adj" fmla="val 3077"/>
            </a:avLst>
          </a:prstGeom>
          <a:solidFill>
            <a:srgbClr val="FFFFFF"/>
          </a:solidFill>
          <a:ln w="12700">
            <a:solidFill>
              <a:srgbClr val="E5E5EA"/>
            </a:solidFill>
            <a:prstDash val="solid"/>
          </a:ln>
          <a:effectLst>
            <a:outerShdw blurRad="15240" dist="12700" dir="2700000" algn="bl" rotWithShape="0">
              <a:srgbClr val="000000">
                <a:alpha val="10000"/>
              </a:srgbClr>
            </a:outerShdw>
          </a:effectLst>
        </p:spPr>
      </p:sp>
      <p:sp>
        <p:nvSpPr>
          <p:cNvPr id="10" name="Shape 8"/>
          <p:cNvSpPr/>
          <p:nvPr/>
        </p:nvSpPr>
        <p:spPr>
          <a:xfrm>
            <a:off x="6583680" y="2057400"/>
            <a:ext cx="146304" cy="146304"/>
          </a:xfrm>
          <a:prstGeom prst="ellipse">
            <a:avLst/>
          </a:prstGeom>
          <a:solidFill>
            <a:srgbClr val="FF453A"/>
          </a:solidFill>
          <a:ln w="12700">
            <a:solidFill>
              <a:srgbClr val="FF453A"/>
            </a:solidFill>
            <a:prstDash val="solid"/>
          </a:ln>
        </p:spPr>
      </p:sp>
      <p:sp>
        <p:nvSpPr>
          <p:cNvPr id="11" name="Text 9"/>
          <p:cNvSpPr/>
          <p:nvPr/>
        </p:nvSpPr>
        <p:spPr>
          <a:xfrm>
            <a:off x="6830568" y="1993392"/>
            <a:ext cx="4434840" cy="310896"/>
          </a:xfrm>
          <a:prstGeom prst="rect">
            <a:avLst/>
          </a:prstGeom>
          <a:noFill/>
          <a:ln/>
        </p:spPr>
        <p:txBody>
          <a:bodyPr wrap="square" lIns="0" tIns="0" rIns="0" bIns="0" rtlCol="0" anchor="ctr"/>
          <a:lstStyle/>
          <a:p>
            <a:pPr marL="0" indent="0">
              <a:buNone/>
            </a:pPr>
            <a:r>
              <a:rPr lang="en-US" sz="1400" b="1" dirty="0">
                <a:solidFill>
                  <a:srgbClr val="1D1D1F"/>
                </a:solidFill>
              </a:rPr>
              <a:t>Unclean election</a:t>
            </a:r>
            <a:endParaRPr lang="en-US" sz="1400" dirty="0"/>
          </a:p>
        </p:txBody>
      </p:sp>
      <p:sp>
        <p:nvSpPr>
          <p:cNvPr id="12" name="Text 10"/>
          <p:cNvSpPr/>
          <p:nvPr/>
        </p:nvSpPr>
        <p:spPr>
          <a:xfrm>
            <a:off x="6583680" y="2450592"/>
            <a:ext cx="4663440" cy="2194560"/>
          </a:xfrm>
          <a:prstGeom prst="rect">
            <a:avLst/>
          </a:prstGeom>
          <a:noFill/>
          <a:ln/>
        </p:spPr>
        <p:txBody>
          <a:bodyPr wrap="square" lIns="0" tIns="0" rIns="0" bIns="0" rtlCol="0" anchor="ctr">
            <a:normAutofit/>
          </a:bodyPr>
          <a:lstStyle/>
          <a:p>
            <a:pPr marL="0" indent="0">
              <a:buNone/>
            </a:pPr>
            <a:r>
              <a:rPr lang="en-US" sz="1150" dirty="0">
                <a:solidFill>
                  <a:srgbClr val="6E6E73"/>
                </a:solidFill>
              </a:rPr>
              <a:t>A stale replica may become leader when no ISR member is available. Service can return with acknowledged records missing from the new leader log.</a:t>
            </a:r>
            <a:endParaRPr lang="en-US" sz="1150" dirty="0"/>
          </a:p>
        </p:txBody>
      </p:sp>
      <p:sp>
        <p:nvSpPr>
          <p:cNvPr id="13" name="Text 11"/>
          <p:cNvSpPr/>
          <p:nvPr/>
        </p:nvSpPr>
        <p:spPr>
          <a:xfrm>
            <a:off x="1920240" y="5257800"/>
            <a:ext cx="8321040" cy="411480"/>
          </a:xfrm>
          <a:prstGeom prst="rect">
            <a:avLst/>
          </a:prstGeom>
          <a:noFill/>
          <a:ln/>
        </p:spPr>
        <p:txBody>
          <a:bodyPr wrap="square" lIns="0" tIns="0" rIns="0" bIns="0" rtlCol="0" anchor="ctr"/>
          <a:lstStyle/>
          <a:p>
            <a:pPr marL="0" indent="0" algn="ctr">
              <a:buNone/>
            </a:pPr>
            <a:r>
              <a:rPr lang="en-US" sz="1800" b="1" dirty="0">
                <a:solidFill>
                  <a:srgbClr val="1D1D1F"/>
                </a:solidFill>
                <a:latin typeface="Courier New" pitchFamily="34" charset="0"/>
                <a:ea typeface="Courier New" pitchFamily="34" charset="-122"/>
                <a:cs typeface="Courier New" pitchFamily="34" charset="-120"/>
              </a:rPr>
              <a:t>For loss-intolerant workloads: unclean.leader.election.enable=false</a:t>
            </a:r>
            <a:endParaRPr lang="en-US" sz="1800" dirty="0"/>
          </a:p>
        </p:txBody>
      </p:sp>
      <p:sp>
        <p:nvSpPr>
          <p:cNvPr id="25" name="Slide Number Placeholder 0"/>
          <p:cNvSpPr>
            <a:spLocks noGrp="1"/>
          </p:cNvSpPr>
          <p:nvPr>
            <p:ph type="sldNum" sz="quarter" idx="4294967295"/>
          </p:nvPr>
        </p:nvSpPr>
        <p:spPr>
          <a:xfrm>
            <a:off x="11686032" y="6510528"/>
            <a:ext cx="228600"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86868B"/>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1" cy="1"/>
          <a:chOff x="0" y="0"/>
          <a:chExt cx="1" cy="1"/>
        </a:xfrm>
      </p:grpSpPr>
      <p:sp>
        <p:nvSpPr>
          <p:cNvPr id="2" name="Text 0"/>
          <p:cNvSpPr/>
          <p:nvPr/>
        </p:nvSpPr>
        <p:spPr>
          <a:xfrm>
            <a:off x="594360" y="502920"/>
            <a:ext cx="4389120" cy="228600"/>
          </a:xfrm>
          <a:prstGeom prst="rect">
            <a:avLst/>
          </a:prstGeom>
          <a:noFill/>
          <a:ln/>
        </p:spPr>
        <p:txBody>
          <a:bodyPr wrap="square" lIns="0" tIns="0" rIns="0" bIns="0" rtlCol="0" anchor="ctr"/>
          <a:lstStyle/>
          <a:p>
            <a:pPr marL="0" indent="0">
              <a:buNone/>
            </a:pPr>
            <a:r>
              <a:rPr lang="en-US" sz="1000" b="1" kern="0" spc="150" dirty="0">
                <a:solidFill>
                  <a:srgbClr val="0071E3"/>
                </a:solidFill>
              </a:rPr>
              <a:t>CONSUMER SEMANTICS</a:t>
            </a:r>
            <a:endParaRPr lang="en-US" sz="1000" dirty="0"/>
          </a:p>
        </p:txBody>
      </p:sp>
      <p:sp>
        <p:nvSpPr>
          <p:cNvPr id="3" name="Text 1"/>
          <p:cNvSpPr/>
          <p:nvPr/>
        </p:nvSpPr>
        <p:spPr>
          <a:xfrm>
            <a:off x="594360" y="822960"/>
            <a:ext cx="10972800" cy="594360"/>
          </a:xfrm>
          <a:prstGeom prst="rect">
            <a:avLst/>
          </a:prstGeom>
          <a:noFill/>
          <a:ln/>
        </p:spPr>
        <p:txBody>
          <a:bodyPr wrap="square" lIns="0" tIns="0" rIns="0" bIns="0" rtlCol="0" anchor="ctr"/>
          <a:lstStyle/>
          <a:p>
            <a:pPr marL="0" indent="0">
              <a:buNone/>
            </a:pPr>
            <a:r>
              <a:rPr lang="en-US" sz="2800" b="1" dirty="0">
                <a:solidFill>
                  <a:srgbClr val="1D1D1F"/>
                </a:solidFill>
              </a:rPr>
              <a:t>Commit after the side effect, not after the poll</a:t>
            </a:r>
            <a:endParaRPr lang="en-US" sz="2800" dirty="0"/>
          </a:p>
        </p:txBody>
      </p:sp>
      <p:sp>
        <p:nvSpPr>
          <p:cNvPr id="4" name="Text 2"/>
          <p:cNvSpPr/>
          <p:nvPr/>
        </p:nvSpPr>
        <p:spPr>
          <a:xfrm>
            <a:off x="612648" y="1444752"/>
            <a:ext cx="10789920" cy="256032"/>
          </a:xfrm>
          <a:prstGeom prst="rect">
            <a:avLst/>
          </a:prstGeom>
          <a:noFill/>
          <a:ln/>
        </p:spPr>
        <p:txBody>
          <a:bodyPr wrap="square" lIns="0" tIns="0" rIns="0" bIns="0" rtlCol="0" anchor="ctr"/>
          <a:lstStyle/>
          <a:p>
            <a:pPr marL="0" indent="0">
              <a:buNone/>
            </a:pPr>
            <a:r>
              <a:rPr lang="en-US" sz="1400" dirty="0">
                <a:solidFill>
                  <a:srgbClr val="6E6E73"/>
                </a:solidFill>
              </a:rPr>
              <a:t>Offsets are progress markers, not proof that business work completed.</a:t>
            </a:r>
            <a:endParaRPr lang="en-US" sz="1400" dirty="0"/>
          </a:p>
        </p:txBody>
      </p:sp>
      <p:sp>
        <p:nvSpPr>
          <p:cNvPr id="5" name="Shape 3"/>
          <p:cNvSpPr/>
          <p:nvPr/>
        </p:nvSpPr>
        <p:spPr>
          <a:xfrm>
            <a:off x="777240" y="2514600"/>
            <a:ext cx="2057400" cy="1234440"/>
          </a:xfrm>
          <a:prstGeom prst="roundRect">
            <a:avLst>
              <a:gd name="adj" fmla="val 8889"/>
            </a:avLst>
          </a:prstGeom>
          <a:solidFill>
            <a:srgbClr val="FFFFFF"/>
          </a:solidFill>
          <a:ln w="19050">
            <a:solidFill>
              <a:srgbClr val="D2D2D7"/>
            </a:solidFill>
            <a:prstDash val="solid"/>
          </a:ln>
        </p:spPr>
      </p:sp>
      <p:sp>
        <p:nvSpPr>
          <p:cNvPr id="6" name="Text 4"/>
          <p:cNvSpPr/>
          <p:nvPr/>
        </p:nvSpPr>
        <p:spPr>
          <a:xfrm>
            <a:off x="914400" y="2697480"/>
            <a:ext cx="320040" cy="320040"/>
          </a:xfrm>
          <a:prstGeom prst="rect">
            <a:avLst/>
          </a:prstGeom>
          <a:noFill/>
          <a:ln/>
        </p:spPr>
        <p:txBody>
          <a:bodyPr wrap="square" lIns="0" tIns="0" rIns="0" bIns="0" rtlCol="0" anchor="ctr"/>
          <a:lstStyle/>
          <a:p>
            <a:pPr marL="0" indent="0">
              <a:buNone/>
            </a:pPr>
            <a:r>
              <a:rPr lang="en-US" sz="2000" b="1" dirty="0">
                <a:solidFill>
                  <a:srgbClr val="0071E3"/>
                </a:solidFill>
              </a:rPr>
              <a:t>1</a:t>
            </a:r>
            <a:endParaRPr lang="en-US" sz="2000" dirty="0"/>
          </a:p>
        </p:txBody>
      </p:sp>
      <p:sp>
        <p:nvSpPr>
          <p:cNvPr id="7" name="Text 5"/>
          <p:cNvSpPr/>
          <p:nvPr/>
        </p:nvSpPr>
        <p:spPr>
          <a:xfrm>
            <a:off x="1280160" y="2752344"/>
            <a:ext cx="1325880" cy="274320"/>
          </a:xfrm>
          <a:prstGeom prst="rect">
            <a:avLst/>
          </a:prstGeom>
          <a:noFill/>
          <a:ln/>
        </p:spPr>
        <p:txBody>
          <a:bodyPr wrap="square" lIns="0" tIns="0" rIns="0" bIns="0" rtlCol="0" anchor="ctr"/>
          <a:lstStyle/>
          <a:p>
            <a:pPr marL="0" indent="0">
              <a:buNone/>
            </a:pPr>
            <a:r>
              <a:rPr lang="en-US" sz="1600" b="1" dirty="0">
                <a:solidFill>
                  <a:srgbClr val="1D1D1F"/>
                </a:solidFill>
              </a:rPr>
              <a:t>poll</a:t>
            </a:r>
            <a:endParaRPr lang="en-US" sz="1600" dirty="0"/>
          </a:p>
        </p:txBody>
      </p:sp>
      <p:sp>
        <p:nvSpPr>
          <p:cNvPr id="8" name="Shape 6"/>
          <p:cNvSpPr/>
          <p:nvPr/>
        </p:nvSpPr>
        <p:spPr>
          <a:xfrm>
            <a:off x="2990088" y="2926080"/>
            <a:ext cx="384048" cy="365760"/>
          </a:xfrm>
          <a:prstGeom prst="chevron">
            <a:avLst/>
          </a:prstGeom>
          <a:solidFill>
            <a:srgbClr val="D2D2D7"/>
          </a:solidFill>
          <a:ln w="12700">
            <a:solidFill>
              <a:srgbClr val="D2D2D7"/>
            </a:solidFill>
            <a:prstDash val="solid"/>
          </a:ln>
        </p:spPr>
      </p:sp>
      <p:sp>
        <p:nvSpPr>
          <p:cNvPr id="9" name="Shape 7"/>
          <p:cNvSpPr/>
          <p:nvPr/>
        </p:nvSpPr>
        <p:spPr>
          <a:xfrm>
            <a:off x="3566160" y="2514600"/>
            <a:ext cx="2057400" cy="1234440"/>
          </a:xfrm>
          <a:prstGeom prst="roundRect">
            <a:avLst>
              <a:gd name="adj" fmla="val 8889"/>
            </a:avLst>
          </a:prstGeom>
          <a:solidFill>
            <a:srgbClr val="FFFFFF"/>
          </a:solidFill>
          <a:ln w="19050">
            <a:solidFill>
              <a:srgbClr val="D2D2D7"/>
            </a:solidFill>
            <a:prstDash val="solid"/>
          </a:ln>
        </p:spPr>
      </p:sp>
      <p:sp>
        <p:nvSpPr>
          <p:cNvPr id="10" name="Text 8"/>
          <p:cNvSpPr/>
          <p:nvPr/>
        </p:nvSpPr>
        <p:spPr>
          <a:xfrm>
            <a:off x="3703320" y="2697480"/>
            <a:ext cx="320040" cy="320040"/>
          </a:xfrm>
          <a:prstGeom prst="rect">
            <a:avLst/>
          </a:prstGeom>
          <a:noFill/>
          <a:ln/>
        </p:spPr>
        <p:txBody>
          <a:bodyPr wrap="square" lIns="0" tIns="0" rIns="0" bIns="0" rtlCol="0" anchor="ctr"/>
          <a:lstStyle/>
          <a:p>
            <a:pPr marL="0" indent="0">
              <a:buNone/>
            </a:pPr>
            <a:r>
              <a:rPr lang="en-US" sz="2000" b="1" dirty="0">
                <a:solidFill>
                  <a:srgbClr val="0071E3"/>
                </a:solidFill>
              </a:rPr>
              <a:t>2</a:t>
            </a:r>
            <a:endParaRPr lang="en-US" sz="2000" dirty="0"/>
          </a:p>
        </p:txBody>
      </p:sp>
      <p:sp>
        <p:nvSpPr>
          <p:cNvPr id="11" name="Text 9"/>
          <p:cNvSpPr/>
          <p:nvPr/>
        </p:nvSpPr>
        <p:spPr>
          <a:xfrm>
            <a:off x="4069080" y="2752344"/>
            <a:ext cx="1325880" cy="274320"/>
          </a:xfrm>
          <a:prstGeom prst="rect">
            <a:avLst/>
          </a:prstGeom>
          <a:noFill/>
          <a:ln/>
        </p:spPr>
        <p:txBody>
          <a:bodyPr wrap="square" lIns="0" tIns="0" rIns="0" bIns="0" rtlCol="0" anchor="ctr"/>
          <a:lstStyle/>
          <a:p>
            <a:pPr marL="0" indent="0">
              <a:buNone/>
            </a:pPr>
            <a:r>
              <a:rPr lang="en-US" sz="1600" b="1" dirty="0">
                <a:solidFill>
                  <a:srgbClr val="1D1D1F"/>
                </a:solidFill>
              </a:rPr>
              <a:t>validate</a:t>
            </a:r>
            <a:endParaRPr lang="en-US" sz="1600" dirty="0"/>
          </a:p>
        </p:txBody>
      </p:sp>
      <p:sp>
        <p:nvSpPr>
          <p:cNvPr id="12" name="Shape 10"/>
          <p:cNvSpPr/>
          <p:nvPr/>
        </p:nvSpPr>
        <p:spPr>
          <a:xfrm>
            <a:off x="5779008" y="2926080"/>
            <a:ext cx="384048" cy="365760"/>
          </a:xfrm>
          <a:prstGeom prst="chevron">
            <a:avLst/>
          </a:prstGeom>
          <a:solidFill>
            <a:srgbClr val="D2D2D7"/>
          </a:solidFill>
          <a:ln w="12700">
            <a:solidFill>
              <a:srgbClr val="D2D2D7"/>
            </a:solidFill>
            <a:prstDash val="solid"/>
          </a:ln>
        </p:spPr>
      </p:sp>
      <p:sp>
        <p:nvSpPr>
          <p:cNvPr id="13" name="Shape 11"/>
          <p:cNvSpPr/>
          <p:nvPr/>
        </p:nvSpPr>
        <p:spPr>
          <a:xfrm>
            <a:off x="6355080" y="2514600"/>
            <a:ext cx="2057400" cy="1234440"/>
          </a:xfrm>
          <a:prstGeom prst="roundRect">
            <a:avLst>
              <a:gd name="adj" fmla="val 8889"/>
            </a:avLst>
          </a:prstGeom>
          <a:solidFill>
            <a:srgbClr val="FFFFFF"/>
          </a:solidFill>
          <a:ln w="19050">
            <a:solidFill>
              <a:srgbClr val="D2D2D7"/>
            </a:solidFill>
            <a:prstDash val="solid"/>
          </a:ln>
        </p:spPr>
      </p:sp>
      <p:sp>
        <p:nvSpPr>
          <p:cNvPr id="14" name="Text 12"/>
          <p:cNvSpPr/>
          <p:nvPr/>
        </p:nvSpPr>
        <p:spPr>
          <a:xfrm>
            <a:off x="6492240" y="2697480"/>
            <a:ext cx="320040" cy="320040"/>
          </a:xfrm>
          <a:prstGeom prst="rect">
            <a:avLst/>
          </a:prstGeom>
          <a:noFill/>
          <a:ln/>
        </p:spPr>
        <p:txBody>
          <a:bodyPr wrap="square" lIns="0" tIns="0" rIns="0" bIns="0" rtlCol="0" anchor="ctr"/>
          <a:lstStyle/>
          <a:p>
            <a:pPr marL="0" indent="0">
              <a:buNone/>
            </a:pPr>
            <a:r>
              <a:rPr lang="en-US" sz="2000" b="1" dirty="0">
                <a:solidFill>
                  <a:srgbClr val="0071E3"/>
                </a:solidFill>
              </a:rPr>
              <a:t>3</a:t>
            </a:r>
            <a:endParaRPr lang="en-US" sz="2000" dirty="0"/>
          </a:p>
        </p:txBody>
      </p:sp>
      <p:sp>
        <p:nvSpPr>
          <p:cNvPr id="15" name="Text 13"/>
          <p:cNvSpPr/>
          <p:nvPr/>
        </p:nvSpPr>
        <p:spPr>
          <a:xfrm>
            <a:off x="6858000" y="2752344"/>
            <a:ext cx="1325880" cy="274320"/>
          </a:xfrm>
          <a:prstGeom prst="rect">
            <a:avLst/>
          </a:prstGeom>
          <a:noFill/>
          <a:ln/>
        </p:spPr>
        <p:txBody>
          <a:bodyPr wrap="square" lIns="0" tIns="0" rIns="0" bIns="0" rtlCol="0" anchor="ctr"/>
          <a:lstStyle/>
          <a:p>
            <a:pPr marL="0" indent="0">
              <a:buNone/>
            </a:pPr>
            <a:r>
              <a:rPr lang="en-US" sz="1600" b="1" dirty="0">
                <a:solidFill>
                  <a:srgbClr val="1D1D1F"/>
                </a:solidFill>
              </a:rPr>
              <a:t>write sink</a:t>
            </a:r>
            <a:endParaRPr lang="en-US" sz="1600" dirty="0"/>
          </a:p>
        </p:txBody>
      </p:sp>
      <p:sp>
        <p:nvSpPr>
          <p:cNvPr id="16" name="Shape 14"/>
          <p:cNvSpPr/>
          <p:nvPr/>
        </p:nvSpPr>
        <p:spPr>
          <a:xfrm>
            <a:off x="8567928" y="2926080"/>
            <a:ext cx="384048" cy="365760"/>
          </a:xfrm>
          <a:prstGeom prst="chevron">
            <a:avLst/>
          </a:prstGeom>
          <a:solidFill>
            <a:srgbClr val="D2D2D7"/>
          </a:solidFill>
          <a:ln w="12700">
            <a:solidFill>
              <a:srgbClr val="D2D2D7"/>
            </a:solidFill>
            <a:prstDash val="solid"/>
          </a:ln>
        </p:spPr>
      </p:sp>
      <p:sp>
        <p:nvSpPr>
          <p:cNvPr id="17" name="Shape 15"/>
          <p:cNvSpPr/>
          <p:nvPr/>
        </p:nvSpPr>
        <p:spPr>
          <a:xfrm>
            <a:off x="9144000" y="2514600"/>
            <a:ext cx="2057400" cy="1234440"/>
          </a:xfrm>
          <a:prstGeom prst="roundRect">
            <a:avLst>
              <a:gd name="adj" fmla="val 8889"/>
            </a:avLst>
          </a:prstGeom>
          <a:solidFill>
            <a:srgbClr val="EAFBEF"/>
          </a:solidFill>
          <a:ln w="19050">
            <a:solidFill>
              <a:srgbClr val="30D158"/>
            </a:solidFill>
            <a:prstDash val="solid"/>
          </a:ln>
        </p:spPr>
      </p:sp>
      <p:sp>
        <p:nvSpPr>
          <p:cNvPr id="18" name="Text 16"/>
          <p:cNvSpPr/>
          <p:nvPr/>
        </p:nvSpPr>
        <p:spPr>
          <a:xfrm>
            <a:off x="9281160" y="2697480"/>
            <a:ext cx="320040" cy="320040"/>
          </a:xfrm>
          <a:prstGeom prst="rect">
            <a:avLst/>
          </a:prstGeom>
          <a:noFill/>
          <a:ln/>
        </p:spPr>
        <p:txBody>
          <a:bodyPr wrap="square" lIns="0" tIns="0" rIns="0" bIns="0" rtlCol="0" anchor="ctr"/>
          <a:lstStyle/>
          <a:p>
            <a:pPr marL="0" indent="0">
              <a:buNone/>
            </a:pPr>
            <a:r>
              <a:rPr lang="en-US" sz="2000" b="1" dirty="0">
                <a:solidFill>
                  <a:srgbClr val="30D158"/>
                </a:solidFill>
              </a:rPr>
              <a:t>4</a:t>
            </a:r>
            <a:endParaRPr lang="en-US" sz="2000" dirty="0"/>
          </a:p>
        </p:txBody>
      </p:sp>
      <p:sp>
        <p:nvSpPr>
          <p:cNvPr id="19" name="Text 17"/>
          <p:cNvSpPr/>
          <p:nvPr/>
        </p:nvSpPr>
        <p:spPr>
          <a:xfrm>
            <a:off x="9646920" y="2752344"/>
            <a:ext cx="1325880" cy="274320"/>
          </a:xfrm>
          <a:prstGeom prst="rect">
            <a:avLst/>
          </a:prstGeom>
          <a:noFill/>
          <a:ln/>
        </p:spPr>
        <p:txBody>
          <a:bodyPr wrap="square" lIns="0" tIns="0" rIns="0" bIns="0" rtlCol="0" anchor="ctr"/>
          <a:lstStyle/>
          <a:p>
            <a:pPr marL="0" indent="0">
              <a:buNone/>
            </a:pPr>
            <a:r>
              <a:rPr lang="en-US" sz="1600" b="1" dirty="0">
                <a:solidFill>
                  <a:srgbClr val="1D1D1F"/>
                </a:solidFill>
              </a:rPr>
              <a:t>commit offset</a:t>
            </a:r>
            <a:endParaRPr lang="en-US" sz="1600" dirty="0"/>
          </a:p>
        </p:txBody>
      </p:sp>
      <p:sp>
        <p:nvSpPr>
          <p:cNvPr id="20" name="Text 18"/>
          <p:cNvSpPr/>
          <p:nvPr/>
        </p:nvSpPr>
        <p:spPr>
          <a:xfrm>
            <a:off x="1920240" y="4343400"/>
            <a:ext cx="8321040" cy="502920"/>
          </a:xfrm>
          <a:prstGeom prst="rect">
            <a:avLst/>
          </a:prstGeom>
          <a:noFill/>
          <a:ln/>
        </p:spPr>
        <p:txBody>
          <a:bodyPr wrap="square" lIns="0" tIns="0" rIns="0" bIns="0" rtlCol="0" anchor="ctr"/>
          <a:lstStyle/>
          <a:p>
            <a:pPr marL="0" indent="0" algn="ctr">
              <a:buNone/>
            </a:pPr>
            <a:r>
              <a:rPr lang="en-US" sz="2200" b="1" dirty="0">
                <a:solidFill>
                  <a:srgbClr val="1D1D1F"/>
                </a:solidFill>
              </a:rPr>
              <a:t>Crash before commit → replay.  Crash after commit → no replay.</a:t>
            </a:r>
            <a:endParaRPr lang="en-US" sz="2200" dirty="0"/>
          </a:p>
        </p:txBody>
      </p:sp>
      <p:sp>
        <p:nvSpPr>
          <p:cNvPr id="21" name="Text 19"/>
          <p:cNvSpPr/>
          <p:nvPr/>
        </p:nvSpPr>
        <p:spPr>
          <a:xfrm>
            <a:off x="594360" y="6272784"/>
            <a:ext cx="10789920" cy="228600"/>
          </a:xfrm>
          <a:prstGeom prst="rect">
            <a:avLst/>
          </a:prstGeom>
          <a:noFill/>
          <a:ln/>
        </p:spPr>
        <p:txBody>
          <a:bodyPr wrap="square" lIns="0" tIns="0" rIns="0" bIns="0" rtlCol="0" anchor="ctr"/>
          <a:lstStyle/>
          <a:p>
            <a:pPr marL="0" indent="0" algn="ctr">
              <a:buNone/>
            </a:pPr>
            <a:r>
              <a:rPr lang="en-US" sz="1000" i="1" dirty="0">
                <a:solidFill>
                  <a:srgbClr val="6E6E73"/>
                </a:solidFill>
              </a:rPr>
              <a:t>Commit-after-processing provides at-least-once processing, not automatically exactly-once effects.</a:t>
            </a:r>
            <a:endParaRPr lang="en-US" sz="1000" dirty="0"/>
          </a:p>
        </p:txBody>
      </p:sp>
      <p:sp>
        <p:nvSpPr>
          <p:cNvPr id="25" name="Slide Number Placeholder 0"/>
          <p:cNvSpPr>
            <a:spLocks noGrp="1"/>
          </p:cNvSpPr>
          <p:nvPr>
            <p:ph type="sldNum" sz="quarter" idx="4294967295"/>
          </p:nvPr>
        </p:nvSpPr>
        <p:spPr>
          <a:xfrm>
            <a:off x="11686032" y="6510528"/>
            <a:ext cx="228600"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86868B"/>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1" cy="1"/>
          <a:chOff x="0" y="0"/>
          <a:chExt cx="1" cy="1"/>
        </a:xfrm>
      </p:grpSpPr>
      <p:sp>
        <p:nvSpPr>
          <p:cNvPr id="2" name="Text 0"/>
          <p:cNvSpPr/>
          <p:nvPr/>
        </p:nvSpPr>
        <p:spPr>
          <a:xfrm>
            <a:off x="594360" y="502920"/>
            <a:ext cx="4389120" cy="228600"/>
          </a:xfrm>
          <a:prstGeom prst="rect">
            <a:avLst/>
          </a:prstGeom>
          <a:noFill/>
          <a:ln/>
        </p:spPr>
        <p:txBody>
          <a:bodyPr wrap="square" lIns="0" tIns="0" rIns="0" bIns="0" rtlCol="0" anchor="ctr"/>
          <a:lstStyle/>
          <a:p>
            <a:pPr marL="0" indent="0">
              <a:buNone/>
            </a:pPr>
            <a:r>
              <a:rPr lang="en-US" sz="1000" b="1" kern="0" spc="150" dirty="0">
                <a:solidFill>
                  <a:srgbClr val="0071E3"/>
                </a:solidFill>
              </a:rPr>
              <a:t>REBALANCE</a:t>
            </a:r>
            <a:endParaRPr lang="en-US" sz="1000" dirty="0"/>
          </a:p>
        </p:txBody>
      </p:sp>
      <p:sp>
        <p:nvSpPr>
          <p:cNvPr id="3" name="Text 1"/>
          <p:cNvSpPr/>
          <p:nvPr/>
        </p:nvSpPr>
        <p:spPr>
          <a:xfrm>
            <a:off x="594360" y="822960"/>
            <a:ext cx="10972800" cy="594360"/>
          </a:xfrm>
          <a:prstGeom prst="rect">
            <a:avLst/>
          </a:prstGeom>
          <a:noFill/>
          <a:ln/>
        </p:spPr>
        <p:txBody>
          <a:bodyPr wrap="square" lIns="0" tIns="0" rIns="0" bIns="0" rtlCol="0" anchor="ctr"/>
          <a:lstStyle/>
          <a:p>
            <a:pPr marL="0" indent="0">
              <a:buNone/>
            </a:pPr>
            <a:r>
              <a:rPr lang="en-US" sz="2800" b="1" dirty="0">
                <a:solidFill>
                  <a:srgbClr val="1D1D1F"/>
                </a:solidFill>
              </a:rPr>
              <a:t>Reassignment preserves offset order, but can replay work</a:t>
            </a:r>
            <a:endParaRPr lang="en-US" sz="2800" dirty="0"/>
          </a:p>
        </p:txBody>
      </p:sp>
      <p:sp>
        <p:nvSpPr>
          <p:cNvPr id="4" name="Text 2"/>
          <p:cNvSpPr/>
          <p:nvPr/>
        </p:nvSpPr>
        <p:spPr>
          <a:xfrm>
            <a:off x="612648" y="1444752"/>
            <a:ext cx="10789920" cy="256032"/>
          </a:xfrm>
          <a:prstGeom prst="rect">
            <a:avLst/>
          </a:prstGeom>
          <a:noFill/>
          <a:ln/>
        </p:spPr>
        <p:txBody>
          <a:bodyPr wrap="square" lIns="0" tIns="0" rIns="0" bIns="0" rtlCol="0" anchor="ctr"/>
          <a:lstStyle/>
          <a:p>
            <a:pPr marL="0" indent="0">
              <a:buNone/>
            </a:pPr>
            <a:r>
              <a:rPr lang="en-US" sz="1400" dirty="0">
                <a:solidFill>
                  <a:srgbClr val="6E6E73"/>
                </a:solidFill>
              </a:rPr>
              <a:t>The new owner starts from the last committed offset.</a:t>
            </a:r>
            <a:endParaRPr lang="en-US" sz="1400" dirty="0"/>
          </a:p>
        </p:txBody>
      </p:sp>
      <p:sp>
        <p:nvSpPr>
          <p:cNvPr id="5" name="Shape 3"/>
          <p:cNvSpPr/>
          <p:nvPr/>
        </p:nvSpPr>
        <p:spPr>
          <a:xfrm>
            <a:off x="640080" y="1828800"/>
            <a:ext cx="4389120" cy="3154680"/>
          </a:xfrm>
          <a:prstGeom prst="roundRect">
            <a:avLst>
              <a:gd name="adj" fmla="val 3478"/>
            </a:avLst>
          </a:prstGeom>
          <a:solidFill>
            <a:srgbClr val="FFFFFF"/>
          </a:solidFill>
          <a:ln w="12700">
            <a:solidFill>
              <a:srgbClr val="D2D2D7"/>
            </a:solidFill>
            <a:prstDash val="solid"/>
          </a:ln>
        </p:spPr>
      </p:sp>
      <p:sp>
        <p:nvSpPr>
          <p:cNvPr id="6" name="Text 4"/>
          <p:cNvSpPr/>
          <p:nvPr/>
        </p:nvSpPr>
        <p:spPr>
          <a:xfrm>
            <a:off x="914400" y="2103120"/>
            <a:ext cx="914400" cy="274320"/>
          </a:xfrm>
          <a:prstGeom prst="rect">
            <a:avLst/>
          </a:prstGeom>
          <a:noFill/>
          <a:ln/>
        </p:spPr>
        <p:txBody>
          <a:bodyPr wrap="square" lIns="0" tIns="0" rIns="0" bIns="0" rtlCol="0" anchor="ctr"/>
          <a:lstStyle/>
          <a:p>
            <a:pPr marL="0" indent="0">
              <a:buNone/>
            </a:pPr>
            <a:r>
              <a:rPr lang="en-US" sz="1500" b="1" dirty="0">
                <a:solidFill>
                  <a:srgbClr val="0071E3"/>
                </a:solidFill>
              </a:rPr>
              <a:t>Before</a:t>
            </a:r>
            <a:endParaRPr lang="en-US" sz="1500" dirty="0"/>
          </a:p>
        </p:txBody>
      </p:sp>
      <p:sp>
        <p:nvSpPr>
          <p:cNvPr id="7" name="Text 5"/>
          <p:cNvSpPr/>
          <p:nvPr/>
        </p:nvSpPr>
        <p:spPr>
          <a:xfrm>
            <a:off x="1051560" y="2651760"/>
            <a:ext cx="1920240" cy="1463040"/>
          </a:xfrm>
          <a:prstGeom prst="rect">
            <a:avLst/>
          </a:prstGeom>
          <a:noFill/>
          <a:ln/>
        </p:spPr>
        <p:txBody>
          <a:bodyPr wrap="square" lIns="0" tIns="0" rIns="0" bIns="0" rtlCol="0" anchor="ctr"/>
          <a:lstStyle/>
          <a:p>
            <a:pPr marL="0" indent="0">
              <a:buNone/>
            </a:pPr>
            <a:r>
              <a:rPr lang="en-US" sz="2200" b="1" dirty="0">
                <a:solidFill>
                  <a:srgbClr val="1D1D1F"/>
                </a:solidFill>
                <a:latin typeface="Courier New" pitchFamily="34" charset="0"/>
                <a:ea typeface="Courier New" pitchFamily="34" charset="-122"/>
                <a:cs typeface="Courier New" pitchFamily="34" charset="-120"/>
              </a:rPr>
              <a:t>P0 → C1</a:t>
            </a:r>
            <a:endParaRPr lang="en-US" sz="2200" dirty="0"/>
          </a:p>
          <a:p>
            <a:pPr marL="0" indent="0">
              <a:buNone/>
            </a:pPr>
            <a:r>
              <a:rPr lang="en-US" sz="2200" b="1" dirty="0">
                <a:solidFill>
                  <a:srgbClr val="1D1D1F"/>
                </a:solidFill>
                <a:latin typeface="Courier New" pitchFamily="34" charset="0"/>
                <a:ea typeface="Courier New" pitchFamily="34" charset="-122"/>
                <a:cs typeface="Courier New" pitchFamily="34" charset="-120"/>
              </a:rPr>
              <a:t>P1 → C2</a:t>
            </a:r>
            <a:endParaRPr lang="en-US" sz="2200" dirty="0"/>
          </a:p>
          <a:p>
            <a:pPr marL="0" indent="0">
              <a:buNone/>
            </a:pPr>
            <a:r>
              <a:rPr lang="en-US" sz="2200" b="1" dirty="0">
                <a:solidFill>
                  <a:srgbClr val="1D1D1F"/>
                </a:solidFill>
                <a:latin typeface="Courier New" pitchFamily="34" charset="0"/>
                <a:ea typeface="Courier New" pitchFamily="34" charset="-122"/>
                <a:cs typeface="Courier New" pitchFamily="34" charset="-120"/>
              </a:rPr>
              <a:t>P2 → C3</a:t>
            </a:r>
            <a:endParaRPr lang="en-US" sz="2200" dirty="0"/>
          </a:p>
        </p:txBody>
      </p:sp>
      <p:sp>
        <p:nvSpPr>
          <p:cNvPr id="8" name="Text 6"/>
          <p:cNvSpPr/>
          <p:nvPr/>
        </p:nvSpPr>
        <p:spPr>
          <a:xfrm>
            <a:off x="3246120" y="3063240"/>
            <a:ext cx="1097280" cy="411480"/>
          </a:xfrm>
          <a:prstGeom prst="rect">
            <a:avLst/>
          </a:prstGeom>
          <a:noFill/>
          <a:ln/>
        </p:spPr>
        <p:txBody>
          <a:bodyPr wrap="square" lIns="0" tIns="0" rIns="0" bIns="0" rtlCol="0" anchor="ctr"/>
          <a:lstStyle/>
          <a:p>
            <a:pPr marL="0" indent="0" algn="ctr">
              <a:buNone/>
            </a:pPr>
            <a:r>
              <a:rPr lang="en-US" sz="1800" b="1" dirty="0">
                <a:solidFill>
                  <a:srgbClr val="FF453A"/>
                </a:solidFill>
              </a:rPr>
              <a:t>C2 fails</a:t>
            </a:r>
            <a:endParaRPr lang="en-US" sz="1800" dirty="0"/>
          </a:p>
        </p:txBody>
      </p:sp>
      <p:sp>
        <p:nvSpPr>
          <p:cNvPr id="9" name="Shape 7"/>
          <p:cNvSpPr/>
          <p:nvPr/>
        </p:nvSpPr>
        <p:spPr>
          <a:xfrm>
            <a:off x="5257800" y="2971800"/>
            <a:ext cx="731520" cy="594360"/>
          </a:xfrm>
          <a:prstGeom prst="chevron">
            <a:avLst/>
          </a:prstGeom>
          <a:solidFill>
            <a:srgbClr val="0071E3"/>
          </a:solidFill>
          <a:ln w="12700">
            <a:solidFill>
              <a:srgbClr val="0071E3"/>
            </a:solidFill>
            <a:prstDash val="solid"/>
          </a:ln>
        </p:spPr>
      </p:sp>
      <p:sp>
        <p:nvSpPr>
          <p:cNvPr id="10" name="Shape 8"/>
          <p:cNvSpPr/>
          <p:nvPr/>
        </p:nvSpPr>
        <p:spPr>
          <a:xfrm>
            <a:off x="6217920" y="1828800"/>
            <a:ext cx="5303520" cy="3154680"/>
          </a:xfrm>
          <a:prstGeom prst="roundRect">
            <a:avLst>
              <a:gd name="adj" fmla="val 3478"/>
            </a:avLst>
          </a:prstGeom>
          <a:solidFill>
            <a:srgbClr val="FFFFFF"/>
          </a:solidFill>
          <a:ln w="12700">
            <a:solidFill>
              <a:srgbClr val="D2D2D7"/>
            </a:solidFill>
            <a:prstDash val="solid"/>
          </a:ln>
        </p:spPr>
      </p:sp>
      <p:sp>
        <p:nvSpPr>
          <p:cNvPr id="11" name="Text 9"/>
          <p:cNvSpPr/>
          <p:nvPr/>
        </p:nvSpPr>
        <p:spPr>
          <a:xfrm>
            <a:off x="6492240" y="2103120"/>
            <a:ext cx="914400" cy="274320"/>
          </a:xfrm>
          <a:prstGeom prst="rect">
            <a:avLst/>
          </a:prstGeom>
          <a:noFill/>
          <a:ln/>
        </p:spPr>
        <p:txBody>
          <a:bodyPr wrap="square" lIns="0" tIns="0" rIns="0" bIns="0" rtlCol="0" anchor="ctr"/>
          <a:lstStyle/>
          <a:p>
            <a:pPr marL="0" indent="0">
              <a:buNone/>
            </a:pPr>
            <a:r>
              <a:rPr lang="en-US" sz="1500" b="1" dirty="0">
                <a:solidFill>
                  <a:srgbClr val="30D158"/>
                </a:solidFill>
              </a:rPr>
              <a:t>After</a:t>
            </a:r>
            <a:endParaRPr lang="en-US" sz="1500" dirty="0"/>
          </a:p>
        </p:txBody>
      </p:sp>
      <p:sp>
        <p:nvSpPr>
          <p:cNvPr id="12" name="Text 10"/>
          <p:cNvSpPr/>
          <p:nvPr/>
        </p:nvSpPr>
        <p:spPr>
          <a:xfrm>
            <a:off x="6629400" y="2651760"/>
            <a:ext cx="2286000" cy="1463040"/>
          </a:xfrm>
          <a:prstGeom prst="rect">
            <a:avLst/>
          </a:prstGeom>
          <a:noFill/>
          <a:ln/>
        </p:spPr>
        <p:txBody>
          <a:bodyPr wrap="square" lIns="0" tIns="0" rIns="0" bIns="0" rtlCol="0" anchor="ctr"/>
          <a:lstStyle/>
          <a:p>
            <a:pPr marL="0" indent="0">
              <a:buNone/>
            </a:pPr>
            <a:r>
              <a:rPr lang="en-US" sz="2200" b="1" dirty="0">
                <a:solidFill>
                  <a:srgbClr val="1D1D1F"/>
                </a:solidFill>
                <a:latin typeface="Courier New" pitchFamily="34" charset="0"/>
                <a:ea typeface="Courier New" pitchFamily="34" charset="-122"/>
                <a:cs typeface="Courier New" pitchFamily="34" charset="-120"/>
              </a:rPr>
              <a:t>P0 → C1</a:t>
            </a:r>
            <a:endParaRPr lang="en-US" sz="2200" dirty="0"/>
          </a:p>
          <a:p>
            <a:pPr marL="0" indent="0">
              <a:buNone/>
            </a:pPr>
            <a:r>
              <a:rPr lang="en-US" sz="2200" b="1" dirty="0">
                <a:solidFill>
                  <a:srgbClr val="1D1D1F"/>
                </a:solidFill>
                <a:latin typeface="Courier New" pitchFamily="34" charset="0"/>
                <a:ea typeface="Courier New" pitchFamily="34" charset="-122"/>
                <a:cs typeface="Courier New" pitchFamily="34" charset="-120"/>
              </a:rPr>
              <a:t>P1 → C1</a:t>
            </a:r>
            <a:endParaRPr lang="en-US" sz="2200" dirty="0"/>
          </a:p>
          <a:p>
            <a:pPr marL="0" indent="0">
              <a:buNone/>
            </a:pPr>
            <a:r>
              <a:rPr lang="en-US" sz="2200" b="1" dirty="0">
                <a:solidFill>
                  <a:srgbClr val="1D1D1F"/>
                </a:solidFill>
                <a:latin typeface="Courier New" pitchFamily="34" charset="0"/>
                <a:ea typeface="Courier New" pitchFamily="34" charset="-122"/>
                <a:cs typeface="Courier New" pitchFamily="34" charset="-120"/>
              </a:rPr>
              <a:t>P2 → C3</a:t>
            </a:r>
            <a:endParaRPr lang="en-US" sz="2200" dirty="0"/>
          </a:p>
        </p:txBody>
      </p:sp>
      <p:sp>
        <p:nvSpPr>
          <p:cNvPr id="13" name="Text 11"/>
          <p:cNvSpPr/>
          <p:nvPr/>
        </p:nvSpPr>
        <p:spPr>
          <a:xfrm>
            <a:off x="9189720" y="2788920"/>
            <a:ext cx="1737360" cy="731520"/>
          </a:xfrm>
          <a:prstGeom prst="rect">
            <a:avLst/>
          </a:prstGeom>
          <a:noFill/>
          <a:ln/>
        </p:spPr>
        <p:txBody>
          <a:bodyPr wrap="square" lIns="0" tIns="0" rIns="0" bIns="0" rtlCol="0" anchor="ctr"/>
          <a:lstStyle/>
          <a:p>
            <a:pPr marL="0" indent="0" algn="ctr">
              <a:buNone/>
            </a:pPr>
            <a:r>
              <a:rPr lang="en-US" sz="1500" b="1" dirty="0">
                <a:solidFill>
                  <a:srgbClr val="FF9F0A"/>
                </a:solidFill>
              </a:rPr>
              <a:t>Replay from</a:t>
            </a:r>
            <a:endParaRPr lang="en-US" sz="1500" dirty="0"/>
          </a:p>
          <a:p>
            <a:pPr marL="0" indent="0" algn="ctr">
              <a:buNone/>
            </a:pPr>
            <a:r>
              <a:rPr lang="en-US" sz="1500" b="1" dirty="0">
                <a:solidFill>
                  <a:srgbClr val="FF9F0A"/>
                </a:solidFill>
              </a:rPr>
              <a:t>committed offset</a:t>
            </a:r>
            <a:endParaRPr lang="en-US" sz="1500" dirty="0"/>
          </a:p>
        </p:txBody>
      </p:sp>
      <p:sp>
        <p:nvSpPr>
          <p:cNvPr id="14" name="Text 12"/>
          <p:cNvSpPr/>
          <p:nvPr/>
        </p:nvSpPr>
        <p:spPr>
          <a:xfrm>
            <a:off x="594360" y="6272784"/>
            <a:ext cx="10789920" cy="228600"/>
          </a:xfrm>
          <a:prstGeom prst="rect">
            <a:avLst/>
          </a:prstGeom>
          <a:noFill/>
          <a:ln/>
        </p:spPr>
        <p:txBody>
          <a:bodyPr wrap="square" lIns="0" tIns="0" rIns="0" bIns="0" rtlCol="0" anchor="ctr"/>
          <a:lstStyle/>
          <a:p>
            <a:pPr marL="0" indent="0" algn="ctr">
              <a:buNone/>
            </a:pPr>
            <a:r>
              <a:rPr lang="en-US" sz="1000" i="1" dirty="0">
                <a:solidFill>
                  <a:srgbClr val="6E6E73"/>
                </a:solidFill>
              </a:rPr>
              <a:t>Idempotent consumers turn safe replay into correct replay.</a:t>
            </a:r>
            <a:endParaRPr lang="en-US" sz="1000" dirty="0"/>
          </a:p>
        </p:txBody>
      </p:sp>
      <p:sp>
        <p:nvSpPr>
          <p:cNvPr id="25" name="Slide Number Placeholder 0"/>
          <p:cNvSpPr>
            <a:spLocks noGrp="1"/>
          </p:cNvSpPr>
          <p:nvPr>
            <p:ph type="sldNum" sz="quarter" idx="4294967295"/>
          </p:nvPr>
        </p:nvSpPr>
        <p:spPr>
          <a:xfrm>
            <a:off x="11686032" y="6510528"/>
            <a:ext cx="228600"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86868B"/>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1" cy="1"/>
          <a:chOff x="0" y="0"/>
          <a:chExt cx="1" cy="1"/>
        </a:xfrm>
      </p:grpSpPr>
      <p:sp>
        <p:nvSpPr>
          <p:cNvPr id="2" name="Text 0"/>
          <p:cNvSpPr/>
          <p:nvPr/>
        </p:nvSpPr>
        <p:spPr>
          <a:xfrm>
            <a:off x="594360" y="502920"/>
            <a:ext cx="4389120" cy="228600"/>
          </a:xfrm>
          <a:prstGeom prst="rect">
            <a:avLst/>
          </a:prstGeom>
          <a:noFill/>
          <a:ln/>
        </p:spPr>
        <p:txBody>
          <a:bodyPr wrap="square" lIns="0" tIns="0" rIns="0" bIns="0" rtlCol="0" anchor="ctr"/>
          <a:lstStyle/>
          <a:p>
            <a:pPr marL="0" indent="0">
              <a:buNone/>
            </a:pPr>
            <a:r>
              <a:rPr lang="en-US" sz="1000" b="1" kern="0" spc="150" dirty="0">
                <a:solidFill>
                  <a:srgbClr val="0071E3"/>
                </a:solidFill>
              </a:rPr>
              <a:t>END-TO-END</a:t>
            </a:r>
            <a:endParaRPr lang="en-US" sz="1000" dirty="0"/>
          </a:p>
        </p:txBody>
      </p:sp>
      <p:sp>
        <p:nvSpPr>
          <p:cNvPr id="3" name="Text 1"/>
          <p:cNvSpPr/>
          <p:nvPr/>
        </p:nvSpPr>
        <p:spPr>
          <a:xfrm>
            <a:off x="594360" y="822960"/>
            <a:ext cx="10972800" cy="594360"/>
          </a:xfrm>
          <a:prstGeom prst="rect">
            <a:avLst/>
          </a:prstGeom>
          <a:noFill/>
          <a:ln/>
        </p:spPr>
        <p:txBody>
          <a:bodyPr wrap="square" lIns="0" tIns="0" rIns="0" bIns="0" rtlCol="0" anchor="ctr"/>
          <a:lstStyle/>
          <a:p>
            <a:pPr marL="0" indent="0">
              <a:buNone/>
            </a:pPr>
            <a:r>
              <a:rPr lang="en-US" sz="2800" b="1" dirty="0">
                <a:solidFill>
                  <a:srgbClr val="1D1D1F"/>
                </a:solidFill>
              </a:rPr>
              <a:t>No loss is not the same as exactly once</a:t>
            </a:r>
            <a:endParaRPr lang="en-US" sz="2800" dirty="0"/>
          </a:p>
        </p:txBody>
      </p:sp>
      <p:sp>
        <p:nvSpPr>
          <p:cNvPr id="4" name="Text 2"/>
          <p:cNvSpPr/>
          <p:nvPr/>
        </p:nvSpPr>
        <p:spPr>
          <a:xfrm>
            <a:off x="612648" y="1444752"/>
            <a:ext cx="10789920" cy="256032"/>
          </a:xfrm>
          <a:prstGeom prst="rect">
            <a:avLst/>
          </a:prstGeom>
          <a:noFill/>
          <a:ln/>
        </p:spPr>
        <p:txBody>
          <a:bodyPr wrap="square" lIns="0" tIns="0" rIns="0" bIns="0" rtlCol="0" anchor="ctr"/>
          <a:lstStyle/>
          <a:p>
            <a:pPr marL="0" indent="0">
              <a:buNone/>
            </a:pPr>
            <a:r>
              <a:rPr lang="en-US" sz="1400" dirty="0">
                <a:solidFill>
                  <a:srgbClr val="6E6E73"/>
                </a:solidFill>
              </a:rPr>
              <a:t>Broker durability protects records. Sink design protects business effects.</a:t>
            </a:r>
            <a:endParaRPr lang="en-US" sz="1400" dirty="0"/>
          </a:p>
        </p:txBody>
      </p:sp>
      <p:pic>
        <p:nvPicPr>
          <p:cNvPr id="5" name="Image 0" descr="/mnt/data/kafka_ppt_work/generated_image_8B424B426329_03.png"/>
          <p:cNvPicPr>
            <a:picLocks noChangeAspect="1"/>
          </p:cNvPicPr>
          <p:nvPr/>
        </p:nvPicPr>
        <p:blipFill>
          <a:blip r:embed="rId3"/>
          <a:srcRect t="19905" b="19906"/>
          <a:stretch/>
        </p:blipFill>
        <p:spPr>
          <a:xfrm>
            <a:off x="0" y="1828800"/>
            <a:ext cx="12191695" cy="4892040"/>
          </a:xfrm>
          <a:prstGeom prst="rect">
            <a:avLst/>
          </a:prstGeom>
        </p:spPr>
      </p:pic>
      <p:sp>
        <p:nvSpPr>
          <p:cNvPr id="6" name="Shape 3"/>
          <p:cNvSpPr/>
          <p:nvPr/>
        </p:nvSpPr>
        <p:spPr>
          <a:xfrm>
            <a:off x="685800" y="5074920"/>
            <a:ext cx="10835640" cy="822960"/>
          </a:xfrm>
          <a:prstGeom prst="roundRect">
            <a:avLst>
              <a:gd name="adj" fmla="val 11111"/>
            </a:avLst>
          </a:prstGeom>
          <a:solidFill>
            <a:srgbClr val="000000">
              <a:alpha val="88000"/>
            </a:srgbClr>
          </a:solidFill>
          <a:ln w="12700">
            <a:solidFill>
              <a:srgbClr val="FFFFFF">
                <a:alpha val="0"/>
              </a:srgbClr>
            </a:solidFill>
            <a:prstDash val="solid"/>
          </a:ln>
        </p:spPr>
      </p:sp>
      <p:sp>
        <p:nvSpPr>
          <p:cNvPr id="7" name="Text 4"/>
          <p:cNvSpPr/>
          <p:nvPr/>
        </p:nvSpPr>
        <p:spPr>
          <a:xfrm>
            <a:off x="960120" y="5321808"/>
            <a:ext cx="10287000" cy="320040"/>
          </a:xfrm>
          <a:prstGeom prst="rect">
            <a:avLst/>
          </a:prstGeom>
          <a:noFill/>
          <a:ln/>
        </p:spPr>
        <p:txBody>
          <a:bodyPr wrap="square" lIns="0" tIns="0" rIns="0" bIns="0" rtlCol="0" anchor="ctr"/>
          <a:lstStyle/>
          <a:p>
            <a:pPr marL="0" indent="0" algn="ctr">
              <a:buNone/>
            </a:pPr>
            <a:r>
              <a:rPr lang="en-US" sz="1700" b="1" dirty="0">
                <a:solidFill>
                  <a:srgbClr val="FFFFFF"/>
                </a:solidFill>
              </a:rPr>
              <a:t>Replayable source  +  durable Kafka log  +  atomic/idempotent sink  =  end-to-end correctness</a:t>
            </a:r>
            <a:endParaRPr lang="en-US" sz="1700" dirty="0"/>
          </a:p>
        </p:txBody>
      </p:sp>
      <p:sp>
        <p:nvSpPr>
          <p:cNvPr id="25" name="Slide Number Placeholder 0"/>
          <p:cNvSpPr>
            <a:spLocks noGrp="1"/>
          </p:cNvSpPr>
          <p:nvPr>
            <p:ph type="sldNum" sz="quarter" idx="4294967295"/>
          </p:nvPr>
        </p:nvSpPr>
        <p:spPr>
          <a:xfrm>
            <a:off x="11686032" y="6510528"/>
            <a:ext cx="228600"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86868B"/>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1" cy="1"/>
          <a:chOff x="0" y="0"/>
          <a:chExt cx="1" cy="1"/>
        </a:xfrm>
      </p:grpSpPr>
      <p:sp>
        <p:nvSpPr>
          <p:cNvPr id="2" name="Text 0"/>
          <p:cNvSpPr/>
          <p:nvPr/>
        </p:nvSpPr>
        <p:spPr>
          <a:xfrm>
            <a:off x="594360" y="502920"/>
            <a:ext cx="4389120" cy="228600"/>
          </a:xfrm>
          <a:prstGeom prst="rect">
            <a:avLst/>
          </a:prstGeom>
          <a:noFill/>
          <a:ln/>
        </p:spPr>
        <p:txBody>
          <a:bodyPr wrap="square" lIns="0" tIns="0" rIns="0" bIns="0" rtlCol="0" anchor="ctr"/>
          <a:lstStyle/>
          <a:p>
            <a:pPr marL="0" indent="0">
              <a:buNone/>
            </a:pPr>
            <a:r>
              <a:rPr lang="en-US" sz="1000" b="1" kern="0" spc="150" dirty="0">
                <a:solidFill>
                  <a:srgbClr val="0071E3"/>
                </a:solidFill>
              </a:rPr>
              <a:t>PRODUCTION BLUEPRINT</a:t>
            </a:r>
            <a:endParaRPr lang="en-US" sz="1000" dirty="0"/>
          </a:p>
        </p:txBody>
      </p:sp>
      <p:sp>
        <p:nvSpPr>
          <p:cNvPr id="3" name="Text 1"/>
          <p:cNvSpPr/>
          <p:nvPr/>
        </p:nvSpPr>
        <p:spPr>
          <a:xfrm>
            <a:off x="594360" y="822960"/>
            <a:ext cx="10972800" cy="594360"/>
          </a:xfrm>
          <a:prstGeom prst="rect">
            <a:avLst/>
          </a:prstGeom>
          <a:noFill/>
          <a:ln/>
        </p:spPr>
        <p:txBody>
          <a:bodyPr wrap="square" lIns="0" tIns="0" rIns="0" bIns="0" rtlCol="0" anchor="ctr"/>
          <a:lstStyle/>
          <a:p>
            <a:pPr marL="0" indent="0">
              <a:buNone/>
            </a:pPr>
            <a:r>
              <a:rPr lang="en-US" sz="2800" b="1" dirty="0">
                <a:solidFill>
                  <a:srgbClr val="1D1D1F"/>
                </a:solidFill>
              </a:rPr>
              <a:t>A strong baseline, not a magic zero-loss switch</a:t>
            </a:r>
            <a:endParaRPr lang="en-US" sz="2800" dirty="0"/>
          </a:p>
        </p:txBody>
      </p:sp>
      <p:sp>
        <p:nvSpPr>
          <p:cNvPr id="4" name="Text 2"/>
          <p:cNvSpPr/>
          <p:nvPr/>
        </p:nvSpPr>
        <p:spPr>
          <a:xfrm>
            <a:off x="612648" y="1444752"/>
            <a:ext cx="10789920" cy="256032"/>
          </a:xfrm>
          <a:prstGeom prst="rect">
            <a:avLst/>
          </a:prstGeom>
          <a:noFill/>
          <a:ln/>
        </p:spPr>
        <p:txBody>
          <a:bodyPr wrap="square" lIns="0" tIns="0" rIns="0" bIns="0" rtlCol="0" anchor="ctr"/>
          <a:lstStyle/>
          <a:p>
            <a:pPr marL="0" indent="0">
              <a:buNone/>
            </a:pPr>
            <a:r>
              <a:rPr lang="en-US" sz="1400" dirty="0">
                <a:solidFill>
                  <a:srgbClr val="6E6E73"/>
                </a:solidFill>
              </a:rPr>
              <a:t>Tune timeouts, placement, retention, and operations to the workload.</a:t>
            </a:r>
            <a:endParaRPr lang="en-US" sz="1400" dirty="0"/>
          </a:p>
        </p:txBody>
      </p:sp>
      <p:sp>
        <p:nvSpPr>
          <p:cNvPr id="5" name="Shape 3"/>
          <p:cNvSpPr/>
          <p:nvPr/>
        </p:nvSpPr>
        <p:spPr>
          <a:xfrm>
            <a:off x="640080" y="1783080"/>
            <a:ext cx="5166360" cy="1691640"/>
          </a:xfrm>
          <a:prstGeom prst="roundRect">
            <a:avLst>
              <a:gd name="adj" fmla="val 5405"/>
            </a:avLst>
          </a:prstGeom>
          <a:solidFill>
            <a:srgbClr val="FFFFFF"/>
          </a:solidFill>
          <a:ln w="12700">
            <a:solidFill>
              <a:srgbClr val="E5E5EA"/>
            </a:solidFill>
            <a:prstDash val="solid"/>
          </a:ln>
          <a:effectLst>
            <a:outerShdw blurRad="15240" dist="12700" dir="2700000" algn="bl" rotWithShape="0">
              <a:srgbClr val="000000">
                <a:alpha val="10000"/>
              </a:srgbClr>
            </a:outerShdw>
          </a:effectLst>
        </p:spPr>
      </p:sp>
      <p:sp>
        <p:nvSpPr>
          <p:cNvPr id="6" name="Shape 4"/>
          <p:cNvSpPr/>
          <p:nvPr/>
        </p:nvSpPr>
        <p:spPr>
          <a:xfrm>
            <a:off x="868680" y="2011680"/>
            <a:ext cx="146304" cy="146304"/>
          </a:xfrm>
          <a:prstGeom prst="ellipse">
            <a:avLst/>
          </a:prstGeom>
          <a:solidFill>
            <a:srgbClr val="0071E3"/>
          </a:solidFill>
          <a:ln w="12700">
            <a:solidFill>
              <a:srgbClr val="0071E3"/>
            </a:solidFill>
            <a:prstDash val="solid"/>
          </a:ln>
        </p:spPr>
      </p:sp>
      <p:sp>
        <p:nvSpPr>
          <p:cNvPr id="7" name="Text 5"/>
          <p:cNvSpPr/>
          <p:nvPr/>
        </p:nvSpPr>
        <p:spPr>
          <a:xfrm>
            <a:off x="1115568" y="1947672"/>
            <a:ext cx="4480560" cy="310896"/>
          </a:xfrm>
          <a:prstGeom prst="rect">
            <a:avLst/>
          </a:prstGeom>
          <a:noFill/>
          <a:ln/>
        </p:spPr>
        <p:txBody>
          <a:bodyPr wrap="square" lIns="0" tIns="0" rIns="0" bIns="0" rtlCol="0" anchor="ctr"/>
          <a:lstStyle/>
          <a:p>
            <a:pPr marL="0" indent="0">
              <a:buNone/>
            </a:pPr>
            <a:r>
              <a:rPr lang="en-US" sz="1400" b="1" dirty="0">
                <a:solidFill>
                  <a:srgbClr val="1D1D1F"/>
                </a:solidFill>
              </a:rPr>
              <a:t>Topic / broker</a:t>
            </a:r>
            <a:endParaRPr lang="en-US" sz="1400" dirty="0"/>
          </a:p>
        </p:txBody>
      </p:sp>
      <p:sp>
        <p:nvSpPr>
          <p:cNvPr id="8" name="Text 6"/>
          <p:cNvSpPr/>
          <p:nvPr/>
        </p:nvSpPr>
        <p:spPr>
          <a:xfrm>
            <a:off x="868680" y="2404872"/>
            <a:ext cx="4709160" cy="914400"/>
          </a:xfrm>
          <a:prstGeom prst="rect">
            <a:avLst/>
          </a:prstGeom>
          <a:noFill/>
          <a:ln/>
        </p:spPr>
        <p:txBody>
          <a:bodyPr wrap="square" lIns="0" tIns="0" rIns="0" bIns="0" rtlCol="0" anchor="ctr">
            <a:normAutofit/>
          </a:bodyPr>
          <a:lstStyle/>
          <a:p>
            <a:pPr marL="0" indent="0">
              <a:buNone/>
            </a:pPr>
            <a:r>
              <a:rPr lang="en-US" sz="1150" dirty="0">
                <a:solidFill>
                  <a:srgbClr val="6E6E73"/>
                </a:solidFill>
              </a:rPr>
              <a:t>replication.factor=3</a:t>
            </a:r>
            <a:endParaRPr lang="en-US" sz="1150" dirty="0"/>
          </a:p>
          <a:p>
            <a:pPr marL="0" indent="0">
              <a:buNone/>
            </a:pPr>
            <a:r>
              <a:rPr lang="en-US" sz="1150" dirty="0">
                <a:solidFill>
                  <a:srgbClr val="6E6E73"/>
                </a:solidFill>
              </a:rPr>
              <a:t>min.insync.replicas=2</a:t>
            </a:r>
            <a:endParaRPr lang="en-US" sz="1150" dirty="0"/>
          </a:p>
          <a:p>
            <a:pPr marL="0" indent="0">
              <a:buNone/>
            </a:pPr>
            <a:r>
              <a:rPr lang="en-US" sz="1150" dirty="0">
                <a:solidFill>
                  <a:srgbClr val="6E6E73"/>
                </a:solidFill>
              </a:rPr>
              <a:t>unclean.leader.election=false</a:t>
            </a:r>
            <a:endParaRPr lang="en-US" sz="1150" dirty="0"/>
          </a:p>
        </p:txBody>
      </p:sp>
      <p:sp>
        <p:nvSpPr>
          <p:cNvPr id="9" name="Shape 7"/>
          <p:cNvSpPr/>
          <p:nvPr/>
        </p:nvSpPr>
        <p:spPr>
          <a:xfrm>
            <a:off x="6263640" y="1783080"/>
            <a:ext cx="5166360" cy="1691640"/>
          </a:xfrm>
          <a:prstGeom prst="roundRect">
            <a:avLst>
              <a:gd name="adj" fmla="val 5405"/>
            </a:avLst>
          </a:prstGeom>
          <a:solidFill>
            <a:srgbClr val="FFFFFF"/>
          </a:solidFill>
          <a:ln w="12700">
            <a:solidFill>
              <a:srgbClr val="E5E5EA"/>
            </a:solidFill>
            <a:prstDash val="solid"/>
          </a:ln>
          <a:effectLst>
            <a:outerShdw blurRad="15240" dist="12700" dir="2700000" algn="bl" rotWithShape="0">
              <a:srgbClr val="000000">
                <a:alpha val="10000"/>
              </a:srgbClr>
            </a:outerShdw>
          </a:effectLst>
        </p:spPr>
      </p:sp>
      <p:sp>
        <p:nvSpPr>
          <p:cNvPr id="10" name="Shape 8"/>
          <p:cNvSpPr/>
          <p:nvPr/>
        </p:nvSpPr>
        <p:spPr>
          <a:xfrm>
            <a:off x="6492240" y="2011680"/>
            <a:ext cx="146304" cy="146304"/>
          </a:xfrm>
          <a:prstGeom prst="ellipse">
            <a:avLst/>
          </a:prstGeom>
          <a:solidFill>
            <a:srgbClr val="0071E3"/>
          </a:solidFill>
          <a:ln w="12700">
            <a:solidFill>
              <a:srgbClr val="0071E3"/>
            </a:solidFill>
            <a:prstDash val="solid"/>
          </a:ln>
        </p:spPr>
      </p:sp>
      <p:sp>
        <p:nvSpPr>
          <p:cNvPr id="11" name="Text 9"/>
          <p:cNvSpPr/>
          <p:nvPr/>
        </p:nvSpPr>
        <p:spPr>
          <a:xfrm>
            <a:off x="6739128" y="1947672"/>
            <a:ext cx="4480560" cy="310896"/>
          </a:xfrm>
          <a:prstGeom prst="rect">
            <a:avLst/>
          </a:prstGeom>
          <a:noFill/>
          <a:ln/>
        </p:spPr>
        <p:txBody>
          <a:bodyPr wrap="square" lIns="0" tIns="0" rIns="0" bIns="0" rtlCol="0" anchor="ctr"/>
          <a:lstStyle/>
          <a:p>
            <a:pPr marL="0" indent="0">
              <a:buNone/>
            </a:pPr>
            <a:r>
              <a:rPr lang="en-US" sz="1400" b="1" dirty="0">
                <a:solidFill>
                  <a:srgbClr val="1D1D1F"/>
                </a:solidFill>
              </a:rPr>
              <a:t>Producer</a:t>
            </a:r>
            <a:endParaRPr lang="en-US" sz="1400" dirty="0"/>
          </a:p>
        </p:txBody>
      </p:sp>
      <p:sp>
        <p:nvSpPr>
          <p:cNvPr id="12" name="Text 10"/>
          <p:cNvSpPr/>
          <p:nvPr/>
        </p:nvSpPr>
        <p:spPr>
          <a:xfrm>
            <a:off x="6492240" y="2404872"/>
            <a:ext cx="4709160" cy="914400"/>
          </a:xfrm>
          <a:prstGeom prst="rect">
            <a:avLst/>
          </a:prstGeom>
          <a:noFill/>
          <a:ln/>
        </p:spPr>
        <p:txBody>
          <a:bodyPr wrap="square" lIns="0" tIns="0" rIns="0" bIns="0" rtlCol="0" anchor="ctr">
            <a:normAutofit/>
          </a:bodyPr>
          <a:lstStyle/>
          <a:p>
            <a:pPr marL="0" indent="0">
              <a:buNone/>
            </a:pPr>
            <a:r>
              <a:rPr lang="en-US" sz="1150" dirty="0">
                <a:solidFill>
                  <a:srgbClr val="6E6E73"/>
                </a:solidFill>
              </a:rPr>
              <a:t>acks=all</a:t>
            </a:r>
            <a:endParaRPr lang="en-US" sz="1150" dirty="0"/>
          </a:p>
          <a:p>
            <a:pPr marL="0" indent="0">
              <a:buNone/>
            </a:pPr>
            <a:r>
              <a:rPr lang="en-US" sz="1150" dirty="0">
                <a:solidFill>
                  <a:srgbClr val="6E6E73"/>
                </a:solidFill>
              </a:rPr>
              <a:t>enable.idempotence=true</a:t>
            </a:r>
            <a:endParaRPr lang="en-US" sz="1150" dirty="0"/>
          </a:p>
          <a:p>
            <a:pPr marL="0" indent="0">
              <a:buNone/>
            </a:pPr>
            <a:r>
              <a:rPr lang="en-US" sz="1150" dirty="0">
                <a:solidFill>
                  <a:srgbClr val="6E6E73"/>
                </a:solidFill>
              </a:rPr>
              <a:t>retries high; timeout bounded</a:t>
            </a:r>
            <a:endParaRPr lang="en-US" sz="1150" dirty="0"/>
          </a:p>
        </p:txBody>
      </p:sp>
      <p:sp>
        <p:nvSpPr>
          <p:cNvPr id="13" name="Shape 11"/>
          <p:cNvSpPr/>
          <p:nvPr/>
        </p:nvSpPr>
        <p:spPr>
          <a:xfrm>
            <a:off x="640080" y="3840480"/>
            <a:ext cx="5166360" cy="1691640"/>
          </a:xfrm>
          <a:prstGeom prst="roundRect">
            <a:avLst>
              <a:gd name="adj" fmla="val 5405"/>
            </a:avLst>
          </a:prstGeom>
          <a:solidFill>
            <a:srgbClr val="FFFFFF"/>
          </a:solidFill>
          <a:ln w="12700">
            <a:solidFill>
              <a:srgbClr val="E5E5EA"/>
            </a:solidFill>
            <a:prstDash val="solid"/>
          </a:ln>
          <a:effectLst>
            <a:outerShdw blurRad="15240" dist="12700" dir="2700000" algn="bl" rotWithShape="0">
              <a:srgbClr val="000000">
                <a:alpha val="10000"/>
              </a:srgbClr>
            </a:outerShdw>
          </a:effectLst>
        </p:spPr>
      </p:sp>
      <p:sp>
        <p:nvSpPr>
          <p:cNvPr id="14" name="Shape 12"/>
          <p:cNvSpPr/>
          <p:nvPr/>
        </p:nvSpPr>
        <p:spPr>
          <a:xfrm>
            <a:off x="868680" y="4069080"/>
            <a:ext cx="146304" cy="146304"/>
          </a:xfrm>
          <a:prstGeom prst="ellipse">
            <a:avLst/>
          </a:prstGeom>
          <a:solidFill>
            <a:srgbClr val="0071E3"/>
          </a:solidFill>
          <a:ln w="12700">
            <a:solidFill>
              <a:srgbClr val="0071E3"/>
            </a:solidFill>
            <a:prstDash val="solid"/>
          </a:ln>
        </p:spPr>
      </p:sp>
      <p:sp>
        <p:nvSpPr>
          <p:cNvPr id="15" name="Text 13"/>
          <p:cNvSpPr/>
          <p:nvPr/>
        </p:nvSpPr>
        <p:spPr>
          <a:xfrm>
            <a:off x="1115568" y="4005072"/>
            <a:ext cx="4480560" cy="310896"/>
          </a:xfrm>
          <a:prstGeom prst="rect">
            <a:avLst/>
          </a:prstGeom>
          <a:noFill/>
          <a:ln/>
        </p:spPr>
        <p:txBody>
          <a:bodyPr wrap="square" lIns="0" tIns="0" rIns="0" bIns="0" rtlCol="0" anchor="ctr"/>
          <a:lstStyle/>
          <a:p>
            <a:pPr marL="0" indent="0">
              <a:buNone/>
            </a:pPr>
            <a:r>
              <a:rPr lang="en-US" sz="1400" b="1" dirty="0">
                <a:solidFill>
                  <a:srgbClr val="1D1D1F"/>
                </a:solidFill>
              </a:rPr>
              <a:t>Consumer</a:t>
            </a:r>
            <a:endParaRPr lang="en-US" sz="1400" dirty="0"/>
          </a:p>
        </p:txBody>
      </p:sp>
      <p:sp>
        <p:nvSpPr>
          <p:cNvPr id="16" name="Text 14"/>
          <p:cNvSpPr/>
          <p:nvPr/>
        </p:nvSpPr>
        <p:spPr>
          <a:xfrm>
            <a:off x="868680" y="4462272"/>
            <a:ext cx="4709160" cy="914400"/>
          </a:xfrm>
          <a:prstGeom prst="rect">
            <a:avLst/>
          </a:prstGeom>
          <a:noFill/>
          <a:ln/>
        </p:spPr>
        <p:txBody>
          <a:bodyPr wrap="square" lIns="0" tIns="0" rIns="0" bIns="0" rtlCol="0" anchor="ctr">
            <a:normAutofit/>
          </a:bodyPr>
          <a:lstStyle/>
          <a:p>
            <a:pPr marL="0" indent="0">
              <a:buNone/>
            </a:pPr>
            <a:r>
              <a:rPr lang="en-US" sz="1150" dirty="0">
                <a:solidFill>
                  <a:srgbClr val="6E6E73"/>
                </a:solidFill>
              </a:rPr>
              <a:t>enable.auto.commit=false</a:t>
            </a:r>
            <a:endParaRPr lang="en-US" sz="1150" dirty="0"/>
          </a:p>
          <a:p>
            <a:pPr marL="0" indent="0">
              <a:buNone/>
            </a:pPr>
            <a:r>
              <a:rPr lang="en-US" sz="1150" dirty="0">
                <a:solidFill>
                  <a:srgbClr val="6E6E73"/>
                </a:solidFill>
              </a:rPr>
              <a:t>commit after durable effect</a:t>
            </a:r>
            <a:endParaRPr lang="en-US" sz="1150" dirty="0"/>
          </a:p>
          <a:p>
            <a:pPr marL="0" indent="0">
              <a:buNone/>
            </a:pPr>
            <a:r>
              <a:rPr lang="en-US" sz="1150" dirty="0">
                <a:solidFill>
                  <a:srgbClr val="6E6E73"/>
                </a:solidFill>
              </a:rPr>
              <a:t>read_committed for transactions</a:t>
            </a:r>
            <a:endParaRPr lang="en-US" sz="1150" dirty="0"/>
          </a:p>
        </p:txBody>
      </p:sp>
      <p:sp>
        <p:nvSpPr>
          <p:cNvPr id="17" name="Shape 15"/>
          <p:cNvSpPr/>
          <p:nvPr/>
        </p:nvSpPr>
        <p:spPr>
          <a:xfrm>
            <a:off x="6263640" y="3840480"/>
            <a:ext cx="5166360" cy="1691640"/>
          </a:xfrm>
          <a:prstGeom prst="roundRect">
            <a:avLst>
              <a:gd name="adj" fmla="val 5405"/>
            </a:avLst>
          </a:prstGeom>
          <a:solidFill>
            <a:srgbClr val="FFFFFF"/>
          </a:solidFill>
          <a:ln w="12700">
            <a:solidFill>
              <a:srgbClr val="E5E5EA"/>
            </a:solidFill>
            <a:prstDash val="solid"/>
          </a:ln>
          <a:effectLst>
            <a:outerShdw blurRad="15240" dist="12700" dir="2700000" algn="bl" rotWithShape="0">
              <a:srgbClr val="000000">
                <a:alpha val="10000"/>
              </a:srgbClr>
            </a:outerShdw>
          </a:effectLst>
        </p:spPr>
      </p:sp>
      <p:sp>
        <p:nvSpPr>
          <p:cNvPr id="18" name="Shape 16"/>
          <p:cNvSpPr/>
          <p:nvPr/>
        </p:nvSpPr>
        <p:spPr>
          <a:xfrm>
            <a:off x="6492240" y="4069080"/>
            <a:ext cx="146304" cy="146304"/>
          </a:xfrm>
          <a:prstGeom prst="ellipse">
            <a:avLst/>
          </a:prstGeom>
          <a:solidFill>
            <a:srgbClr val="BF5AF2"/>
          </a:solidFill>
          <a:ln w="12700">
            <a:solidFill>
              <a:srgbClr val="BF5AF2"/>
            </a:solidFill>
            <a:prstDash val="solid"/>
          </a:ln>
        </p:spPr>
      </p:sp>
      <p:sp>
        <p:nvSpPr>
          <p:cNvPr id="19" name="Text 17"/>
          <p:cNvSpPr/>
          <p:nvPr/>
        </p:nvSpPr>
        <p:spPr>
          <a:xfrm>
            <a:off x="6739128" y="4005072"/>
            <a:ext cx="4480560" cy="310896"/>
          </a:xfrm>
          <a:prstGeom prst="rect">
            <a:avLst/>
          </a:prstGeom>
          <a:noFill/>
          <a:ln/>
        </p:spPr>
        <p:txBody>
          <a:bodyPr wrap="square" lIns="0" tIns="0" rIns="0" bIns="0" rtlCol="0" anchor="ctr"/>
          <a:lstStyle/>
          <a:p>
            <a:pPr marL="0" indent="0">
              <a:buNone/>
            </a:pPr>
            <a:r>
              <a:rPr lang="en-US" sz="1400" b="1" dirty="0">
                <a:solidFill>
                  <a:srgbClr val="1D1D1F"/>
                </a:solidFill>
              </a:rPr>
              <a:t>Application</a:t>
            </a:r>
            <a:endParaRPr lang="en-US" sz="1400" dirty="0"/>
          </a:p>
        </p:txBody>
      </p:sp>
      <p:sp>
        <p:nvSpPr>
          <p:cNvPr id="20" name="Text 18"/>
          <p:cNvSpPr/>
          <p:nvPr/>
        </p:nvSpPr>
        <p:spPr>
          <a:xfrm>
            <a:off x="6492240" y="4462272"/>
            <a:ext cx="4709160" cy="914400"/>
          </a:xfrm>
          <a:prstGeom prst="rect">
            <a:avLst/>
          </a:prstGeom>
          <a:noFill/>
          <a:ln/>
        </p:spPr>
        <p:txBody>
          <a:bodyPr wrap="square" lIns="0" tIns="0" rIns="0" bIns="0" rtlCol="0" anchor="ctr">
            <a:normAutofit/>
          </a:bodyPr>
          <a:lstStyle/>
          <a:p>
            <a:pPr marL="0" indent="0">
              <a:buNone/>
            </a:pPr>
            <a:r>
              <a:rPr lang="en-US" sz="1150" dirty="0">
                <a:solidFill>
                  <a:srgbClr val="6E6E73"/>
                </a:solidFill>
              </a:rPr>
              <a:t>event_id + entity_version</a:t>
            </a:r>
            <a:endParaRPr lang="en-US" sz="1150" dirty="0"/>
          </a:p>
          <a:p>
            <a:pPr marL="0" indent="0">
              <a:buNone/>
            </a:pPr>
            <a:r>
              <a:rPr lang="en-US" sz="1150" dirty="0">
                <a:solidFill>
                  <a:srgbClr val="6E6E73"/>
                </a:solidFill>
              </a:rPr>
              <a:t>idempotent/upsert sink</a:t>
            </a:r>
            <a:endParaRPr lang="en-US" sz="1150" dirty="0"/>
          </a:p>
          <a:p>
            <a:pPr marL="0" indent="0">
              <a:buNone/>
            </a:pPr>
            <a:r>
              <a:rPr lang="en-US" sz="1150" dirty="0">
                <a:solidFill>
                  <a:srgbClr val="6E6E73"/>
                </a:solidFill>
              </a:rPr>
              <a:t>retry + DLQ + observability</a:t>
            </a:r>
            <a:endParaRPr lang="en-US" sz="1150" dirty="0"/>
          </a:p>
        </p:txBody>
      </p:sp>
      <p:sp>
        <p:nvSpPr>
          <p:cNvPr id="21" name="Text 19"/>
          <p:cNvSpPr/>
          <p:nvPr/>
        </p:nvSpPr>
        <p:spPr>
          <a:xfrm>
            <a:off x="594360" y="6272784"/>
            <a:ext cx="10789920" cy="228600"/>
          </a:xfrm>
          <a:prstGeom prst="rect">
            <a:avLst/>
          </a:prstGeom>
          <a:noFill/>
          <a:ln/>
        </p:spPr>
        <p:txBody>
          <a:bodyPr wrap="square" lIns="0" tIns="0" rIns="0" bIns="0" rtlCol="0" anchor="ctr"/>
          <a:lstStyle/>
          <a:p>
            <a:pPr marL="0" indent="0" algn="ctr">
              <a:buNone/>
            </a:pPr>
            <a:r>
              <a:rPr lang="en-US" sz="1000" i="1" dirty="0">
                <a:solidFill>
                  <a:srgbClr val="6E6E73"/>
                </a:solidFill>
              </a:rPr>
              <a:t>Also protect internal topics, span failure domains, monitor under-replicated partitions, ISR shrink, produce errors, and consumer lag.</a:t>
            </a:r>
            <a:endParaRPr lang="en-US" sz="1000" dirty="0"/>
          </a:p>
        </p:txBody>
      </p:sp>
      <p:sp>
        <p:nvSpPr>
          <p:cNvPr id="25" name="Slide Number Placeholder 0"/>
          <p:cNvSpPr>
            <a:spLocks noGrp="1"/>
          </p:cNvSpPr>
          <p:nvPr>
            <p:ph type="sldNum" sz="quarter" idx="4294967295"/>
          </p:nvPr>
        </p:nvSpPr>
        <p:spPr>
          <a:xfrm>
            <a:off x="11686032" y="6510528"/>
            <a:ext cx="228600"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86868B"/>
                </a:solidFill>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1" cy="1"/>
          <a:chOff x="0" y="0"/>
          <a:chExt cx="1" cy="1"/>
        </a:xfrm>
      </p:grpSpPr>
      <p:sp>
        <p:nvSpPr>
          <p:cNvPr id="2" name="Text 0"/>
          <p:cNvSpPr/>
          <p:nvPr/>
        </p:nvSpPr>
        <p:spPr>
          <a:xfrm>
            <a:off x="594360" y="502920"/>
            <a:ext cx="4389120" cy="228600"/>
          </a:xfrm>
          <a:prstGeom prst="rect">
            <a:avLst/>
          </a:prstGeom>
          <a:noFill/>
          <a:ln/>
        </p:spPr>
        <p:txBody>
          <a:bodyPr wrap="square" lIns="0" tIns="0" rIns="0" bIns="0" rtlCol="0" anchor="ctr"/>
          <a:lstStyle/>
          <a:p>
            <a:pPr marL="0" indent="0">
              <a:buNone/>
            </a:pPr>
            <a:r>
              <a:rPr lang="en-US" sz="1000" b="1" kern="0" spc="150" dirty="0">
                <a:solidFill>
                  <a:srgbClr val="0071E3"/>
                </a:solidFill>
              </a:rPr>
              <a:t>INTERVIEW TRAPS</a:t>
            </a:r>
            <a:endParaRPr lang="en-US" sz="1000" dirty="0"/>
          </a:p>
        </p:txBody>
      </p:sp>
      <p:sp>
        <p:nvSpPr>
          <p:cNvPr id="3" name="Text 1"/>
          <p:cNvSpPr/>
          <p:nvPr/>
        </p:nvSpPr>
        <p:spPr>
          <a:xfrm>
            <a:off x="594360" y="822960"/>
            <a:ext cx="10972800" cy="594360"/>
          </a:xfrm>
          <a:prstGeom prst="rect">
            <a:avLst/>
          </a:prstGeom>
          <a:noFill/>
          <a:ln/>
        </p:spPr>
        <p:txBody>
          <a:bodyPr wrap="square" lIns="0" tIns="0" rIns="0" bIns="0" rtlCol="0" anchor="ctr"/>
          <a:lstStyle/>
          <a:p>
            <a:pPr marL="0" indent="0">
              <a:buNone/>
            </a:pPr>
            <a:r>
              <a:rPr lang="en-US" sz="2800" b="1" dirty="0">
                <a:solidFill>
                  <a:srgbClr val="1D1D1F"/>
                </a:solidFill>
              </a:rPr>
              <a:t>Answer the guarantee at the right boundary</a:t>
            </a:r>
            <a:endParaRPr lang="en-US" sz="2800" dirty="0"/>
          </a:p>
        </p:txBody>
      </p:sp>
      <p:sp>
        <p:nvSpPr>
          <p:cNvPr id="4" name="Text 2"/>
          <p:cNvSpPr/>
          <p:nvPr/>
        </p:nvSpPr>
        <p:spPr>
          <a:xfrm>
            <a:off x="612648" y="1444752"/>
            <a:ext cx="10789920" cy="256032"/>
          </a:xfrm>
          <a:prstGeom prst="rect">
            <a:avLst/>
          </a:prstGeom>
          <a:noFill/>
          <a:ln/>
        </p:spPr>
        <p:txBody>
          <a:bodyPr wrap="square" lIns="0" tIns="0" rIns="0" bIns="0" rtlCol="0" anchor="ctr"/>
          <a:lstStyle/>
          <a:p>
            <a:pPr marL="0" indent="0">
              <a:buNone/>
            </a:pPr>
            <a:r>
              <a:rPr lang="en-US" sz="1400" dirty="0">
                <a:solidFill>
                  <a:srgbClr val="6E6E73"/>
                </a:solidFill>
              </a:rPr>
              <a:t>Senior answers define scope, failure model, and tradeoff.</a:t>
            </a:r>
            <a:endParaRPr lang="en-US" sz="1400" dirty="0"/>
          </a:p>
        </p:txBody>
      </p:sp>
      <p:sp>
        <p:nvSpPr>
          <p:cNvPr id="5" name="Shape 3"/>
          <p:cNvSpPr/>
          <p:nvPr/>
        </p:nvSpPr>
        <p:spPr>
          <a:xfrm>
            <a:off x="594360" y="1874520"/>
            <a:ext cx="5303520" cy="1234440"/>
          </a:xfrm>
          <a:prstGeom prst="roundRect">
            <a:avLst>
              <a:gd name="adj" fmla="val 7407"/>
            </a:avLst>
          </a:prstGeom>
          <a:solidFill>
            <a:srgbClr val="FFFFFF"/>
          </a:solidFill>
          <a:ln w="12700">
            <a:solidFill>
              <a:srgbClr val="E5E5EA"/>
            </a:solidFill>
            <a:prstDash val="solid"/>
          </a:ln>
          <a:effectLst>
            <a:outerShdw blurRad="15240" dist="12700" dir="2700000" algn="bl" rotWithShape="0">
              <a:srgbClr val="000000">
                <a:alpha val="10000"/>
              </a:srgbClr>
            </a:outerShdw>
          </a:effectLst>
        </p:spPr>
      </p:sp>
      <p:sp>
        <p:nvSpPr>
          <p:cNvPr id="6" name="Shape 4"/>
          <p:cNvSpPr/>
          <p:nvPr/>
        </p:nvSpPr>
        <p:spPr>
          <a:xfrm>
            <a:off x="822960" y="2103120"/>
            <a:ext cx="146304" cy="146304"/>
          </a:xfrm>
          <a:prstGeom prst="ellipse">
            <a:avLst/>
          </a:prstGeom>
          <a:solidFill>
            <a:srgbClr val="0071E3"/>
          </a:solidFill>
          <a:ln w="12700">
            <a:solidFill>
              <a:srgbClr val="0071E3"/>
            </a:solidFill>
            <a:prstDash val="solid"/>
          </a:ln>
        </p:spPr>
      </p:sp>
      <p:sp>
        <p:nvSpPr>
          <p:cNvPr id="7" name="Text 5"/>
          <p:cNvSpPr/>
          <p:nvPr/>
        </p:nvSpPr>
        <p:spPr>
          <a:xfrm>
            <a:off x="1069848" y="2039112"/>
            <a:ext cx="4617720" cy="310896"/>
          </a:xfrm>
          <a:prstGeom prst="rect">
            <a:avLst/>
          </a:prstGeom>
          <a:noFill/>
          <a:ln/>
        </p:spPr>
        <p:txBody>
          <a:bodyPr wrap="square" lIns="0" tIns="0" rIns="0" bIns="0" rtlCol="0" anchor="ctr"/>
          <a:lstStyle/>
          <a:p>
            <a:pPr marL="0" indent="0">
              <a:buNone/>
            </a:pPr>
            <a:r>
              <a:rPr lang="en-US" sz="1400" b="1" dirty="0">
                <a:solidFill>
                  <a:srgbClr val="1D1D1F"/>
                </a:solidFill>
              </a:rPr>
              <a:t>Does Kafka guarantee global order?</a:t>
            </a:r>
            <a:endParaRPr lang="en-US" sz="1400" dirty="0"/>
          </a:p>
        </p:txBody>
      </p:sp>
      <p:sp>
        <p:nvSpPr>
          <p:cNvPr id="8" name="Text 6"/>
          <p:cNvSpPr/>
          <p:nvPr/>
        </p:nvSpPr>
        <p:spPr>
          <a:xfrm>
            <a:off x="822960" y="2496312"/>
            <a:ext cx="4846320" cy="457200"/>
          </a:xfrm>
          <a:prstGeom prst="rect">
            <a:avLst/>
          </a:prstGeom>
          <a:noFill/>
          <a:ln/>
        </p:spPr>
        <p:txBody>
          <a:bodyPr wrap="square" lIns="0" tIns="0" rIns="0" bIns="0" rtlCol="0" anchor="ctr">
            <a:normAutofit/>
          </a:bodyPr>
          <a:lstStyle/>
          <a:p>
            <a:pPr marL="0" indent="0">
              <a:buNone/>
            </a:pPr>
            <a:r>
              <a:rPr lang="en-US" sz="1150" dirty="0">
                <a:solidFill>
                  <a:srgbClr val="6E6E73"/>
                </a:solidFill>
              </a:rPr>
              <a:t>No. Order is per partition.</a:t>
            </a:r>
            <a:endParaRPr lang="en-US" sz="1150" dirty="0"/>
          </a:p>
        </p:txBody>
      </p:sp>
      <p:sp>
        <p:nvSpPr>
          <p:cNvPr id="9" name="Shape 7"/>
          <p:cNvSpPr/>
          <p:nvPr/>
        </p:nvSpPr>
        <p:spPr>
          <a:xfrm>
            <a:off x="6263640" y="1874520"/>
            <a:ext cx="5303520" cy="1234440"/>
          </a:xfrm>
          <a:prstGeom prst="roundRect">
            <a:avLst>
              <a:gd name="adj" fmla="val 7407"/>
            </a:avLst>
          </a:prstGeom>
          <a:solidFill>
            <a:srgbClr val="FFFFFF"/>
          </a:solidFill>
          <a:ln w="12700">
            <a:solidFill>
              <a:srgbClr val="E5E5EA"/>
            </a:solidFill>
            <a:prstDash val="solid"/>
          </a:ln>
          <a:effectLst>
            <a:outerShdw blurRad="15240" dist="12700" dir="2700000" algn="bl" rotWithShape="0">
              <a:srgbClr val="000000">
                <a:alpha val="10000"/>
              </a:srgbClr>
            </a:outerShdw>
          </a:effectLst>
        </p:spPr>
      </p:sp>
      <p:sp>
        <p:nvSpPr>
          <p:cNvPr id="10" name="Shape 8"/>
          <p:cNvSpPr/>
          <p:nvPr/>
        </p:nvSpPr>
        <p:spPr>
          <a:xfrm>
            <a:off x="6492240" y="2103120"/>
            <a:ext cx="146304" cy="146304"/>
          </a:xfrm>
          <a:prstGeom prst="ellipse">
            <a:avLst/>
          </a:prstGeom>
          <a:solidFill>
            <a:srgbClr val="BF5AF2"/>
          </a:solidFill>
          <a:ln w="12700">
            <a:solidFill>
              <a:srgbClr val="BF5AF2"/>
            </a:solidFill>
            <a:prstDash val="solid"/>
          </a:ln>
        </p:spPr>
      </p:sp>
      <p:sp>
        <p:nvSpPr>
          <p:cNvPr id="11" name="Text 9"/>
          <p:cNvSpPr/>
          <p:nvPr/>
        </p:nvSpPr>
        <p:spPr>
          <a:xfrm>
            <a:off x="6739128" y="2039112"/>
            <a:ext cx="4617720" cy="310896"/>
          </a:xfrm>
          <a:prstGeom prst="rect">
            <a:avLst/>
          </a:prstGeom>
          <a:noFill/>
          <a:ln/>
        </p:spPr>
        <p:txBody>
          <a:bodyPr wrap="square" lIns="0" tIns="0" rIns="0" bIns="0" rtlCol="0" anchor="ctr"/>
          <a:lstStyle/>
          <a:p>
            <a:pPr marL="0" indent="0">
              <a:buNone/>
            </a:pPr>
            <a:r>
              <a:rPr lang="en-US" sz="1400" b="1" dirty="0">
                <a:solidFill>
                  <a:srgbClr val="1D1D1F"/>
                </a:solidFill>
              </a:rPr>
              <a:t>Does RF=3 tolerate two failures?</a:t>
            </a:r>
            <a:endParaRPr lang="en-US" sz="1400" dirty="0"/>
          </a:p>
        </p:txBody>
      </p:sp>
      <p:sp>
        <p:nvSpPr>
          <p:cNvPr id="12" name="Text 10"/>
          <p:cNvSpPr/>
          <p:nvPr/>
        </p:nvSpPr>
        <p:spPr>
          <a:xfrm>
            <a:off x="6492240" y="2496312"/>
            <a:ext cx="4846320" cy="457200"/>
          </a:xfrm>
          <a:prstGeom prst="rect">
            <a:avLst/>
          </a:prstGeom>
          <a:noFill/>
          <a:ln/>
        </p:spPr>
        <p:txBody>
          <a:bodyPr wrap="square" lIns="0" tIns="0" rIns="0" bIns="0" rtlCol="0" anchor="ctr">
            <a:normAutofit/>
          </a:bodyPr>
          <a:lstStyle/>
          <a:p>
            <a:pPr marL="0" indent="0">
              <a:buNone/>
            </a:pPr>
            <a:r>
              <a:rPr lang="en-US" sz="1150" dirty="0">
                <a:solidFill>
                  <a:srgbClr val="6E6E73"/>
                </a:solidFill>
              </a:rPr>
              <a:t>Copies may survive; min ISR=2 blocks new durable writes with one ISR.</a:t>
            </a:r>
            <a:endParaRPr lang="en-US" sz="1150" dirty="0"/>
          </a:p>
        </p:txBody>
      </p:sp>
      <p:sp>
        <p:nvSpPr>
          <p:cNvPr id="13" name="Shape 11"/>
          <p:cNvSpPr/>
          <p:nvPr/>
        </p:nvSpPr>
        <p:spPr>
          <a:xfrm>
            <a:off x="594360" y="3291840"/>
            <a:ext cx="5303520" cy="1234440"/>
          </a:xfrm>
          <a:prstGeom prst="roundRect">
            <a:avLst>
              <a:gd name="adj" fmla="val 7407"/>
            </a:avLst>
          </a:prstGeom>
          <a:solidFill>
            <a:srgbClr val="FFFFFF"/>
          </a:solidFill>
          <a:ln w="12700">
            <a:solidFill>
              <a:srgbClr val="E5E5EA"/>
            </a:solidFill>
            <a:prstDash val="solid"/>
          </a:ln>
          <a:effectLst>
            <a:outerShdw blurRad="15240" dist="12700" dir="2700000" algn="bl" rotWithShape="0">
              <a:srgbClr val="000000">
                <a:alpha val="10000"/>
              </a:srgbClr>
            </a:outerShdw>
          </a:effectLst>
        </p:spPr>
      </p:sp>
      <p:sp>
        <p:nvSpPr>
          <p:cNvPr id="14" name="Shape 12"/>
          <p:cNvSpPr/>
          <p:nvPr/>
        </p:nvSpPr>
        <p:spPr>
          <a:xfrm>
            <a:off x="822960" y="3520440"/>
            <a:ext cx="146304" cy="146304"/>
          </a:xfrm>
          <a:prstGeom prst="ellipse">
            <a:avLst/>
          </a:prstGeom>
          <a:solidFill>
            <a:srgbClr val="0071E3"/>
          </a:solidFill>
          <a:ln w="12700">
            <a:solidFill>
              <a:srgbClr val="0071E3"/>
            </a:solidFill>
            <a:prstDash val="solid"/>
          </a:ln>
        </p:spPr>
      </p:sp>
      <p:sp>
        <p:nvSpPr>
          <p:cNvPr id="15" name="Text 13"/>
          <p:cNvSpPr/>
          <p:nvPr/>
        </p:nvSpPr>
        <p:spPr>
          <a:xfrm>
            <a:off x="1069848" y="3456432"/>
            <a:ext cx="4617720" cy="310896"/>
          </a:xfrm>
          <a:prstGeom prst="rect">
            <a:avLst/>
          </a:prstGeom>
          <a:noFill/>
          <a:ln/>
        </p:spPr>
        <p:txBody>
          <a:bodyPr wrap="square" lIns="0" tIns="0" rIns="0" bIns="0" rtlCol="0" anchor="ctr"/>
          <a:lstStyle/>
          <a:p>
            <a:pPr marL="0" indent="0">
              <a:buNone/>
            </a:pPr>
            <a:r>
              <a:rPr lang="en-US" sz="1400" b="1" dirty="0">
                <a:solidFill>
                  <a:srgbClr val="1D1D1F"/>
                </a:solidFill>
              </a:rPr>
              <a:t>Does commit-after-process prevent duplicates?</a:t>
            </a:r>
            <a:endParaRPr lang="en-US" sz="1400" dirty="0"/>
          </a:p>
        </p:txBody>
      </p:sp>
      <p:sp>
        <p:nvSpPr>
          <p:cNvPr id="16" name="Text 14"/>
          <p:cNvSpPr/>
          <p:nvPr/>
        </p:nvSpPr>
        <p:spPr>
          <a:xfrm>
            <a:off x="822960" y="3913632"/>
            <a:ext cx="4846320" cy="457200"/>
          </a:xfrm>
          <a:prstGeom prst="rect">
            <a:avLst/>
          </a:prstGeom>
          <a:noFill/>
          <a:ln/>
        </p:spPr>
        <p:txBody>
          <a:bodyPr wrap="square" lIns="0" tIns="0" rIns="0" bIns="0" rtlCol="0" anchor="ctr">
            <a:normAutofit/>
          </a:bodyPr>
          <a:lstStyle/>
          <a:p>
            <a:pPr marL="0" indent="0">
              <a:buNone/>
            </a:pPr>
            <a:r>
              <a:rPr lang="en-US" sz="1150" dirty="0">
                <a:solidFill>
                  <a:srgbClr val="6E6E73"/>
                </a:solidFill>
              </a:rPr>
              <a:t>No. It chooses replay over loss; the sink must tolerate replay.</a:t>
            </a:r>
            <a:endParaRPr lang="en-US" sz="1150" dirty="0"/>
          </a:p>
        </p:txBody>
      </p:sp>
      <p:sp>
        <p:nvSpPr>
          <p:cNvPr id="17" name="Shape 15"/>
          <p:cNvSpPr/>
          <p:nvPr/>
        </p:nvSpPr>
        <p:spPr>
          <a:xfrm>
            <a:off x="6263640" y="3291840"/>
            <a:ext cx="5303520" cy="1234440"/>
          </a:xfrm>
          <a:prstGeom prst="roundRect">
            <a:avLst>
              <a:gd name="adj" fmla="val 7407"/>
            </a:avLst>
          </a:prstGeom>
          <a:solidFill>
            <a:srgbClr val="FFFFFF"/>
          </a:solidFill>
          <a:ln w="12700">
            <a:solidFill>
              <a:srgbClr val="E5E5EA"/>
            </a:solidFill>
            <a:prstDash val="solid"/>
          </a:ln>
          <a:effectLst>
            <a:outerShdw blurRad="15240" dist="12700" dir="2700000" algn="bl" rotWithShape="0">
              <a:srgbClr val="000000">
                <a:alpha val="10000"/>
              </a:srgbClr>
            </a:outerShdw>
          </a:effectLst>
        </p:spPr>
      </p:sp>
      <p:sp>
        <p:nvSpPr>
          <p:cNvPr id="18" name="Shape 16"/>
          <p:cNvSpPr/>
          <p:nvPr/>
        </p:nvSpPr>
        <p:spPr>
          <a:xfrm>
            <a:off x="6492240" y="3520440"/>
            <a:ext cx="146304" cy="146304"/>
          </a:xfrm>
          <a:prstGeom prst="ellipse">
            <a:avLst/>
          </a:prstGeom>
          <a:solidFill>
            <a:srgbClr val="BF5AF2"/>
          </a:solidFill>
          <a:ln w="12700">
            <a:solidFill>
              <a:srgbClr val="BF5AF2"/>
            </a:solidFill>
            <a:prstDash val="solid"/>
          </a:ln>
        </p:spPr>
      </p:sp>
      <p:sp>
        <p:nvSpPr>
          <p:cNvPr id="19" name="Text 17"/>
          <p:cNvSpPr/>
          <p:nvPr/>
        </p:nvSpPr>
        <p:spPr>
          <a:xfrm>
            <a:off x="6739128" y="3456432"/>
            <a:ext cx="4617720" cy="310896"/>
          </a:xfrm>
          <a:prstGeom prst="rect">
            <a:avLst/>
          </a:prstGeom>
          <a:noFill/>
          <a:ln/>
        </p:spPr>
        <p:txBody>
          <a:bodyPr wrap="square" lIns="0" tIns="0" rIns="0" bIns="0" rtlCol="0" anchor="ctr"/>
          <a:lstStyle/>
          <a:p>
            <a:pPr marL="0" indent="0">
              <a:buNone/>
            </a:pPr>
            <a:r>
              <a:rPr lang="en-US" sz="1400" b="1" dirty="0">
                <a:solidFill>
                  <a:srgbClr val="1D1D1F"/>
                </a:solidFill>
              </a:rPr>
              <a:t>Does acks=all mean every replica?</a:t>
            </a:r>
            <a:endParaRPr lang="en-US" sz="1400" dirty="0"/>
          </a:p>
        </p:txBody>
      </p:sp>
      <p:sp>
        <p:nvSpPr>
          <p:cNvPr id="20" name="Text 18"/>
          <p:cNvSpPr/>
          <p:nvPr/>
        </p:nvSpPr>
        <p:spPr>
          <a:xfrm>
            <a:off x="6492240" y="3913632"/>
            <a:ext cx="4846320" cy="457200"/>
          </a:xfrm>
          <a:prstGeom prst="rect">
            <a:avLst/>
          </a:prstGeom>
          <a:noFill/>
          <a:ln/>
        </p:spPr>
        <p:txBody>
          <a:bodyPr wrap="square" lIns="0" tIns="0" rIns="0" bIns="0" rtlCol="0" anchor="ctr">
            <a:normAutofit/>
          </a:bodyPr>
          <a:lstStyle/>
          <a:p>
            <a:pPr marL="0" indent="0">
              <a:buNone/>
            </a:pPr>
            <a:r>
              <a:rPr lang="en-US" sz="1150" dirty="0">
                <a:solidFill>
                  <a:srgbClr val="6E6E73"/>
                </a:solidFill>
              </a:rPr>
              <a:t>It follows ISR acknowledgement semantics and min ISR policy.</a:t>
            </a:r>
            <a:endParaRPr lang="en-US" sz="1150" dirty="0"/>
          </a:p>
        </p:txBody>
      </p:sp>
      <p:sp>
        <p:nvSpPr>
          <p:cNvPr id="21" name="Shape 19"/>
          <p:cNvSpPr/>
          <p:nvPr/>
        </p:nvSpPr>
        <p:spPr>
          <a:xfrm>
            <a:off x="594360" y="4709160"/>
            <a:ext cx="5303520" cy="1234440"/>
          </a:xfrm>
          <a:prstGeom prst="roundRect">
            <a:avLst>
              <a:gd name="adj" fmla="val 7407"/>
            </a:avLst>
          </a:prstGeom>
          <a:solidFill>
            <a:srgbClr val="FFFFFF"/>
          </a:solidFill>
          <a:ln w="12700">
            <a:solidFill>
              <a:srgbClr val="E5E5EA"/>
            </a:solidFill>
            <a:prstDash val="solid"/>
          </a:ln>
          <a:effectLst>
            <a:outerShdw blurRad="15240" dist="12700" dir="2700000" algn="bl" rotWithShape="0">
              <a:srgbClr val="000000">
                <a:alpha val="10000"/>
              </a:srgbClr>
            </a:outerShdw>
          </a:effectLst>
        </p:spPr>
      </p:sp>
      <p:sp>
        <p:nvSpPr>
          <p:cNvPr id="22" name="Shape 20"/>
          <p:cNvSpPr/>
          <p:nvPr/>
        </p:nvSpPr>
        <p:spPr>
          <a:xfrm>
            <a:off x="822960" y="4937760"/>
            <a:ext cx="146304" cy="146304"/>
          </a:xfrm>
          <a:prstGeom prst="ellipse">
            <a:avLst/>
          </a:prstGeom>
          <a:solidFill>
            <a:srgbClr val="0071E3"/>
          </a:solidFill>
          <a:ln w="12700">
            <a:solidFill>
              <a:srgbClr val="0071E3"/>
            </a:solidFill>
            <a:prstDash val="solid"/>
          </a:ln>
        </p:spPr>
      </p:sp>
      <p:sp>
        <p:nvSpPr>
          <p:cNvPr id="23" name="Text 21"/>
          <p:cNvSpPr/>
          <p:nvPr/>
        </p:nvSpPr>
        <p:spPr>
          <a:xfrm>
            <a:off x="1069848" y="4873752"/>
            <a:ext cx="4617720" cy="310896"/>
          </a:xfrm>
          <a:prstGeom prst="rect">
            <a:avLst/>
          </a:prstGeom>
          <a:noFill/>
          <a:ln/>
        </p:spPr>
        <p:txBody>
          <a:bodyPr wrap="square" lIns="0" tIns="0" rIns="0" bIns="0" rtlCol="0" anchor="ctr"/>
          <a:lstStyle/>
          <a:p>
            <a:pPr marL="0" indent="0">
              <a:buNone/>
            </a:pPr>
            <a:r>
              <a:rPr lang="en-US" sz="1400" b="1" dirty="0">
                <a:solidFill>
                  <a:srgbClr val="1D1D1F"/>
                </a:solidFill>
              </a:rPr>
              <a:t>Does idempotence give business exactly-once?</a:t>
            </a:r>
            <a:endParaRPr lang="en-US" sz="1400" dirty="0"/>
          </a:p>
        </p:txBody>
      </p:sp>
      <p:sp>
        <p:nvSpPr>
          <p:cNvPr id="24" name="Text 22"/>
          <p:cNvSpPr/>
          <p:nvPr/>
        </p:nvSpPr>
        <p:spPr>
          <a:xfrm>
            <a:off x="822960" y="5330952"/>
            <a:ext cx="4846320" cy="457200"/>
          </a:xfrm>
          <a:prstGeom prst="rect">
            <a:avLst/>
          </a:prstGeom>
          <a:noFill/>
          <a:ln/>
        </p:spPr>
        <p:txBody>
          <a:bodyPr wrap="square" lIns="0" tIns="0" rIns="0" bIns="0" rtlCol="0" anchor="ctr">
            <a:normAutofit/>
          </a:bodyPr>
          <a:lstStyle/>
          <a:p>
            <a:pPr marL="0" indent="0">
              <a:buNone/>
            </a:pPr>
            <a:r>
              <a:rPr lang="en-US" sz="1150" dirty="0">
                <a:solidFill>
                  <a:srgbClr val="6E6E73"/>
                </a:solidFill>
              </a:rPr>
              <a:t>No. It prevents retry duplicate appends in the producer protocol.</a:t>
            </a:r>
            <a:endParaRPr lang="en-US" sz="1150" dirty="0"/>
          </a:p>
        </p:txBody>
      </p:sp>
      <p:sp>
        <p:nvSpPr>
          <p:cNvPr id="25" name="Shape 23"/>
          <p:cNvSpPr/>
          <p:nvPr/>
        </p:nvSpPr>
        <p:spPr>
          <a:xfrm>
            <a:off x="6263640" y="4709160"/>
            <a:ext cx="5303520" cy="1234440"/>
          </a:xfrm>
          <a:prstGeom prst="roundRect">
            <a:avLst>
              <a:gd name="adj" fmla="val 7407"/>
            </a:avLst>
          </a:prstGeom>
          <a:solidFill>
            <a:srgbClr val="FFFFFF"/>
          </a:solidFill>
          <a:ln w="12700">
            <a:solidFill>
              <a:srgbClr val="E5E5EA"/>
            </a:solidFill>
            <a:prstDash val="solid"/>
          </a:ln>
          <a:effectLst>
            <a:outerShdw blurRad="15240" dist="12700" dir="2700000" algn="bl" rotWithShape="0">
              <a:srgbClr val="000000">
                <a:alpha val="10000"/>
              </a:srgbClr>
            </a:outerShdw>
          </a:effectLst>
        </p:spPr>
      </p:sp>
      <p:sp>
        <p:nvSpPr>
          <p:cNvPr id="26" name="Shape 24"/>
          <p:cNvSpPr/>
          <p:nvPr/>
        </p:nvSpPr>
        <p:spPr>
          <a:xfrm>
            <a:off x="6492240" y="4937760"/>
            <a:ext cx="146304" cy="146304"/>
          </a:xfrm>
          <a:prstGeom prst="ellipse">
            <a:avLst/>
          </a:prstGeom>
          <a:solidFill>
            <a:srgbClr val="BF5AF2"/>
          </a:solidFill>
          <a:ln w="12700">
            <a:solidFill>
              <a:srgbClr val="BF5AF2"/>
            </a:solidFill>
            <a:prstDash val="solid"/>
          </a:ln>
        </p:spPr>
      </p:sp>
      <p:sp>
        <p:nvSpPr>
          <p:cNvPr id="27" name="Text 25"/>
          <p:cNvSpPr/>
          <p:nvPr/>
        </p:nvSpPr>
        <p:spPr>
          <a:xfrm>
            <a:off x="6739128" y="4873752"/>
            <a:ext cx="4617720" cy="310896"/>
          </a:xfrm>
          <a:prstGeom prst="rect">
            <a:avLst/>
          </a:prstGeom>
          <a:noFill/>
          <a:ln/>
        </p:spPr>
        <p:txBody>
          <a:bodyPr wrap="square" lIns="0" tIns="0" rIns="0" bIns="0" rtlCol="0" anchor="ctr"/>
          <a:lstStyle/>
          <a:p>
            <a:pPr marL="0" indent="0">
              <a:buNone/>
            </a:pPr>
            <a:r>
              <a:rPr lang="en-US" sz="1400" b="1" dirty="0">
                <a:solidFill>
                  <a:srgbClr val="1D1D1F"/>
                </a:solidFill>
              </a:rPr>
              <a:t>Can two producers establish causality?</a:t>
            </a:r>
            <a:endParaRPr lang="en-US" sz="1400" dirty="0"/>
          </a:p>
        </p:txBody>
      </p:sp>
      <p:sp>
        <p:nvSpPr>
          <p:cNvPr id="28" name="Text 26"/>
          <p:cNvSpPr/>
          <p:nvPr/>
        </p:nvSpPr>
        <p:spPr>
          <a:xfrm>
            <a:off x="6492240" y="5330952"/>
            <a:ext cx="4846320" cy="457200"/>
          </a:xfrm>
          <a:prstGeom prst="rect">
            <a:avLst/>
          </a:prstGeom>
          <a:noFill/>
          <a:ln/>
        </p:spPr>
        <p:txBody>
          <a:bodyPr wrap="square" lIns="0" tIns="0" rIns="0" bIns="0" rtlCol="0" anchor="ctr">
            <a:normAutofit/>
          </a:bodyPr>
          <a:lstStyle/>
          <a:p>
            <a:pPr marL="0" indent="0">
              <a:buNone/>
            </a:pPr>
            <a:r>
              <a:rPr lang="en-US" sz="1150" dirty="0">
                <a:solidFill>
                  <a:srgbClr val="6E6E73"/>
                </a:solidFill>
              </a:rPr>
              <a:t>Not by key alone. Use sequence/version or a single writer.</a:t>
            </a:r>
            <a:endParaRPr lang="en-US" sz="1150" dirty="0"/>
          </a:p>
        </p:txBody>
      </p:sp>
      <p:sp>
        <p:nvSpPr>
          <p:cNvPr id="29" name="Slide Number Placeholder 0"/>
          <p:cNvSpPr>
            <a:spLocks noGrp="1"/>
          </p:cNvSpPr>
          <p:nvPr>
            <p:ph type="sldNum" sz="quarter" idx="4294967295"/>
          </p:nvPr>
        </p:nvSpPr>
        <p:spPr>
          <a:xfrm>
            <a:off x="11686032" y="6510528"/>
            <a:ext cx="228600"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86868B"/>
                </a:solidFill>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1" cy="1"/>
          <a:chOff x="0" y="0"/>
          <a:chExt cx="1" cy="1"/>
        </a:xfrm>
      </p:grpSpPr>
      <p:sp>
        <p:nvSpPr>
          <p:cNvPr id="2" name="Text 0"/>
          <p:cNvSpPr/>
          <p:nvPr/>
        </p:nvSpPr>
        <p:spPr>
          <a:xfrm>
            <a:off x="594360" y="502920"/>
            <a:ext cx="4389120" cy="228600"/>
          </a:xfrm>
          <a:prstGeom prst="rect">
            <a:avLst/>
          </a:prstGeom>
          <a:noFill/>
          <a:ln/>
        </p:spPr>
        <p:txBody>
          <a:bodyPr wrap="square" lIns="0" tIns="0" rIns="0" bIns="0" rtlCol="0" anchor="ctr"/>
          <a:lstStyle/>
          <a:p>
            <a:pPr marL="0" indent="0">
              <a:buNone/>
            </a:pPr>
            <a:r>
              <a:rPr lang="en-US" sz="1000" b="1" kern="0" spc="150" dirty="0">
                <a:solidFill>
                  <a:srgbClr val="0071E3"/>
                </a:solidFill>
              </a:rPr>
              <a:t>FINAL MEMORY MAP</a:t>
            </a:r>
            <a:endParaRPr lang="en-US" sz="1000" dirty="0"/>
          </a:p>
        </p:txBody>
      </p:sp>
      <p:sp>
        <p:nvSpPr>
          <p:cNvPr id="3" name="Text 1"/>
          <p:cNvSpPr/>
          <p:nvPr/>
        </p:nvSpPr>
        <p:spPr>
          <a:xfrm>
            <a:off x="594360" y="822960"/>
            <a:ext cx="10972800" cy="594360"/>
          </a:xfrm>
          <a:prstGeom prst="rect">
            <a:avLst/>
          </a:prstGeom>
          <a:noFill/>
          <a:ln/>
        </p:spPr>
        <p:txBody>
          <a:bodyPr wrap="square" lIns="0" tIns="0" rIns="0" bIns="0" rtlCol="0" anchor="ctr"/>
          <a:lstStyle/>
          <a:p>
            <a:pPr marL="0" indent="0">
              <a:buNone/>
            </a:pPr>
            <a:r>
              <a:rPr lang="en-US" sz="2800" b="1" dirty="0">
                <a:solidFill>
                  <a:srgbClr val="1D1D1F"/>
                </a:solidFill>
              </a:rPr>
              <a:t>Four sentences to remember</a:t>
            </a:r>
            <a:endParaRPr lang="en-US" sz="2800" dirty="0"/>
          </a:p>
        </p:txBody>
      </p:sp>
      <p:sp>
        <p:nvSpPr>
          <p:cNvPr id="4" name="Text 2"/>
          <p:cNvSpPr/>
          <p:nvPr/>
        </p:nvSpPr>
        <p:spPr>
          <a:xfrm>
            <a:off x="612648" y="1444752"/>
            <a:ext cx="10789920" cy="256032"/>
          </a:xfrm>
          <a:prstGeom prst="rect">
            <a:avLst/>
          </a:prstGeom>
          <a:noFill/>
          <a:ln/>
        </p:spPr>
        <p:txBody>
          <a:bodyPr wrap="square" lIns="0" tIns="0" rIns="0" bIns="0" rtlCol="0" anchor="ctr"/>
          <a:lstStyle/>
          <a:p>
            <a:pPr marL="0" indent="0">
              <a:buNone/>
            </a:pPr>
            <a:r>
              <a:rPr lang="en-US" sz="1400" dirty="0">
                <a:solidFill>
                  <a:srgbClr val="6E6E73"/>
                </a:solidFill>
              </a:rPr>
              <a:t>If these are precise, the rest of the design becomes easier.</a:t>
            </a:r>
            <a:endParaRPr lang="en-US" sz="1400" dirty="0"/>
          </a:p>
        </p:txBody>
      </p:sp>
      <p:sp>
        <p:nvSpPr>
          <p:cNvPr id="5" name="Shape 3"/>
          <p:cNvSpPr/>
          <p:nvPr/>
        </p:nvSpPr>
        <p:spPr>
          <a:xfrm>
            <a:off x="731520" y="1993392"/>
            <a:ext cx="1508760" cy="347472"/>
          </a:xfrm>
          <a:prstGeom prst="roundRect">
            <a:avLst>
              <a:gd name="adj" fmla="val 47368"/>
            </a:avLst>
          </a:prstGeom>
          <a:solidFill>
            <a:srgbClr val="0071E3"/>
          </a:solidFill>
          <a:ln w="12700">
            <a:solidFill>
              <a:srgbClr val="0071E3"/>
            </a:solidFill>
            <a:prstDash val="solid"/>
          </a:ln>
        </p:spPr>
      </p:sp>
      <p:sp>
        <p:nvSpPr>
          <p:cNvPr id="6" name="Text 4"/>
          <p:cNvSpPr/>
          <p:nvPr/>
        </p:nvSpPr>
        <p:spPr>
          <a:xfrm>
            <a:off x="731520" y="2048256"/>
            <a:ext cx="1508760" cy="182880"/>
          </a:xfrm>
          <a:prstGeom prst="rect">
            <a:avLst/>
          </a:prstGeom>
          <a:noFill/>
          <a:ln/>
        </p:spPr>
        <p:txBody>
          <a:bodyPr wrap="square" lIns="0" tIns="0" rIns="0" bIns="0" rtlCol="0" anchor="ctr"/>
          <a:lstStyle/>
          <a:p>
            <a:pPr marL="0" indent="0" algn="ctr">
              <a:buNone/>
            </a:pPr>
            <a:r>
              <a:rPr lang="en-US" sz="1000" b="1" dirty="0">
                <a:solidFill>
                  <a:srgbClr val="FFFFFF"/>
                </a:solidFill>
              </a:rPr>
              <a:t>ORDER</a:t>
            </a:r>
            <a:endParaRPr lang="en-US" sz="1000" dirty="0"/>
          </a:p>
        </p:txBody>
      </p:sp>
      <p:sp>
        <p:nvSpPr>
          <p:cNvPr id="7" name="Text 5"/>
          <p:cNvSpPr/>
          <p:nvPr/>
        </p:nvSpPr>
        <p:spPr>
          <a:xfrm>
            <a:off x="2514600" y="2011680"/>
            <a:ext cx="8686800" cy="347472"/>
          </a:xfrm>
          <a:prstGeom prst="rect">
            <a:avLst/>
          </a:prstGeom>
          <a:noFill/>
          <a:ln/>
        </p:spPr>
        <p:txBody>
          <a:bodyPr wrap="square" lIns="0" tIns="0" rIns="0" bIns="0" rtlCol="0" anchor="ctr"/>
          <a:lstStyle/>
          <a:p>
            <a:pPr marL="0" indent="0">
              <a:buNone/>
            </a:pPr>
            <a:r>
              <a:rPr lang="en-US" sz="2100" b="1" dirty="0">
                <a:solidFill>
                  <a:srgbClr val="1D1D1F"/>
                </a:solidFill>
              </a:rPr>
              <a:t>Inside one partition, in offset order.</a:t>
            </a:r>
            <a:endParaRPr lang="en-US" sz="2100" dirty="0"/>
          </a:p>
        </p:txBody>
      </p:sp>
      <p:sp>
        <p:nvSpPr>
          <p:cNvPr id="8" name="Shape 6"/>
          <p:cNvSpPr/>
          <p:nvPr/>
        </p:nvSpPr>
        <p:spPr>
          <a:xfrm>
            <a:off x="731520" y="2953512"/>
            <a:ext cx="1508760" cy="347472"/>
          </a:xfrm>
          <a:prstGeom prst="roundRect">
            <a:avLst>
              <a:gd name="adj" fmla="val 47368"/>
            </a:avLst>
          </a:prstGeom>
          <a:solidFill>
            <a:srgbClr val="30D158"/>
          </a:solidFill>
          <a:ln w="12700">
            <a:solidFill>
              <a:srgbClr val="30D158"/>
            </a:solidFill>
            <a:prstDash val="solid"/>
          </a:ln>
        </p:spPr>
      </p:sp>
      <p:sp>
        <p:nvSpPr>
          <p:cNvPr id="9" name="Text 7"/>
          <p:cNvSpPr/>
          <p:nvPr/>
        </p:nvSpPr>
        <p:spPr>
          <a:xfrm>
            <a:off x="731520" y="3008376"/>
            <a:ext cx="1508760" cy="182880"/>
          </a:xfrm>
          <a:prstGeom prst="rect">
            <a:avLst/>
          </a:prstGeom>
          <a:noFill/>
          <a:ln/>
        </p:spPr>
        <p:txBody>
          <a:bodyPr wrap="square" lIns="0" tIns="0" rIns="0" bIns="0" rtlCol="0" anchor="ctr"/>
          <a:lstStyle/>
          <a:p>
            <a:pPr marL="0" indent="0" algn="ctr">
              <a:buNone/>
            </a:pPr>
            <a:r>
              <a:rPr lang="en-US" sz="1000" b="1" dirty="0">
                <a:solidFill>
                  <a:srgbClr val="FFFFFF"/>
                </a:solidFill>
              </a:rPr>
              <a:t>DURABILITY</a:t>
            </a:r>
            <a:endParaRPr lang="en-US" sz="1000" dirty="0"/>
          </a:p>
        </p:txBody>
      </p:sp>
      <p:sp>
        <p:nvSpPr>
          <p:cNvPr id="10" name="Text 8"/>
          <p:cNvSpPr/>
          <p:nvPr/>
        </p:nvSpPr>
        <p:spPr>
          <a:xfrm>
            <a:off x="2514600" y="2971800"/>
            <a:ext cx="8686800" cy="347472"/>
          </a:xfrm>
          <a:prstGeom prst="rect">
            <a:avLst/>
          </a:prstGeom>
          <a:noFill/>
          <a:ln/>
        </p:spPr>
        <p:txBody>
          <a:bodyPr wrap="square" lIns="0" tIns="0" rIns="0" bIns="0" rtlCol="0" anchor="ctr"/>
          <a:lstStyle/>
          <a:p>
            <a:pPr marL="0" indent="0">
              <a:buNone/>
            </a:pPr>
            <a:r>
              <a:rPr lang="en-US" sz="2100" b="1" dirty="0">
                <a:solidFill>
                  <a:srgbClr val="1D1D1F"/>
                </a:solidFill>
              </a:rPr>
              <a:t>acks=all + min ISR controls when a write may be acknowledged.</a:t>
            </a:r>
            <a:endParaRPr lang="en-US" sz="2100" dirty="0"/>
          </a:p>
        </p:txBody>
      </p:sp>
      <p:sp>
        <p:nvSpPr>
          <p:cNvPr id="11" name="Shape 9"/>
          <p:cNvSpPr/>
          <p:nvPr/>
        </p:nvSpPr>
        <p:spPr>
          <a:xfrm>
            <a:off x="731520" y="3913632"/>
            <a:ext cx="1508760" cy="347472"/>
          </a:xfrm>
          <a:prstGeom prst="roundRect">
            <a:avLst>
              <a:gd name="adj" fmla="val 47368"/>
            </a:avLst>
          </a:prstGeom>
          <a:solidFill>
            <a:srgbClr val="FF9F0A"/>
          </a:solidFill>
          <a:ln w="12700">
            <a:solidFill>
              <a:srgbClr val="FF9F0A"/>
            </a:solidFill>
            <a:prstDash val="solid"/>
          </a:ln>
        </p:spPr>
      </p:sp>
      <p:sp>
        <p:nvSpPr>
          <p:cNvPr id="12" name="Text 10"/>
          <p:cNvSpPr/>
          <p:nvPr/>
        </p:nvSpPr>
        <p:spPr>
          <a:xfrm>
            <a:off x="731520" y="3968496"/>
            <a:ext cx="1508760" cy="182880"/>
          </a:xfrm>
          <a:prstGeom prst="rect">
            <a:avLst/>
          </a:prstGeom>
          <a:noFill/>
          <a:ln/>
        </p:spPr>
        <p:txBody>
          <a:bodyPr wrap="square" lIns="0" tIns="0" rIns="0" bIns="0" rtlCol="0" anchor="ctr"/>
          <a:lstStyle/>
          <a:p>
            <a:pPr marL="0" indent="0" algn="ctr">
              <a:buNone/>
            </a:pPr>
            <a:r>
              <a:rPr lang="en-US" sz="1000" b="1" dirty="0">
                <a:solidFill>
                  <a:srgbClr val="FFFFFF"/>
                </a:solidFill>
              </a:rPr>
              <a:t>REPLAY</a:t>
            </a:r>
            <a:endParaRPr lang="en-US" sz="1000" dirty="0"/>
          </a:p>
        </p:txBody>
      </p:sp>
      <p:sp>
        <p:nvSpPr>
          <p:cNvPr id="13" name="Text 11"/>
          <p:cNvSpPr/>
          <p:nvPr/>
        </p:nvSpPr>
        <p:spPr>
          <a:xfrm>
            <a:off x="2514600" y="3931920"/>
            <a:ext cx="8686800" cy="347472"/>
          </a:xfrm>
          <a:prstGeom prst="rect">
            <a:avLst/>
          </a:prstGeom>
          <a:noFill/>
          <a:ln/>
        </p:spPr>
        <p:txBody>
          <a:bodyPr wrap="square" lIns="0" tIns="0" rIns="0" bIns="0" rtlCol="0" anchor="ctr"/>
          <a:lstStyle/>
          <a:p>
            <a:pPr marL="0" indent="0">
              <a:buNone/>
            </a:pPr>
            <a:r>
              <a:rPr lang="en-US" sz="2100" b="1" dirty="0">
                <a:solidFill>
                  <a:srgbClr val="1D1D1F"/>
                </a:solidFill>
              </a:rPr>
              <a:t>Commit after a durable effect; expect redelivery after ambiguous failure.</a:t>
            </a:r>
            <a:endParaRPr lang="en-US" sz="2100" dirty="0"/>
          </a:p>
        </p:txBody>
      </p:sp>
      <p:sp>
        <p:nvSpPr>
          <p:cNvPr id="14" name="Shape 12"/>
          <p:cNvSpPr/>
          <p:nvPr/>
        </p:nvSpPr>
        <p:spPr>
          <a:xfrm>
            <a:off x="731520" y="4873752"/>
            <a:ext cx="1508760" cy="347472"/>
          </a:xfrm>
          <a:prstGeom prst="roundRect">
            <a:avLst>
              <a:gd name="adj" fmla="val 47368"/>
            </a:avLst>
          </a:prstGeom>
          <a:solidFill>
            <a:srgbClr val="BF5AF2"/>
          </a:solidFill>
          <a:ln w="12700">
            <a:solidFill>
              <a:srgbClr val="BF5AF2"/>
            </a:solidFill>
            <a:prstDash val="solid"/>
          </a:ln>
        </p:spPr>
      </p:sp>
      <p:sp>
        <p:nvSpPr>
          <p:cNvPr id="15" name="Text 13"/>
          <p:cNvSpPr/>
          <p:nvPr/>
        </p:nvSpPr>
        <p:spPr>
          <a:xfrm>
            <a:off x="731520" y="4928616"/>
            <a:ext cx="1508760" cy="182880"/>
          </a:xfrm>
          <a:prstGeom prst="rect">
            <a:avLst/>
          </a:prstGeom>
          <a:noFill/>
          <a:ln/>
        </p:spPr>
        <p:txBody>
          <a:bodyPr wrap="square" lIns="0" tIns="0" rIns="0" bIns="0" rtlCol="0" anchor="ctr"/>
          <a:lstStyle/>
          <a:p>
            <a:pPr marL="0" indent="0" algn="ctr">
              <a:buNone/>
            </a:pPr>
            <a:r>
              <a:rPr lang="en-US" sz="1000" b="1" dirty="0">
                <a:solidFill>
                  <a:srgbClr val="FFFFFF"/>
                </a:solidFill>
              </a:rPr>
              <a:t>CORRECTNESS</a:t>
            </a:r>
            <a:endParaRPr lang="en-US" sz="1000" dirty="0"/>
          </a:p>
        </p:txBody>
      </p:sp>
      <p:sp>
        <p:nvSpPr>
          <p:cNvPr id="16" name="Text 14"/>
          <p:cNvSpPr/>
          <p:nvPr/>
        </p:nvSpPr>
        <p:spPr>
          <a:xfrm>
            <a:off x="2514600" y="4892040"/>
            <a:ext cx="8686800" cy="347472"/>
          </a:xfrm>
          <a:prstGeom prst="rect">
            <a:avLst/>
          </a:prstGeom>
          <a:noFill/>
          <a:ln/>
        </p:spPr>
        <p:txBody>
          <a:bodyPr wrap="square" lIns="0" tIns="0" rIns="0" bIns="0" rtlCol="0" anchor="ctr"/>
          <a:lstStyle/>
          <a:p>
            <a:pPr marL="0" indent="0">
              <a:buNone/>
            </a:pPr>
            <a:r>
              <a:rPr lang="en-US" sz="2100" b="1" dirty="0">
                <a:solidFill>
                  <a:srgbClr val="1D1D1F"/>
                </a:solidFill>
              </a:rPr>
              <a:t>Idempotent or transactional sinks convert replay into safe recovery.</a:t>
            </a:r>
            <a:endParaRPr lang="en-US" sz="2100" dirty="0"/>
          </a:p>
        </p:txBody>
      </p:sp>
      <p:sp>
        <p:nvSpPr>
          <p:cNvPr id="17" name="Shape 15"/>
          <p:cNvSpPr/>
          <p:nvPr/>
        </p:nvSpPr>
        <p:spPr>
          <a:xfrm>
            <a:off x="1325880" y="5870448"/>
            <a:ext cx="9555480" cy="384048"/>
          </a:xfrm>
          <a:prstGeom prst="roundRect">
            <a:avLst>
              <a:gd name="adj" fmla="val 35714"/>
            </a:avLst>
          </a:prstGeom>
          <a:solidFill>
            <a:srgbClr val="1D1D1F"/>
          </a:solidFill>
          <a:ln w="12700">
            <a:solidFill>
              <a:srgbClr val="1D1D1F"/>
            </a:solidFill>
            <a:prstDash val="solid"/>
          </a:ln>
        </p:spPr>
      </p:sp>
      <p:sp>
        <p:nvSpPr>
          <p:cNvPr id="18" name="Text 16"/>
          <p:cNvSpPr/>
          <p:nvPr/>
        </p:nvSpPr>
        <p:spPr>
          <a:xfrm>
            <a:off x="1508760" y="5961888"/>
            <a:ext cx="9189720" cy="182880"/>
          </a:xfrm>
          <a:prstGeom prst="rect">
            <a:avLst/>
          </a:prstGeom>
          <a:noFill/>
          <a:ln/>
        </p:spPr>
        <p:txBody>
          <a:bodyPr wrap="square" lIns="0" tIns="0" rIns="0" bIns="0" rtlCol="0" anchor="ctr"/>
          <a:lstStyle/>
          <a:p>
            <a:pPr marL="0" indent="0" algn="ctr">
              <a:buNone/>
            </a:pPr>
            <a:r>
              <a:rPr lang="en-US" sz="1300" b="1" dirty="0">
                <a:solidFill>
                  <a:srgbClr val="FFFFFF"/>
                </a:solidFill>
              </a:rPr>
              <a:t>Reliability = protocol guarantees + application discipline + operational safety</a:t>
            </a:r>
            <a:endParaRPr lang="en-US" sz="1300" dirty="0"/>
          </a:p>
        </p:txBody>
      </p:sp>
      <p:sp>
        <p:nvSpPr>
          <p:cNvPr id="25" name="Slide Number Placeholder 0"/>
          <p:cNvSpPr>
            <a:spLocks noGrp="1"/>
          </p:cNvSpPr>
          <p:nvPr>
            <p:ph type="sldNum" sz="quarter" idx="4294967295"/>
          </p:nvPr>
        </p:nvSpPr>
        <p:spPr>
          <a:xfrm>
            <a:off x="11686032" y="6510528"/>
            <a:ext cx="228600"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86868B"/>
                </a:solidFill>
              </a:defRPr>
            </a:lvl1pPr>
          </a:lstStyle>
          <a:p>
            <a:pPr algn="l"/>
            <a:fld id="{F7021451-1387-4CA6-816F-3879F97B5CBC}" type="slidenum">
              <a:rPr lang="en-US" b="0"/>
              <a:t>18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42a24df2-9dbc-4c60-8048-492eefd19d89}" enabled="1" method="Privileged" siteId="{d9124c3a-c50c-4124-bca5-b6f850cec9fa}" contentBits="0" removed="0"/>
</clbl:labelList>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18</Slides>
  <Notes>18</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CP Axtra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Kafka Reliability Masterclass</dc:title>
  <dc:subject>Kafka ordering, durability, and no-loss design</dc:subject>
  <dc:creator>Prem Vishnoi</dc:creator>
  <cp:lastModifiedBy>Prem Vishnoi</cp:lastModifiedBy>
  <cp:revision>2</cp:revision>
  <dcterms:created xsi:type="dcterms:W3CDTF">2026-10-04T07:40:19Z</dcterms:created>
  <dcterms:modified xsi:type="dcterms:W3CDTF">2026-10-04T08:18:12Z</dcterms:modified>
</cp:coreProperties>
</file>