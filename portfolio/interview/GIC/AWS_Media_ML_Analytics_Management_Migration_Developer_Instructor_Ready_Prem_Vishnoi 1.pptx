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Overview of services: https://docs.aws.amazon.com/whitepapers/latest/aws-overview/introduction.html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Teaching structure synthesized from user-provided topics and AWS service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media services overview: https://aws.amazon.com/media-services/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media services overview: https://aws.amazon.com/media-services/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media services overview: https://aws.amazon.com/media-services/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notice, November 12, 2024: https://aws.amazon.com/blogs/media/support-for-amazon-elastic-transcoder-ending-soon/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analytics overview: https://docs.aws.amazon.com/whitepapers/latest/aws-overview/analytics.html
- AWS machine learning overview: https://docs.aws.amazon.com/whitepapers/latest/aws-overview/machine-learning.html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machine learning overview: https://docs.aws.amazon.com/whitepapers/latest/aws-overview/machine-learning.html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analytics overview: https://docs.aws.amazon.com/whitepapers/latest/aws-overview/analytics.html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analytics overview: https://docs.aws.amazon.com/whitepapers/latest/aws-overview/analytics.html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management and governance overview: https://docs.aws.amazon.com/whitepapers/latest/aws-overview/management-and-governance.html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management and governance overview: https://docs.aws.amazon.com/whitepapers/latest/aws-overview/management-and-governance.html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management and governance overview: https://docs.aws.amazon.com/whitepapers/latest/aws-overview/management-and-governance.html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migration and transfer overview: https://docs.aws.amazon.com/whitepapers/latest/aws-overview/migration-services.html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migration and transfer overview: https://docs.aws.amazon.com/whitepapers/latest/aws-overview/migration-services.html
- AWS migration decision guide, updated October 16, 2025: https://docs.aws.amazon.com/decision-guides/latest/decision-guides/migration-on-aws-how-to-choose.html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business applications overview: https://docs.aws.amazon.com/whitepapers/latest/aws-overview/business-applications.html
- AWS end user computing overview: https://docs.aws.amazon.com/whitepapers/latest/aws-overview/end-user-computing.html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business applications overview: https://docs.aws.amazon.com/whitepapers/latest/aws-overview/business-applications.html
- AWS end user computing overview: https://docs.aws.amazon.com/whitepapers/latest/aws-overview/end-user-computing.html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IoT overview: https://docs.aws.amazon.com/whitepapers/latest/aws-overview/internet-of-things-services.html
- AWS mobile services overview: https://docs.aws.amazon.com/whitepapers/latest/aws-overview/mobile-services.html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IoT overview: https://docs.aws.amazon.com/whitepapers/latest/aws-overview/internet-of-things-services.html
- AWS mobile services overview: https://docs.aws.amazon.com/whitepapers/latest/aws-overview/mobile-services.html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developer tools overview: https://docs.aws.amazon.com/whitepapers/latest/aws-overview/developer-tools.html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developer tools overview: https://docs.aws.amazon.com/whitepapers/latest/aws-overview/developer-tools.html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AWS Elastic Transcoder notice: https://aws.amazon.com/blogs/media/support-for-amazon-elastic-transcoder-ending-soon/
- AWS Data Pipeline migration guidance: https://docs.aws.amazon.com/datapipeline/latest/DeveloperGuide/migration.html
- AWS service access update: https://aws.amazon.com/blogs/aws/this-week-in-aws-july-29-2024/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exercise synthesized from cited AWS service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Knowledge-check questions created from cited AWS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created from cited AWS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893A8"/>
                </a:solidFill>
              </a:rPr>
              <a:t>PREM VISHNOI | AWS SERVICES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01c3ae04f.jpe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>
              <a:alpha val="66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71426">
              <a:alpha val="96000"/>
            </a:srgbClr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058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6F9FC"/>
                </a:solidFill>
              </a:rPr>
              <a:t>AWS SERVICES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6F9FC"/>
                </a:solidFill>
              </a:rPr>
              <a:t>LEARNING MAP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58368" y="278892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9900"/>
                </a:solidFill>
              </a:rPr>
              <a:t>Media • AI/ML &amp; Analytics • Management • Migration • Engagement • IoT • Developer Tools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8368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6F9FC"/>
                </a:solidFill>
              </a:rPr>
              <a:t>Instructor-ready teaching deck | Prem Vishnoi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01 | LEARNING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Remember outcomes, not long service lists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Process media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Encode, package, protect, personalize, and deliver video.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Turn data into intelligence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Prepare data, query it, train models, and create insights.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Operate the cloud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Observe, audit, configure, automate, and govern.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Move to AWS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Discover, assess, migrate, validate, and modernize.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Engage users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Contact centers, email, virtual desktops, and application streaming.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Build connected products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IoT, mobile backends, testing, and continuous delivery.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02 | MEDIA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Modern video pipeline</a:t>
            </a:r>
            <a:endParaRPr lang="en-US" sz="2700" dirty="0"/>
          </a:p>
        </p:txBody>
      </p:sp>
      <p:pic>
        <p:nvPicPr>
          <p:cNvPr id="4" name="Image 0" descr="/mnt/data/c3f88a921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84020"/>
            <a:ext cx="6537960" cy="435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600200"/>
            <a:ext cx="411480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70648" y="1764792"/>
            <a:ext cx="50292" cy="76809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44384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Live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644384" y="2167128"/>
            <a:ext cx="3639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MediaLive encodes live inputs. MediaPackage prepares and protects streams for delivery.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7315200" y="2907792"/>
            <a:ext cx="411480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70648" y="3072384"/>
            <a:ext cx="50292" cy="76809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44384" y="3090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On demand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44384" y="3474720"/>
            <a:ext cx="3639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MediaConvert transcodes stored media files into delivery formats.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315200" y="4215384"/>
            <a:ext cx="4114800" cy="109728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70648" y="4379976"/>
            <a:ext cx="50292" cy="76809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44384" y="4398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Personalize and analyze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644384" y="4782312"/>
            <a:ext cx="36393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MediaTailor supports personalized ad insertion. Kinesis Video Streams ingests device video for processing and analytics.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03 | MEDIA SELECTION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Choose by media stage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Kinesis Video Streams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Secure ingestion from connected devices for playback, analytics, and ML.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Elemental MediaLive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Broadcast-grade live video encoding.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Elemental MediaPackage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Origin, package, and protect live or on-demand video.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Elemental MediaConvert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File-based video transcoding for VOD and multiscreen delivery.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Elemental MediaTailor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Personalized advertising and channel assembly.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CloudFront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Content delivery layer commonly used to reach viewers globally.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04 | MEDIA MEMORY AID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L-F-P-A: Live, File, Package, Ads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LIVE encoding → AWS Elemental MediaLive.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225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2257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FILE transcoding → AWS Elemental MediaConvert.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907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PACKAGE and protect → AWS Elemental MediaPackage.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930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ADS and personalization → AWS Elemental MediaTailor.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078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782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Device VIDEO ingestion and analytics → Kinesis Video Streams.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5257800"/>
            <a:ext cx="10332720" cy="68580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5477256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426"/>
                </a:solidFill>
              </a:rPr>
              <a:t>Do not teach “MediaTranscoder” as a separate AWS service. Transcoding is performed by services such as MediaConvert.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05 | MEDIA UPDATE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Legacy transcoding material must be modernized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3520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01952"/>
            <a:ext cx="50292" cy="319125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4984" y="19202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Elastic Transcoder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14984" y="2304288"/>
            <a:ext cx="478231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Historical file-transcoding service. AWS announced discontinuation effective November 13, 2025.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36208" y="1737360"/>
            <a:ext cx="5257800" cy="352044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1656" y="1901952"/>
            <a:ext cx="50292" cy="319125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9202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Elemental MediaConvert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65392" y="2304288"/>
            <a:ext cx="478231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Current file-based transcoding service with modern codecs, broadcast-grade features, and scalable VOD workflows.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</a:rPr>
              <a:t>Teaching update: demonstrate MediaConvert, not Elastic Transcoder.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06 | AI AND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From raw data to decisions</a:t>
            </a:r>
            <a:endParaRPr lang="en-US" sz="2700" dirty="0"/>
          </a:p>
        </p:txBody>
      </p:sp>
      <p:pic>
        <p:nvPicPr>
          <p:cNvPr id="4" name="Image 0" descr="/mnt/data/7dd1c18f2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9260"/>
            <a:ext cx="6492240" cy="4328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572768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79208" y="1737360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52944" y="17556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Data foundation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52944" y="2139696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S3 stores data; Glue discovers, prepares, moves, and integrates it.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7223760" y="2944368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79208" y="3108960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52944" y="31272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Analytics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52944" y="3511296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Athena queries S3 with SQL; EMR runs big-data frameworks; QuickSight delivers BI.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223760" y="4315968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79208" y="4480560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52944" y="44988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Machine learning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552944" y="4882896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SageMaker supports model development and deployment; AI services provide language, vision, and speech capabilities.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07 | AI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Prebuilt AI vs. custom machine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SageMaker AI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Build, train, tune, and deploy machine-learning models.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Polly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Convert text into speech.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Translate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Neural machine translation.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Comprehend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Natural-language processing for insights from text.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Rekognition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Analyze images and videos for supported visual features.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Transcribe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Convert speech to text.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40080" y="560527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576986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" y="57881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Lex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69264" y="617220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Build conversational interfaces using speech recognition and language understanding.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263640" y="560527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576986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57881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Frameworks such as TensorFlow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592824" y="617220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Frameworks can run on AWS compute or managed ML environments; TensorFlow itself is not an AWS service.</a:t>
            </a:r>
            <a:endParaRPr lang="en-US" sz="112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08 | ANALYTICS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Choose by the processing question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Athena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Serverless SQL analysis of data in Amazon S3 and supported data sources.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EMR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Managed big-data platform for frameworks such as Apache Spark and Hadoop.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QuickSight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Business intelligence, dashboards, and visual analysis.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Glue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Serverless data integration, catalog, ETL, and preparation.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Redshift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Cloud data warehouse for analytical SQL.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Kinesis Data Streams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Real-time ingestion of streaming data.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09 | ANALYTICS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Memory model: Query, Process, Prepare, Visualize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Query S3 directly with SQL → Athena.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225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2257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Process very large data with Spark or Hadoop → EMR.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907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Prepare, catalog, and integrate data → Glue.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930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Build dashboards for business users → QuickSight.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078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782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Create a managed analytical warehouse → Redshift.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663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Ingest event streams continuously → Kinesis Data Streams.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10 | MANAGEMENT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Observe, audit, configure, automate, govern</a:t>
            </a:r>
            <a:endParaRPr lang="en-US" sz="2700" dirty="0"/>
          </a:p>
        </p:txBody>
      </p:sp>
      <p:pic>
        <p:nvPicPr>
          <p:cNvPr id="4" name="Image 0" descr="/mnt/data/d0451daf0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06880"/>
            <a:ext cx="6400800" cy="426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554480"/>
            <a:ext cx="425196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87768" y="1719072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61504" y="17373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Observe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61504" y="2121408"/>
            <a:ext cx="37764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CloudWatch provides metrics, logs, alarms, dashboards, and operational visibility.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7132320" y="2926080"/>
            <a:ext cx="425196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87768" y="3090672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1504" y="31089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Audit and configure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461504" y="3493008"/>
            <a:ext cx="37764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CloudTrail records account activity; AWS Config records resource configuration changes and evaluates rules.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132320" y="4297680"/>
            <a:ext cx="425196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87768" y="4462272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61504" y="4480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Automate and govern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461504" y="4864608"/>
            <a:ext cx="37764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CloudFormation, Systems Manager, Service Catalog, and Trusted Advisor support repeatability and control.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11 | OPERATIONS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CloudWatch vs. CloudTrail vs. Config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4747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901952"/>
            <a:ext cx="50292" cy="31455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920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CloudWatch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304288"/>
            <a:ext cx="304495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Question: Is the system healthy?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Signals: metrics, logs, alarms, dashboards, traces, and events.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34747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901952"/>
            <a:ext cx="50292" cy="314553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920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CloudTrail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72584" y="2304288"/>
            <a:ext cx="304495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Question: Who did what, where, and when through AWS APIs and account activity?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347472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02168" y="1901952"/>
            <a:ext cx="50292" cy="314553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920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Config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75904" y="2304288"/>
            <a:ext cx="3044952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Question: What configuration existed, how did it change, and does it meet configured rules?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12 | AUTOMATION AND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Create repeatable and controlled environments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CloudFormation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Model and provision infrastructure using templates.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Systems Manager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Manage nodes and operational tasks such as automation, inventory, parameters, and patching.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Service Catalog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Curate and distribute approved cloud products.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Trusted Advisor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Recommendations across cost, performance, security, fault tolerance, and service limits.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OpsWorks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Configuration-management service associated with Chef and Puppet; treat as legacy-oriented content.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Infrastructure as code principle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Store templates in version control, review changes, and deploy consistently.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13 | MIGRATION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Discover, plan, move, validate, modernize</a:t>
            </a:r>
            <a:endParaRPr lang="en-US" sz="2700" dirty="0"/>
          </a:p>
        </p:txBody>
      </p:sp>
      <p:pic>
        <p:nvPicPr>
          <p:cNvPr id="4" name="Image 0" descr="/mnt/data/67e3cb30a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9260"/>
            <a:ext cx="6492240" cy="4328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572768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79208" y="1737360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52944" y="17556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Discover and assess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52944" y="2139696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Application Discovery Service gathers server information and dependencies. Migration Hub provides tracking and visibility.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7223760" y="2944368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79208" y="3108960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52944" y="31272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Move workloads and data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52944" y="3511296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AWS Application Migration Service rehosts servers; AWS DMS migrates databases; DataSync moves file and object data.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223760" y="4315968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79208" y="4480560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52944" y="44988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Modernize and optimize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552944" y="4882896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Select rehost, replatform, or refactor based on business constraints, then validate and optimize after cutover.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14 | MIGRATION SERVICE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Choose based on what must move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Migration Hub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Track migrations and gain a consolidated view.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Application Discovery Service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Inventory servers and collect dependency and utilization information.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Application Migration Service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Rehost physical, virtual, or cloud servers to AWS.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Database Migration Service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Migrate databases while minimizing source downtime for supported scenarios.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DataSync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Move file and object data between storage systems.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Transform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Modernization and migration capabilities for supported workloads and programs.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15 | CUSTOMER ENGAGEMENT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Serve customers and distributed workforces</a:t>
            </a:r>
            <a:endParaRPr lang="en-US" sz="2700" dirty="0"/>
          </a:p>
        </p:txBody>
      </p:sp>
      <p:pic>
        <p:nvPicPr>
          <p:cNvPr id="4" name="Image 0" descr="/mnt/data/df6f391f7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4500"/>
            <a:ext cx="64465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554480"/>
            <a:ext cx="420624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33488" y="1719072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07224" y="1737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Engage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07224" y="2121408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Amazon Connect provides cloud contact-center capabilities; Amazon SES sends email.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7178040" y="2926080"/>
            <a:ext cx="420624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33488" y="3090672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07224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Deliver desktops and apps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07224" y="3493008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Amazon WorkSpaces provides virtual desktops; AppStream 2.0 streams desktop applications.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178040" y="4297680"/>
            <a:ext cx="420624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33488" y="4462272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07224" y="4480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Collaborate carefully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507224" y="4864608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Some older collaboration services in legacy course notes have changed status. Teach current service availability instead of equivalence claims.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16 | ENGAGEMENT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Match the user experience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Connect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Cloud contact center and customer-service interactions.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SES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Transactional, marketing, and bulk email delivery.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Pinpoint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Customer engagement through supported channels and segmentation capabilities.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WorkSpaces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Managed virtual desktop experience.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AppStream 2.0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Stream individual desktop applications to users.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Chime SDK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Add real-time communication capabilities to applications; distinguish it from legacy meeting-product descriptions.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17 | IoT, MOBILE, AND 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Connect devices and applications securely</a:t>
            </a:r>
            <a:endParaRPr lang="en-US" sz="2700" dirty="0"/>
          </a:p>
        </p:txBody>
      </p:sp>
      <p:pic>
        <p:nvPicPr>
          <p:cNvPr id="4" name="Image 0" descr="/mnt/data/2cd6fe1c2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5544"/>
            <a:ext cx="6492240" cy="4328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536192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79208" y="1700784"/>
            <a:ext cx="50292" cy="8138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52944" y="17190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IoT fleet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552944" y="2103120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AWS IoT Device Management helps onboard, organize, monitor, and remotely manage device fleets.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7223760" y="2907792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79208" y="3072384"/>
            <a:ext cx="50292" cy="81381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52944" y="30906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Edge runtime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52944" y="3474720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AWS IoT Greengrass extends cloud capabilities to edge devices for local processing and messaging.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223760" y="4279392"/>
            <a:ext cx="4160520" cy="114300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79208" y="4443984"/>
            <a:ext cx="50292" cy="81381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52944" y="44622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Mobile backend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552944" y="4846320"/>
            <a:ext cx="36850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AWS AppSync provides managed GraphQL APIs and real-time/offline data patterns; Device Farm tests applications on devices.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18 | IoT AND MOBILE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Use current names and responsibilities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IoT Device Management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Onboard, organize, monitor, and remotely manage devices.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FreeRTOS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Open-source real-time operating system for microcontrollers with cloud connectivity libraries.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IoT Greengrass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Run local compute, messaging, and data processing at the edge.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AppSync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Managed GraphQL APIs with real-time and offline synchronization capabilities.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Device Farm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Test mobile and web applications across browsers and physical devices.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Amazon Pinpoint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Engagement campaigns and targeted messaging for supported channels.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19 | DEVELOPER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Source → Build → Test → Deploy → Observe</a:t>
            </a:r>
            <a:endParaRPr lang="en-US" sz="2700" dirty="0"/>
          </a:p>
        </p:txBody>
      </p:sp>
      <p:pic>
        <p:nvPicPr>
          <p:cNvPr id="4" name="Image 0" descr="/mnt/data/5b7a23284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" y="1417320"/>
            <a:ext cx="720090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508760"/>
            <a:ext cx="3520440" cy="1051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56448" y="1673352"/>
            <a:ext cx="50292" cy="7223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0184" y="1691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Build and release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330184" y="2075688"/>
            <a:ext cx="30449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CodeBuild builds and tests. CodeDeploy automates deployments. CodePipeline orchestrates release stages.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8001000" y="2770632"/>
            <a:ext cx="3520440" cy="1051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56448" y="2935224"/>
            <a:ext cx="50292" cy="722376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30184" y="29535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Observe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330184" y="3337560"/>
            <a:ext cx="30449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AWS X-Ray helps analyze distributed application requests and service dependencies.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01000" y="4032504"/>
            <a:ext cx="3520440" cy="1051560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56448" y="4197096"/>
            <a:ext cx="50292" cy="722376"/>
          </a:xfrm>
          <a:prstGeom prst="rect">
            <a:avLst/>
          </a:prstGeom>
          <a:solidFill>
            <a:srgbClr val="43D6A5"/>
          </a:solidFill>
          <a:ln w="12700">
            <a:solidFill>
              <a:srgbClr val="43D6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0184" y="42153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Develop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330184" y="4599432"/>
            <a:ext cx="30449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Use supported IDEs, AWS Toolkits, CloudShell, and developer environments appropriate to the team.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20 | CI/CD SERVICE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Understand each pipeline responsibility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Source repository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GitHub, GitLab, Bitbucket, or another supported source provider.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CodeBuild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Compile source code, run tests, and produce artifacts.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CodeDeploy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Automate deployments to supported compute targets.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CodePipeline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Model and automate software release workflow stages.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X-Ray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Trace requests and investigate service performance and errors.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AWS CloudFormation / CDK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Define and deploy infrastructure as code.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21 | MODERNIZATION ALERT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Several legacy course items require replacement or qualification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24128" y="17373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Amazon Elastic Transcoder support ended November 13, 2025 → teach MediaConvert.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225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2257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“MediaTranscoder” is not a distinct AWS service → use MediaConvert for file transcoding.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2907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AWS Data Pipeline is unavailable to new customers → prefer Glue, Step Functions, or Amazon MWAA based on requirements.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79F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49300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TensorFlow is an open-source framework, not an AWS managed service.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0782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900"/>
                </a:solidFill>
              </a:rPr>
              <a:t>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078224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AWS CodeCommit and AWS Cloud9 closed new-customer access on July 25, 2024; existing customers can continue using them.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D6F4"/>
                </a:solidFill>
              </a:rPr>
              <a:t>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4663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Avoid teaching Mobile Hub, Mobile Analytics, or Sumerian as default current choices without verifying service status and alternatives.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52486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D6A5"/>
                </a:solidFill>
              </a:rPr>
              <a:t>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524865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Server Migration Service terminology is outdated → teach AWS Application Migration Service.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22 | ARCHITECTURE EXERCISE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Design a video analytics and engagement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Ingest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Kinesis Video Streams receives camera streams.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Process media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MediaLive handles live encoding; MediaConvert handles stored files.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Analyze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Rekognition or custom SageMaker models analyze supported content.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Store and query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S3 stores outputs; Glue catalogs; Athena queries.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Engage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Pinpoint or SES distributes supported notifications.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Operate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CloudWatch observes health; CloudTrail records activity; CloudFormation deploys infrastructure.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23 | KNOWLEDGE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Choose the service from the requirement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9222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Convert stored broadcast video into multiple VOD formats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926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MediaConvert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63640" y="162763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179222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2824" y="181051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Run SQL directly against data in S3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92824" y="219456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Athena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008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11810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Create dashboards for business users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926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QuickSight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95351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19088" y="311810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13639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Record who called an AWS API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92824" y="352044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CloudTrail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43984"/>
            <a:ext cx="50292" cy="6949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Move physical or virtual servers to AWS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6926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Application Migration Service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63640" y="4279392"/>
            <a:ext cx="5285232" cy="1024128"/>
          </a:xfrm>
          <a:prstGeom prst="roundRect">
            <a:avLst/>
          </a:prstGeom>
          <a:solidFill>
            <a:srgbClr val="102842"/>
          </a:solidFill>
          <a:ln w="12700">
            <a:solidFill>
              <a:srgbClr val="2850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4443984"/>
            <a:ext cx="50292" cy="694944"/>
          </a:xfrm>
          <a:prstGeom prst="rect">
            <a:avLst/>
          </a:prstGeom>
          <a:solidFill>
            <a:srgbClr val="52D6F4"/>
          </a:solidFill>
          <a:ln w="12700">
            <a:solidFill>
              <a:srgbClr val="52D6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446227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6F9FC"/>
                </a:solidFill>
              </a:rPr>
              <a:t>Stream a desktop application through a browser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92824" y="4846320"/>
            <a:ext cx="48097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FC1D1"/>
                </a:solidFill>
              </a:rPr>
              <a:t>AppStream 2.0</a:t>
            </a:r>
            <a:endParaRPr lang="en-US" sz="11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24 | FINAL MEMORY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9FC"/>
                </a:solidFill>
              </a:rPr>
              <a:t>Eight outcome phrases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53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9900"/>
                </a:solidFill>
              </a:rPr>
              <a:t>MediaConvert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800600" y="135331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File video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2D6F4"/>
                </a:solidFill>
              </a:rPr>
              <a:t>MediaLive + MediaPackage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00600" y="192024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Live encode + package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4871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D6A5"/>
                </a:solidFill>
              </a:rPr>
              <a:t>SageMaker + AI services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800600" y="24871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Custom ML + prebuilt intelligence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0540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79F7"/>
                </a:solidFill>
              </a:rPr>
              <a:t>Athena / Glue / EMR / QuickSight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00600" y="305409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Query / prepare / process / visualize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3621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9900"/>
                </a:solidFill>
              </a:rPr>
              <a:t>CloudWatch / CloudTrail / Config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00600" y="362102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Health / activity / configuration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2D6F4"/>
                </a:solidFill>
              </a:rPr>
              <a:t>MGN / DMS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00600" y="418795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Servers / databases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4754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D6A5"/>
                </a:solidFill>
              </a:rPr>
              <a:t>Connect / SES / WorkSpaces / AppStream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00600" y="475488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Contact / email / desktop / app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" y="5321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79F7"/>
                </a:solidFill>
              </a:rPr>
              <a:t>CodeBuild / CodeDeploy / CodePipeline / X-Ray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00600" y="532180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6F9FC"/>
                </a:solidFill>
              </a:rPr>
              <a:t>Build / deploy / orchestrate / trace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9900"/>
                </a:solidFill>
              </a:rPr>
              <a:t>Remember the workload outcome first. Then choose the AWS service.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3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2a24df2-9dbc-4c60-8048-492eefd19d89}" enabled="1" method="Standard" siteId="{d9124c3a-c50c-4124-bca5-b6f850cec9f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Services: Media, AI, Analytics, Management, Migration, IoT and Developer Tools</dc:title>
  <dc:subject>PptxGenJS Presentation</dc:subject>
  <dc:creator>Prem Vishnoi</dc:creator>
  <cp:lastModifiedBy>Prem Vishnoi</cp:lastModifiedBy>
  <cp:revision>4</cp:revision>
  <dcterms:created xsi:type="dcterms:W3CDTF">2026-09-08T11:28:00Z</dcterms:created>
  <dcterms:modified xsi:type="dcterms:W3CDTF">2026-09-08T12:21:33Z</dcterms:modified>
</cp:coreProperties>
</file>