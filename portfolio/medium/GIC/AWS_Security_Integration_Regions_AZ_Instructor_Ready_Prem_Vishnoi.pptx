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Security services overview: https://docs.aws.amazon.com/whitepapers/latest/aws-overview/security-services.html
- AWS Global Infrastructure: https://aws.amazon.com/about-aws/global-infrastructure/regions_az/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Lesson structure synthesized from user-provided topics and cited AWS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Security services overview: https://docs.aws.amazon.com/whitepapers/latest/aws-overview/security-services.html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Identity and Access Management in AWS security overview: https://docs.aws.amazon.com/whitepapers/latest/aws-overview/security-services.html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IAM concept summary created for teaching from AWS IAM service description in the AWS security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Amazon Cognito description: https://docs.aws.amazon.com/whitepapers/latest/aws-overview/security-services.html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Security services overview: https://docs.aws.amazon.com/whitepapers/latest/aws-overview/security-services.html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Security services overview: https://docs.aws.amazon.com/whitepapers/latest/aws-overview/security-services.html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Security services overview: https://docs.aws.amazon.com/whitepapers/latest/aws-overview/security-services.html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application integration topic
- AWS Application Integration overview: https://docs.aws.amazon.com/whitepapers/latest/aws-overview/application-integration.html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Amazon SQS description in AWS Application Integration overview: https://docs.aws.amazon.com/whitepapers/latest/aws-overview/application-integration.html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Amazon SNS description in AWS Application Integration overview: https://docs.aws.amazon.com/whitepapers/latest/aws-overview/application-integration.html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Application Integration overview: https://docs.aws.amazon.com/whitepapers/latest/aws-overview/application-integration.html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Application Integration overview: https://docs.aws.amazon.com/whitepapers/latest/aws-overview/application-integration.html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Global Infrastructure Regions and AZs: https://aws.amazon.com/about-aws/global-infrastructure/regions_az/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Global Infrastructure Regions and AZs, accessed September 8, 2026: https://aws.amazon.com/about-aws/global-infrastructure/regions_az/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Global Infrastructure Regions and AZs: https://aws.amazon.com/about-aws/global-infrastructure/regions_az/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Regions guidance: https://docs.aws.amazon.com/global-infrastructure/latest/regions/aws-regions.html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 synthesized for teaching from cited AWS service descriptions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Knowledge-check questions created for this presentation from cited AWS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Security services overview: https://docs.aws.amazon.com/whitepapers/latest/aws-overview/security-services.html
- AWS Global Infrastructure: https://aws.amazon.com/about-aws/global-infrastructure/regions_az/
- AWS Application Integration overview: https://docs.aws.amazon.com/whitepapers/latest/aws-overview/application-integration.html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created from cited AWS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3A8"/>
                </a:solidFill>
              </a:rPr>
              <a:t>PREM VISHNOI | AWS FUNDAMENTALS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86d7dcd473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>
              <a:alpha val="67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71426">
              <a:alpha val="96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0584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6F9FC"/>
                </a:solidFill>
              </a:rPr>
              <a:t>SECURE, CONNECT,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6F9FC"/>
                </a:solidFill>
              </a:rPr>
              <a:t>AND STAY AVAILABLE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2788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900"/>
                </a:solidFill>
              </a:rPr>
              <a:t>AWS Security • Application Integration • Regions &amp; Availability Zones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1D1"/>
                </a:solidFill>
              </a:rPr>
              <a:t>Instructor-ready teaching deck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9FC"/>
                </a:solidFill>
              </a:rPr>
              <a:t>Prem Vishnoi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01 | LEARNING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Three questions this lesson answers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474720" cy="30632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1993392"/>
            <a:ext cx="50292" cy="27340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SECURE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395728"/>
            <a:ext cx="2999232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Who can access? What threats exist? How is evidence obtained?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98848" y="1828800"/>
            <a:ext cx="3474720" cy="30632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993392"/>
            <a:ext cx="50292" cy="273405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INTEGRATE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8032" y="2395728"/>
            <a:ext cx="2999232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How do distributed components communicate without tight coupling?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39328" y="1828800"/>
            <a:ext cx="3474720" cy="30632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94776" y="1993392"/>
            <a:ext cx="50292" cy="273405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68512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RESILIENT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68512" y="2395728"/>
            <a:ext cx="2999232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Where do workloads run, and how do they survive infrastructure failure?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</a:rPr>
              <a:t>Memory model: Secure the actors → Connect the components → Distribute the workload.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02 | SECURITY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Security, identity, and compliance are connected responsibilities</a:t>
            </a:r>
            <a:endParaRPr lang="en-US" sz="2700" dirty="0"/>
          </a:p>
        </p:txBody>
      </p:sp>
      <p:pic>
        <p:nvPicPr>
          <p:cNvPr id="4" name="Image 0" descr="/mnt/data/0e08bdcbc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8904"/>
            <a:ext cx="5852160" cy="3901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1691640"/>
            <a:ext cx="466344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30568" y="1856232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04304" y="1874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Identity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04304" y="2258568"/>
            <a:ext cx="41879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Authenticate principals and authorize only required actions.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75120" y="3063240"/>
            <a:ext cx="466344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30568" y="3227832"/>
            <a:ext cx="50292" cy="8138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04304" y="3246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Security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04304" y="3630168"/>
            <a:ext cx="41879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Prevent, detect, investigate, and respond to threats and vulnerabilities.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75120" y="4434840"/>
            <a:ext cx="466344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30568" y="4599432"/>
            <a:ext cx="50292" cy="8138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04304" y="4617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Compliance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004304" y="5001768"/>
            <a:ext cx="41879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Access reports, agreements, and evidence supporting assurance activities.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03 | IAM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Control access to AWS resources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Principal: a user, role, workload, or federated identity making a request.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317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Authentication answers “Who are you?”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9260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Authorization answers “What are you allowed to do?”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520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Policies define allowed or denied actions on resources under conditions.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1148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Roles provide temporary credentials and are preferred for workloads.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709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Apply least privilege, MFA for human access, and avoid long-lived access keys.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04 | IAM MEMORY AID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PARC: Principal, Action, Resource, Condition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5212080" cy="16002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1901952"/>
            <a:ext cx="50292" cy="12710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20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P • Principal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304288"/>
            <a:ext cx="47365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Who is making the request?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737360"/>
            <a:ext cx="5212080" cy="16002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1656" y="1901952"/>
            <a:ext cx="50292" cy="12710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920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 • 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304288"/>
            <a:ext cx="47365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What operation is requested?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703320"/>
            <a:ext cx="5212080" cy="16002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867912"/>
            <a:ext cx="50292" cy="12710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886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R • Resource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7552" y="4270248"/>
            <a:ext cx="47365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Which resource is targeted?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3703320"/>
            <a:ext cx="5212080" cy="16002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3867912"/>
            <a:ext cx="50292" cy="127101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886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C • Condition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270248"/>
            <a:ext cx="47365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Under what context is access valid?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</a:rPr>
              <a:t>Decision rule: an explicit deny wins over an allow.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05 | IDENTITY FOR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IAM vs. Amazon Cognito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35661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01952"/>
            <a:ext cx="50292" cy="32369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202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AWS IAM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4984" y="2304288"/>
            <a:ext cx="478231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Use for workforce, administrators, AWS services, and workloads accessing AWS resources. Focuses on AWS authorization and account/resource permissions.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737360"/>
            <a:ext cx="5257800" cy="35661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1656" y="1901952"/>
            <a:ext cx="50292" cy="323697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9202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Amazon Cognito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304288"/>
            <a:ext cx="478231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Adds user sign-up, sign-in, and access control to web and mobile applications. Can integrate social, SAML, or existing identity providers.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3D6A5"/>
                </a:solidFill>
              </a:rPr>
              <a:t>Memory cue: IAM protects AWS access. Cognito provides customer-facing application identity.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06 | DETECT AND PROTECT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Know the defining job of each security service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37360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556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GuardDuty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2139696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Threat detection from AWS data sources and activity signals.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72768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37360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556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Inspector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92824" y="2139696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Continuous vulnerability management for supported compute workloads.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218688"/>
            <a:ext cx="50292" cy="841248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Macie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" y="3621024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Discovers and helps protect sensitive data in Amazon S3.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054096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218688"/>
            <a:ext cx="50292" cy="841248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ACM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92824" y="3621024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Provision and manage public and private SSL/TLS certificates.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700016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718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CloudHSM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" y="5102352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Single-tenant hardware security modules under customer control.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535424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700016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718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Directory Service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92824" y="5102352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Managed directory options and Microsoft Active Directory integration.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07 | EDGE AND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Protect applications and retrieve assurance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2697480" cy="35661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6232"/>
            <a:ext cx="50292" cy="32369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874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AWS WAF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2258568"/>
            <a:ext cx="222199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Filters HTTP and HTTPS requests using web access-control rules. Use for application-layer traffic patterns such as malicious requests.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1691640"/>
            <a:ext cx="2697480" cy="35661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21608" y="1856232"/>
            <a:ext cx="50292" cy="323697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1874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AWS Shield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95344" y="2258568"/>
            <a:ext cx="222199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Managed DDoS protection. Shield Standard is automatically included for AWS customers; Shield Advanced adds expanded protections and response capabilities.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10528" y="1691640"/>
            <a:ext cx="2697480" cy="35661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65976" y="1856232"/>
            <a:ext cx="50292" cy="323697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1874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AWS Artifact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39712" y="2258568"/>
            <a:ext cx="222199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On-demand access to AWS security and compliance reports and selected agreements.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54896" y="1691640"/>
            <a:ext cx="2103120" cy="35661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10344" y="1856232"/>
            <a:ext cx="50292" cy="323697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1874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Shared responsibility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84080" y="2258568"/>
            <a:ext cx="162763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AWS secures the cloud. Customers secure their workloads, configurations, identities, and data in the cloud.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08 | SECURITY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Which service answers the question?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6002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9FC"/>
                </a:solidFill>
              </a:rPr>
              <a:t>“Who can call this API?” → IAM policy and role.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1945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9FC"/>
                </a:solidFill>
              </a:rPr>
              <a:t>“How do customers sign in to the mobile app?” → Amazon Cognito.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7889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9FC"/>
                </a:solidFill>
              </a:rPr>
              <a:t>“Is suspicious account activity occurring?” → Amazon GuardDuty.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3832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9FC"/>
                </a:solidFill>
              </a:rPr>
              <a:t>“Which supported workloads have software vulnerabilities?” → Amazon Inspector.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39776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9FC"/>
                </a:solidFill>
              </a:rPr>
              <a:t>“Where is sensitive data stored in S3?” → Amazon Macie.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572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9FC"/>
                </a:solidFill>
              </a:rPr>
              <a:t>“How do I filter malicious web requests?” → AWS WAF.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166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5166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9FC"/>
                </a:solidFill>
              </a:rPr>
              <a:t>“Where can auditors obtain AWS compliance reports?” → AWS Artifact.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09 | APPLICATION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Decouple communication from execution</a:t>
            </a:r>
            <a:endParaRPr lang="en-US" sz="2700" dirty="0"/>
          </a:p>
        </p:txBody>
      </p:sp>
      <p:pic>
        <p:nvPicPr>
          <p:cNvPr id="4" name="Image 0" descr="/mnt/data/3a137f424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576072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591056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01968" y="1755648"/>
            <a:ext cx="50292" cy="9052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75704" y="17739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Amazon MQ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75704" y="2157984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Managed brokers for applications using standard messaging protocols and broker APIs.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06840" y="1591056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62288" y="1755648"/>
            <a:ext cx="50292" cy="90525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36024" y="17739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Amazon SNS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336024" y="2157984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Publish-subscribe messaging and fanout to multiple subscribers.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46520" y="3072384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01968" y="3236976"/>
            <a:ext cx="50292" cy="90525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75704" y="32552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Amazon SQS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775704" y="3639312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Durable queue that buffers work between producers and consumers.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006840" y="3072384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62288" y="3236976"/>
            <a:ext cx="50292" cy="90525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6024" y="32552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Step Functions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336024" y="3639312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Orchestrates multi-step workflows using state machines.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26680" y="4553712"/>
            <a:ext cx="2331720" cy="1234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82128" y="4718304"/>
            <a:ext cx="50292" cy="9052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55864" y="4736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Amazon SWF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055864" y="5120640"/>
            <a:ext cx="1856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Workflow service for coordinating work across distributed components and workers.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10 | SQS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Queue pattern: producer → buffer → consumer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017520" cy="2240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993392"/>
            <a:ext cx="50292" cy="1911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Producer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2395728"/>
            <a:ext cx="2542032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Creates work and sends a message without waiting for processing to finish.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0332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017520" cy="2240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993392"/>
            <a:ext cx="50292" cy="191109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SQS queue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2395728"/>
            <a:ext cx="2542032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Stores messages durably and absorbs spikes between components.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611880" cy="2240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9288" y="1993392"/>
            <a:ext cx="50292" cy="1911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20116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Consumer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3024" y="2395728"/>
            <a:ext cx="3136392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Polls, processes, and deletes successful messages. Failed messages can be retried and isolated using a dead-letter queue.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</a:rPr>
              <a:t>Memory cue: SQS preserves work until a consumer is ready.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11 | SNS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Fanout pattern: one publication, many subscribers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017520" cy="2057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30552"/>
            <a:ext cx="50292" cy="17282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Publisher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4984" y="2532888"/>
            <a:ext cx="254203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Sends one message to an SNS topic.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0332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017520" cy="2057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2130552"/>
            <a:ext cx="50292" cy="17282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SNS topic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2532888"/>
            <a:ext cx="254203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Routes the publication to subscribed endpoints.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1417320"/>
            <a:ext cx="338328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9288" y="1581912"/>
            <a:ext cx="50292" cy="8138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1600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SQS queue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93024" y="1984248"/>
            <a:ext cx="29077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Each receives a copy according to the subscription configuration.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3840" y="2926080"/>
            <a:ext cx="338328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9288" y="3090672"/>
            <a:ext cx="50292" cy="81381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31089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Lambda function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93024" y="3493008"/>
            <a:ext cx="29077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Each receives a copy according to the subscription configuration.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63840" y="4434840"/>
            <a:ext cx="338328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9288" y="4599432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4617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HTTP endpoint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93024" y="5001768"/>
            <a:ext cx="29077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Each receives a copy according to the subscription configuration.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</a:rPr>
              <a:t>Memory cue: SNS broadcasts. SQS buffers.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12 | MQ AND WORKFLOWS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Broker compatibility vs. process orchestration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36118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56232"/>
            <a:ext cx="50292" cy="32826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8745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Amazon MQ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3544" y="2258568"/>
            <a:ext cx="3044952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Choose when migrating or integrating applications that already use broker protocols or APIs such as ActiveMQ or RabbitMQ patterns. The broker transports messages.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36118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856232"/>
            <a:ext cx="50292" cy="32826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8745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AWS Step Functions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72584" y="2258568"/>
            <a:ext cx="3044952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Choose for new visual, state-machine-based orchestration across AWS services. The workflow coordinates steps, branching, retries, and state.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691640"/>
            <a:ext cx="3520440" cy="36118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856232"/>
            <a:ext cx="50292" cy="328269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1624" y="18745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Amazon SWF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21624" y="2258568"/>
            <a:ext cx="3044952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Supports workflow coordination using deciders and activity workers. Consider existing SWF workloads and specialized external-worker patterns.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13 | INTEGRATION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Remember B-B-O: Broker, Broadcast, Buffer, Orchestrate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6479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Broker compatibility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4984" y="216712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Amazon MQ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64792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Broadcast one event to many targets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92824" y="216712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Amazon SNS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18211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3200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Buffer work and decouple producer from consumer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14984" y="358444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Amazon SQS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82112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200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Orchestrate multi-step business logic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92824" y="358444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AWS Step Functions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434840"/>
            <a:ext cx="521208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59943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4617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Maintain or extend an existing SWF workflow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14984" y="5001768"/>
            <a:ext cx="47365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Amazon SWF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14 | GLOBAL INFRASTRUCTURE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Region, Availability Zone, and data center</a:t>
            </a:r>
            <a:endParaRPr lang="en-US" sz="2700" dirty="0"/>
          </a:p>
        </p:txBody>
      </p:sp>
      <p:pic>
        <p:nvPicPr>
          <p:cNvPr id="4" name="Image 0" descr="/mnt/data/0a79e050d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9760"/>
            <a:ext cx="5852160" cy="3901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1691640"/>
            <a:ext cx="475488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84848" y="1856232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58584" y="18745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Region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58584" y="2258568"/>
            <a:ext cx="42793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 physical geographic location containing multiple Availability Zones.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29400" y="3063240"/>
            <a:ext cx="475488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84848" y="3227832"/>
            <a:ext cx="50292" cy="8138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58584" y="3246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Availability Zone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58584" y="3630168"/>
            <a:ext cx="42793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One or more discrete data centers with independent power, networking, and connectivity.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29400" y="4434840"/>
            <a:ext cx="475488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84848" y="4599432"/>
            <a:ext cx="50292" cy="8138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58584" y="4617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Data center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58584" y="5001768"/>
            <a:ext cx="42793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 physical facility. An Availability Zone can contain one or more data centers.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15 | CURRENT FOOTPRINT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Avoid memorizing stale infrastructure counts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</a:rPr>
              <a:t>As of September 8,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6F9FC"/>
                </a:solidFill>
              </a:rPr>
              <a:t>The AWS global infrastructure page lists 39 geographic Regions and 124 Availability Zones, with additional announced expansion.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097280" y="3977640"/>
            <a:ext cx="996696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43434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D6F4"/>
                </a:solidFill>
              </a:rPr>
              <a:t>Teaching rule: explain the architecture concept, then verify the live AWS infrastructure page for current counts.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16 | HIGH AVAILABILITY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Multi-AZ design reduces single-zone dependency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Deploy application capacity across at least two Availability Zones.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317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Use health checks and load balancing to direct traffic to healthy targets.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9260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Replicate or use managed Multi-AZ database capabilities where required.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520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Keep stateless application tiers easy to replace and scale.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1148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Back up data and test recovery. Multi-AZ is not the same as backup.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709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Use multiple Regions only when business requirements justify the added complexity.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17 | REGION SELECTION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Choose a Region using business constraints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37360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556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Latency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" y="2139696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Near the majority of users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72768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37360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556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Capabilities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92824" y="2139696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Required AWS services and features are available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218688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Compliance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" y="3621024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Data location and regulatory requirements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054096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218688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Resilience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92824" y="3621024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Disaster-recovery and continuity objectives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700016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718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Cost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" y="5102352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Regional pricing and data-transfer implications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535424"/>
            <a:ext cx="5285232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700016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71830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Connectivity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92824" y="5102352"/>
            <a:ext cx="4809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Network paths to users, offices, and other systems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18 | PUT IT TOGETHER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A secure, decoupled, Multi-AZ order platform</a:t>
            </a:r>
            <a:endParaRPr lang="en-US" sz="2700" dirty="0"/>
          </a:p>
        </p:txBody>
      </p:sp>
      <p:pic>
        <p:nvPicPr>
          <p:cNvPr id="4" name="Image 0" descr="/mnt/data/ee4b97ad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481328"/>
            <a:ext cx="706374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572768"/>
            <a:ext cx="333756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39328" y="1737360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13064" y="17556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Secure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13064" y="2139696"/>
            <a:ext cx="28620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Cognito or IAM, WAF, Shield, certificates, and least privilege.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183880" y="2880360"/>
            <a:ext cx="333756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39328" y="3044952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13064" y="30632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Integrate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13064" y="3447288"/>
            <a:ext cx="28620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SNS distributes events, SQS buffers work, Step Functions coordinates the process.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83880" y="4187952"/>
            <a:ext cx="333756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39328" y="4352544"/>
            <a:ext cx="50292" cy="76809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13064" y="43708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Resilient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13064" y="4754880"/>
            <a:ext cx="28620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Load-balanced compute and data services span multiple Availability Zones.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19 | KNOWLEDGE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Choose the AWS concept or service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1719072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3736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Q1  Customer sign-up and sign-in for a mobile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121408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Answer: Cognito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554480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1656" y="1719072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73736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Q2  Detect suspicious AWS account activity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121408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Answer: GuardDuty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035808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200400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1868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Q3  Discover sensitive data in S3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7552" y="3602736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Answer: Macie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3035808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3200400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21868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Q4  Broadcast an order event to many consumers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3602736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Answer: SNS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517136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4681728"/>
            <a:ext cx="50292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70001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Q5  Buffer orders during a demand spike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" y="5084064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Answer: SQS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36208" y="4517136"/>
            <a:ext cx="5230368" cy="117043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1656" y="4681728"/>
            <a:ext cx="50292" cy="84124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470001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9FC"/>
                </a:solidFill>
              </a:rPr>
              <a:t>Q6  Survive failure of one data-center zone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65392" y="5084064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1D1"/>
                </a:solidFill>
              </a:rPr>
              <a:t>Answer: Multi-AZ architecture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20 | CORRECTIONS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Important updates to the source notes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Use “Amazon Cognito,” not “Cognition.” Cognito handles application user sign-up, sign-in, and access control.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317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Amazon Inspector is continuous vulnerability management, not merely an agent installed on a VM.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9260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Amazon Macie focuses on discovering and protecting sensitive data in Amazon S3, not an entire application suite.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520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AWS Certificate Manager can manage certificates for integrated AWS services; it is not limited to domains registered through Route 53.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1148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AWS CloudHSM stores and uses cryptographic keys in dedicated HSMs. It is not an SSH-key storage service.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709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Do not teach old fixed Region and AZ counts. Verify the current AWS global infrastructure page.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53035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For new workflow orchestration lessons, emphasize AWS Step Functions; keep SWF for existing and specialized patterns.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21 | FINAL RECAP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Seven phrases to remember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</a:rPr>
              <a:t>IAM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6052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9FC"/>
                </a:solidFill>
              </a:rPr>
              <a:t>AWS access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D6F4"/>
                </a:solidFill>
              </a:rPr>
              <a:t>Cognito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60520" y="21671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9FC"/>
                </a:solidFill>
              </a:rPr>
              <a:t>Application users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79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D6A5"/>
                </a:solidFill>
              </a:rPr>
              <a:t>GuardDuty / Inspector / Macie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27797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9FC"/>
                </a:solidFill>
              </a:rPr>
              <a:t>Threats / vulnerabilities / sensitive S3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392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79F7"/>
                </a:solidFill>
              </a:rPr>
              <a:t>WAF / Shield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60520" y="33924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9FC"/>
                </a:solidFill>
              </a:rPr>
              <a:t>Web filtering / DDoS protection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</a:rPr>
              <a:t>SNS / SQS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6052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9FC"/>
                </a:solidFill>
              </a:rPr>
              <a:t>Broadcast / buffer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D6F4"/>
                </a:solidFill>
              </a:rPr>
              <a:t>Step Functions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6052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9FC"/>
                </a:solidFill>
              </a:rPr>
              <a:t>Orchestrate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D6A5"/>
                </a:solidFill>
              </a:rPr>
              <a:t>Region / AZ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60520" y="52303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9FC"/>
                </a:solidFill>
              </a:rPr>
              <a:t>Geography / isolated fault domain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9900"/>
                </a:solidFill>
              </a:rPr>
              <a:t>Secure the actors. Connect the components. Distribute the workload.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2a24df2-9dbc-4c60-8048-492eefd19d89}" enabled="1" method="Standard" siteId="{d9124c3a-c50c-4124-bca5-b6f850cec9f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Security, Application Integration, Regions and Availability Zones</dc:title>
  <dc:subject>PptxGenJS Presentation</dc:subject>
  <dc:creator>Prem Vishnoi</dc:creator>
  <cp:lastModifiedBy>Prem Vishnoi</cp:lastModifiedBy>
  <cp:revision>2</cp:revision>
  <dcterms:created xsi:type="dcterms:W3CDTF">2026-09-08T10:53:36Z</dcterms:created>
  <dcterms:modified xsi:type="dcterms:W3CDTF">2026-09-08T10:57:30Z</dcterms:modified>
</cp:coreProperties>
</file>