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000" cy="3238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889522"/>
            <a:ext cx="58674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08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L6 BEHAVIORAL • </a:t>
            </a:r>
            <a:pPr indent="0" marL="0">
              <a:buNone/>
            </a:pPr>
            <a:r>
              <a:rPr lang="en-US" sz="900" b="1" spc="108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ACCOUNTABILITY &gt; CORRECTION &gt; PREVENTION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356247"/>
            <a:ext cx="5867400" cy="194533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5550" b="1" spc="-278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me about a time you made a mistake</a:t>
            </a:r>
            <a:endParaRPr lang="en-US" sz="5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225379"/>
            <a:ext cx="3440311" cy="113347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66775" y="4730204"/>
            <a:ext cx="246876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spc="-1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Stories: Bank • Lazada SG • Makro Retail</a:t>
            </a:r>
            <a:endParaRPr lang="en-US" sz="97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011" y="4225379"/>
            <a:ext cx="2924770" cy="113347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811786" y="4730204"/>
            <a:ext cx="195322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spc="-1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90-sec Script + Deep Dive + Flow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38500" cy="2857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429000"/>
            <a:ext cx="3810000" cy="3429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33400" y="419100"/>
            <a:ext cx="53340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spc="-99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Meta L6 scores this</a:t>
            </a:r>
            <a:endParaRPr lang="en-US" sz="3300" dirty="0"/>
          </a:p>
        </p:txBody>
      </p:sp>
      <p:sp>
        <p:nvSpPr>
          <p:cNvPr id="5" name="Text 1"/>
          <p:cNvSpPr txBox="1"/>
          <p:nvPr/>
        </p:nvSpPr>
        <p:spPr>
          <a:xfrm>
            <a:off x="533400" y="992386"/>
            <a:ext cx="5334000" cy="6881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900"/>
              </a:spcBef>
              <a:buNone/>
            </a:pPr>
            <a:r>
              <a:rPr lang="en-US" sz="1238" spc="-14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don't want a coding bug. They want a leadership gap. L6 bar: cross-functional ownership over technical perfection. Your mistake must impact business, not just logs.</a:t>
            </a:r>
            <a:endParaRPr lang="en-US" sz="123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52400"/>
            <a:ext cx="3695700" cy="172655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620125" y="609600"/>
            <a:ext cx="28384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 CALIBRATION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8620125" y="852488"/>
            <a:ext cx="2838450" cy="578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for scope: how many teams, how much risk, how you quantified cost of status quo. Senior = business trust, not pipeline green.</a:t>
            </a:r>
            <a:endParaRPr lang="en-US" sz="1013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642467"/>
            <a:ext cx="4051250" cy="267265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147292"/>
            <a:ext cx="266700" cy="2667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59631" y="2197298"/>
            <a:ext cx="159544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12" name="Text 5"/>
          <p:cNvSpPr txBox="1"/>
          <p:nvPr/>
        </p:nvSpPr>
        <p:spPr>
          <a:xfrm>
            <a:off x="752475" y="2547342"/>
            <a:ext cx="3155900" cy="2056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27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13" name="Text 6"/>
          <p:cNvSpPr txBox="1"/>
          <p:nvPr/>
        </p:nvSpPr>
        <p:spPr>
          <a:xfrm>
            <a:off x="899666" y="2905423"/>
            <a:ext cx="300870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“I missed” not “we missed”</a:t>
            </a:r>
            <a:endParaRPr lang="en-US" sz="1013" dirty="0"/>
          </a:p>
        </p:txBody>
      </p:sp>
      <p:sp>
        <p:nvSpPr>
          <p:cNvPr id="14" name="Text 7"/>
          <p:cNvSpPr txBox="1"/>
          <p:nvPr/>
        </p:nvSpPr>
        <p:spPr>
          <a:xfrm>
            <a:off x="899666" y="3174504"/>
            <a:ext cx="300870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without blaming legacy / business</a:t>
            </a:r>
            <a:endParaRPr lang="en-US" sz="1013" dirty="0"/>
          </a:p>
        </p:txBody>
      </p:sp>
      <p:sp>
        <p:nvSpPr>
          <p:cNvPr id="15" name="Text 8"/>
          <p:cNvSpPr txBox="1"/>
          <p:nvPr/>
        </p:nvSpPr>
        <p:spPr>
          <a:xfrm>
            <a:off x="899666" y="3443585"/>
            <a:ext cx="3008709" cy="366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real gap: communication, validation, ownership</a:t>
            </a:r>
            <a:endParaRPr lang="en-US" sz="1013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300" y="1642467"/>
            <a:ext cx="4051250" cy="2672655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2147292"/>
            <a:ext cx="266700" cy="2667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612630" y="2197298"/>
            <a:ext cx="172045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4517975" y="2547342"/>
            <a:ext cx="3155900" cy="2056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27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Correction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4665166" y="2905423"/>
            <a:ext cx="300870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you DO in next 24–48h?</a:t>
            </a:r>
            <a:endParaRPr lang="en-US" sz="1013" dirty="0"/>
          </a:p>
        </p:txBody>
      </p:sp>
      <p:sp>
        <p:nvSpPr>
          <p:cNvPr id="21" name="Text 12"/>
          <p:cNvSpPr txBox="1"/>
          <p:nvPr/>
        </p:nvSpPr>
        <p:spPr>
          <a:xfrm>
            <a:off x="4665166" y="3174504"/>
            <a:ext cx="300870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stakeholder walkthrough</a:t>
            </a:r>
            <a:endParaRPr lang="en-US" sz="1013" dirty="0"/>
          </a:p>
        </p:txBody>
      </p:sp>
      <p:sp>
        <p:nvSpPr>
          <p:cNvPr id="22" name="Text 13"/>
          <p:cNvSpPr txBox="1"/>
          <p:nvPr/>
        </p:nvSpPr>
        <p:spPr>
          <a:xfrm>
            <a:off x="4665166" y="3443585"/>
            <a:ext cx="300870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deck + lineage + hypercare plan</a:t>
            </a:r>
            <a:endParaRPr lang="en-US" sz="1013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5801" y="1642467"/>
            <a:ext cx="4051399" cy="2672655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476" y="2147292"/>
            <a:ext cx="266700" cy="2667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8377386" y="2197298"/>
            <a:ext cx="172789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15"/>
          <p:cNvSpPr txBox="1"/>
          <p:nvPr/>
        </p:nvSpPr>
        <p:spPr>
          <a:xfrm>
            <a:off x="8283476" y="2547342"/>
            <a:ext cx="3156049" cy="2056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27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Prevention System</a:t>
            </a:r>
            <a:endParaRPr lang="en-US" sz="1350" dirty="0"/>
          </a:p>
        </p:txBody>
      </p:sp>
      <p:sp>
        <p:nvSpPr>
          <p:cNvPr id="27" name="Text 16"/>
          <p:cNvSpPr txBox="1"/>
          <p:nvPr/>
        </p:nvSpPr>
        <p:spPr>
          <a:xfrm>
            <a:off x="8430667" y="2905423"/>
            <a:ext cx="3008858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SYSTEM so it never repeats?</a:t>
            </a:r>
            <a:endParaRPr lang="en-US" sz="1013" dirty="0"/>
          </a:p>
        </p:txBody>
      </p:sp>
      <p:sp>
        <p:nvSpPr>
          <p:cNvPr id="28" name="Text 17"/>
          <p:cNvSpPr txBox="1"/>
          <p:nvPr/>
        </p:nvSpPr>
        <p:spPr>
          <a:xfrm>
            <a:off x="8430667" y="3174504"/>
            <a:ext cx="3008858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 + 3 checkpoints + Trust Layer</a:t>
            </a:r>
            <a:endParaRPr lang="en-US" sz="1013" dirty="0"/>
          </a:p>
        </p:txBody>
      </p:sp>
      <p:sp>
        <p:nvSpPr>
          <p:cNvPr id="29" name="Text 18"/>
          <p:cNvSpPr txBox="1"/>
          <p:nvPr/>
        </p:nvSpPr>
        <p:spPr>
          <a:xfrm>
            <a:off x="8430667" y="3443585"/>
            <a:ext cx="3008858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is now mandatory on all projects</a:t>
            </a:r>
            <a:endParaRPr lang="en-US" sz="1013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5538788"/>
            <a:ext cx="5715000" cy="1109663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14375" y="5843588"/>
            <a:ext cx="21401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1350" dirty="0"/>
          </a:p>
        </p:txBody>
      </p:sp>
      <p:sp>
        <p:nvSpPr>
          <p:cNvPr id="32" name="Text 20"/>
          <p:cNvSpPr txBox="1"/>
          <p:nvPr/>
        </p:nvSpPr>
        <p:spPr>
          <a:xfrm>
            <a:off x="1042690" y="5824538"/>
            <a:ext cx="479613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spc="5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FLAG</a:t>
            </a:r>
            <a:endParaRPr lang="en-US" sz="825" dirty="0"/>
          </a:p>
        </p:txBody>
      </p:sp>
      <p:sp>
        <p:nvSpPr>
          <p:cNvPr id="33" name="Text 21"/>
          <p:cNvSpPr txBox="1"/>
          <p:nvPr/>
        </p:nvSpPr>
        <p:spPr>
          <a:xfrm>
            <a:off x="1042690" y="6010275"/>
            <a:ext cx="479613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worked too hard / I trusted others too much / Typo in prod” = junior framing. No system, no scale.</a:t>
            </a:r>
            <a:endParaRPr lang="en-US" sz="97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5538788"/>
            <a:ext cx="5715000" cy="1109663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353175" y="5843588"/>
            <a:ext cx="21401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6681490" y="5824538"/>
            <a:ext cx="479613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spc="5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FLAG</a:t>
            </a:r>
            <a:endParaRPr lang="en-US" sz="825" dirty="0"/>
          </a:p>
        </p:txBody>
      </p:sp>
      <p:sp>
        <p:nvSpPr>
          <p:cNvPr id="37" name="Text 24"/>
          <p:cNvSpPr txBox="1"/>
          <p:nvPr/>
        </p:nvSpPr>
        <p:spPr>
          <a:xfrm>
            <a:off x="6681490" y="6010275"/>
            <a:ext cx="479613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“Technical success ≠ Business success” — shows you manage dependencies, decision latency, and trust, not just code.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4191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333750"/>
            <a:ext cx="3810000" cy="35242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327422"/>
            <a:ext cx="10858500" cy="620300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52575" y="1298972"/>
            <a:ext cx="90868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MEMORIZE THIS — </a:t>
            </a:r>
            <a:pPr indent="0" marL="0">
              <a:buNone/>
            </a:pPr>
            <a:r>
              <a:rPr lang="en-US" sz="825" b="1" spc="99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15 SECONDS = L6 SIGNAL</a:t>
            </a:r>
            <a:endParaRPr lang="en-US" sz="825" dirty="0"/>
          </a:p>
        </p:txBody>
      </p:sp>
      <p:sp>
        <p:nvSpPr>
          <p:cNvPr id="6" name="Text 1"/>
          <p:cNvSpPr txBox="1"/>
          <p:nvPr/>
        </p:nvSpPr>
        <p:spPr>
          <a:xfrm>
            <a:off x="1552575" y="1713309"/>
            <a:ext cx="7810500" cy="4600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103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every answer like this (Meta way)</a:t>
            </a:r>
            <a:endParaRPr lang="en-US" sz="34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2440037"/>
            <a:ext cx="9086850" cy="99893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809750" y="2687687"/>
            <a:ext cx="8572500" cy="5322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mistake was </a:t>
            </a:r>
            <a:pPr indent="0" marL="0">
              <a:buNone/>
            </a:pPr>
            <a:r>
              <a:rPr lang="en-US" sz="1425" b="1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[leadership gap]</a:t>
            </a:r>
            <a:pPr indent="0" marL="0">
              <a:buNone/>
            </a:pPr>
            <a:r>
              <a:rPr lang="en-US" sz="1425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Technically we succeeded in </a:t>
            </a:r>
            <a:pPr indent="0" marL="0">
              <a:buNone/>
            </a:pPr>
            <a:r>
              <a:rPr lang="en-US" sz="1425" b="1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pPr indent="0" marL="0">
              <a:buNone/>
            </a:pPr>
            <a:r>
              <a:rPr lang="en-US" sz="1425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but I failed in </a:t>
            </a:r>
            <a:pPr indent="0" marL="0">
              <a:buNone/>
            </a:pPr>
            <a:r>
              <a:rPr lang="en-US" sz="1425" b="1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 = business impact]</a:t>
            </a:r>
            <a:pPr indent="0" marL="0">
              <a:buNone/>
            </a:pPr>
            <a:r>
              <a:rPr lang="en-US" sz="1425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 took ownership and built </a:t>
            </a:r>
            <a:pPr indent="0" marL="0">
              <a:buNone/>
            </a:pPr>
            <a:r>
              <a:rPr lang="en-US" sz="1425" b="1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[Z system]</a:t>
            </a:r>
            <a:pPr indent="0" marL="0">
              <a:buNone/>
            </a:pPr>
            <a:r>
              <a:rPr lang="en-US" sz="1425" spc="-1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it never repeats.</a:t>
            </a:r>
            <a:endParaRPr lang="en-US" sz="1425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75" y="3705671"/>
            <a:ext cx="9086850" cy="121503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3924746"/>
            <a:ext cx="381000" cy="38100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914525" y="4034284"/>
            <a:ext cx="257175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050" dirty="0"/>
          </a:p>
        </p:txBody>
      </p:sp>
      <p:sp>
        <p:nvSpPr>
          <p:cNvPr id="12" name="Text 4"/>
          <p:cNvSpPr txBox="1"/>
          <p:nvPr/>
        </p:nvSpPr>
        <p:spPr>
          <a:xfrm>
            <a:off x="2419350" y="3953321"/>
            <a:ext cx="7981950" cy="7483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spc="-14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“My mistake was focusing on </a:t>
            </a:r>
            <a:pPr indent="0" marL="0">
              <a:buNone/>
            </a:pPr>
            <a:r>
              <a:rPr lang="en-US" sz="1275" b="1" spc="-14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delivery over business readiness</a:t>
            </a:r>
            <a:pPr indent="0" marL="0">
              <a:buNone/>
            </a:pPr>
            <a:r>
              <a:rPr lang="en-US" sz="1275" spc="-14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Technically migration succeeded, but business didn't have visibility to plan. </a:t>
            </a:r>
            <a:pPr indent="0" marL="0">
              <a:buNone/>
            </a:pPr>
            <a:r>
              <a:rPr lang="en-US" sz="1275" b="1" spc="-14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owned the gap</a:t>
            </a:r>
            <a:pPr indent="0" marL="0">
              <a:buNone/>
            </a:pPr>
            <a:r>
              <a:rPr lang="en-US" sz="1275" spc="-14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built stakeholder checkpoint system.”</a:t>
            </a:r>
            <a:endParaRPr lang="en-US" sz="1275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575" y="5187404"/>
            <a:ext cx="5108228" cy="3810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714500" y="5301704"/>
            <a:ext cx="478437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9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works: Interviewer hears Accountability + Scope + System in 15 sec = L6 multiplier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5300" y="3524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BANK IN SINGAPORE • TERADATA TO HADOOP MIGRATION • DON'T SAY DBS NAME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95300" y="633413"/>
            <a:ext cx="11201400" cy="370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spc="-8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1 — Bank — 90 sec script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870347"/>
            <a:ext cx="6788348" cy="556379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14375" y="1365647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mistake early in my career was during a Teradata-to-Hadoop migration at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Tier 1 bank in Singapore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5" dirty="0"/>
          </a:p>
        </p:txBody>
      </p:sp>
      <p:sp>
        <p:nvSpPr>
          <p:cNvPr id="7" name="Text 3"/>
          <p:cNvSpPr txBox="1"/>
          <p:nvPr/>
        </p:nvSpPr>
        <p:spPr>
          <a:xfrm>
            <a:off x="714375" y="1919585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engineering side,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was successful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completed technical work, validated data, platform was ready.</a:t>
            </a:r>
            <a:endParaRPr lang="en-US" sz="1095" dirty="0"/>
          </a:p>
        </p:txBody>
      </p:sp>
      <p:sp>
        <p:nvSpPr>
          <p:cNvPr id="8" name="Text 4"/>
          <p:cNvSpPr txBox="1"/>
          <p:nvPr/>
        </p:nvSpPr>
        <p:spPr>
          <a:xfrm>
            <a:off x="714375" y="2473523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 made mistake in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communication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 was so focused on technical delivery that I didn't keep business sufficiently informed.</a:t>
            </a:r>
            <a:endParaRPr lang="en-US" sz="1095" dirty="0"/>
          </a:p>
        </p:txBody>
      </p:sp>
      <p:sp>
        <p:nvSpPr>
          <p:cNvPr id="9" name="Text 5"/>
          <p:cNvSpPr txBox="1"/>
          <p:nvPr/>
        </p:nvSpPr>
        <p:spPr>
          <a:xfrm>
            <a:off x="714375" y="3027462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realized even though engineering delivered,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didn't have visibility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confidently plan around new platform.</a:t>
            </a:r>
            <a:endParaRPr lang="en-US" sz="1095" dirty="0"/>
          </a:p>
        </p:txBody>
      </p:sp>
      <p:sp>
        <p:nvSpPr>
          <p:cNvPr id="10" name="Text 6"/>
          <p:cNvSpPr txBox="1"/>
          <p:nvPr/>
        </p:nvSpPr>
        <p:spPr>
          <a:xfrm>
            <a:off x="714375" y="3581400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took responsibility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communication gap. Lesson: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completion and business readiness are two different things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5" dirty="0"/>
          </a:p>
        </p:txBody>
      </p:sp>
      <p:sp>
        <p:nvSpPr>
          <p:cNvPr id="11" name="Text 7"/>
          <p:cNvSpPr txBox="1"/>
          <p:nvPr/>
        </p:nvSpPr>
        <p:spPr>
          <a:xfrm>
            <a:off x="714375" y="4135338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then, I identify business owners at beginning, agree success criteria, establish regular checkpoints.</a:t>
            </a:r>
            <a:endParaRPr lang="en-US" sz="1095" dirty="0"/>
          </a:p>
        </p:txBody>
      </p:sp>
      <p:sp>
        <p:nvSpPr>
          <p:cNvPr id="12" name="Text 8"/>
          <p:cNvSpPr txBox="1"/>
          <p:nvPr/>
        </p:nvSpPr>
        <p:spPr>
          <a:xfrm>
            <a:off x="714375" y="4689277"/>
            <a:ext cx="5892998" cy="430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7"/>
              </a:lnSpc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I don't consider project successful just because tech works. I consider it successful when </a:t>
            </a:r>
            <a:pPr indent="0" marL="0">
              <a:buNone/>
            </a:pPr>
            <a:r>
              <a:rPr lang="en-US" sz="1095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is informed, aligned, able to use</a:t>
            </a:r>
            <a:pPr indent="0" marL="0">
              <a:buNone/>
            </a:pPr>
            <a:r>
              <a:rPr lang="en-US" sz="1095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we delivered.</a:t>
            </a:r>
            <a:endParaRPr lang="en-US" sz="109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281738"/>
            <a:ext cx="1655118" cy="30956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600" y="6367463"/>
            <a:ext cx="142651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1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85-90 SEC • MEMORIZE</a:t>
            </a:r>
            <a:endParaRPr lang="en-US" sz="82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668" y="6291263"/>
            <a:ext cx="642491" cy="29051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350443" y="6367463"/>
            <a:ext cx="4329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-8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Teradata</a:t>
            </a:r>
            <a:endParaRPr lang="en-US" sz="82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409" y="6291263"/>
            <a:ext cx="1253877" cy="29051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088184" y="6367463"/>
            <a:ext cx="104432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-8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Sqoop • Hive • Spark</a:t>
            </a:r>
            <a:endParaRPr lang="en-US" sz="82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36" y="6291263"/>
            <a:ext cx="1061740" cy="29051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437311" y="6367463"/>
            <a:ext cx="85219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-8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400TB • 180 jobs</a:t>
            </a:r>
            <a:endParaRPr lang="en-US" sz="82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2648" y="1003697"/>
            <a:ext cx="4908352" cy="1725811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97923" y="1298972"/>
            <a:ext cx="4317802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 THIS IS L6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7333059" y="1529358"/>
            <a:ext cx="418266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-10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 = leadership gap, not coding bug</a:t>
            </a:r>
            <a:endParaRPr lang="en-US" sz="975" dirty="0"/>
          </a:p>
        </p:txBody>
      </p:sp>
      <p:sp>
        <p:nvSpPr>
          <p:cNvPr id="24" name="Text 15"/>
          <p:cNvSpPr txBox="1"/>
          <p:nvPr/>
        </p:nvSpPr>
        <p:spPr>
          <a:xfrm>
            <a:off x="7333059" y="1772245"/>
            <a:ext cx="418266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-10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Impacts 12 downstream teams</a:t>
            </a:r>
            <a:endParaRPr lang="en-US" sz="975" dirty="0"/>
          </a:p>
        </p:txBody>
      </p:sp>
      <p:sp>
        <p:nvSpPr>
          <p:cNvPr id="25" name="Text 16"/>
          <p:cNvSpPr txBox="1"/>
          <p:nvPr/>
        </p:nvSpPr>
        <p:spPr>
          <a:xfrm>
            <a:off x="7333059" y="2015133"/>
            <a:ext cx="418266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-10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cross-functional ownership</a:t>
            </a:r>
            <a:endParaRPr lang="en-US" sz="975" dirty="0"/>
          </a:p>
        </p:txBody>
      </p:sp>
      <p:sp>
        <p:nvSpPr>
          <p:cNvPr id="26" name="Text 17"/>
          <p:cNvSpPr txBox="1"/>
          <p:nvPr/>
        </p:nvSpPr>
        <p:spPr>
          <a:xfrm>
            <a:off x="7333059" y="2258020"/>
            <a:ext cx="418266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-10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before/after system change</a:t>
            </a:r>
            <a:endParaRPr lang="en-US" sz="975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2648" y="2577108"/>
            <a:ext cx="4908352" cy="130194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197923" y="2872383"/>
            <a:ext cx="4317802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ANCHOR PHRASE</a:t>
            </a:r>
            <a:endParaRPr lang="en-US" sz="825" dirty="0"/>
          </a:p>
        </p:txBody>
      </p:sp>
      <p:sp>
        <p:nvSpPr>
          <p:cNvPr id="29" name="Text 19"/>
          <p:cNvSpPr txBox="1"/>
          <p:nvPr/>
        </p:nvSpPr>
        <p:spPr>
          <a:xfrm>
            <a:off x="7197923" y="3093244"/>
            <a:ext cx="4317802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3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Done ≠ Business Ready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7197923" y="3407569"/>
            <a:ext cx="4317802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interviewer pushes, go to Deep Dive. Script is opener only.</a:t>
            </a:r>
            <a:endParaRPr lang="en-US" sz="975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2648" y="3726656"/>
            <a:ext cx="4908352" cy="11805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197923" y="4021931"/>
            <a:ext cx="4317802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NOT SAY</a:t>
            </a:r>
            <a:endParaRPr lang="en-US" sz="825" dirty="0"/>
          </a:p>
        </p:txBody>
      </p:sp>
      <p:sp>
        <p:nvSpPr>
          <p:cNvPr id="33" name="Text 22"/>
          <p:cNvSpPr txBox="1"/>
          <p:nvPr/>
        </p:nvSpPr>
        <p:spPr>
          <a:xfrm>
            <a:off x="7197923" y="4261842"/>
            <a:ext cx="4317802" cy="3500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DBS name • ❌ “We missed” • ❌ “Pipeline failed due to typo”</a:t>
            </a:r>
            <a:endParaRPr lang="en-US" sz="93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“I missed” • ✅ “I owned” • ✅ “I built system”</a:t>
            </a:r>
            <a:endParaRPr lang="en-US" sz="9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0" y="0"/>
            <a:ext cx="2857500" cy="27622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295275"/>
            <a:ext cx="453345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99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1 — TIER 1 BANK SINGAPORE (NO DBS) — TERADATA → HADOOP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500063"/>
            <a:ext cx="4533454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dive: what really happened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995" y="462855"/>
            <a:ext cx="2806005" cy="40481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66920" y="596205"/>
            <a:ext cx="248215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400TB • $2M/yr • 180 jobs • 12 teams • 6 months</a:t>
            </a:r>
            <a:endParaRPr lang="en-US" sz="82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4793"/>
            <a:ext cx="11734800" cy="15232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0075" y="1105793"/>
            <a:ext cx="54292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75"/>
              </a:spcAft>
              <a:buNone/>
            </a:pPr>
            <a:r>
              <a:rPr lang="en-US" sz="825" b="1" spc="66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00075" y="1320105"/>
            <a:ext cx="5429250" cy="5564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 yr Teradata legacy, cost + scale limit. Risk, Finance, Compliance depend on daily regulatory reports. Zero downtime migration to Hadoop (Sqoop/Hive/Spark/Oozie/HDFS + Impala).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6162675" y="1105793"/>
            <a:ext cx="54292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75"/>
              </a:spcAft>
              <a:buNone/>
            </a:pPr>
            <a:r>
              <a:rPr lang="en-US" sz="825" b="1" spc="66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— AS DE LEAD</a:t>
            </a:r>
            <a:endParaRPr lang="en-US" sz="825" dirty="0"/>
          </a:p>
        </p:txBody>
      </p:sp>
      <p:sp>
        <p:nvSpPr>
          <p:cNvPr id="11" name="Text 6"/>
          <p:cNvSpPr txBox="1"/>
          <p:nvPr/>
        </p:nvSpPr>
        <p:spPr>
          <a:xfrm>
            <a:off x="6162675" y="1320105"/>
            <a:ext cx="5429250" cy="36462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180 jobs, guarantee 100% data correctness for regulatory. I owned validation, cutover, lineage. 12 stakeholders, but I treated them as consumers, not owners.</a:t>
            </a:r>
            <a:endParaRPr lang="en-US" sz="97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24199"/>
            <a:ext cx="4076700" cy="491475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0075" y="2314724"/>
            <a:ext cx="33337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ACCOUNTABILITY DEEP</a:t>
            </a:r>
            <a:endParaRPr lang="en-US" sz="825" dirty="0"/>
          </a:p>
        </p:txBody>
      </p:sp>
      <p:sp>
        <p:nvSpPr>
          <p:cNvPr id="14" name="Text 8"/>
          <p:cNvSpPr txBox="1"/>
          <p:nvPr/>
        </p:nvSpPr>
        <p:spPr>
          <a:xfrm>
            <a:off x="600075" y="2530376"/>
            <a:ext cx="3333750" cy="1726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88" b="1" spc="-22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I built perfectly vs what I missed</a:t>
            </a:r>
            <a:endParaRPr lang="en-US" sz="1088" dirty="0"/>
          </a:p>
        </p:txBody>
      </p:sp>
      <p:sp>
        <p:nvSpPr>
          <p:cNvPr id="15" name="Text 9"/>
          <p:cNvSpPr txBox="1"/>
          <p:nvPr/>
        </p:nvSpPr>
        <p:spPr>
          <a:xfrm>
            <a:off x="716756" y="2807791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Built: row counts, checksums, schema match = 100% green</a:t>
            </a:r>
            <a:endParaRPr lang="en-US" sz="938" dirty="0"/>
          </a:p>
        </p:txBody>
      </p:sp>
      <p:sp>
        <p:nvSpPr>
          <p:cNvPr id="16" name="Text 10"/>
          <p:cNvSpPr txBox="1"/>
          <p:nvPr/>
        </p:nvSpPr>
        <p:spPr>
          <a:xfrm>
            <a:off x="716756" y="3222129"/>
            <a:ext cx="3217069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Missed: business sign-off sheet, UAT env for business</a:t>
            </a:r>
            <a:endParaRPr lang="en-US" sz="938" dirty="0"/>
          </a:p>
        </p:txBody>
      </p:sp>
      <p:sp>
        <p:nvSpPr>
          <p:cNvPr id="17" name="Text 11"/>
          <p:cNvSpPr txBox="1"/>
          <p:nvPr/>
        </p:nvSpPr>
        <p:spPr>
          <a:xfrm>
            <a:off x="716756" y="3457873"/>
            <a:ext cx="3217069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Missed: runbook for business users, metric mapping</a:t>
            </a:r>
            <a:endParaRPr lang="en-US" sz="938" dirty="0"/>
          </a:p>
        </p:txBody>
      </p:sp>
      <p:sp>
        <p:nvSpPr>
          <p:cNvPr id="18" name="Text 12"/>
          <p:cNvSpPr txBox="1"/>
          <p:nvPr/>
        </p:nvSpPr>
        <p:spPr>
          <a:xfrm>
            <a:off x="716756" y="3693616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learned completion from email, not workshop → visibility gap</a:t>
            </a:r>
            <a:endParaRPr lang="en-US" sz="938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6136035"/>
            <a:ext cx="3333750" cy="31239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4850" y="6223099"/>
            <a:ext cx="37727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L6 gap:</a:t>
            </a:r>
            <a:endParaRPr lang="en-US" sz="825" dirty="0"/>
          </a:p>
        </p:txBody>
      </p:sp>
      <p:sp>
        <p:nvSpPr>
          <p:cNvPr id="21" name="Text 14"/>
          <p:cNvSpPr txBox="1"/>
          <p:nvPr/>
        </p:nvSpPr>
        <p:spPr>
          <a:xfrm>
            <a:off x="1158329" y="6212235"/>
            <a:ext cx="216857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success ≠ Business readiness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650" y="1924199"/>
            <a:ext cx="4076700" cy="49147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429125" y="2314724"/>
            <a:ext cx="33337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CORRECTION — NEXT 48H</a:t>
            </a:r>
            <a:endParaRPr lang="en-US" sz="825" dirty="0"/>
          </a:p>
        </p:txBody>
      </p:sp>
      <p:sp>
        <p:nvSpPr>
          <p:cNvPr id="24" name="Text 16"/>
          <p:cNvSpPr txBox="1"/>
          <p:nvPr/>
        </p:nvSpPr>
        <p:spPr>
          <a:xfrm>
            <a:off x="4429125" y="2530376"/>
            <a:ext cx="3333750" cy="1726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88" b="1" spc="-22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I did immediately after</a:t>
            </a:r>
            <a:endParaRPr lang="en-US" sz="1088" dirty="0"/>
          </a:p>
        </p:txBody>
      </p:sp>
      <p:sp>
        <p:nvSpPr>
          <p:cNvPr id="25" name="Text 17"/>
          <p:cNvSpPr txBox="1"/>
          <p:nvPr/>
        </p:nvSpPr>
        <p:spPr>
          <a:xfrm>
            <a:off x="4545806" y="2807791"/>
            <a:ext cx="3217069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Contacted Risk Head + Finance Lead same day</a:t>
            </a:r>
            <a:endParaRPr lang="en-US" sz="938" dirty="0"/>
          </a:p>
        </p:txBody>
      </p:sp>
      <p:sp>
        <p:nvSpPr>
          <p:cNvPr id="26" name="Text 18"/>
          <p:cNvSpPr txBox="1"/>
          <p:nvPr/>
        </p:nvSpPr>
        <p:spPr>
          <a:xfrm>
            <a:off x="4545806" y="3043535"/>
            <a:ext cx="3217069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Shared: status deck + validation + lineage + cutover plan</a:t>
            </a:r>
            <a:endParaRPr lang="en-US" sz="938" dirty="0"/>
          </a:p>
        </p:txBody>
      </p:sp>
      <p:sp>
        <p:nvSpPr>
          <p:cNvPr id="27" name="Text 19"/>
          <p:cNvSpPr txBox="1"/>
          <p:nvPr/>
        </p:nvSpPr>
        <p:spPr>
          <a:xfrm>
            <a:off x="4545806" y="3279279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2-hr walkthrough: old vs new tables, query + SLA changes</a:t>
            </a:r>
            <a:endParaRPr lang="en-US" sz="938" dirty="0"/>
          </a:p>
        </p:txBody>
      </p:sp>
      <p:sp>
        <p:nvSpPr>
          <p:cNvPr id="28" name="Text 20"/>
          <p:cNvSpPr txBox="1"/>
          <p:nvPr/>
        </p:nvSpPr>
        <p:spPr>
          <a:xfrm>
            <a:off x="4545806" y="3693616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 hypercare 1 week + rollback + support model + sign-off as exit</a:t>
            </a:r>
            <a:endParaRPr lang="en-US" sz="938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5976045"/>
            <a:ext cx="3333750" cy="4723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533900" y="6143179"/>
            <a:ext cx="4953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</a:t>
            </a:r>
            <a:endParaRPr lang="en-US" sz="825" dirty="0"/>
          </a:p>
        </p:txBody>
      </p:sp>
      <p:sp>
        <p:nvSpPr>
          <p:cNvPr id="31" name="Text 22"/>
          <p:cNvSpPr txBox="1"/>
          <p:nvPr/>
        </p:nvSpPr>
        <p:spPr>
          <a:xfrm>
            <a:off x="5105400" y="6052245"/>
            <a:ext cx="255270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Frustrated → advocates. Handover became template.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0" y="1924199"/>
            <a:ext cx="4076700" cy="4914751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258175" y="2314724"/>
            <a:ext cx="33337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PREVENTION SYSTEM BUILT</a:t>
            </a:r>
            <a:endParaRPr lang="en-US" sz="825" dirty="0"/>
          </a:p>
        </p:txBody>
      </p:sp>
      <p:sp>
        <p:nvSpPr>
          <p:cNvPr id="34" name="Text 24"/>
          <p:cNvSpPr txBox="1"/>
          <p:nvPr/>
        </p:nvSpPr>
        <p:spPr>
          <a:xfrm>
            <a:off x="8258175" y="2530376"/>
            <a:ext cx="3333750" cy="1726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88" b="1" spc="-22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I work now (L6 artifact)</a:t>
            </a:r>
            <a:endParaRPr lang="en-US" sz="1088" dirty="0"/>
          </a:p>
        </p:txBody>
      </p:sp>
      <p:sp>
        <p:nvSpPr>
          <p:cNvPr id="35" name="Text 25"/>
          <p:cNvSpPr txBox="1"/>
          <p:nvPr/>
        </p:nvSpPr>
        <p:spPr>
          <a:xfrm>
            <a:off x="8374856" y="2807791"/>
            <a:ext cx="3217069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 day 1: Business Owner / Tech Owner / Validator</a:t>
            </a:r>
            <a:endParaRPr lang="en-US" sz="938" dirty="0"/>
          </a:p>
        </p:txBody>
      </p:sp>
      <p:sp>
        <p:nvSpPr>
          <p:cNvPr id="36" name="Text 26"/>
          <p:cNvSpPr txBox="1"/>
          <p:nvPr/>
        </p:nvSpPr>
        <p:spPr>
          <a:xfrm>
            <a:off x="8374856" y="3043535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checkpoints: Kickoff success criteria, Mid demo, Pre-close UAT sign-off</a:t>
            </a:r>
            <a:endParaRPr lang="en-US" sz="938" dirty="0"/>
          </a:p>
        </p:txBody>
      </p:sp>
      <p:sp>
        <p:nvSpPr>
          <p:cNvPr id="37" name="Text 27"/>
          <p:cNvSpPr txBox="1"/>
          <p:nvPr/>
        </p:nvSpPr>
        <p:spPr>
          <a:xfrm>
            <a:off x="8374856" y="3457873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of Done = Tech Done + Business Valid + Docs + Handover</a:t>
            </a:r>
            <a:endParaRPr lang="en-US" sz="938" dirty="0"/>
          </a:p>
        </p:txBody>
      </p:sp>
      <p:sp>
        <p:nvSpPr>
          <p:cNvPr id="38" name="Text 28"/>
          <p:cNvSpPr txBox="1"/>
          <p:nvPr/>
        </p:nvSpPr>
        <p:spPr>
          <a:xfrm>
            <a:off x="8374856" y="3872210"/>
            <a:ext cx="321706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Senior DE manages cross-functional dependencies, not just tech</a:t>
            </a:r>
            <a:endParaRPr lang="en-US" sz="938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8175" y="6136035"/>
            <a:ext cx="3333750" cy="31239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362950" y="6223099"/>
            <a:ext cx="3921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Mantra:</a:t>
            </a:r>
            <a:endParaRPr lang="en-US" sz="825" dirty="0"/>
          </a:p>
        </p:txBody>
      </p:sp>
      <p:sp>
        <p:nvSpPr>
          <p:cNvPr id="41" name="Text 30"/>
          <p:cNvSpPr txBox="1"/>
          <p:nvPr/>
        </p:nvSpPr>
        <p:spPr>
          <a:xfrm>
            <a:off x="8831312" y="6212235"/>
            <a:ext cx="215071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informed, aligned, able to use.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0"/>
            <a:ext cx="3238500" cy="304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304800"/>
            <a:ext cx="11353800" cy="3085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250" b="1" spc="-67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1 flow — Teradata </a:t>
            </a:r>
            <a:pPr indent="0" marL="0">
              <a:buNone/>
            </a:pPr>
            <a:r>
              <a:rPr lang="en-US" sz="2250" spc="-67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Hadoop</a:t>
            </a:r>
            <a:pPr indent="0" marL="0">
              <a:buNone/>
            </a:pPr>
            <a:r>
              <a:rPr lang="en-US" sz="2250" b="1" spc="-67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indent="0" marL="0">
              <a:buNone/>
            </a:pPr>
            <a:r>
              <a:rPr lang="en-US" sz="2250" spc="-67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Where mistake happened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660946"/>
            <a:ext cx="113538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spc="-1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400TB • 180 ETL jobs • 12 downstream risk/finance/compliance teams • You built tech perfectly, missed business layer</a:t>
            </a:r>
            <a:endParaRPr lang="en-US" sz="97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41908"/>
            <a:ext cx="6999089" cy="60970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94333"/>
            <a:ext cx="6370439" cy="539219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339" y="837158"/>
            <a:ext cx="4792861" cy="163487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370564" y="1113383"/>
            <a:ext cx="4240411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0071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✅ WHAT YOU DID PERFECTLY (TECH GREEN)</a:t>
            </a:r>
            <a:endParaRPr lang="en-US" sz="825" dirty="0"/>
          </a:p>
        </p:txBody>
      </p:sp>
      <p:sp>
        <p:nvSpPr>
          <p:cNvPr id="9" name="Text 3"/>
          <p:cNvSpPr txBox="1"/>
          <p:nvPr/>
        </p:nvSpPr>
        <p:spPr>
          <a:xfrm>
            <a:off x="7370564" y="1319510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Sqoop → HDFS Avro landing + Count check</a:t>
            </a:r>
            <a:endParaRPr lang="en-US" sz="938" dirty="0"/>
          </a:p>
        </p:txBody>
      </p:sp>
      <p:sp>
        <p:nvSpPr>
          <p:cNvPr id="10" name="Text 4"/>
          <p:cNvSpPr txBox="1"/>
          <p:nvPr/>
        </p:nvSpPr>
        <p:spPr>
          <a:xfrm>
            <a:off x="7370564" y="1555254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Spark dedup + SCD2 + Checksum + Sample compare</a:t>
            </a:r>
            <a:endParaRPr lang="en-US" sz="938" dirty="0"/>
          </a:p>
        </p:txBody>
      </p:sp>
      <p:sp>
        <p:nvSpPr>
          <p:cNvPr id="11" name="Text 5"/>
          <p:cNvSpPr txBox="1"/>
          <p:nvPr/>
        </p:nvSpPr>
        <p:spPr>
          <a:xfrm>
            <a:off x="7370564" y="1790998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Impala views + BO Reports + Oozie 99.9%</a:t>
            </a:r>
            <a:endParaRPr lang="en-US" sz="938" dirty="0"/>
          </a:p>
        </p:txBody>
      </p:sp>
      <p:sp>
        <p:nvSpPr>
          <p:cNvPr id="12" name="Text 6"/>
          <p:cNvSpPr txBox="1"/>
          <p:nvPr/>
        </p:nvSpPr>
        <p:spPr>
          <a:xfrm>
            <a:off x="7370564" y="2026741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Tools: BTEQ, Sqoop incr, Parquet / Hive partitions</a:t>
            </a:r>
            <a:endParaRPr lang="en-US" sz="938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339" y="2319635"/>
            <a:ext cx="4792861" cy="163487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370564" y="2595860"/>
            <a:ext cx="4240411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FF3B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❌ MISSING LAYER (MISTAKE)</a:t>
            </a:r>
            <a:endParaRPr lang="en-US" sz="825" dirty="0"/>
          </a:p>
        </p:txBody>
      </p:sp>
      <p:sp>
        <p:nvSpPr>
          <p:cNvPr id="15" name="Text 8"/>
          <p:cNvSpPr txBox="1"/>
          <p:nvPr/>
        </p:nvSpPr>
        <p:spPr>
          <a:xfrm>
            <a:off x="7370564" y="2801987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UAT DB access for business</a:t>
            </a:r>
            <a:endParaRPr lang="en-US" sz="938" dirty="0"/>
          </a:p>
        </p:txBody>
      </p:sp>
      <p:sp>
        <p:nvSpPr>
          <p:cNvPr id="16" name="Text 9"/>
          <p:cNvSpPr txBox="1"/>
          <p:nvPr/>
        </p:nvSpPr>
        <p:spPr>
          <a:xfrm>
            <a:off x="7370564" y="3037731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Metric definition alignment: Risk vs Finance</a:t>
            </a:r>
            <a:endParaRPr lang="en-US" sz="938" dirty="0"/>
          </a:p>
        </p:txBody>
      </p:sp>
      <p:sp>
        <p:nvSpPr>
          <p:cNvPr id="17" name="Text 10"/>
          <p:cNvSpPr txBox="1"/>
          <p:nvPr/>
        </p:nvSpPr>
        <p:spPr>
          <a:xfrm>
            <a:off x="7370564" y="3273475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Sign-off sheet + Communication plan + Training</a:t>
            </a:r>
            <a:endParaRPr lang="en-US" sz="938" dirty="0"/>
          </a:p>
        </p:txBody>
      </p:sp>
      <p:sp>
        <p:nvSpPr>
          <p:cNvPr id="18" name="Text 11"/>
          <p:cNvSpPr txBox="1"/>
          <p:nvPr/>
        </p:nvSpPr>
        <p:spPr>
          <a:xfrm>
            <a:off x="7370564" y="3509218"/>
            <a:ext cx="424041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-9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Hypercare + Rollback visible to business</a:t>
            </a:r>
            <a:endParaRPr lang="en-US" sz="938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489" y="3868787"/>
            <a:ext cx="2348805" cy="9907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32464" y="4049762"/>
            <a:ext cx="198685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750" dirty="0"/>
          </a:p>
        </p:txBody>
      </p:sp>
      <p:sp>
        <p:nvSpPr>
          <p:cNvPr id="21" name="Text 13"/>
          <p:cNvSpPr txBox="1"/>
          <p:nvPr/>
        </p:nvSpPr>
        <p:spPr>
          <a:xfrm>
            <a:off x="7332464" y="4221212"/>
            <a:ext cx="1986855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visibility → Can't plan new platform → Trust gap</a:t>
            </a:r>
            <a:endParaRPr lang="en-US" sz="86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1245" y="3868787"/>
            <a:ext cx="2348805" cy="99074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662220" y="4049762"/>
            <a:ext cx="198685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L6 SIGNAL</a:t>
            </a:r>
            <a:endParaRPr lang="en-US" sz="750" dirty="0"/>
          </a:p>
        </p:txBody>
      </p:sp>
      <p:sp>
        <p:nvSpPr>
          <p:cNvPr id="24" name="Text 15"/>
          <p:cNvSpPr txBox="1"/>
          <p:nvPr/>
        </p:nvSpPr>
        <p:spPr>
          <a:xfrm>
            <a:off x="9662220" y="4221212"/>
            <a:ext cx="1986855" cy="4668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success ≠ Business ready. 400TB green, sign-off missing = leadership gap.</a:t>
            </a:r>
            <a:endParaRPr lang="en-US" sz="8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0"/>
            <a:ext cx="3238500" cy="304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5300" y="3524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2 • LAZADA SG E-COMMERCE • USE WHEN ASKED ABOUT SPEED / METRICS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95300" y="633413"/>
            <a:ext cx="11201400" cy="3497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50" b="1" spc="-76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Lazada SG — </a:t>
            </a:r>
            <a:pPr indent="0" marL="0">
              <a:buNone/>
            </a:pPr>
            <a:r>
              <a:rPr lang="en-US" sz="2550" spc="-76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correct ≠ business usable</a:t>
            </a:r>
            <a:endParaRPr lang="en-US" sz="2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87909"/>
            <a:ext cx="7981950" cy="593199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14375" y="1345109"/>
            <a:ext cx="7162800" cy="4131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“At Lazada SG, one mistake I learned from was focusing too much on </a:t>
            </a:r>
            <a:pPr indent="0" marL="0">
              <a:buNone/>
            </a:pPr>
            <a:r>
              <a:rPr lang="en-US" sz="1088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delivery without validating business requirements early enough</a:t>
            </a:r>
            <a:pPr indent="0" marL="0"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088" dirty="0"/>
          </a:p>
        </p:txBody>
      </p:sp>
      <p:sp>
        <p:nvSpPr>
          <p:cNvPr id="7" name="Text 3"/>
          <p:cNvSpPr txBox="1"/>
          <p:nvPr/>
        </p:nvSpPr>
        <p:spPr>
          <a:xfrm>
            <a:off x="714375" y="1901130"/>
            <a:ext cx="7162800" cy="4131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“We were in fast-moving e-commerce — campaigns, vouchers, seller metrics changed daily. My assumption was once we delivered datasets and reporting logic, business would be able to use them.”</a:t>
            </a:r>
            <a:endParaRPr lang="en-US" sz="1088" dirty="0"/>
          </a:p>
        </p:txBody>
      </p:sp>
      <p:sp>
        <p:nvSpPr>
          <p:cNvPr id="8" name="Text 4"/>
          <p:cNvSpPr txBox="1"/>
          <p:nvPr/>
        </p:nvSpPr>
        <p:spPr>
          <a:xfrm>
            <a:off x="714375" y="2457152"/>
            <a:ext cx="7162800" cy="4131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“But I learned technical correctness doesn't mean solution meets decision-making needs. Metric definition of </a:t>
            </a:r>
            <a:pPr indent="0" marL="0">
              <a:buNone/>
            </a:pPr>
            <a:r>
              <a:rPr lang="en-US" sz="1088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‘active seller’ and ‘GMV’ differed between marketing and finance</a:t>
            </a:r>
            <a:pPr indent="0" marL="0"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088" dirty="0"/>
          </a:p>
        </p:txBody>
      </p:sp>
      <p:sp>
        <p:nvSpPr>
          <p:cNvPr id="9" name="Shape 5"/>
          <p:cNvSpPr/>
          <p:nvPr/>
        </p:nvSpPr>
        <p:spPr>
          <a:xfrm>
            <a:off x="714375" y="2981325"/>
            <a:ext cx="71628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14375" y="3136999"/>
            <a:ext cx="7162800" cy="4131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changed approach by </a:t>
            </a:r>
            <a:pPr indent="0" marL="0">
              <a:buNone/>
            </a:pPr>
            <a:r>
              <a:rPr lang="en-US" sz="1088" b="1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involving stakeholders earlier</a:t>
            </a:r>
            <a:pPr indent="0" marL="0">
              <a:buNone/>
            </a:pPr>
            <a:r>
              <a:rPr lang="en-US" sz="1088" spc="-1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validating metric definitions before code, getting feedback every 3 days instead of at the end.”</a:t>
            </a:r>
            <a:endParaRPr lang="en-US" sz="1088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664446"/>
            <a:ext cx="578941" cy="29051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9150" y="3740646"/>
            <a:ext cx="36939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SEC</a:t>
            </a:r>
            <a:endParaRPr lang="en-US" sz="82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516" y="3664446"/>
            <a:ext cx="1876871" cy="29051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74291" y="3740646"/>
            <a:ext cx="166732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Seller Performance Mart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588" y="3664446"/>
            <a:ext cx="685354" cy="29051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427363" y="3740646"/>
            <a:ext cx="47580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blame</a:t>
            </a:r>
            <a:endParaRPr lang="en-US" sz="825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1002209"/>
            <a:ext cx="3619500" cy="177537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429625" y="1259384"/>
            <a:ext cx="31051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CONTEXT TO KEEP READY</a:t>
            </a:r>
            <a:endParaRPr lang="en-US" sz="825" dirty="0"/>
          </a:p>
        </p:txBody>
      </p:sp>
      <p:sp>
        <p:nvSpPr>
          <p:cNvPr id="19" name="Text 11"/>
          <p:cNvSpPr txBox="1"/>
          <p:nvPr/>
        </p:nvSpPr>
        <p:spPr>
          <a:xfrm>
            <a:off x="8605838" y="1465511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marketplace: 10M SKUs / 100K sellers</a:t>
            </a:r>
            <a:endParaRPr lang="en-US" sz="938" dirty="0"/>
          </a:p>
        </p:txBody>
      </p:sp>
      <p:sp>
        <p:nvSpPr>
          <p:cNvPr id="20" name="Text 12"/>
          <p:cNvSpPr txBox="1"/>
          <p:nvPr/>
        </p:nvSpPr>
        <p:spPr>
          <a:xfrm>
            <a:off x="8605838" y="1701254"/>
            <a:ext cx="292893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daily batch, business needed hourly for flash sales</a:t>
            </a:r>
            <a:endParaRPr lang="en-US" sz="938" dirty="0"/>
          </a:p>
        </p:txBody>
      </p:sp>
      <p:sp>
        <p:nvSpPr>
          <p:cNvPr id="21" name="Text 13"/>
          <p:cNvSpPr txBox="1"/>
          <p:nvPr/>
        </p:nvSpPr>
        <p:spPr>
          <a:xfrm>
            <a:off x="8605838" y="2115592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GMV: with/without returns? Active: listing vs order?</a:t>
            </a:r>
            <a:endParaRPr lang="en-US" sz="938" dirty="0"/>
          </a:p>
        </p:txBody>
      </p:sp>
      <p:sp>
        <p:nvSpPr>
          <p:cNvPr id="22" name="Text 14"/>
          <p:cNvSpPr txBox="1"/>
          <p:nvPr/>
        </p:nvSpPr>
        <p:spPr>
          <a:xfrm>
            <a:off x="8605838" y="2351336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Category Manager during 11.11</a:t>
            </a:r>
            <a:endParaRPr lang="en-US" sz="938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2663279"/>
            <a:ext cx="3619500" cy="1361033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429625" y="2920454"/>
            <a:ext cx="31051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 L6?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8605838" y="3126581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Solved for scale not decision latency</a:t>
            </a:r>
            <a:endParaRPr lang="en-US" sz="938" dirty="0"/>
          </a:p>
        </p:txBody>
      </p:sp>
      <p:sp>
        <p:nvSpPr>
          <p:cNvPr id="26" name="Text 17"/>
          <p:cNvSpPr txBox="1"/>
          <p:nvPr/>
        </p:nvSpPr>
        <p:spPr>
          <a:xfrm>
            <a:off x="8605838" y="3362325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Decision Map thinking</a:t>
            </a:r>
            <a:endParaRPr lang="en-US" sz="938" dirty="0"/>
          </a:p>
        </p:txBody>
      </p:sp>
      <p:sp>
        <p:nvSpPr>
          <p:cNvPr id="27" name="Text 18"/>
          <p:cNvSpPr txBox="1"/>
          <p:nvPr/>
        </p:nvSpPr>
        <p:spPr>
          <a:xfrm>
            <a:off x="8605838" y="3598069"/>
            <a:ext cx="292893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to Metric Dictionary system</a:t>
            </a:r>
            <a:endParaRPr lang="en-US" sz="938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4024313"/>
            <a:ext cx="3429000" cy="922883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401050" y="4148137"/>
            <a:ext cx="31623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LESSON</a:t>
            </a:r>
            <a:endParaRPr lang="en-US" sz="750" dirty="0"/>
          </a:p>
        </p:txBody>
      </p:sp>
      <p:sp>
        <p:nvSpPr>
          <p:cNvPr id="30" name="Text 20"/>
          <p:cNvSpPr txBox="1"/>
          <p:nvPr/>
        </p:nvSpPr>
        <p:spPr>
          <a:xfrm>
            <a:off x="8401050" y="4319588"/>
            <a:ext cx="3162300" cy="5133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91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business validation reduces rework 60% and improves adoption — especially where speed is everything.</a:t>
            </a:r>
            <a:endParaRPr lang="en-US" sz="91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0" y="0"/>
            <a:ext cx="3524250" cy="33337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304800"/>
            <a:ext cx="113538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2 Deep Dive — Lazada SG E-commerce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662880"/>
            <a:ext cx="11353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225"/>
              </a:spcBef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FAST-MOVING MARKETPLACE • SELLER PERFORMANCE MART • TECH CORRECT ≠ BUSINESS RIGHT</a:t>
            </a:r>
            <a:endParaRPr lang="en-US" sz="8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15268"/>
            <a:ext cx="5981700" cy="612368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52475" y="1134368"/>
            <a:ext cx="50673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-1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Situation + what went wrong</a:t>
            </a:r>
            <a:endParaRPr lang="en-US" sz="975" dirty="0"/>
          </a:p>
        </p:txBody>
      </p:sp>
      <p:sp>
        <p:nvSpPr>
          <p:cNvPr id="7" name="Shape 3"/>
          <p:cNvSpPr/>
          <p:nvPr/>
        </p:nvSpPr>
        <p:spPr>
          <a:xfrm>
            <a:off x="619125" y="1190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9125" y="1443930"/>
            <a:ext cx="5200650" cy="1757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10M SKUs, 100K sellers, 3 markets (SG/TH/MY). Needed unified Seller Mart.</a:t>
            </a:r>
            <a:endParaRPr lang="en-US" sz="990" dirty="0"/>
          </a:p>
        </p:txBody>
      </p:sp>
      <p:sp>
        <p:nvSpPr>
          <p:cNvPr id="9" name="Text 5"/>
          <p:cNvSpPr txBox="1"/>
          <p:nvPr/>
        </p:nvSpPr>
        <p:spPr>
          <a:xfrm>
            <a:off x="619125" y="1724471"/>
            <a:ext cx="5200650" cy="1757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BigQuery + Dataflow + Looker. Built perfect daily batch, scalable.</a:t>
            </a:r>
            <a:endParaRPr lang="en-US" sz="990" dirty="0"/>
          </a:p>
        </p:txBody>
      </p:sp>
      <p:sp>
        <p:nvSpPr>
          <p:cNvPr id="10" name="Text 6"/>
          <p:cNvSpPr txBox="1"/>
          <p:nvPr/>
        </p:nvSpPr>
        <p:spPr>
          <a:xfrm>
            <a:off x="619125" y="2005013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Business needed hourly for flash sales / 11.11, not daily. Built for scale, not decision latency.</a:t>
            </a:r>
            <a:endParaRPr lang="en-US" sz="990" dirty="0"/>
          </a:p>
        </p:txBody>
      </p:sp>
      <p:sp>
        <p:nvSpPr>
          <p:cNvPr id="11" name="Text 7"/>
          <p:cNvSpPr txBox="1"/>
          <p:nvPr/>
        </p:nvSpPr>
        <p:spPr>
          <a:xfrm>
            <a:off x="619125" y="2480370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gap: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“GMV” – with/without returns? “Active seller” – listing vs order? Marketing vs Finance definitions differed.</a:t>
            </a:r>
            <a:endParaRPr lang="en-US" sz="990" dirty="0"/>
          </a:p>
        </p:txBody>
      </p:sp>
      <p:sp>
        <p:nvSpPr>
          <p:cNvPr id="12" name="Text 8"/>
          <p:cNvSpPr txBox="1"/>
          <p:nvPr/>
        </p:nvSpPr>
        <p:spPr>
          <a:xfrm>
            <a:off x="619125" y="2955727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L6 signal: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optimized for tech (batch cost) not for business decision loop. No Decision Map.</a:t>
            </a:r>
            <a:endParaRPr lang="en-US" sz="99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440609"/>
            <a:ext cx="2552700" cy="50095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3425" y="3545384"/>
            <a:ext cx="23241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</a:t>
            </a:r>
            <a:endParaRPr lang="en-US" sz="750" dirty="0"/>
          </a:p>
        </p:txBody>
      </p:sp>
      <p:sp>
        <p:nvSpPr>
          <p:cNvPr id="15" name="Text 10"/>
          <p:cNvSpPr txBox="1"/>
          <p:nvPr/>
        </p:nvSpPr>
        <p:spPr>
          <a:xfrm>
            <a:off x="733425" y="3697784"/>
            <a:ext cx="232410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Daily mart</a:t>
            </a:r>
            <a:endParaRPr lang="en-US" sz="975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075" y="3440609"/>
            <a:ext cx="2552700" cy="50095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381375" y="3545384"/>
            <a:ext cx="23241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NEED</a:t>
            </a:r>
            <a:endParaRPr lang="en-US" sz="750" dirty="0"/>
          </a:p>
        </p:txBody>
      </p:sp>
      <p:sp>
        <p:nvSpPr>
          <p:cNvPr id="18" name="Text 12"/>
          <p:cNvSpPr txBox="1"/>
          <p:nvPr/>
        </p:nvSpPr>
        <p:spPr>
          <a:xfrm>
            <a:off x="3381375" y="3697784"/>
            <a:ext cx="232410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Hourly top 5%</a:t>
            </a:r>
            <a:endParaRPr lang="en-US" sz="97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00" y="715268"/>
            <a:ext cx="5981700" cy="612368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05575" y="1134368"/>
            <a:ext cx="50673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-1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Correction + Prevention System</a:t>
            </a:r>
            <a:endParaRPr lang="en-US" sz="975" dirty="0"/>
          </a:p>
        </p:txBody>
      </p:sp>
      <p:sp>
        <p:nvSpPr>
          <p:cNvPr id="21" name="Shape 14"/>
          <p:cNvSpPr/>
          <p:nvPr/>
        </p:nvSpPr>
        <p:spPr>
          <a:xfrm>
            <a:off x="6372225" y="1190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372225" y="1443930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same week: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Shadowed Category Managers 1 day during 11.11 prep – saw real decision loop.</a:t>
            </a:r>
            <a:endParaRPr lang="en-US" sz="990" dirty="0"/>
          </a:p>
        </p:txBody>
      </p:sp>
      <p:sp>
        <p:nvSpPr>
          <p:cNvPr id="23" name="Text 16"/>
          <p:cNvSpPr txBox="1"/>
          <p:nvPr/>
        </p:nvSpPr>
        <p:spPr>
          <a:xfrm>
            <a:off x="6372225" y="1919288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Re-prioritized: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Hourly incremental for top 5% sellers (80% GMV) + daily for rest. Unblocked campaigns.</a:t>
            </a:r>
            <a:endParaRPr lang="en-US" sz="990" dirty="0"/>
          </a:p>
        </p:txBody>
      </p:sp>
      <p:sp>
        <p:nvSpPr>
          <p:cNvPr id="24" name="Text 17"/>
          <p:cNvSpPr txBox="1"/>
          <p:nvPr/>
        </p:nvSpPr>
        <p:spPr>
          <a:xfrm>
            <a:off x="6372225" y="2394645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Dictionary: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 source of truth in Confluence, co-owned with Marketing + Finance. Signed off.</a:t>
            </a:r>
            <a:endParaRPr lang="en-US" sz="990" dirty="0"/>
          </a:p>
        </p:txBody>
      </p:sp>
      <p:sp>
        <p:nvSpPr>
          <p:cNvPr id="25" name="Text 18"/>
          <p:cNvSpPr txBox="1"/>
          <p:nvPr/>
        </p:nvSpPr>
        <p:spPr>
          <a:xfrm>
            <a:off x="6372225" y="2870002"/>
            <a:ext cx="5200650" cy="1757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seller GMV drops 20% vs same hour yesterday → Slack alert to CatMan.</a:t>
            </a:r>
            <a:endParaRPr lang="en-US" sz="990" dirty="0"/>
          </a:p>
        </p:txBody>
      </p:sp>
      <p:sp>
        <p:nvSpPr>
          <p:cNvPr id="26" name="Text 19"/>
          <p:cNvSpPr txBox="1"/>
          <p:nvPr/>
        </p:nvSpPr>
        <p:spPr>
          <a:xfrm>
            <a:off x="6372225" y="3150543"/>
            <a:ext cx="5200650" cy="37058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99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Prevention now:</a:t>
            </a:r>
            <a:pPr indent="0" marL="0">
              <a:buNone/>
            </a:pPr>
            <a:r>
              <a:rPr lang="en-US" sz="990" spc="-11" kern="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1) Decision Map – who decides what, when, how often? 2) Metric Workshop before code 3) Demo every 3 days</a:t>
            </a:r>
            <a:endParaRPr lang="en-US" sz="99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6067425"/>
            <a:ext cx="5200650" cy="36195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86525" y="6172200"/>
            <a:ext cx="149736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→ 85%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WAU adoption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8117235" y="6172200"/>
            <a:ext cx="72196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-60%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rework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8972550" y="6172200"/>
            <a:ext cx="177671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5%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hourly covers 80% GMV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38500" cy="31432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5300" y="3143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3 • MAKRO WHOLESALE RETAIL • STRONGEST L6 STORY — USE FOR RECENT / SENIOR QUESTION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95300" y="576263"/>
            <a:ext cx="11201400" cy="32905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Makro Retail — pipeline green ≠ numbers correct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91021"/>
            <a:ext cx="7981950" cy="604792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5325" y="1219646"/>
            <a:ext cx="7200900" cy="1875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“At Makro, one important lesson came from a </a:t>
            </a:r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data-quality issue in commercial reporting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95325" y="1530995"/>
            <a:ext cx="7200900" cy="3940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“We were integrating data from multiple operational systems — POS, SAP, WMS — into unified platform. Initially focused on getting pipelines running and </a:t>
            </a:r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on time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95325" y="2048917"/>
            <a:ext cx="7200900" cy="3940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“But we identified gap in how we validated </a:t>
            </a:r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business-level numbers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source and reporting. Pipeline success didn't mean financial numbers were correct — sales with back-margin, VAT, promotion.”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95325" y="2543175"/>
            <a:ext cx="72009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95325" y="2681139"/>
            <a:ext cx="7200900" cy="3940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“As engineering leader, I </a:t>
            </a:r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improving controls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Strengthened source-to-target reconciliation, added business-level checks, ownership for critical data, and monitoring to catch discrepancy early.”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95325" y="3199061"/>
            <a:ext cx="7200900" cy="3940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“Learning: </a:t>
            </a:r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= business trust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pipeline green. Since then, reconciliation + data contracts + business quality checks are core design, not optional.”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697932"/>
            <a:ext cx="559891" cy="27146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0575" y="3764607"/>
            <a:ext cx="36939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SEC</a:t>
            </a:r>
            <a:endParaRPr lang="en-US" sz="8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16" y="3697932"/>
            <a:ext cx="1932831" cy="27146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26666" y="3764607"/>
            <a:ext cx="174233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POS+SAP+WMS → Snowflake+dbt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447" y="3697932"/>
            <a:ext cx="754112" cy="27146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435697" y="3764607"/>
            <a:ext cx="56361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Layer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905321"/>
            <a:ext cx="3619500" cy="1790551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410575" y="1143446"/>
            <a:ext cx="31432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CONTEXT TO KEEP READY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8582025" y="1330523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 stores, B2B+B2C, back-margin rebate complex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8582025" y="1543794"/>
            <a:ext cx="29718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reports to Netherlands HQ — month-end critical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8582025" y="1922711"/>
            <a:ext cx="29718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$10M POS vs $9.7M Mart = 300K missing (cancelled logic)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8582025" y="2301627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found gap at close — trust broken</a:t>
            </a:r>
            <a:endParaRPr lang="en-US" sz="9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2562523"/>
            <a:ext cx="3619500" cy="14592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410575" y="2800648"/>
            <a:ext cx="31432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YOU BUILT AFTER</a:t>
            </a:r>
            <a:endParaRPr lang="en-US" sz="825" dirty="0"/>
          </a:p>
        </p:txBody>
      </p:sp>
      <p:sp>
        <p:nvSpPr>
          <p:cNvPr id="26" name="Text 17"/>
          <p:cNvSpPr txBox="1"/>
          <p:nvPr/>
        </p:nvSpPr>
        <p:spPr>
          <a:xfrm>
            <a:off x="8582025" y="2987725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3-layer recon: Source vs Staging vs Mart daily &lt;0.1%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8582025" y="3200995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Engine: returns, VAT, margin timing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8582025" y="3414266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Alert: &gt;0.5% → PagerDuty + Slack to owner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8582025" y="3627537"/>
            <a:ext cx="29718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KPI has owner: Sales=Commercial Head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4002732"/>
            <a:ext cx="3429000" cy="73134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401050" y="4126557"/>
            <a:ext cx="31623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L6+</a:t>
            </a:r>
            <a:endParaRPr lang="en-US" sz="750" dirty="0"/>
          </a:p>
        </p:txBody>
      </p:sp>
      <p:sp>
        <p:nvSpPr>
          <p:cNvPr id="32" name="Text 22"/>
          <p:cNvSpPr txBox="1"/>
          <p:nvPr/>
        </p:nvSpPr>
        <p:spPr>
          <a:xfrm>
            <a:off x="8401050" y="4298007"/>
            <a:ext cx="31623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Closest to leadership role. You own trust, not just DAG. Quant: errors 8/month → 0, close 5 days → 2 days.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0"/>
            <a:ext cx="3238500" cy="3238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0050" y="276225"/>
            <a:ext cx="113919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3 — MAKRO THAILAND WHOLESALE • STRONGEST L6 STORY • RETAIL TRUST LAYER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00050" y="423863"/>
            <a:ext cx="11391900" cy="28798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b="1" spc="-63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Makro deep dive — pipeline green ≠ numbers correct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597545"/>
            <a:ext cx="6562725" cy="2362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921395"/>
            <a:ext cx="5991225" cy="1714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826395"/>
            <a:ext cx="3048000" cy="684609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23875" y="2940695"/>
            <a:ext cx="28003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BROKE</a:t>
            </a:r>
            <a:endParaRPr lang="en-US" sz="750" dirty="0"/>
          </a:p>
        </p:txBody>
      </p:sp>
      <p:sp>
        <p:nvSpPr>
          <p:cNvPr id="9" name="Text 3"/>
          <p:cNvSpPr txBox="1"/>
          <p:nvPr/>
        </p:nvSpPr>
        <p:spPr>
          <a:xfrm>
            <a:off x="523875" y="3102620"/>
            <a:ext cx="2800350" cy="3036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Sales: POS $10M → Mart $9.7M. 300K missing = cancelled orders filtered differently.</a:t>
            </a:r>
            <a:endParaRPr lang="en-US" sz="825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2826395"/>
            <a:ext cx="3048000" cy="684609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3657600" y="2940695"/>
            <a:ext cx="28003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6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BACK-MARGIN GAP</a:t>
            </a:r>
            <a:endParaRPr lang="en-US" sz="750" dirty="0"/>
          </a:p>
        </p:txBody>
      </p:sp>
      <p:sp>
        <p:nvSpPr>
          <p:cNvPr id="12" name="Text 5"/>
          <p:cNvSpPr txBox="1"/>
          <p:nvPr/>
        </p:nvSpPr>
        <p:spPr>
          <a:xfrm>
            <a:off x="3657600" y="3102620"/>
            <a:ext cx="2800350" cy="3036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2% vs Mart 1.6%. Timing: invoice vs accrual. Business found at month-end close — trust broken.</a:t>
            </a:r>
            <a:endParaRPr lang="en-US" sz="825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606254"/>
            <a:ext cx="6181725" cy="679847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23875" y="3846165"/>
            <a:ext cx="21401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</a:t>
            </a:r>
            <a:endParaRPr lang="en-US" sz="1350" dirty="0"/>
          </a:p>
        </p:txBody>
      </p:sp>
      <p:sp>
        <p:nvSpPr>
          <p:cNvPr id="15" name="Text 7"/>
          <p:cNvSpPr txBox="1"/>
          <p:nvPr/>
        </p:nvSpPr>
        <p:spPr>
          <a:xfrm>
            <a:off x="833140" y="3711029"/>
            <a:ext cx="2198191" cy="4702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cause: only dbt tests (not_null, unique). </a:t>
            </a:r>
            <a:pPr indent="0" marL="0">
              <a:buNone/>
            </a:pPr>
            <a:r>
              <a:rPr lang="en-US" sz="750" b="1" spc="6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FINANCE PERSON IN DESIGN.</a:t>
            </a:r>
            <a:pPr indent="0" marL="0"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Airflow 99.9% green but business wrong.</a:t>
            </a:r>
            <a:endParaRPr lang="en-US" sz="825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925" y="711845"/>
            <a:ext cx="5248275" cy="16249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6877050" y="949970"/>
            <a:ext cx="4772025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CORRECTION — WHAT I BUILT AFTER</a:t>
            </a:r>
            <a:endParaRPr lang="en-US" sz="825" dirty="0"/>
          </a:p>
        </p:txBody>
      </p:sp>
      <p:sp>
        <p:nvSpPr>
          <p:cNvPr id="18" name="Text 9"/>
          <p:cNvSpPr txBox="1"/>
          <p:nvPr/>
        </p:nvSpPr>
        <p:spPr>
          <a:xfrm>
            <a:off x="6998494" y="1137047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Reconciliation Framework: Source vs Staging vs Mart — 3 layers, daily &lt;0.1%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6998494" y="1350318"/>
            <a:ext cx="4650581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Engine: cancelled, returns, VAT, back-margin timing — documented with Finance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6998494" y="1729234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Data Ownership: Sales = Head Commercial owns, Margin = Finance owns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6998494" y="1942505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Alerting: Recon &gt;0.5% → PagerDuty to DE + Slack to business owner</a:t>
            </a:r>
            <a:endParaRPr lang="en-US" sz="9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2203400"/>
            <a:ext cx="5248275" cy="1245989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877050" y="2441525"/>
            <a:ext cx="4772025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PREVENTION SYSTEM — TRUST LAYER MANDATORY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6998494" y="2628602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every pipeline: Tech tests + Business recon + Anomaly detection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6998494" y="2841873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Contract: If POS changes cancellation logic → must notify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6998494" y="3055144"/>
            <a:ext cx="4650581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Business Review: Data quality score like SLA to business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025" y="3363664"/>
            <a:ext cx="1743075" cy="6858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829425" y="3544639"/>
            <a:ext cx="143812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→ 0</a:t>
            </a:r>
            <a:endParaRPr lang="en-US" sz="1050" dirty="0"/>
          </a:p>
        </p:txBody>
      </p:sp>
      <p:sp>
        <p:nvSpPr>
          <p:cNvPr id="29" name="Text 18"/>
          <p:cNvSpPr txBox="1"/>
          <p:nvPr/>
        </p:nvSpPr>
        <p:spPr>
          <a:xfrm>
            <a:off x="6829425" y="3754189"/>
            <a:ext cx="143812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 errors / month</a:t>
            </a:r>
            <a:endParaRPr lang="en-US" sz="7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3363664"/>
            <a:ext cx="1743075" cy="6858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543925" y="3544639"/>
            <a:ext cx="143812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5d → 2d</a:t>
            </a:r>
            <a:endParaRPr lang="en-US" sz="1050" dirty="0"/>
          </a:p>
        </p:txBody>
      </p:sp>
      <p:sp>
        <p:nvSpPr>
          <p:cNvPr id="32" name="Text 20"/>
          <p:cNvSpPr txBox="1"/>
          <p:nvPr/>
        </p:nvSpPr>
        <p:spPr>
          <a:xfrm>
            <a:off x="8543925" y="3754189"/>
            <a:ext cx="143812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Month-end close</a:t>
            </a:r>
            <a:endParaRPr lang="en-US" sz="7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6025" y="3363664"/>
            <a:ext cx="1743075" cy="6858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0258425" y="3544639"/>
            <a:ext cx="143812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↑</a:t>
            </a:r>
            <a:endParaRPr lang="en-US" sz="1050" dirty="0"/>
          </a:p>
        </p:txBody>
      </p:sp>
      <p:sp>
        <p:nvSpPr>
          <p:cNvPr id="35" name="Text 22"/>
          <p:cNvSpPr txBox="1"/>
          <p:nvPr/>
        </p:nvSpPr>
        <p:spPr>
          <a:xfrm>
            <a:off x="10258425" y="3754189"/>
            <a:ext cx="143812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restored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0"/>
            <a:ext cx="3238500" cy="3238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314325"/>
            <a:ext cx="11353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STRATEGY • CHOOSE STORY BY QUESTION TYPE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461963"/>
            <a:ext cx="113538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story to choose? When to use what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800993"/>
            <a:ext cx="6631186" cy="13461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058168"/>
            <a:ext cx="266700" cy="2667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90116" y="1115318"/>
            <a:ext cx="15760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81075" y="1058168"/>
            <a:ext cx="5716786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Bank — Teradata → Hadoop — Use first (classic answer)</a:t>
            </a:r>
            <a:endParaRPr lang="en-US" sz="1013" dirty="0"/>
          </a:p>
        </p:txBody>
      </p:sp>
      <p:sp>
        <p:nvSpPr>
          <p:cNvPr id="9" name="Text 4"/>
          <p:cNvSpPr txBox="1"/>
          <p:nvPr/>
        </p:nvSpPr>
        <p:spPr>
          <a:xfrm>
            <a:off x="981075" y="1272927"/>
            <a:ext cx="5716786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accountability: communication gap, not coding bug. 12 downstream teams. Cross-functional gap = L6 expectation. Easy to explain, shows evolution. 85-90 sec.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1651843"/>
            <a:ext cx="2037904" cy="23812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66800" y="1708993"/>
            <a:ext cx="186645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choice for “Tell me about a mistake”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" y="2013793"/>
            <a:ext cx="6631186" cy="134615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270968"/>
            <a:ext cx="266700" cy="2667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78656" y="2328118"/>
            <a:ext cx="16906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981075" y="2270968"/>
            <a:ext cx="5716786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Makro Retail — Sales + back-margin recon — Strongest L6</a:t>
            </a:r>
            <a:endParaRPr lang="en-US" sz="1013" dirty="0"/>
          </a:p>
        </p:txBody>
      </p:sp>
      <p:sp>
        <p:nvSpPr>
          <p:cNvPr id="16" name="Text 8"/>
          <p:cNvSpPr txBox="1"/>
          <p:nvPr/>
        </p:nvSpPr>
        <p:spPr>
          <a:xfrm>
            <a:off x="981075" y="2485727"/>
            <a:ext cx="5716786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green 99.9% but finance gap $300K (cancel logic, back-margin timing). Built Trust Layer. Use when interviewer pushes: “recent / senior / leader” mistake.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2864644"/>
            <a:ext cx="1741438" cy="23812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66800" y="2921794"/>
            <a:ext cx="15699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 asked recent leadership</a:t>
            </a:r>
            <a:endParaRPr lang="en-US" sz="7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50" y="3226594"/>
            <a:ext cx="6631186" cy="1346150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3483769"/>
            <a:ext cx="266700" cy="2667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677912" y="3540919"/>
            <a:ext cx="169813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981075" y="3483769"/>
            <a:ext cx="5716786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Lazada SG — Seller Performance Mart — Speed story</a:t>
            </a:r>
            <a:endParaRPr lang="en-US" sz="1013" dirty="0"/>
          </a:p>
        </p:txBody>
      </p:sp>
      <p:sp>
        <p:nvSpPr>
          <p:cNvPr id="23" name="Text 12"/>
          <p:cNvSpPr txBox="1"/>
          <p:nvPr/>
        </p:nvSpPr>
        <p:spPr>
          <a:xfrm>
            <a:off x="981075" y="3698528"/>
            <a:ext cx="5716786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vs hourly for flash sales, metric definition GMV/active seller. Decision Map + Metric Dictionary. Use when asked about e-commerce speed or metric alignment.</a:t>
            </a:r>
            <a:endParaRPr lang="en-US" sz="9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4077444"/>
            <a:ext cx="1956643" cy="23812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066800" y="4134594"/>
            <a:ext cx="178519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 asked e-commerce / metrics</a:t>
            </a:r>
            <a:endParaRPr lang="en-US" sz="7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6936" y="800993"/>
            <a:ext cx="4951214" cy="154498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174111" y="1058168"/>
            <a:ext cx="4436864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META L6 RULE</a:t>
            </a:r>
            <a:endParaRPr lang="en-US" sz="825" dirty="0"/>
          </a:p>
        </p:txBody>
      </p:sp>
      <p:sp>
        <p:nvSpPr>
          <p:cNvPr id="28" name="Text 15"/>
          <p:cNvSpPr txBox="1"/>
          <p:nvPr/>
        </p:nvSpPr>
        <p:spPr>
          <a:xfrm>
            <a:off x="7318921" y="1264295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have 1 story where business was impacted, not just logs</a:t>
            </a:r>
            <a:endParaRPr lang="en-US" sz="900" dirty="0"/>
          </a:p>
        </p:txBody>
      </p:sp>
      <p:sp>
        <p:nvSpPr>
          <p:cNvPr id="29" name="Text 16"/>
          <p:cNvSpPr txBox="1"/>
          <p:nvPr/>
        </p:nvSpPr>
        <p:spPr>
          <a:xfrm>
            <a:off x="7318921" y="1487091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say “my mistake was pipeline failed because typo”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7318921" y="1709886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communication, ownership, trust — not just code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7318921" y="1932682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easy (Bank), then go deep tech if probed</a:t>
            </a:r>
            <a:endParaRPr lang="en-US" sz="9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6936" y="2212628"/>
            <a:ext cx="4951214" cy="132218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7174111" y="2469803"/>
            <a:ext cx="4436864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FF3B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RED FLAGS TO AVOID</a:t>
            </a:r>
            <a:endParaRPr lang="en-US" sz="825" dirty="0"/>
          </a:p>
        </p:txBody>
      </p:sp>
      <p:sp>
        <p:nvSpPr>
          <p:cNvPr id="34" name="Text 20"/>
          <p:cNvSpPr txBox="1"/>
          <p:nvPr/>
        </p:nvSpPr>
        <p:spPr>
          <a:xfrm>
            <a:off x="7318921" y="2675930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“I worked too hard” = no system</a:t>
            </a:r>
            <a:endParaRPr lang="en-US" sz="900" dirty="0"/>
          </a:p>
        </p:txBody>
      </p:sp>
      <p:sp>
        <p:nvSpPr>
          <p:cNvPr id="35" name="Text 21"/>
          <p:cNvSpPr txBox="1"/>
          <p:nvPr/>
        </p:nvSpPr>
        <p:spPr>
          <a:xfrm>
            <a:off x="7318921" y="2898725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Blaming legacy / business / other team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7318921" y="3121521"/>
            <a:ext cx="4292054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Saying DBS name — say Tier 1 bank</a:t>
            </a:r>
            <a:endParaRPr lang="en-US" sz="9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2186" y="3515767"/>
            <a:ext cx="4760714" cy="388144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7145536" y="3630067"/>
            <a:ext cx="4494014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938" b="1" spc="-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completion ≠ Business readiness = L6 mantra</a:t>
            </a:r>
            <a:endParaRPr lang="en-US" sz="93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19500" cy="3429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1000" y="276225"/>
            <a:ext cx="114300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— THEY WILL ASK THIS — PREPARE WORD FOR WORD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381000" y="423863"/>
            <a:ext cx="1143000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67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answers ready for push questions</a:t>
            </a:r>
            <a:endParaRPr lang="en-US" sz="2250" dirty="0"/>
          </a:p>
        </p:txBody>
      </p:sp>
      <p:sp>
        <p:nvSpPr>
          <p:cNvPr id="5" name="Text 2"/>
          <p:cNvSpPr txBox="1"/>
          <p:nvPr/>
        </p:nvSpPr>
        <p:spPr>
          <a:xfrm>
            <a:off x="381000" y="771525"/>
            <a:ext cx="8572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L6 interviewer always goes deeper: correction in 48h + stakeholder reaction + prevention system. Have truthful version ready — only say what you really did.</a:t>
            </a:r>
            <a:endParaRPr lang="en-US" sz="97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33475"/>
            <a:ext cx="3962400" cy="406196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428750"/>
            <a:ext cx="1194941" cy="25717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57225" y="1495425"/>
            <a:ext cx="10044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MOST ASKED</a:t>
            </a:r>
            <a:endParaRPr lang="en-US" sz="750" dirty="0"/>
          </a:p>
        </p:txBody>
      </p:sp>
      <p:sp>
        <p:nvSpPr>
          <p:cNvPr id="9" name="Text 4"/>
          <p:cNvSpPr txBox="1"/>
          <p:nvPr/>
        </p:nvSpPr>
        <p:spPr>
          <a:xfrm>
            <a:off x="561975" y="1771650"/>
            <a:ext cx="337185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did you do immediately after realizing?</a:t>
            </a:r>
            <a:endParaRPr lang="en-US" sz="1013" dirty="0"/>
          </a:p>
        </p:txBody>
      </p:sp>
      <p:sp>
        <p:nvSpPr>
          <p:cNvPr id="10" name="Text 5"/>
          <p:cNvSpPr txBox="1"/>
          <p:nvPr/>
        </p:nvSpPr>
        <p:spPr>
          <a:xfrm>
            <a:off x="561975" y="2034034"/>
            <a:ext cx="3371850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Answer: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Contacted Risk Head + Finance Lead same day. Shared migration deck + validation results + lineage + cutover plan.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679103" y="2662684"/>
            <a:ext cx="3254722" cy="2997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2-hr walkthrough: old vs new table mapping, query + SLA changes</a:t>
            </a:r>
            <a:endParaRPr lang="en-US" sz="840" dirty="0"/>
          </a:p>
        </p:txBody>
      </p:sp>
      <p:sp>
        <p:nvSpPr>
          <p:cNvPr id="12" name="Text 7"/>
          <p:cNvSpPr txBox="1"/>
          <p:nvPr/>
        </p:nvSpPr>
        <p:spPr>
          <a:xfrm>
            <a:off x="679103" y="3019574"/>
            <a:ext cx="3254722" cy="2997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1-week hypercare + rollback + support. Added explicit sign-off as exit criteria</a:t>
            </a:r>
            <a:endParaRPr lang="en-US" sz="84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133475"/>
            <a:ext cx="3962400" cy="4061966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075" y="1428750"/>
            <a:ext cx="1285131" cy="25717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05325" y="1495425"/>
            <a:ext cx="10946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— STAKEHOLDER</a:t>
            </a:r>
            <a:endParaRPr lang="en-US" sz="750" dirty="0"/>
          </a:p>
        </p:txBody>
      </p:sp>
      <p:sp>
        <p:nvSpPr>
          <p:cNvPr id="16" name="Text 9"/>
          <p:cNvSpPr txBox="1"/>
          <p:nvPr/>
        </p:nvSpPr>
        <p:spPr>
          <a:xfrm>
            <a:off x="4410075" y="1771650"/>
            <a:ext cx="337185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did stakeholders react?</a:t>
            </a:r>
            <a:endParaRPr lang="en-US" sz="1013" dirty="0"/>
          </a:p>
        </p:txBody>
      </p:sp>
      <p:sp>
        <p:nvSpPr>
          <p:cNvPr id="17" name="Text 10"/>
          <p:cNvSpPr txBox="1"/>
          <p:nvPr/>
        </p:nvSpPr>
        <p:spPr>
          <a:xfrm>
            <a:off x="4410075" y="2034034"/>
            <a:ext cx="33718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Initially frustrated due to lack of visibility — learned from email, not workshop.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4527203" y="2491234"/>
            <a:ext cx="3254722" cy="1451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transparency + walkthrough, appreciated</a:t>
            </a:r>
            <a:endParaRPr lang="en-US" sz="840" dirty="0"/>
          </a:p>
        </p:txBody>
      </p:sp>
      <p:sp>
        <p:nvSpPr>
          <p:cNvPr id="19" name="Text 12"/>
          <p:cNvSpPr txBox="1"/>
          <p:nvPr/>
        </p:nvSpPr>
        <p:spPr>
          <a:xfrm>
            <a:off x="4527203" y="2693491"/>
            <a:ext cx="3254722" cy="2997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Turned into advocates — handover template reused for next 3 migrations</a:t>
            </a:r>
            <a:endParaRPr lang="en-US" sz="84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1133475"/>
            <a:ext cx="3962400" cy="4061966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175" y="1428750"/>
            <a:ext cx="1106835" cy="25717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353425" y="1495425"/>
            <a:ext cx="91633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HINDSIGHT</a:t>
            </a:r>
            <a:endParaRPr lang="en-US" sz="750" dirty="0"/>
          </a:p>
        </p:txBody>
      </p:sp>
      <p:sp>
        <p:nvSpPr>
          <p:cNvPr id="23" name="Text 14"/>
          <p:cNvSpPr txBox="1"/>
          <p:nvPr/>
        </p:nvSpPr>
        <p:spPr>
          <a:xfrm>
            <a:off x="8258175" y="1771650"/>
            <a:ext cx="337185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would you do differently?</a:t>
            </a:r>
            <a:endParaRPr lang="en-US" sz="1013" dirty="0"/>
          </a:p>
        </p:txBody>
      </p:sp>
      <p:sp>
        <p:nvSpPr>
          <p:cNvPr id="24" name="Text 15"/>
          <p:cNvSpPr txBox="1"/>
          <p:nvPr/>
        </p:nvSpPr>
        <p:spPr>
          <a:xfrm>
            <a:off x="8375303" y="2062609"/>
            <a:ext cx="3254722" cy="1451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business owner </a:t>
            </a:r>
            <a:pPr indent="0" marL="0">
              <a:buNone/>
            </a:pPr>
            <a:r>
              <a:rPr lang="en-US" sz="84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pPr indent="0" marL="0"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week 8</a:t>
            </a:r>
            <a:endParaRPr lang="en-US" sz="840" dirty="0"/>
          </a:p>
        </p:txBody>
      </p:sp>
      <p:sp>
        <p:nvSpPr>
          <p:cNvPr id="25" name="Text 16"/>
          <p:cNvSpPr txBox="1"/>
          <p:nvPr/>
        </p:nvSpPr>
        <p:spPr>
          <a:xfrm>
            <a:off x="8375303" y="2264866"/>
            <a:ext cx="3254722" cy="1451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success criteria together, not assume</a:t>
            </a:r>
            <a:endParaRPr lang="en-US" sz="840" dirty="0"/>
          </a:p>
        </p:txBody>
      </p:sp>
      <p:sp>
        <p:nvSpPr>
          <p:cNvPr id="26" name="Text 17"/>
          <p:cNvSpPr txBox="1"/>
          <p:nvPr/>
        </p:nvSpPr>
        <p:spPr>
          <a:xfrm>
            <a:off x="8375303" y="2467124"/>
            <a:ext cx="3254722" cy="1451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30-min checkpoint, not email at end</a:t>
            </a:r>
            <a:endParaRPr lang="en-US" sz="840" dirty="0"/>
          </a:p>
        </p:txBody>
      </p:sp>
      <p:sp>
        <p:nvSpPr>
          <p:cNvPr id="27" name="Text 18"/>
          <p:cNvSpPr txBox="1"/>
          <p:nvPr/>
        </p:nvSpPr>
        <p:spPr>
          <a:xfrm>
            <a:off x="8375303" y="2669381"/>
            <a:ext cx="3254722" cy="1451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UAT as part of Definition of Done</a:t>
            </a:r>
            <a:endParaRPr lang="en-US" sz="84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" y="5062091"/>
            <a:ext cx="5886450" cy="1700659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357366"/>
            <a:ext cx="1200448" cy="25717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57225" y="5424041"/>
            <a:ext cx="100994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PREVENTION</a:t>
            </a:r>
            <a:endParaRPr lang="en-US" sz="750" dirty="0"/>
          </a:p>
        </p:txBody>
      </p:sp>
      <p:sp>
        <p:nvSpPr>
          <p:cNvPr id="31" name="Text 20"/>
          <p:cNvSpPr txBox="1"/>
          <p:nvPr/>
        </p:nvSpPr>
        <p:spPr>
          <a:xfrm>
            <a:off x="561975" y="5700266"/>
            <a:ext cx="52959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do you prevent now?</a:t>
            </a:r>
            <a:endParaRPr lang="en-US" sz="1013" dirty="0"/>
          </a:p>
        </p:txBody>
      </p:sp>
      <p:sp>
        <p:nvSpPr>
          <p:cNvPr id="32" name="Text 21"/>
          <p:cNvSpPr txBox="1"/>
          <p:nvPr/>
        </p:nvSpPr>
        <p:spPr>
          <a:xfrm>
            <a:off x="561975" y="5962650"/>
            <a:ext cx="5295900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start with </a:t>
            </a:r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RACI: Business Owner, Tech Owner, Validator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3 checkpoints: Kickoff (success criteria), Mid (demo), Pre-close (UAT sign-off). </a:t>
            </a:r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project closes without business sign-off sheet.</a:t>
            </a:r>
            <a:endParaRPr lang="en-US" sz="9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5062091"/>
            <a:ext cx="5886450" cy="1700659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5" y="5357366"/>
            <a:ext cx="1352104" cy="25717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429375" y="5424041"/>
            <a:ext cx="116160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Q5 — FEEDBACK LINK</a:t>
            </a:r>
            <a:endParaRPr lang="en-US" sz="750" dirty="0"/>
          </a:p>
        </p:txBody>
      </p:sp>
      <p:sp>
        <p:nvSpPr>
          <p:cNvPr id="36" name="Text 23"/>
          <p:cNvSpPr txBox="1"/>
          <p:nvPr/>
        </p:nvSpPr>
        <p:spPr>
          <a:xfrm>
            <a:off x="6334125" y="5700266"/>
            <a:ext cx="52959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Tell me about tough feedback?</a:t>
            </a:r>
            <a:endParaRPr lang="en-US" sz="1013" dirty="0"/>
          </a:p>
        </p:txBody>
      </p:sp>
      <p:sp>
        <p:nvSpPr>
          <p:cNvPr id="37" name="Text 24"/>
          <p:cNvSpPr txBox="1"/>
          <p:nvPr/>
        </p:nvSpPr>
        <p:spPr>
          <a:xfrm>
            <a:off x="6334125" y="5962650"/>
            <a:ext cx="5295900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was: </a:t>
            </a:r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“Tech is great but business can't use it.”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stung, but changed my leadership. Now I measure success when business can decide, not just when pipeline is green. Same story, different angle.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0" y="0"/>
            <a:ext cx="3810000" cy="3619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314325"/>
            <a:ext cx="11353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L6 ARTIFACT — COPY THIS • BRING TO INTERVIEW MENTALLY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461963"/>
            <a:ext cx="113538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project closure </a:t>
            </a:r>
            <a:pPr indent="0" marL="0">
              <a:buNone/>
            </a:pPr>
            <a:r>
              <a:rPr lang="en-US" sz="2400" spc="-72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</a:t>
            </a:r>
            <a:pPr indent="0" marL="0">
              <a:buNone/>
            </a:pPr>
            <a:r>
              <a:rPr lang="en-US" sz="2400" b="1" spc="-72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what changed since mistake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24793"/>
            <a:ext cx="2560290" cy="543788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115318"/>
            <a:ext cx="247650" cy="2476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63625" y="1170087"/>
            <a:ext cx="146000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561975" y="1448693"/>
            <a:ext cx="1893540" cy="2704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Kickoff </a:t>
            </a:r>
            <a:pPr indent="0" marL="0">
              <a:buNone/>
            </a:pPr>
            <a:r>
              <a:rPr lang="en-US" sz="750" spc="1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ALIGNMENT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78061" y="1823889"/>
            <a:ext cx="1777454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Owner + Tech Owner + Validator</a:t>
            </a:r>
            <a:endParaRPr lang="en-US" sz="825" dirty="0"/>
          </a:p>
        </p:txBody>
      </p:sp>
      <p:sp>
        <p:nvSpPr>
          <p:cNvPr id="10" name="Text 5"/>
          <p:cNvSpPr txBox="1"/>
          <p:nvPr/>
        </p:nvSpPr>
        <p:spPr>
          <a:xfrm>
            <a:off x="678061" y="2174230"/>
            <a:ext cx="1777454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 = business metric, not tech</a:t>
            </a:r>
            <a:endParaRPr lang="en-US" sz="825" dirty="0"/>
          </a:p>
        </p:txBody>
      </p:sp>
      <p:sp>
        <p:nvSpPr>
          <p:cNvPr id="11" name="Text 6"/>
          <p:cNvSpPr txBox="1"/>
          <p:nvPr/>
        </p:nvSpPr>
        <p:spPr>
          <a:xfrm>
            <a:off x="678061" y="2524571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 cadence: weekly 30-min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190" y="724793"/>
            <a:ext cx="2560290" cy="5437882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565" y="1115318"/>
            <a:ext cx="247650" cy="24765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946648" y="1170087"/>
            <a:ext cx="156567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25" dirty="0"/>
          </a:p>
        </p:txBody>
      </p:sp>
      <p:sp>
        <p:nvSpPr>
          <p:cNvPr id="15" name="Text 8"/>
          <p:cNvSpPr txBox="1"/>
          <p:nvPr/>
        </p:nvSpPr>
        <p:spPr>
          <a:xfrm>
            <a:off x="2855565" y="1448693"/>
            <a:ext cx="1893540" cy="2704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 </a:t>
            </a:r>
            <a:pPr indent="0" marL="0">
              <a:buNone/>
            </a:pPr>
            <a:r>
              <a:rPr lang="en-US" sz="750" spc="1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PROGRESS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2971651" y="1823889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demo, not monthly</a:t>
            </a:r>
            <a:endParaRPr lang="en-US" sz="825" dirty="0"/>
          </a:p>
        </p:txBody>
      </p:sp>
      <p:sp>
        <p:nvSpPr>
          <p:cNvPr id="17" name="Text 10"/>
          <p:cNvSpPr txBox="1"/>
          <p:nvPr/>
        </p:nvSpPr>
        <p:spPr>
          <a:xfrm>
            <a:off x="2971651" y="2027634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Dictionary in Confluence</a:t>
            </a:r>
            <a:endParaRPr lang="en-US" sz="825" dirty="0"/>
          </a:p>
        </p:txBody>
      </p:sp>
      <p:sp>
        <p:nvSpPr>
          <p:cNvPr id="18" name="Text 11"/>
          <p:cNvSpPr txBox="1"/>
          <p:nvPr/>
        </p:nvSpPr>
        <p:spPr>
          <a:xfrm>
            <a:off x="2971651" y="2231380"/>
            <a:ext cx="1777454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UAT env ready early, shadow business</a:t>
            </a:r>
            <a:endParaRPr lang="en-US" sz="82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780" y="724793"/>
            <a:ext cx="2560290" cy="5437882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9155" y="1115318"/>
            <a:ext cx="247650" cy="24765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239643" y="1170087"/>
            <a:ext cx="157163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5149155" y="1448693"/>
            <a:ext cx="1893540" cy="2704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Validation </a:t>
            </a:r>
            <a:pPr indent="0" marL="0">
              <a:buNone/>
            </a:pPr>
            <a:r>
              <a:rPr lang="en-US" sz="750" spc="1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LAYERS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5265241" y="1823889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 counts, checksum, schema</a:t>
            </a:r>
            <a:endParaRPr lang="en-US" sz="825" dirty="0"/>
          </a:p>
        </p:txBody>
      </p:sp>
      <p:sp>
        <p:nvSpPr>
          <p:cNvPr id="24" name="Text 15"/>
          <p:cNvSpPr txBox="1"/>
          <p:nvPr/>
        </p:nvSpPr>
        <p:spPr>
          <a:xfrm>
            <a:off x="5265241" y="2027634"/>
            <a:ext cx="1777454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Business: UAT, sign-off, sample report review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5265241" y="2377976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Tolerance &lt;0.1% auto-check</a:t>
            </a:r>
            <a:endParaRPr lang="en-US" sz="825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9371" y="724793"/>
            <a:ext cx="2560290" cy="5437882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2746" y="1115318"/>
            <a:ext cx="247650" cy="24765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531596" y="1170087"/>
            <a:ext cx="158800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7442746" y="1448693"/>
            <a:ext cx="1893540" cy="2704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Handover </a:t>
            </a:r>
            <a:pPr indent="0" marL="0">
              <a:buNone/>
            </a:pPr>
            <a:r>
              <a:rPr lang="en-US" sz="750" spc="1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 READY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7558832" y="1823889"/>
            <a:ext cx="1777454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Runbook + Training + Support model</a:t>
            </a:r>
            <a:endParaRPr lang="en-US" sz="825" dirty="0"/>
          </a:p>
        </p:txBody>
      </p:sp>
      <p:sp>
        <p:nvSpPr>
          <p:cNvPr id="31" name="Text 20"/>
          <p:cNvSpPr txBox="1"/>
          <p:nvPr/>
        </p:nvSpPr>
        <p:spPr>
          <a:xfrm>
            <a:off x="7558832" y="2174230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Sign-off sheet mandatory</a:t>
            </a:r>
            <a:endParaRPr lang="en-US" sz="825" dirty="0"/>
          </a:p>
        </p:txBody>
      </p:sp>
      <p:sp>
        <p:nvSpPr>
          <p:cNvPr id="32" name="Text 21"/>
          <p:cNvSpPr txBox="1"/>
          <p:nvPr/>
        </p:nvSpPr>
        <p:spPr>
          <a:xfrm>
            <a:off x="7558832" y="2377976"/>
            <a:ext cx="1777454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Hypercare 1 week + rollback plan</a:t>
            </a:r>
            <a:endParaRPr lang="en-US" sz="825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961" y="724793"/>
            <a:ext cx="2560439" cy="5437882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6336" y="1115318"/>
            <a:ext cx="247650" cy="24765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9828014" y="1170087"/>
            <a:ext cx="155972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25" dirty="0"/>
          </a:p>
        </p:txBody>
      </p:sp>
      <p:sp>
        <p:nvSpPr>
          <p:cNvPr id="36" name="Text 23"/>
          <p:cNvSpPr txBox="1"/>
          <p:nvPr/>
        </p:nvSpPr>
        <p:spPr>
          <a:xfrm>
            <a:off x="9736336" y="1448693"/>
            <a:ext cx="1893689" cy="27042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Retro </a:t>
            </a:r>
            <a:pPr indent="0" marL="0">
              <a:buNone/>
            </a:pPr>
            <a:r>
              <a:rPr lang="en-US" sz="750" spc="1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UPDATE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9852422" y="1823889"/>
            <a:ext cx="1777603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comm gap?</a:t>
            </a:r>
            <a:endParaRPr lang="en-US" sz="825" dirty="0"/>
          </a:p>
        </p:txBody>
      </p:sp>
      <p:sp>
        <p:nvSpPr>
          <p:cNvPr id="38" name="Text 25"/>
          <p:cNvSpPr txBox="1"/>
          <p:nvPr/>
        </p:nvSpPr>
        <p:spPr>
          <a:xfrm>
            <a:off x="9852422" y="2027634"/>
            <a:ext cx="1777603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this checklist</a:t>
            </a:r>
            <a:endParaRPr lang="en-US" sz="825" dirty="0"/>
          </a:p>
        </p:txBody>
      </p:sp>
      <p:sp>
        <p:nvSpPr>
          <p:cNvPr id="39" name="Text 26"/>
          <p:cNvSpPr txBox="1"/>
          <p:nvPr/>
        </p:nvSpPr>
        <p:spPr>
          <a:xfrm>
            <a:off x="9852422" y="2231380"/>
            <a:ext cx="1777603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learning in team demo</a:t>
            </a:r>
            <a:endParaRPr lang="en-US" sz="825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5972175"/>
            <a:ext cx="11582400" cy="77152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3726061" y="6257925"/>
            <a:ext cx="117128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50" dirty="0"/>
          </a:p>
        </p:txBody>
      </p:sp>
      <p:sp>
        <p:nvSpPr>
          <p:cNvPr id="42" name="Text 28"/>
          <p:cNvSpPr txBox="1"/>
          <p:nvPr/>
        </p:nvSpPr>
        <p:spPr>
          <a:xfrm>
            <a:off x="3938439" y="6288881"/>
            <a:ext cx="173756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DEFINITION OF DONE =</a:t>
            </a:r>
            <a:endParaRPr lang="en-US" sz="825" dirty="0"/>
          </a:p>
        </p:txBody>
      </p:sp>
      <p:sp>
        <p:nvSpPr>
          <p:cNvPr id="43" name="Text 29"/>
          <p:cNvSpPr txBox="1"/>
          <p:nvPr/>
        </p:nvSpPr>
        <p:spPr>
          <a:xfrm>
            <a:off x="5771257" y="6276975"/>
            <a:ext cx="2694533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-11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Informed + Aligned + Able to Use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8000" cy="304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6067425"/>
            <a:ext cx="11658600" cy="71437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825" y="6324600"/>
            <a:ext cx="21401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804565" y="6351240"/>
            <a:ext cx="8998297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mistake: built bottom 3 layers perfectly, missed top red layer = L6 gap. Now </a:t>
            </a:r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of Done = Tech Done + Business Validation + Docs + Handover + Sign-off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381000" y="276225"/>
            <a:ext cx="114300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DEEP • TIER 1 BANK (NO DBS) • 400TB • 180 JOBS • ZERO DOWNTIME REQUIRED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81000" y="409575"/>
            <a:ext cx="11430000" cy="2799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b="1" spc="-63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Teradata → Hadoop — end-to-end flow + </a:t>
            </a:r>
            <a:pPr indent="0" marL="0">
              <a:buNone/>
            </a:pPr>
            <a:r>
              <a:rPr lang="en-US" sz="2100" spc="-6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mistake happened</a:t>
            </a:r>
            <a:endParaRPr lang="en-US" sz="2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766614"/>
            <a:ext cx="1276350" cy="5334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976164"/>
            <a:ext cx="89520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70471"/>
            <a:ext cx="3498800" cy="72568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638300" y="899071"/>
            <a:ext cx="3041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Teradata</a:t>
            </a:r>
            <a:endParaRPr lang="en-US" sz="825" dirty="0"/>
          </a:p>
        </p:txBody>
      </p:sp>
      <p:sp>
        <p:nvSpPr>
          <p:cNvPr id="12" name="Text 6"/>
          <p:cNvSpPr txBox="1"/>
          <p:nvPr/>
        </p:nvSpPr>
        <p:spPr>
          <a:xfrm>
            <a:off x="1638300" y="1043732"/>
            <a:ext cx="3041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15y • BTEQ export • 400TB</a:t>
            </a:r>
            <a:endParaRPr lang="en-US" sz="750" dirty="0"/>
          </a:p>
        </p:txBody>
      </p:sp>
      <p:sp>
        <p:nvSpPr>
          <p:cNvPr id="13" name="Text 7"/>
          <p:cNvSpPr txBox="1"/>
          <p:nvPr/>
        </p:nvSpPr>
        <p:spPr>
          <a:xfrm>
            <a:off x="4860875" y="964257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025" y="670471"/>
            <a:ext cx="3498949" cy="72568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146625" y="899071"/>
            <a:ext cx="304174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Sqoop → HDFS</a:t>
            </a:r>
            <a:endParaRPr lang="en-US" sz="825" dirty="0"/>
          </a:p>
        </p:txBody>
      </p:sp>
      <p:sp>
        <p:nvSpPr>
          <p:cNvPr id="16" name="Text 9"/>
          <p:cNvSpPr txBox="1"/>
          <p:nvPr/>
        </p:nvSpPr>
        <p:spPr>
          <a:xfrm>
            <a:off x="5146625" y="1043732"/>
            <a:ext cx="304174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 Avro • Count validation</a:t>
            </a:r>
            <a:endParaRPr lang="en-US" sz="750" dirty="0"/>
          </a:p>
        </p:txBody>
      </p:sp>
      <p:sp>
        <p:nvSpPr>
          <p:cNvPr id="17" name="Text 10"/>
          <p:cNvSpPr txBox="1"/>
          <p:nvPr/>
        </p:nvSpPr>
        <p:spPr>
          <a:xfrm>
            <a:off x="8369350" y="964257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500" y="670471"/>
            <a:ext cx="3498800" cy="72568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655100" y="899071"/>
            <a:ext cx="3041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HDFS Landing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8655100" y="1043732"/>
            <a:ext cx="3041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Parquet • Date partition</a:t>
            </a:r>
            <a:endParaRPr lang="en-US" sz="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" y="1320850"/>
            <a:ext cx="1276350" cy="5334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57200" y="1530400"/>
            <a:ext cx="89520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7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1224707"/>
            <a:ext cx="2621756" cy="725686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638300" y="1453307"/>
            <a:ext cx="2164556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 Staging</a:t>
            </a:r>
            <a:endParaRPr lang="en-US" sz="825" dirty="0"/>
          </a:p>
        </p:txBody>
      </p:sp>
      <p:sp>
        <p:nvSpPr>
          <p:cNvPr id="25" name="Text 15"/>
          <p:cNvSpPr txBox="1"/>
          <p:nvPr/>
        </p:nvSpPr>
        <p:spPr>
          <a:xfrm>
            <a:off x="1638300" y="1597968"/>
            <a:ext cx="216455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match 100%</a:t>
            </a:r>
            <a:endParaRPr lang="en-US" sz="750" dirty="0"/>
          </a:p>
        </p:txBody>
      </p:sp>
      <p:sp>
        <p:nvSpPr>
          <p:cNvPr id="26" name="Text 16"/>
          <p:cNvSpPr txBox="1"/>
          <p:nvPr/>
        </p:nvSpPr>
        <p:spPr>
          <a:xfrm>
            <a:off x="3983831" y="1518493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0981" y="1224707"/>
            <a:ext cx="2621756" cy="72568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269581" y="1453307"/>
            <a:ext cx="2164556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4269581" y="1597968"/>
            <a:ext cx="216455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 window • SCD2</a:t>
            </a:r>
            <a:endParaRPr lang="en-US" sz="750" dirty="0"/>
          </a:p>
        </p:txBody>
      </p:sp>
      <p:sp>
        <p:nvSpPr>
          <p:cNvPr id="30" name="Text 19"/>
          <p:cNvSpPr txBox="1"/>
          <p:nvPr/>
        </p:nvSpPr>
        <p:spPr>
          <a:xfrm>
            <a:off x="6615113" y="1518493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2263" y="1224707"/>
            <a:ext cx="2621756" cy="725686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900863" y="1453307"/>
            <a:ext cx="2164556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 Curated</a:t>
            </a:r>
            <a:endParaRPr lang="en-US" sz="825" dirty="0"/>
          </a:p>
        </p:txBody>
      </p:sp>
      <p:sp>
        <p:nvSpPr>
          <p:cNvPr id="33" name="Text 21"/>
          <p:cNvSpPr txBox="1"/>
          <p:nvPr/>
        </p:nvSpPr>
        <p:spPr>
          <a:xfrm>
            <a:off x="6900863" y="1597968"/>
            <a:ext cx="216455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Checksum + Sample</a:t>
            </a:r>
            <a:endParaRPr lang="en-US" sz="750" dirty="0"/>
          </a:p>
        </p:txBody>
      </p:sp>
      <p:sp>
        <p:nvSpPr>
          <p:cNvPr id="34" name="Text 22"/>
          <p:cNvSpPr txBox="1"/>
          <p:nvPr/>
        </p:nvSpPr>
        <p:spPr>
          <a:xfrm>
            <a:off x="9246394" y="1518493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3544" y="1224707"/>
            <a:ext cx="2621756" cy="725686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532144" y="1453307"/>
            <a:ext cx="2164556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Impala Views</a:t>
            </a:r>
            <a:endParaRPr lang="en-US" sz="825" dirty="0"/>
          </a:p>
        </p:txBody>
      </p:sp>
      <p:sp>
        <p:nvSpPr>
          <p:cNvPr id="37" name="Text 24"/>
          <p:cNvSpPr txBox="1"/>
          <p:nvPr/>
        </p:nvSpPr>
        <p:spPr>
          <a:xfrm>
            <a:off x="9532144" y="1597968"/>
            <a:ext cx="216455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query for business</a:t>
            </a:r>
            <a:endParaRPr lang="en-US" sz="7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" y="1875086"/>
            <a:ext cx="1276350" cy="5334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57200" y="2084636"/>
            <a:ext cx="8953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+ OPS</a:t>
            </a:r>
            <a:endParaRPr lang="en-US" sz="7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9700" y="1778943"/>
            <a:ext cx="3498800" cy="725686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1638300" y="2007543"/>
            <a:ext cx="3041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 Reports</a:t>
            </a:r>
            <a:endParaRPr lang="en-US" sz="825" dirty="0"/>
          </a:p>
        </p:txBody>
      </p:sp>
      <p:sp>
        <p:nvSpPr>
          <p:cNvPr id="42" name="Text 27"/>
          <p:cNvSpPr txBox="1"/>
          <p:nvPr/>
        </p:nvSpPr>
        <p:spPr>
          <a:xfrm>
            <a:off x="1638300" y="2152204"/>
            <a:ext cx="3041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/ Finance / Compliance</a:t>
            </a:r>
            <a:endParaRPr lang="en-US" sz="750" dirty="0"/>
          </a:p>
        </p:txBody>
      </p:sp>
      <p:sp>
        <p:nvSpPr>
          <p:cNvPr id="43" name="Text 28"/>
          <p:cNvSpPr txBox="1"/>
          <p:nvPr/>
        </p:nvSpPr>
        <p:spPr>
          <a:xfrm>
            <a:off x="4860875" y="2072729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8025" y="1778943"/>
            <a:ext cx="3498949" cy="725686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5146625" y="2007543"/>
            <a:ext cx="304174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Oozie + Monitor</a:t>
            </a:r>
            <a:endParaRPr lang="en-US" sz="825" dirty="0"/>
          </a:p>
        </p:txBody>
      </p:sp>
      <p:sp>
        <p:nvSpPr>
          <p:cNvPr id="46" name="Text 30"/>
          <p:cNvSpPr txBox="1"/>
          <p:nvPr/>
        </p:nvSpPr>
        <p:spPr>
          <a:xfrm>
            <a:off x="5146625" y="2152204"/>
            <a:ext cx="304174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 DAG green</a:t>
            </a:r>
            <a:endParaRPr lang="en-US" sz="750" dirty="0"/>
          </a:p>
        </p:txBody>
      </p:sp>
      <p:sp>
        <p:nvSpPr>
          <p:cNvPr id="47" name="Text 31"/>
          <p:cNvSpPr txBox="1"/>
          <p:nvPr/>
        </p:nvSpPr>
        <p:spPr>
          <a:xfrm>
            <a:off x="8369350" y="2072729"/>
            <a:ext cx="1047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25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6500" y="1778943"/>
            <a:ext cx="3498800" cy="725686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655100" y="2007543"/>
            <a:ext cx="3041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downstream</a:t>
            </a:r>
            <a:endParaRPr lang="en-US" sz="825" dirty="0"/>
          </a:p>
        </p:txBody>
      </p:sp>
      <p:sp>
        <p:nvSpPr>
          <p:cNvPr id="50" name="Text 33"/>
          <p:cNvSpPr txBox="1"/>
          <p:nvPr/>
        </p:nvSpPr>
        <p:spPr>
          <a:xfrm>
            <a:off x="8655100" y="2152204"/>
            <a:ext cx="3041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downtime regulatory</a:t>
            </a:r>
            <a:endParaRPr lang="en-US" sz="75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00" y="2372171"/>
            <a:ext cx="1276350" cy="647700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457200" y="2581721"/>
            <a:ext cx="8953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LAYER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(MISTAKE)</a:t>
            </a:r>
            <a:endParaRPr lang="en-US" sz="75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9700" y="2333179"/>
            <a:ext cx="2653010" cy="725686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1638300" y="2561779"/>
            <a:ext cx="21958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D21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UAT DB</a:t>
            </a:r>
            <a:endParaRPr lang="en-US" sz="825" dirty="0"/>
          </a:p>
        </p:txBody>
      </p:sp>
      <p:sp>
        <p:nvSpPr>
          <p:cNvPr id="55" name="Text 36"/>
          <p:cNvSpPr txBox="1"/>
          <p:nvPr/>
        </p:nvSpPr>
        <p:spPr>
          <a:xfrm>
            <a:off x="1638300" y="2706439"/>
            <a:ext cx="219581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for business</a:t>
            </a:r>
            <a:endParaRPr lang="en-US" sz="750" dirty="0"/>
          </a:p>
        </p:txBody>
      </p:sp>
      <p:sp>
        <p:nvSpPr>
          <p:cNvPr id="56" name="Text 37"/>
          <p:cNvSpPr txBox="1"/>
          <p:nvPr/>
        </p:nvSpPr>
        <p:spPr>
          <a:xfrm>
            <a:off x="4015085" y="2626965"/>
            <a:ext cx="6295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825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30414" y="2333179"/>
            <a:ext cx="2653159" cy="725686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4259014" y="2561779"/>
            <a:ext cx="219595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D21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Alignment</a:t>
            </a:r>
            <a:endParaRPr lang="en-US" sz="825" dirty="0"/>
          </a:p>
        </p:txBody>
      </p:sp>
      <p:sp>
        <p:nvSpPr>
          <p:cNvPr id="59" name="Text 39"/>
          <p:cNvSpPr txBox="1"/>
          <p:nvPr/>
        </p:nvSpPr>
        <p:spPr>
          <a:xfrm>
            <a:off x="4259014" y="2706439"/>
            <a:ext cx="219595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Workshop: old vs new</a:t>
            </a:r>
            <a:endParaRPr lang="en-US" sz="750" dirty="0"/>
          </a:p>
        </p:txBody>
      </p:sp>
      <p:sp>
        <p:nvSpPr>
          <p:cNvPr id="60" name="Text 40"/>
          <p:cNvSpPr txBox="1"/>
          <p:nvPr/>
        </p:nvSpPr>
        <p:spPr>
          <a:xfrm>
            <a:off x="6635948" y="2626965"/>
            <a:ext cx="6295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825" dirty="0"/>
          </a:p>
        </p:txBody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51278" y="2333179"/>
            <a:ext cx="2653159" cy="725686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6879878" y="2561779"/>
            <a:ext cx="219595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D21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Sign-off + Comm</a:t>
            </a:r>
            <a:endParaRPr lang="en-US" sz="825" dirty="0"/>
          </a:p>
        </p:txBody>
      </p:sp>
      <p:sp>
        <p:nvSpPr>
          <p:cNvPr id="63" name="Text 42"/>
          <p:cNvSpPr txBox="1"/>
          <p:nvPr/>
        </p:nvSpPr>
        <p:spPr>
          <a:xfrm>
            <a:off x="6879878" y="2706439"/>
            <a:ext cx="219595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• Training • Hypercare</a:t>
            </a:r>
            <a:endParaRPr lang="en-US" sz="750" dirty="0"/>
          </a:p>
        </p:txBody>
      </p:sp>
      <p:sp>
        <p:nvSpPr>
          <p:cNvPr id="64" name="Text 43"/>
          <p:cNvSpPr txBox="1"/>
          <p:nvPr/>
        </p:nvSpPr>
        <p:spPr>
          <a:xfrm>
            <a:off x="9256812" y="2626965"/>
            <a:ext cx="6295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825" dirty="0"/>
          </a:p>
        </p:txBody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2141" y="2333179"/>
            <a:ext cx="2653159" cy="725686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9500741" y="2561779"/>
            <a:ext cx="219595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D21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</a:t>
            </a:r>
            <a:endParaRPr lang="en-US" sz="825" dirty="0"/>
          </a:p>
        </p:txBody>
      </p:sp>
      <p:sp>
        <p:nvSpPr>
          <p:cNvPr id="67" name="Text 45"/>
          <p:cNvSpPr txBox="1"/>
          <p:nvPr/>
        </p:nvSpPr>
        <p:spPr>
          <a:xfrm>
            <a:off x="9500741" y="2706439"/>
            <a:ext cx="219595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from email</a:t>
            </a:r>
            <a:endParaRPr lang="en-US" sz="75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700" y="2887414"/>
            <a:ext cx="3981450" cy="921841"/>
          </a:xfrm>
          <a:prstGeom prst="rect">
            <a:avLst/>
          </a:prstGeom>
        </p:spPr>
      </p:pic>
      <p:sp>
        <p:nvSpPr>
          <p:cNvPr id="69" name="Text 46"/>
          <p:cNvSpPr txBox="1"/>
          <p:nvPr/>
        </p:nvSpPr>
        <p:spPr>
          <a:xfrm>
            <a:off x="495300" y="3125539"/>
            <a:ext cx="35242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TOOLS</a:t>
            </a:r>
            <a:endParaRPr lang="en-US" sz="750" dirty="0"/>
          </a:p>
        </p:txBody>
      </p:sp>
      <p:sp>
        <p:nvSpPr>
          <p:cNvPr id="70" name="Text 47"/>
          <p:cNvSpPr txBox="1"/>
          <p:nvPr/>
        </p:nvSpPr>
        <p:spPr>
          <a:xfrm>
            <a:off x="495300" y="3287464"/>
            <a:ext cx="3524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BTEQ export, Sqoop incremental by last_modified, Avro → Parquet conversion, HDFS replication 3</a:t>
            </a:r>
            <a:endParaRPr lang="en-US" sz="825" dirty="0"/>
          </a:p>
        </p:txBody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05275" y="2887414"/>
            <a:ext cx="3981450" cy="921841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4333875" y="3125539"/>
            <a:ext cx="35242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DETAILS</a:t>
            </a:r>
            <a:endParaRPr lang="en-US" sz="750" dirty="0"/>
          </a:p>
        </p:txBody>
      </p:sp>
      <p:sp>
        <p:nvSpPr>
          <p:cNvPr id="73" name="Text 49"/>
          <p:cNvSpPr txBox="1"/>
          <p:nvPr/>
        </p:nvSpPr>
        <p:spPr>
          <a:xfrm>
            <a:off x="4333875" y="3287464"/>
            <a:ext cx="3524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 partitioned by dt, Spark window row_number for dedup, SCD2 for regulatory history, Impala for sub-sec</a:t>
            </a:r>
            <a:endParaRPr lang="en-US" sz="825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43850" y="2887414"/>
            <a:ext cx="3981450" cy="921841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8172450" y="3125539"/>
            <a:ext cx="35242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YOU HAD VS MISSED</a:t>
            </a:r>
            <a:endParaRPr lang="en-US" sz="750" dirty="0"/>
          </a:p>
        </p:txBody>
      </p:sp>
      <p:sp>
        <p:nvSpPr>
          <p:cNvPr id="76" name="Text 51"/>
          <p:cNvSpPr txBox="1"/>
          <p:nvPr/>
        </p:nvSpPr>
        <p:spPr>
          <a:xfrm>
            <a:off x="8172450" y="3287464"/>
            <a:ext cx="35242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Had: counts, checksum, schema. Missed: Business UAT, sign-off sheet, runbook for Risk Head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0" y="0"/>
            <a:ext cx="4762500" cy="3238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24759" y="276225"/>
            <a:ext cx="414233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MINDSET SHIFT — EVOLUTION OF LEADERSHIP • L6 GROWTH STORY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2082254" y="500063"/>
            <a:ext cx="8027343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250" b="1" spc="-67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mistake vs After — the interviewer wants this evolution</a:t>
            </a:r>
            <a:endParaRPr lang="en-US" sz="2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704" y="914400"/>
            <a:ext cx="2642443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08054" y="990600"/>
            <a:ext cx="23757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Completion ≠ Business Readiness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23950"/>
            <a:ext cx="3924300" cy="215637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0075" y="1514475"/>
            <a:ext cx="31813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BEFORE — JUNIOR SENIOR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00075" y="1733550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success</a:t>
            </a:r>
            <a:endParaRPr lang="en-US" sz="825" dirty="0"/>
          </a:p>
        </p:txBody>
      </p:sp>
      <p:sp>
        <p:nvSpPr>
          <p:cNvPr id="10" name="Text 5"/>
          <p:cNvSpPr txBox="1"/>
          <p:nvPr/>
        </p:nvSpPr>
        <p:spPr>
          <a:xfrm>
            <a:off x="600075" y="197167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green</a:t>
            </a:r>
            <a:endParaRPr lang="en-US" sz="825" dirty="0"/>
          </a:p>
        </p:txBody>
      </p:sp>
      <p:sp>
        <p:nvSpPr>
          <p:cNvPr id="11" name="Text 6"/>
          <p:cNvSpPr txBox="1"/>
          <p:nvPr/>
        </p:nvSpPr>
        <p:spPr>
          <a:xfrm>
            <a:off x="600075" y="221932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counts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600075" y="246697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at end</a:t>
            </a:r>
            <a:endParaRPr lang="en-US" sz="825" dirty="0"/>
          </a:p>
        </p:txBody>
      </p:sp>
      <p:sp>
        <p:nvSpPr>
          <p:cNvPr id="13" name="Text 8"/>
          <p:cNvSpPr txBox="1"/>
          <p:nvPr/>
        </p:nvSpPr>
        <p:spPr>
          <a:xfrm>
            <a:off x="600075" y="271462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merged</a:t>
            </a:r>
            <a:endParaRPr lang="en-US" sz="8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1123950"/>
            <a:ext cx="4381500" cy="279082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1447800"/>
            <a:ext cx="3810000" cy="214312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1123950"/>
            <a:ext cx="3924300" cy="2156371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410575" y="1514475"/>
            <a:ext cx="3181350" cy="12040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25" b="1" spc="66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AFTER — L6 MINDSET</a:t>
            </a:r>
            <a:endParaRPr lang="en-US" sz="825" dirty="0"/>
          </a:p>
        </p:txBody>
      </p:sp>
      <p:sp>
        <p:nvSpPr>
          <p:cNvPr id="18" name="Text 10"/>
          <p:cNvSpPr txBox="1"/>
          <p:nvPr/>
        </p:nvSpPr>
        <p:spPr>
          <a:xfrm>
            <a:off x="8410575" y="1733550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outcome</a:t>
            </a:r>
            <a:endParaRPr lang="en-US" sz="825" dirty="0"/>
          </a:p>
        </p:txBody>
      </p:sp>
      <p:sp>
        <p:nvSpPr>
          <p:cNvPr id="19" name="Text 11"/>
          <p:cNvSpPr txBox="1"/>
          <p:nvPr/>
        </p:nvSpPr>
        <p:spPr>
          <a:xfrm>
            <a:off x="8410575" y="197167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can decide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8410575" y="221932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UAT + Tech</a:t>
            </a:r>
            <a:endParaRPr lang="en-US" sz="825" dirty="0"/>
          </a:p>
        </p:txBody>
      </p:sp>
      <p:sp>
        <p:nvSpPr>
          <p:cNvPr id="21" name="Text 13"/>
          <p:cNvSpPr txBox="1"/>
          <p:nvPr/>
        </p:nvSpPr>
        <p:spPr>
          <a:xfrm>
            <a:off x="8410575" y="246697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from Day 1</a:t>
            </a:r>
            <a:endParaRPr lang="en-US" sz="825" dirty="0"/>
          </a:p>
        </p:txBody>
      </p:sp>
      <p:sp>
        <p:nvSpPr>
          <p:cNvPr id="22" name="Text 14"/>
          <p:cNvSpPr txBox="1"/>
          <p:nvPr/>
        </p:nvSpPr>
        <p:spPr>
          <a:xfrm>
            <a:off x="8410575" y="2714625"/>
            <a:ext cx="318135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Sign-off + Able to use</a:t>
            </a:r>
            <a:endParaRPr lang="en-US" sz="82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" y="5762923"/>
            <a:ext cx="3898850" cy="98077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61975" y="6001048"/>
            <a:ext cx="3422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spc="50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ACCOUNTABILITY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561975" y="6183809"/>
            <a:ext cx="34226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“I missed” not “we missed”.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 communication gap, not blame legacy or business.</a:t>
            </a:r>
            <a:endParaRPr lang="en-US" sz="9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6500" y="5762923"/>
            <a:ext cx="3898850" cy="980777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384625" y="6001048"/>
            <a:ext cx="34226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spc="50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CORRECTION</a:t>
            </a:r>
            <a:endParaRPr lang="en-US" sz="825" dirty="0"/>
          </a:p>
        </p:txBody>
      </p:sp>
      <p:sp>
        <p:nvSpPr>
          <p:cNvPr id="28" name="Text 18"/>
          <p:cNvSpPr txBox="1"/>
          <p:nvPr/>
        </p:nvSpPr>
        <p:spPr>
          <a:xfrm>
            <a:off x="4384625" y="6183809"/>
            <a:ext cx="34226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+ lineage + hypercare 1 week.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Did in next 48h — turned frustrated stakeholders into advocates.</a:t>
            </a:r>
            <a:endParaRPr lang="en-US" sz="9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9151" y="5762923"/>
            <a:ext cx="3898999" cy="980777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207276" y="6001048"/>
            <a:ext cx="3422749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spc="50" kern="0" dirty="0">
                <a:solidFill>
                  <a:srgbClr val="86868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PREVENTION SYSTEM</a:t>
            </a:r>
            <a:endParaRPr lang="en-US" sz="825" dirty="0"/>
          </a:p>
        </p:txBody>
      </p:sp>
      <p:sp>
        <p:nvSpPr>
          <p:cNvPr id="31" name="Text 20"/>
          <p:cNvSpPr txBox="1"/>
          <p:nvPr/>
        </p:nvSpPr>
        <p:spPr>
          <a:xfrm>
            <a:off x="8207276" y="6183809"/>
            <a:ext cx="3422749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 + 3 checkpoints + Trust Layer.</a:t>
            </a:r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Now mandatory checklist on every migration. Business informed, aligned, able to use.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0"/>
            <a:ext cx="3619500" cy="3429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276225"/>
            <a:ext cx="11353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— ONE PAGE TO MEMORIZE BEFORE INTERVIEW — 3 STORIES = 1 SYSTEM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423863"/>
            <a:ext cx="11353800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67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stories in one page — easy remember</a:t>
            </a:r>
            <a:endParaRPr lang="en-US" sz="2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7700"/>
            <a:ext cx="4076700" cy="55911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063675"/>
            <a:ext cx="266700" cy="2667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95623" y="1120825"/>
            <a:ext cx="17115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2025" y="1038225"/>
            <a:ext cx="1795463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Bank Tier 1 SG</a:t>
            </a:r>
            <a:endParaRPr lang="en-US" sz="1013" dirty="0"/>
          </a:p>
        </p:txBody>
      </p:sp>
      <p:sp>
        <p:nvSpPr>
          <p:cNvPr id="9" name="Text 4"/>
          <p:cNvSpPr txBox="1"/>
          <p:nvPr/>
        </p:nvSpPr>
        <p:spPr>
          <a:xfrm>
            <a:off x="962025" y="1208187"/>
            <a:ext cx="179546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Teradata → Hadoop 400TB 180 jobs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470124"/>
            <a:ext cx="3333750" cy="597991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00075" y="1574899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</a:t>
            </a:r>
            <a:endParaRPr lang="en-US" sz="750" dirty="0"/>
          </a:p>
        </p:txBody>
      </p:sp>
      <p:sp>
        <p:nvSpPr>
          <p:cNvPr id="12" name="Text 6"/>
          <p:cNvSpPr txBox="1"/>
          <p:nvPr/>
        </p:nvSpPr>
        <p:spPr>
          <a:xfrm>
            <a:off x="600075" y="1746349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communication gap — perfect tech validation, no business visibility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2163366"/>
            <a:ext cx="3333750" cy="597991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00075" y="2268141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endParaRPr lang="en-US" sz="750" dirty="0"/>
          </a:p>
        </p:txBody>
      </p:sp>
      <p:sp>
        <p:nvSpPr>
          <p:cNvPr id="15" name="Text 8"/>
          <p:cNvSpPr txBox="1"/>
          <p:nvPr/>
        </p:nvSpPr>
        <p:spPr>
          <a:xfrm>
            <a:off x="600075" y="2439591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+ lineage + status deck + 1 wk hypercare + sign-off as exit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856607"/>
            <a:ext cx="3333750" cy="43234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00075" y="2961382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</a:t>
            </a:r>
            <a:endParaRPr lang="en-US" sz="750" dirty="0"/>
          </a:p>
        </p:txBody>
      </p:sp>
      <p:sp>
        <p:nvSpPr>
          <p:cNvPr id="18" name="Text 10"/>
          <p:cNvSpPr txBox="1"/>
          <p:nvPr/>
        </p:nvSpPr>
        <p:spPr>
          <a:xfrm>
            <a:off x="600075" y="3132832"/>
            <a:ext cx="333375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Done ≠ Business Ready</a:t>
            </a:r>
            <a:endParaRPr lang="en-US" sz="9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3384203"/>
            <a:ext cx="3333750" cy="333375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479453"/>
            <a:ext cx="1126034" cy="23812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85800" y="3536603"/>
            <a:ext cx="95458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first • Classic L6</a:t>
            </a:r>
            <a:endParaRPr lang="en-US" sz="750" dirty="0"/>
          </a:p>
        </p:txBody>
      </p:sp>
      <p:sp>
        <p:nvSpPr>
          <p:cNvPr id="22" name="Text 12"/>
          <p:cNvSpPr txBox="1"/>
          <p:nvPr/>
        </p:nvSpPr>
        <p:spPr>
          <a:xfrm>
            <a:off x="3468291" y="3538984"/>
            <a:ext cx="465534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85-90 sec</a:t>
            </a:r>
            <a:endParaRPr lang="en-US" sz="7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7650" y="647700"/>
            <a:ext cx="4076700" cy="5591175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1063675"/>
            <a:ext cx="266700" cy="2667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4530030" y="1120825"/>
            <a:ext cx="16579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4791075" y="1038225"/>
            <a:ext cx="1595884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Lazada SG E-comm</a:t>
            </a:r>
            <a:endParaRPr lang="en-US" sz="1013" dirty="0"/>
          </a:p>
        </p:txBody>
      </p:sp>
      <p:sp>
        <p:nvSpPr>
          <p:cNvPr id="27" name="Text 15"/>
          <p:cNvSpPr txBox="1"/>
          <p:nvPr/>
        </p:nvSpPr>
        <p:spPr>
          <a:xfrm>
            <a:off x="4791075" y="1208187"/>
            <a:ext cx="159588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BigQuery + Dataflow Seller Mart</a:t>
            </a:r>
            <a:endParaRPr lang="en-US" sz="825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125" y="1470124"/>
            <a:ext cx="3333750" cy="597991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429125" y="1574899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</a:t>
            </a:r>
            <a:endParaRPr lang="en-US" sz="750" dirty="0"/>
          </a:p>
        </p:txBody>
      </p:sp>
      <p:sp>
        <p:nvSpPr>
          <p:cNvPr id="30" name="Text 17"/>
          <p:cNvSpPr txBox="1"/>
          <p:nvPr/>
        </p:nvSpPr>
        <p:spPr>
          <a:xfrm>
            <a:off x="4429125" y="1746349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definition not validated — Marketing vs Finance GMV/active mismatch, daily vs hourly</a:t>
            </a:r>
            <a:endParaRPr lang="en-US" sz="9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9125" y="2163366"/>
            <a:ext cx="3333750" cy="597991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4429125" y="2268141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endParaRPr lang="en-US" sz="750" dirty="0"/>
          </a:p>
        </p:txBody>
      </p:sp>
      <p:sp>
        <p:nvSpPr>
          <p:cNvPr id="33" name="Text 19"/>
          <p:cNvSpPr txBox="1"/>
          <p:nvPr/>
        </p:nvSpPr>
        <p:spPr>
          <a:xfrm>
            <a:off x="4429125" y="2439591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Map + Metric Dictionary + hourly for top 5% (80% GMV) + Slack alert</a:t>
            </a:r>
            <a:endParaRPr lang="en-US" sz="9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125" y="2856607"/>
            <a:ext cx="3333750" cy="432346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4429125" y="2961382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</a:t>
            </a:r>
            <a:endParaRPr lang="en-US" sz="750" dirty="0"/>
          </a:p>
        </p:txBody>
      </p:sp>
      <p:sp>
        <p:nvSpPr>
          <p:cNvPr id="36" name="Text 21"/>
          <p:cNvSpPr txBox="1"/>
          <p:nvPr/>
        </p:nvSpPr>
        <p:spPr>
          <a:xfrm>
            <a:off x="4429125" y="3132832"/>
            <a:ext cx="333375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validation reduces rework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25" y="3384203"/>
            <a:ext cx="3333750" cy="333375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9125" y="3479453"/>
            <a:ext cx="1235869" cy="23812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4514850" y="3536603"/>
            <a:ext cx="106441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 speed / metrics</a:t>
            </a:r>
            <a:endParaRPr lang="en-US" sz="750" dirty="0"/>
          </a:p>
        </p:txBody>
      </p:sp>
      <p:sp>
        <p:nvSpPr>
          <p:cNvPr id="40" name="Text 23"/>
          <p:cNvSpPr txBox="1"/>
          <p:nvPr/>
        </p:nvSpPr>
        <p:spPr>
          <a:xfrm>
            <a:off x="6996857" y="3538984"/>
            <a:ext cx="76601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20%→85% WAU</a:t>
            </a:r>
            <a:endParaRPr lang="en-US" sz="75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86700" y="647700"/>
            <a:ext cx="4076700" cy="5591175"/>
          </a:xfrm>
          <a:prstGeom prst="rect">
            <a:avLst/>
          </a:prstGeom>
        </p:spPr>
      </p:pic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8175" y="1063675"/>
            <a:ext cx="266700" cy="266700"/>
          </a:xfrm>
          <a:prstGeom prst="rect">
            <a:avLst/>
          </a:prstGeom>
        </p:spPr>
      </p:pic>
      <p:sp>
        <p:nvSpPr>
          <p:cNvPr id="43" name="Text 24"/>
          <p:cNvSpPr txBox="1"/>
          <p:nvPr/>
        </p:nvSpPr>
        <p:spPr>
          <a:xfrm>
            <a:off x="8338691" y="1120825"/>
            <a:ext cx="18618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Text 25"/>
          <p:cNvSpPr txBox="1"/>
          <p:nvPr/>
        </p:nvSpPr>
        <p:spPr>
          <a:xfrm>
            <a:off x="8620125" y="1038225"/>
            <a:ext cx="1596777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1D1D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Makro Retail</a:t>
            </a:r>
            <a:endParaRPr lang="en-US" sz="1013" dirty="0"/>
          </a:p>
        </p:txBody>
      </p:sp>
      <p:sp>
        <p:nvSpPr>
          <p:cNvPr id="45" name="Text 26"/>
          <p:cNvSpPr txBox="1"/>
          <p:nvPr/>
        </p:nvSpPr>
        <p:spPr>
          <a:xfrm>
            <a:off x="8620125" y="1208187"/>
            <a:ext cx="159677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+ dbt POS/SAP/WMS</a:t>
            </a:r>
            <a:endParaRPr lang="en-US" sz="825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8175" y="1470124"/>
            <a:ext cx="3333750" cy="597991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8258175" y="1574899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</a:t>
            </a:r>
            <a:endParaRPr lang="en-US" sz="750" dirty="0"/>
          </a:p>
        </p:txBody>
      </p:sp>
      <p:sp>
        <p:nvSpPr>
          <p:cNvPr id="48" name="Text 28"/>
          <p:cNvSpPr txBox="1"/>
          <p:nvPr/>
        </p:nvSpPr>
        <p:spPr>
          <a:xfrm>
            <a:off x="8258175" y="1746349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business recon — only tech tests. $10M vs $9.7M gap, back-margin timing</a:t>
            </a:r>
            <a:endParaRPr lang="en-US" sz="90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8175" y="2163366"/>
            <a:ext cx="3333750" cy="597991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8258175" y="2268141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endParaRPr lang="en-US" sz="750" dirty="0"/>
          </a:p>
        </p:txBody>
      </p:sp>
      <p:sp>
        <p:nvSpPr>
          <p:cNvPr id="51" name="Text 30"/>
          <p:cNvSpPr txBox="1"/>
          <p:nvPr/>
        </p:nvSpPr>
        <p:spPr>
          <a:xfrm>
            <a:off x="8258175" y="2439591"/>
            <a:ext cx="33337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3-layer Reconciliation Framework + Business Rules Engine + KPI ownership + PagerDuty</a:t>
            </a:r>
            <a:endParaRPr lang="en-US" sz="90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58175" y="2856607"/>
            <a:ext cx="3333750" cy="432346"/>
          </a:xfrm>
          <a:prstGeom prst="rect">
            <a:avLst/>
          </a:prstGeom>
        </p:spPr>
      </p:pic>
      <p:sp>
        <p:nvSpPr>
          <p:cNvPr id="53" name="Text 31"/>
          <p:cNvSpPr txBox="1"/>
          <p:nvPr/>
        </p:nvSpPr>
        <p:spPr>
          <a:xfrm>
            <a:off x="8258175" y="2961382"/>
            <a:ext cx="3333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</a:t>
            </a:r>
            <a:endParaRPr lang="en-US" sz="750" dirty="0"/>
          </a:p>
        </p:txBody>
      </p:sp>
      <p:sp>
        <p:nvSpPr>
          <p:cNvPr id="54" name="Text 32"/>
          <p:cNvSpPr txBox="1"/>
          <p:nvPr/>
        </p:nvSpPr>
        <p:spPr>
          <a:xfrm>
            <a:off x="8258175" y="3132832"/>
            <a:ext cx="333375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= Business trust, not pipeline green</a:t>
            </a:r>
            <a:endParaRPr lang="en-US" sz="900" dirty="0"/>
          </a:p>
        </p:txBody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8175" y="3384203"/>
            <a:ext cx="3333750" cy="333375"/>
          </a:xfrm>
          <a:prstGeom prst="rect">
            <a:avLst/>
          </a:prstGeom>
        </p:spPr>
      </p:pic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8175" y="3479453"/>
            <a:ext cx="1483816" cy="238125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8343900" y="3536603"/>
            <a:ext cx="13123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L6 • Recent leader</a:t>
            </a:r>
            <a:endParaRPr lang="en-US" sz="750" dirty="0"/>
          </a:p>
        </p:txBody>
      </p:sp>
      <p:sp>
        <p:nvSpPr>
          <p:cNvPr id="58" name="Text 34"/>
          <p:cNvSpPr txBox="1"/>
          <p:nvPr/>
        </p:nvSpPr>
        <p:spPr>
          <a:xfrm>
            <a:off x="11080403" y="3538984"/>
            <a:ext cx="511522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8→0 errors</a:t>
            </a:r>
            <a:endParaRPr lang="en-US" sz="750" dirty="0"/>
          </a:p>
        </p:txBody>
      </p:sp>
      <p:pic>
        <p:nvPicPr>
          <p:cNvPr id="5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5934075"/>
            <a:ext cx="11734800" cy="923925"/>
          </a:xfrm>
          <a:prstGeom prst="rect">
            <a:avLst/>
          </a:prstGeom>
        </p:spPr>
      </p:pic>
      <p:sp>
        <p:nvSpPr>
          <p:cNvPr id="60" name="Text 35"/>
          <p:cNvSpPr txBox="1"/>
          <p:nvPr/>
        </p:nvSpPr>
        <p:spPr>
          <a:xfrm>
            <a:off x="600075" y="6318647"/>
            <a:ext cx="4639419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own gap, I correct immediately with business, I build system so never again</a:t>
            </a:r>
            <a:endParaRPr lang="en-US" sz="1013" dirty="0"/>
          </a:p>
        </p:txBody>
      </p:sp>
      <p:pic>
        <p:nvPicPr>
          <p:cNvPr id="6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18093" y="6276975"/>
            <a:ext cx="1373832" cy="238125"/>
          </a:xfrm>
          <a:prstGeom prst="rect">
            <a:avLst/>
          </a:prstGeom>
        </p:spPr>
      </p:pic>
      <p:sp>
        <p:nvSpPr>
          <p:cNvPr id="62" name="Text 36"/>
          <p:cNvSpPr txBox="1"/>
          <p:nvPr/>
        </p:nvSpPr>
        <p:spPr>
          <a:xfrm>
            <a:off x="10322868" y="6334125"/>
            <a:ext cx="11642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86868B"/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MANTRA • MEMORIZE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Tell-Me-About-a-Time-You-Made-a-Mistake-Meta-L6-Deep-Dive</dc:title>
  <dc:subject>PptxGenJS Presentation</dc:subject>
  <dc:creator>PptxGenJS</dc:creator>
  <cp:lastModifiedBy>PptxGenJS</cp:lastModifiedBy>
  <cp:revision>1</cp:revision>
  <dcterms:created xsi:type="dcterms:W3CDTF">2026-10-12T02:01:40Z</dcterms:created>
  <dcterms:modified xsi:type="dcterms:W3CDTF">2026-10-12T02:01:40Z</dcterms:modified>
</cp:coreProperties>
</file>