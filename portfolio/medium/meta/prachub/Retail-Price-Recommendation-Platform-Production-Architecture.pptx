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pn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pn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pn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pn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pn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png"/><Relationship Id="rId39" Type="http://schemas.openxmlformats.org/officeDocument/2006/relationships/image" Target="../media/image-10-39.png"/><Relationship Id="rId40" Type="http://schemas.openxmlformats.org/officeDocument/2006/relationships/slideLayout" Target="../slideLayouts/slideLayout1.xml"/><Relationship Id="rId4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image" Target="../media/image-15-17.png"/><Relationship Id="rId18" Type="http://schemas.openxmlformats.org/officeDocument/2006/relationships/image" Target="../media/image-15-18.png"/><Relationship Id="rId19" Type="http://schemas.openxmlformats.org/officeDocument/2006/relationships/image" Target="../media/image-15-19.png"/><Relationship Id="rId20" Type="http://schemas.openxmlformats.org/officeDocument/2006/relationships/image" Target="../media/image-15-20.png"/><Relationship Id="rId21" Type="http://schemas.openxmlformats.org/officeDocument/2006/relationships/image" Target="../media/image-15-21.png"/><Relationship Id="rId22" Type="http://schemas.openxmlformats.org/officeDocument/2006/relationships/image" Target="../media/image-15-22.png"/><Relationship Id="rId23" Type="http://schemas.openxmlformats.org/officeDocument/2006/relationships/image" Target="../media/image-15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png"/><Relationship Id="rId13" Type="http://schemas.openxmlformats.org/officeDocument/2006/relationships/image" Target="../media/image-1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pn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7071271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0" y="0"/>
            <a:ext cx="7071274" cy="68580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endParaRPr lang="en-US" sz="1350" dirty="0"/>
          </a:p>
        </p:txBody>
      </p:sp>
      <p:sp>
        <p:nvSpPr>
          <p:cNvPr id="4" name="Shape 1"/>
          <p:cNvSpPr/>
          <p:nvPr/>
        </p:nvSpPr>
        <p:spPr>
          <a:xfrm>
            <a:off x="7067550" y="0"/>
            <a:ext cx="549592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7528471" y="1221284"/>
            <a:ext cx="45023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1350"/>
              </a:spcAft>
              <a:buNone/>
            </a:pPr>
            <a:r>
              <a:rPr lang="en-US" sz="825" b="1" spc="99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PRODUCTION ARCHITECTURE • OMNICHANNEL RETAIL</a:t>
            </a:r>
            <a:endParaRPr lang="en-US" sz="825" dirty="0"/>
          </a:p>
        </p:txBody>
      </p:sp>
      <p:sp>
        <p:nvSpPr>
          <p:cNvPr id="6" name="Text 3"/>
          <p:cNvSpPr txBox="1"/>
          <p:nvPr/>
        </p:nvSpPr>
        <p:spPr>
          <a:xfrm>
            <a:off x="7528471" y="1540371"/>
            <a:ext cx="4502348" cy="157430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4350" b="1" spc="-130" kern="0" dirty="0">
                <a:solidFill>
                  <a:srgbClr val="0C1A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Retail Price</a:t>
            </a:r>
            <a:endParaRPr lang="en-US" sz="4350" dirty="0"/>
          </a:p>
          <a:p>
            <a:pPr algn="l" indent="0" marL="0">
              <a:lnSpc>
                <a:spcPts val="4350"/>
              </a:lnSpc>
              <a:buNone/>
            </a:pPr>
            <a:r>
              <a:rPr lang="en-US" sz="4350" b="1" spc="-130" kern="0" dirty="0">
                <a:solidFill>
                  <a:srgbClr val="0C1A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Recommendation</a:t>
            </a:r>
            <a:endParaRPr lang="en-US" sz="4350" dirty="0"/>
          </a:p>
          <a:p>
            <a:pPr algn="l" indent="0" marL="0">
              <a:lnSpc>
                <a:spcPts val="4350"/>
              </a:lnSpc>
              <a:spcAft>
                <a:spcPts val="1500"/>
              </a:spcAft>
              <a:buNone/>
            </a:pPr>
            <a:r>
              <a:rPr lang="en-US" sz="4350" b="1" spc="-130" kern="0" dirty="0">
                <a:solidFill>
                  <a:srgbClr val="0C1A1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</a:t>
            </a:r>
            <a:endParaRPr lang="en-US" sz="4350" dirty="0"/>
          </a:p>
        </p:txBody>
      </p:sp>
      <p:sp>
        <p:nvSpPr>
          <p:cNvPr id="7" name="Text 4"/>
          <p:cNvSpPr txBox="1"/>
          <p:nvPr/>
        </p:nvSpPr>
        <p:spPr>
          <a:xfrm>
            <a:off x="7528471" y="3314700"/>
            <a:ext cx="4502348" cy="7503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en-US" sz="1425" dirty="0">
                <a:solidFill>
                  <a:srgbClr val="2B3B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Human-in-the-loop, not auto-pricing.</a:t>
            </a:r>
            <a:endParaRPr lang="en-US" sz="1425" dirty="0"/>
          </a:p>
          <a:p>
            <a:pPr algn="l" indent="0" marL="0">
              <a:lnSpc>
                <a:spcPts val="1995"/>
              </a:lnSpc>
              <a:spcAft>
                <a:spcPts val="2100"/>
              </a:spcAft>
              <a:buNone/>
            </a:pPr>
            <a:r>
              <a:rPr lang="en-US" sz="1425" dirty="0">
                <a:solidFill>
                  <a:srgbClr val="2B3B3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Built for item-store-week decisions with mandatory buyer approval.</a:t>
            </a:r>
            <a:endParaRPr lang="en-US" sz="1425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471" y="4331791"/>
            <a:ext cx="1320105" cy="29051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633246" y="4407991"/>
            <a:ext cx="111055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Databricks Lakehouse</a:t>
            </a:r>
            <a:endParaRPr lang="en-US" sz="82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4776" y="4331791"/>
            <a:ext cx="1148507" cy="29051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029551" y="4407991"/>
            <a:ext cx="93895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Response</a:t>
            </a:r>
            <a:endParaRPr lang="en-US" sz="8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483" y="4331791"/>
            <a:ext cx="1481138" cy="290513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0254258" y="4407991"/>
            <a:ext cx="127158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Constrained Optimization</a:t>
            </a:r>
            <a:endParaRPr lang="en-US" sz="825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471" y="4698504"/>
            <a:ext cx="722561" cy="290513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633246" y="4774704"/>
            <a:ext cx="51301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Guardrails</a:t>
            </a:r>
            <a:endParaRPr lang="en-US" sz="825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231" y="4698504"/>
            <a:ext cx="1026914" cy="290513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8432006" y="4774704"/>
            <a:ext cx="81736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Experimentation</a:t>
            </a:r>
            <a:endParaRPr lang="en-US" sz="825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8471" y="5331916"/>
            <a:ext cx="4502348" cy="314325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7661821" y="5484316"/>
            <a:ext cx="4368998" cy="161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Item × Store × Week • Portal + Commercial Hub • Versioned &amp; Auditable</a:t>
            </a:r>
            <a:endParaRPr lang="en-US" sz="900" dirty="0"/>
          </a:p>
        </p:txBody>
      </p:sp>
      <p:sp>
        <p:nvSpPr>
          <p:cNvPr id="20" name="Shape 11"/>
          <p:cNvSpPr/>
          <p:nvPr/>
        </p:nvSpPr>
        <p:spPr>
          <a:xfrm>
            <a:off x="7524750" y="55340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7C7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533400"/>
            <a:ext cx="4000500" cy="117604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every</a:t>
            </a:r>
            <a:endParaRPr lang="en-US" sz="31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Item × Store</a:t>
            </a:r>
            <a:endParaRPr lang="en-US" sz="3150" dirty="0"/>
          </a:p>
          <a:p>
            <a:pPr algn="l" indent="0" marL="0">
              <a:lnSpc>
                <a:spcPts val="3150"/>
              </a:lnSpc>
              <a:buNone/>
            </a:pPr>
            <a:r>
              <a:rPr lang="en-US" sz="3150" b="1" spc="-63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× Pricing Cycle</a:t>
            </a:r>
            <a:endParaRPr lang="en-US" sz="315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871365"/>
            <a:ext cx="4000500" cy="63341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spcBef>
                <a:spcPts val="1200"/>
              </a:spcBef>
              <a:buNone/>
            </a:pPr>
            <a:r>
              <a:rPr lang="en-US" sz="1125" dirty="0">
                <a:solidFill>
                  <a:srgbClr val="4B5E5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Platform does not start with "maximize price". It starts with decision support. Buyer retains final decision. System provides evidence.</a:t>
            </a:r>
            <a:endParaRPr lang="en-US" sz="112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400" y="2771477"/>
            <a:ext cx="4000500" cy="5941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275" y="2904827"/>
            <a:ext cx="154632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3E3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⚙️</a:t>
            </a:r>
            <a:endParaRPr lang="en-US" sz="975" dirty="0"/>
          </a:p>
        </p:txBody>
      </p:sp>
      <p:sp>
        <p:nvSpPr>
          <p:cNvPr id="6" name="Text 3"/>
          <p:cNvSpPr txBox="1"/>
          <p:nvPr/>
        </p:nvSpPr>
        <p:spPr>
          <a:xfrm>
            <a:off x="926157" y="2904827"/>
            <a:ext cx="3464868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Objective is configurable:</a:t>
            </a:r>
            <a:pPr indent="0" marL="0">
              <a:buNone/>
            </a:pPr>
            <a:r>
              <a:rPr lang="en-US" sz="975" dirty="0">
                <a:solidFill>
                  <a:srgbClr val="2C3E3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Margin, Revenue, Inventory, Volume — not single metric</a:t>
            </a:r>
            <a:endParaRPr lang="en-US" sz="97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3479899"/>
            <a:ext cx="4000500" cy="59412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76275" y="3613249"/>
            <a:ext cx="154632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C3E3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🛡️</a:t>
            </a:r>
            <a:endParaRPr lang="en-US" sz="975" dirty="0"/>
          </a:p>
        </p:txBody>
      </p:sp>
      <p:sp>
        <p:nvSpPr>
          <p:cNvPr id="9" name="Text 5"/>
          <p:cNvSpPr txBox="1"/>
          <p:nvPr/>
        </p:nvSpPr>
        <p:spPr>
          <a:xfrm>
            <a:off x="926157" y="3613249"/>
            <a:ext cx="3464868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Approval mandatory:</a:t>
            </a:r>
            <a:pPr indent="0" marL="0">
              <a:buNone/>
            </a:pPr>
            <a:r>
              <a:rPr lang="en-US" sz="975" dirty="0">
                <a:solidFill>
                  <a:srgbClr val="2C3E3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No recommendation publishes without buyer review</a:t>
            </a:r>
            <a:endParaRPr lang="en-US" sz="97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533400"/>
            <a:ext cx="3267075" cy="1300163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72075" y="723900"/>
            <a:ext cx="29051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OUTPUT 1</a:t>
            </a:r>
            <a:endParaRPr lang="en-US" sz="825" dirty="0"/>
          </a:p>
        </p:txBody>
      </p:sp>
      <p:sp>
        <p:nvSpPr>
          <p:cNvPr id="12" name="Text 7"/>
          <p:cNvSpPr txBox="1"/>
          <p:nvPr/>
        </p:nvSpPr>
        <p:spPr>
          <a:xfrm>
            <a:off x="5172075" y="976312"/>
            <a:ext cx="290512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b="1" spc="-1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pPr indent="0" marL="0">
              <a:buNone/>
            </a:pPr>
            <a:r>
              <a:rPr lang="en-US" sz="1200" b="1" spc="-12" kern="0" dirty="0">
                <a:solidFill>
                  <a:srgbClr val="0F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Recommended price</a:t>
            </a:r>
            <a:endParaRPr lang="en-US" sz="1650" dirty="0"/>
          </a:p>
        </p:txBody>
      </p:sp>
      <p:sp>
        <p:nvSpPr>
          <p:cNvPr id="13" name="Text 8"/>
          <p:cNvSpPr txBox="1"/>
          <p:nvPr/>
        </p:nvSpPr>
        <p:spPr>
          <a:xfrm>
            <a:off x="5172075" y="1347788"/>
            <a:ext cx="2905125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Candidate from valid price ladder, not arbitrary extrapolation</a:t>
            </a:r>
            <a:endParaRPr lang="en-US" sz="938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533400"/>
            <a:ext cx="3267075" cy="1300163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572500" y="723900"/>
            <a:ext cx="29051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OUTPUT 2</a:t>
            </a:r>
            <a:endParaRPr lang="en-US" sz="825" dirty="0"/>
          </a:p>
        </p:txBody>
      </p:sp>
      <p:sp>
        <p:nvSpPr>
          <p:cNvPr id="16" name="Text 10"/>
          <p:cNvSpPr txBox="1"/>
          <p:nvPr/>
        </p:nvSpPr>
        <p:spPr>
          <a:xfrm>
            <a:off x="8572500" y="976312"/>
            <a:ext cx="290512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b="1" spc="-1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pPr indent="0" marL="0">
              <a:buNone/>
            </a:pPr>
            <a:r>
              <a:rPr lang="en-US" sz="1200" b="1" spc="-12" kern="0" dirty="0">
                <a:solidFill>
                  <a:srgbClr val="0F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Expected demand</a:t>
            </a:r>
            <a:endParaRPr lang="en-US" sz="1650" dirty="0"/>
          </a:p>
        </p:txBody>
      </p:sp>
      <p:sp>
        <p:nvSpPr>
          <p:cNvPr id="17" name="Text 11"/>
          <p:cNvSpPr txBox="1"/>
          <p:nvPr/>
        </p:nvSpPr>
        <p:spPr>
          <a:xfrm>
            <a:off x="8572500" y="1347788"/>
            <a:ext cx="2905125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Demand(item,store,week | price) from response model</a:t>
            </a:r>
            <a:endParaRPr lang="en-US" sz="938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1100" y="1966912"/>
            <a:ext cx="3267075" cy="1133475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5172075" y="2157413"/>
            <a:ext cx="29051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OUTPUT 3</a:t>
            </a:r>
            <a:endParaRPr lang="en-US" sz="825" dirty="0"/>
          </a:p>
        </p:txBody>
      </p:sp>
      <p:sp>
        <p:nvSpPr>
          <p:cNvPr id="20" name="Text 13"/>
          <p:cNvSpPr txBox="1"/>
          <p:nvPr/>
        </p:nvSpPr>
        <p:spPr>
          <a:xfrm>
            <a:off x="5172075" y="2409825"/>
            <a:ext cx="290512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b="1" spc="-1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pPr indent="0" marL="0">
              <a:buNone/>
            </a:pPr>
            <a:r>
              <a:rPr lang="en-US" sz="1200" b="1" spc="-12" kern="0" dirty="0">
                <a:solidFill>
                  <a:srgbClr val="0F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Expected margin</a:t>
            </a:r>
            <a:endParaRPr lang="en-US" sz="1650" dirty="0"/>
          </a:p>
        </p:txBody>
      </p:sp>
      <p:sp>
        <p:nvSpPr>
          <p:cNvPr id="21" name="Text 14"/>
          <p:cNvSpPr txBox="1"/>
          <p:nvPr/>
        </p:nvSpPr>
        <p:spPr>
          <a:xfrm>
            <a:off x="5172075" y="2781300"/>
            <a:ext cx="2905125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(price − effective cost) × demand, with funding</a:t>
            </a:r>
            <a:endParaRPr lang="en-US" sz="938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1525" y="1966912"/>
            <a:ext cx="3267075" cy="113347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572500" y="2157413"/>
            <a:ext cx="29051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OUTPUT 4</a:t>
            </a:r>
            <a:endParaRPr lang="en-US" sz="825" dirty="0"/>
          </a:p>
        </p:txBody>
      </p:sp>
      <p:sp>
        <p:nvSpPr>
          <p:cNvPr id="24" name="Text 16"/>
          <p:cNvSpPr txBox="1"/>
          <p:nvPr/>
        </p:nvSpPr>
        <p:spPr>
          <a:xfrm>
            <a:off x="8572500" y="2409825"/>
            <a:ext cx="290512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b="1" spc="-1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pPr indent="0" marL="0">
              <a:buNone/>
            </a:pPr>
            <a:r>
              <a:rPr lang="en-US" sz="1200" b="1" spc="-12" kern="0" dirty="0">
                <a:solidFill>
                  <a:srgbClr val="0F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Expected sales</a:t>
            </a:r>
            <a:endParaRPr lang="en-US" sz="1650" dirty="0"/>
          </a:p>
        </p:txBody>
      </p:sp>
      <p:sp>
        <p:nvSpPr>
          <p:cNvPr id="25" name="Text 17"/>
          <p:cNvSpPr txBox="1"/>
          <p:nvPr/>
        </p:nvSpPr>
        <p:spPr>
          <a:xfrm>
            <a:off x="8572500" y="2781300"/>
            <a:ext cx="2905125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Revenue impact vs current: $Δ and %Δ</a:t>
            </a:r>
            <a:endParaRPr lang="en-US" sz="938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3233738"/>
            <a:ext cx="3267075" cy="1133475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5172075" y="3424238"/>
            <a:ext cx="29051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OUTPUT 5</a:t>
            </a:r>
            <a:endParaRPr lang="en-US" sz="825" dirty="0"/>
          </a:p>
        </p:txBody>
      </p:sp>
      <p:sp>
        <p:nvSpPr>
          <p:cNvPr id="28" name="Text 19"/>
          <p:cNvSpPr txBox="1"/>
          <p:nvPr/>
        </p:nvSpPr>
        <p:spPr>
          <a:xfrm>
            <a:off x="5172075" y="3676650"/>
            <a:ext cx="290512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b="1" spc="-1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pPr indent="0" marL="0">
              <a:buNone/>
            </a:pPr>
            <a:r>
              <a:rPr lang="en-US" sz="1200" b="1" spc="-12" kern="0" dirty="0">
                <a:solidFill>
                  <a:srgbClr val="0F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Volume change</a:t>
            </a:r>
            <a:endParaRPr lang="en-US" sz="1650" dirty="0"/>
          </a:p>
        </p:txBody>
      </p:sp>
      <p:sp>
        <p:nvSpPr>
          <p:cNvPr id="29" name="Text 20"/>
          <p:cNvSpPr txBox="1"/>
          <p:nvPr/>
        </p:nvSpPr>
        <p:spPr>
          <a:xfrm>
            <a:off x="5172075" y="4048125"/>
            <a:ext cx="2905125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Predicted unit movement, inventory days cover</a:t>
            </a:r>
            <a:endParaRPr lang="en-US" sz="938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1525" y="3233738"/>
            <a:ext cx="3267075" cy="1133475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8572500" y="3424238"/>
            <a:ext cx="29051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OUTPUT 6</a:t>
            </a:r>
            <a:endParaRPr lang="en-US" sz="825" dirty="0"/>
          </a:p>
        </p:txBody>
      </p:sp>
      <p:sp>
        <p:nvSpPr>
          <p:cNvPr id="32" name="Text 22"/>
          <p:cNvSpPr txBox="1"/>
          <p:nvPr/>
        </p:nvSpPr>
        <p:spPr>
          <a:xfrm>
            <a:off x="8572500" y="3676650"/>
            <a:ext cx="2905125" cy="2857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650" b="1" spc="-1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6</a:t>
            </a:r>
            <a:pPr indent="0" marL="0">
              <a:buNone/>
            </a:pPr>
            <a:r>
              <a:rPr lang="en-US" sz="1200" b="1" spc="-12" kern="0" dirty="0">
                <a:solidFill>
                  <a:srgbClr val="0F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Competitor position</a:t>
            </a:r>
            <a:endParaRPr lang="en-US" sz="1650" dirty="0"/>
          </a:p>
        </p:txBody>
      </p:sp>
      <p:sp>
        <p:nvSpPr>
          <p:cNvPr id="33" name="Text 23"/>
          <p:cNvSpPr txBox="1"/>
          <p:nvPr/>
        </p:nvSpPr>
        <p:spPr>
          <a:xfrm>
            <a:off x="8572500" y="4048125"/>
            <a:ext cx="2905125" cy="1571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Gap to matched competitor, availability flag</a:t>
            </a:r>
            <a:endParaRPr lang="en-US" sz="938" dirty="0"/>
          </a:p>
        </p:txBody>
      </p:sp>
      <p:sp>
        <p:nvSpPr>
          <p:cNvPr id="34" name="Shape 24"/>
          <p:cNvSpPr/>
          <p:nvPr/>
        </p:nvSpPr>
        <p:spPr>
          <a:xfrm>
            <a:off x="4991100" y="4505325"/>
            <a:ext cx="6667500" cy="1104900"/>
          </a:xfrm>
          <a:prstGeom prst="roundRect">
            <a:avLst>
              <a:gd name="adj" fmla="val 13793"/>
            </a:avLst>
          </a:prstGeom>
          <a:solidFill>
            <a:srgbClr val="0E1E1C"/>
          </a:solidFill>
          <a:ln/>
        </p:spPr>
      </p:sp>
      <p:sp>
        <p:nvSpPr>
          <p:cNvPr id="35" name="Text 25"/>
          <p:cNvSpPr txBox="1"/>
          <p:nvPr/>
        </p:nvSpPr>
        <p:spPr>
          <a:xfrm>
            <a:off x="5200650" y="4700588"/>
            <a:ext cx="30480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7 — CONFIDENCE</a:t>
            </a:r>
            <a:endParaRPr lang="en-US" sz="825" dirty="0"/>
          </a:p>
        </p:txBody>
      </p:sp>
      <p:sp>
        <p:nvSpPr>
          <p:cNvPr id="36" name="Text 26"/>
          <p:cNvSpPr txBox="1"/>
          <p:nvPr/>
        </p:nvSpPr>
        <p:spPr>
          <a:xfrm>
            <a:off x="5200650" y="4867275"/>
            <a:ext cx="304800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 / Medium / Low</a:t>
            </a:r>
            <a:endParaRPr lang="en-US" sz="1200" dirty="0"/>
          </a:p>
        </p:txBody>
      </p:sp>
      <p:sp>
        <p:nvSpPr>
          <p:cNvPr id="37" name="Text 27"/>
          <p:cNvSpPr txBox="1"/>
          <p:nvPr/>
        </p:nvSpPr>
        <p:spPr>
          <a:xfrm>
            <a:off x="5200650" y="5086350"/>
            <a:ext cx="3048000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A9D5D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Driven by data freshness, model certainty, inventory risk</a:t>
            </a:r>
            <a:endParaRPr lang="en-US" sz="938" dirty="0"/>
          </a:p>
        </p:txBody>
      </p:sp>
      <p:sp>
        <p:nvSpPr>
          <p:cNvPr id="38" name="Text 28"/>
          <p:cNvSpPr txBox="1"/>
          <p:nvPr/>
        </p:nvSpPr>
        <p:spPr>
          <a:xfrm>
            <a:off x="8401050" y="4700588"/>
            <a:ext cx="30480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 — REASON</a:t>
            </a:r>
            <a:endParaRPr lang="en-US" sz="825" dirty="0"/>
          </a:p>
        </p:txBody>
      </p:sp>
      <p:sp>
        <p:nvSpPr>
          <p:cNvPr id="39" name="Text 29"/>
          <p:cNvSpPr txBox="1"/>
          <p:nvPr/>
        </p:nvSpPr>
        <p:spPr>
          <a:xfrm>
            <a:off x="8401050" y="4867275"/>
            <a:ext cx="3048000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spc="-12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this price?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8401050" y="5086350"/>
            <a:ext cx="3048000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A9D5D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"Gap reduced + volume improves + margin above threshold"</a:t>
            </a:r>
            <a:endParaRPr lang="en-US" sz="938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2900"/>
            <a:ext cx="11277451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Optimization objective — configurable by strategy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834330"/>
            <a:ext cx="5830639" cy="306288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38175" y="1034355"/>
            <a:ext cx="546868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7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MAXIMIZE — WEIGHTED</a:t>
            </a:r>
            <a:endParaRPr lang="en-US" sz="7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253430"/>
            <a:ext cx="5468689" cy="8477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81050" y="1396305"/>
            <a:ext cx="5182939" cy="5810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b="1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Maximize:</a:t>
            </a:r>
            <a:pPr indent="0" marL="0">
              <a:buNone/>
            </a:pPr>
            <a:r>
              <a:rPr lang="en-US" sz="1125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expected gross margin + revenue contribution + inventory objective + strategic volume objective</a:t>
            </a:r>
            <a:endParaRPr lang="en-US" sz="1125" dirty="0"/>
          </a:p>
          <a:p>
            <a:pPr algn="l" indent="0" marL="0">
              <a:lnSpc>
                <a:spcPts val="1575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 "maximize price". Trade-off explicit, tunable per business strategy, versioned.</a:t>
            </a:r>
            <a:endParaRPr lang="en-US" sz="1125" dirty="0"/>
          </a:p>
        </p:txBody>
      </p:sp>
      <p:sp>
        <p:nvSpPr>
          <p:cNvPr id="7" name="Text 3"/>
          <p:cNvSpPr txBox="1"/>
          <p:nvPr/>
        </p:nvSpPr>
        <p:spPr>
          <a:xfrm>
            <a:off x="638175" y="2215455"/>
            <a:ext cx="546868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7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SCORING VS HARD RULES</a:t>
            </a:r>
            <a:endParaRPr lang="en-US" sz="750" dirty="0"/>
          </a:p>
        </p:txBody>
      </p:sp>
      <p:sp>
        <p:nvSpPr>
          <p:cNvPr id="8" name="Text 4"/>
          <p:cNvSpPr txBox="1"/>
          <p:nvPr/>
        </p:nvSpPr>
        <p:spPr>
          <a:xfrm>
            <a:off x="638175" y="2444055"/>
            <a:ext cx="5468689" cy="3104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Scoring allows trade-off, explainable, tunable per category. Hard rules block invalid, scoring ranks within allowed candidate set. Policy table stores weights w1-w6.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289" y="834330"/>
            <a:ext cx="5275362" cy="306288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621214" y="1015305"/>
            <a:ext cx="495151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7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SUBJECT TO — GUARDRAILS</a:t>
            </a:r>
            <a:endParaRPr lang="en-US" sz="7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1214" y="1215330"/>
            <a:ext cx="4951512" cy="30093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725989" y="1291530"/>
            <a:ext cx="17145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①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6992689" y="1291530"/>
            <a:ext cx="3155305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 ≥ effective cost + minimum margin (effective-date-aware)</a:t>
            </a:r>
            <a:endParaRPr lang="en-US" sz="9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1214" y="1592461"/>
            <a:ext cx="4951512" cy="30093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6725989" y="1668661"/>
            <a:ext cx="17145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②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6992689" y="1668661"/>
            <a:ext cx="2914204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movement ≤ approved category limit (±5% weekly typical)</a:t>
            </a:r>
            <a:endParaRPr lang="en-US" sz="9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1214" y="1969591"/>
            <a:ext cx="4951512" cy="30093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725989" y="2045791"/>
            <a:ext cx="17145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6992689" y="2045791"/>
            <a:ext cx="2141339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must use approved price endings &amp; ladder</a:t>
            </a:r>
            <a:endParaRPr lang="en-US" sz="9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1214" y="2346722"/>
            <a:ext cx="4951512" cy="30093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6725989" y="2422922"/>
            <a:ext cx="17145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④</a:t>
            </a:r>
            <a:endParaRPr lang="en-US" sz="900" dirty="0"/>
          </a:p>
        </p:txBody>
      </p:sp>
      <p:sp>
        <p:nvSpPr>
          <p:cNvPr id="22" name="Text 13"/>
          <p:cNvSpPr txBox="1"/>
          <p:nvPr/>
        </p:nvSpPr>
        <p:spPr>
          <a:xfrm>
            <a:off x="6992689" y="2422922"/>
            <a:ext cx="2496741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KVI, legal, supplier agreement, store cluster rules</a:t>
            </a:r>
            <a:endParaRPr lang="en-US" sz="9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21214" y="2723852"/>
            <a:ext cx="4951512" cy="30093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725989" y="2800052"/>
            <a:ext cx="17145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⑤</a:t>
            </a:r>
            <a:endParaRPr lang="en-US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6992689" y="2800052"/>
            <a:ext cx="1985367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 availability + shrinkage/expiry</a:t>
            </a:r>
            <a:endParaRPr lang="en-US" sz="90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1214" y="3100983"/>
            <a:ext cx="4951512" cy="30093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725989" y="3177183"/>
            <a:ext cx="171450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⑥</a:t>
            </a:r>
            <a:endParaRPr lang="en-US" sz="900" dirty="0"/>
          </a:p>
        </p:txBody>
      </p:sp>
      <p:sp>
        <p:nvSpPr>
          <p:cNvPr id="28" name="Text 17"/>
          <p:cNvSpPr txBox="1"/>
          <p:nvPr/>
        </p:nvSpPr>
        <p:spPr>
          <a:xfrm>
            <a:off x="6992689" y="3177183"/>
            <a:ext cx="3240137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 competitor match, no stale cost, buyer approval mandatory</a:t>
            </a:r>
            <a:endParaRPr lang="en-US" sz="9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21214" y="3478113"/>
            <a:ext cx="4951512" cy="25717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697414" y="3554313"/>
            <a:ext cx="479911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7A949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Versioned: cost_version + competitor_snapshot + policy_version + guardrail_version</a:t>
            </a:r>
            <a:endParaRPr lang="en-US" sz="7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4068663"/>
            <a:ext cx="2733526" cy="725686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09600" y="4211538"/>
            <a:ext cx="2457301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spc="17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MARGIN STRATEGY</a:t>
            </a:r>
            <a:endParaRPr lang="en-US" sz="825" dirty="0"/>
          </a:p>
        </p:txBody>
      </p:sp>
      <p:sp>
        <p:nvSpPr>
          <p:cNvPr id="33" name="Text 20"/>
          <p:cNvSpPr txBox="1"/>
          <p:nvPr/>
        </p:nvSpPr>
        <p:spPr>
          <a:xfrm>
            <a:off x="609600" y="4397276"/>
            <a:ext cx="2457301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Higher w1 on gross margin. Use when cost pressure high.</a:t>
            </a:r>
            <a:endParaRPr lang="en-US" sz="825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05026" y="4068663"/>
            <a:ext cx="2733675" cy="725686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3457426" y="4211538"/>
            <a:ext cx="2457450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spc="17" kern="0" dirty="0">
                <a:solidFill>
                  <a:srgbClr val="0E8E8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VOLUME RECOVERY</a:t>
            </a:r>
            <a:endParaRPr lang="en-US" sz="825" dirty="0"/>
          </a:p>
        </p:txBody>
      </p:sp>
      <p:sp>
        <p:nvSpPr>
          <p:cNvPr id="36" name="Text 22"/>
          <p:cNvSpPr txBox="1"/>
          <p:nvPr/>
        </p:nvSpPr>
        <p:spPr>
          <a:xfrm>
            <a:off x="3457426" y="4397276"/>
            <a:ext cx="2457450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Higher w on units + competitiveness. Close gap.</a:t>
            </a:r>
            <a:endParaRPr lang="en-US" sz="825" dirty="0"/>
          </a:p>
        </p:txBody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3001" y="4068663"/>
            <a:ext cx="2733675" cy="725686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6305401" y="4211538"/>
            <a:ext cx="2457450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spc="17" kern="0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 CLEARANCE</a:t>
            </a:r>
            <a:endParaRPr lang="en-US" sz="825" dirty="0"/>
          </a:p>
        </p:txBody>
      </p:sp>
      <p:sp>
        <p:nvSpPr>
          <p:cNvPr id="39" name="Text 24"/>
          <p:cNvSpPr txBox="1"/>
          <p:nvPr/>
        </p:nvSpPr>
        <p:spPr>
          <a:xfrm>
            <a:off x="6305401" y="4397276"/>
            <a:ext cx="2457450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Higher w3 sell-through + expiry avoidance. Fresh.</a:t>
            </a:r>
            <a:endParaRPr lang="en-US" sz="825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000976" y="4068663"/>
            <a:ext cx="2733675" cy="725686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9153376" y="4211538"/>
            <a:ext cx="2457450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spc="17" kern="0" dirty="0">
                <a:solidFill>
                  <a:srgbClr val="4B556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MARKET PROTECTION</a:t>
            </a:r>
            <a:endParaRPr lang="en-US" sz="825" dirty="0"/>
          </a:p>
        </p:txBody>
      </p:sp>
      <p:sp>
        <p:nvSpPr>
          <p:cNvPr id="42" name="Text 26"/>
          <p:cNvSpPr txBox="1"/>
          <p:nvPr/>
        </p:nvSpPr>
        <p:spPr>
          <a:xfrm>
            <a:off x="9153376" y="4397276"/>
            <a:ext cx="2457450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Higher penalty on competitor gaps. KVI trust.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6257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5300" y="1839218"/>
            <a:ext cx="452616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END-TO-END • VERSIONED &amp; AUDITABLE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495300" y="2134493"/>
            <a:ext cx="4526161" cy="66049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50" b="1" spc="-51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Architecture — source to outcome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0" y="300454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0430" y="3057674"/>
            <a:ext cx="143470" cy="1754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825" dirty="0"/>
          </a:p>
        </p:txBody>
      </p:sp>
      <p:sp>
        <p:nvSpPr>
          <p:cNvPr id="7" name="Text 4"/>
          <p:cNvSpPr txBox="1"/>
          <p:nvPr/>
        </p:nvSpPr>
        <p:spPr>
          <a:xfrm>
            <a:off x="857250" y="3014067"/>
            <a:ext cx="926604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 Systems</a:t>
            </a:r>
            <a:endParaRPr lang="en-US" sz="938" dirty="0"/>
          </a:p>
        </p:txBody>
      </p:sp>
      <p:sp>
        <p:nvSpPr>
          <p:cNvPr id="8" name="Text 5"/>
          <p:cNvSpPr txBox="1"/>
          <p:nvPr/>
        </p:nvSpPr>
        <p:spPr>
          <a:xfrm>
            <a:off x="857250" y="3193852"/>
            <a:ext cx="3855988" cy="2811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B726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POS, cost (effective-date), inventory, competitor, promo, supplier funding, buyer overrides</a:t>
            </a:r>
            <a:endParaRPr lang="en-US" sz="86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" y="3575149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80430" y="3628281"/>
            <a:ext cx="143470" cy="1754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825" dirty="0"/>
          </a:p>
        </p:txBody>
      </p:sp>
      <p:sp>
        <p:nvSpPr>
          <p:cNvPr id="11" name="Text 7"/>
          <p:cNvSpPr txBox="1"/>
          <p:nvPr/>
        </p:nvSpPr>
        <p:spPr>
          <a:xfrm>
            <a:off x="857250" y="3584674"/>
            <a:ext cx="14985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Ingestion (Batch + Events)</a:t>
            </a:r>
            <a:endParaRPr lang="en-US" sz="938" dirty="0"/>
          </a:p>
        </p:txBody>
      </p:sp>
      <p:sp>
        <p:nvSpPr>
          <p:cNvPr id="12" name="Text 8"/>
          <p:cNvSpPr txBox="1"/>
          <p:nvPr/>
        </p:nvSpPr>
        <p:spPr>
          <a:xfrm>
            <a:off x="857250" y="3764459"/>
            <a:ext cx="3723977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B726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Workflows / Auto Loader + Kafka cost stream. Freshness + full reconciliation.</a:t>
            </a:r>
            <a:endParaRPr lang="en-US" sz="863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397892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80430" y="4032052"/>
            <a:ext cx="143470" cy="1754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825" dirty="0"/>
          </a:p>
        </p:txBody>
      </p:sp>
      <p:sp>
        <p:nvSpPr>
          <p:cNvPr id="15" name="Text 10"/>
          <p:cNvSpPr txBox="1"/>
          <p:nvPr/>
        </p:nvSpPr>
        <p:spPr>
          <a:xfrm>
            <a:off x="857250" y="3988445"/>
            <a:ext cx="2494508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Databricks Lakehouse Bronze / Silver / Gold</a:t>
            </a:r>
            <a:endParaRPr lang="en-US" sz="938" dirty="0"/>
          </a:p>
        </p:txBody>
      </p:sp>
      <p:sp>
        <p:nvSpPr>
          <p:cNvPr id="16" name="Text 11"/>
          <p:cNvSpPr txBox="1"/>
          <p:nvPr/>
        </p:nvSpPr>
        <p:spPr>
          <a:xfrm>
            <a:off x="857250" y="4168229"/>
            <a:ext cx="2812703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B726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Immutable history → conformed entities → decision-ready</a:t>
            </a:r>
            <a:endParaRPr lang="en-US" sz="863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4382691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80430" y="4435822"/>
            <a:ext cx="143470" cy="1754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825" dirty="0"/>
          </a:p>
        </p:txBody>
      </p:sp>
      <p:sp>
        <p:nvSpPr>
          <p:cNvPr id="19" name="Text 13"/>
          <p:cNvSpPr txBox="1"/>
          <p:nvPr/>
        </p:nvSpPr>
        <p:spPr>
          <a:xfrm>
            <a:off x="857250" y="4392216"/>
            <a:ext cx="199132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 → Demand → Optimization</a:t>
            </a:r>
            <a:endParaRPr lang="en-US" sz="938" dirty="0"/>
          </a:p>
        </p:txBody>
      </p:sp>
      <p:sp>
        <p:nvSpPr>
          <p:cNvPr id="20" name="Text 14"/>
          <p:cNvSpPr txBox="1"/>
          <p:nvPr/>
        </p:nvSpPr>
        <p:spPr>
          <a:xfrm>
            <a:off x="857250" y="4572000"/>
            <a:ext cx="354077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B726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 quantity per candidate, score with weighted objective + guardrails</a:t>
            </a:r>
            <a:endParaRPr lang="en-US" sz="863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4786461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80430" y="4839593"/>
            <a:ext cx="143470" cy="1754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5</a:t>
            </a:r>
            <a:endParaRPr lang="en-US" sz="825" dirty="0"/>
          </a:p>
        </p:txBody>
      </p:sp>
      <p:sp>
        <p:nvSpPr>
          <p:cNvPr id="23" name="Text 16"/>
          <p:cNvSpPr txBox="1"/>
          <p:nvPr/>
        </p:nvSpPr>
        <p:spPr>
          <a:xfrm>
            <a:off x="857250" y="4795986"/>
            <a:ext cx="3751362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Recommendation → Portal → Buyer → Execution → Measurement</a:t>
            </a:r>
            <a:endParaRPr lang="en-US" sz="938" dirty="0"/>
          </a:p>
        </p:txBody>
      </p:sp>
      <p:sp>
        <p:nvSpPr>
          <p:cNvPr id="24" name="Text 17"/>
          <p:cNvSpPr txBox="1"/>
          <p:nvPr/>
        </p:nvSpPr>
        <p:spPr>
          <a:xfrm>
            <a:off x="857250" y="4975771"/>
            <a:ext cx="2908250" cy="1143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5B726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Portal review mandatory, no auto-publish. Outcome tracked.</a:t>
            </a:r>
            <a:endParaRPr lang="en-US" sz="863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4361" y="0"/>
            <a:ext cx="6827639" cy="6858000"/>
          </a:xfrm>
          <a:prstGeom prst="rect">
            <a:avLst/>
          </a:prstGeom>
        </p:spPr>
      </p:pic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336" y="171450"/>
            <a:ext cx="6475214" cy="5676602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9161" y="295275"/>
            <a:ext cx="6227564" cy="5428952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5543550" y="5962650"/>
            <a:ext cx="3190875" cy="723900"/>
          </a:xfrm>
          <a:prstGeom prst="roundRect">
            <a:avLst>
              <a:gd name="adj" fmla="val 15789"/>
            </a:avLst>
          </a:prstGeom>
          <a:solidFill>
            <a:srgbClr val="0E1E1C"/>
          </a:solidFill>
          <a:ln/>
        </p:spPr>
      </p:sp>
      <p:sp>
        <p:nvSpPr>
          <p:cNvPr id="29" name="Text 19"/>
          <p:cNvSpPr txBox="1"/>
          <p:nvPr/>
        </p:nvSpPr>
        <p:spPr>
          <a:xfrm>
            <a:off x="5678686" y="6095702"/>
            <a:ext cx="292328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60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VERSIONING AT EVERY STEP</a:t>
            </a:r>
            <a:endParaRPr lang="en-US" sz="750" dirty="0"/>
          </a:p>
        </p:txBody>
      </p:sp>
      <p:sp>
        <p:nvSpPr>
          <p:cNvPr id="30" name="Text 20"/>
          <p:cNvSpPr txBox="1"/>
          <p:nvPr/>
        </p:nvSpPr>
        <p:spPr>
          <a:xfrm>
            <a:off x="5678686" y="6267152"/>
            <a:ext cx="2923282" cy="2860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C7EF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model_version + feature_version + cost_version + competitor_snapshot + policy_version + guardrail_version</a:t>
            </a:r>
            <a:endParaRPr lang="en-US" sz="863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30568" y="5962352"/>
            <a:ext cx="3189982" cy="724198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8973443" y="6105227"/>
            <a:ext cx="290423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6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MLOPS FOUNDATION</a:t>
            </a:r>
            <a:endParaRPr lang="en-US" sz="750" dirty="0"/>
          </a:p>
        </p:txBody>
      </p:sp>
      <p:sp>
        <p:nvSpPr>
          <p:cNvPr id="33" name="Text 22"/>
          <p:cNvSpPr txBox="1"/>
          <p:nvPr/>
        </p:nvSpPr>
        <p:spPr>
          <a:xfrm>
            <a:off x="8973443" y="6276677"/>
            <a:ext cx="2904232" cy="2860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MLflow + Unity Catalog (lineage) + Workflows + Delta. Answers: Why 182?</a:t>
            </a:r>
            <a:endParaRPr lang="en-US" sz="86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1000"/>
            <a:ext cx="112776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 systems — what feeds pricing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81955"/>
            <a:ext cx="7810500" cy="33694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E5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source needs </a:t>
            </a:r>
            <a:pPr indent="0" marL="0">
              <a:buNone/>
            </a:pPr>
            <a:r>
              <a:rPr lang="en-US" sz="975" b="1" dirty="0">
                <a:solidFill>
                  <a:srgbClr val="4B5E5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ingestion_timestamp + business_effective_timestamp + version</a:t>
            </a:r>
            <a:pPr indent="0" marL="0">
              <a:buNone/>
            </a:pPr>
            <a:r>
              <a:rPr lang="en-US" sz="975" dirty="0">
                <a:solidFill>
                  <a:srgbClr val="4B5E5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. For cost, upload time ≠ effective time. Keep both. Immutable history is truth.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90352"/>
            <a:ext cx="2733675" cy="10662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0075" y="1597521"/>
            <a:ext cx="656332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 SALES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0350" y="1533227"/>
            <a:ext cx="247650" cy="2476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877741" y="1583234"/>
            <a:ext cx="170259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◧</a:t>
            </a:r>
            <a:endParaRPr lang="en-US" sz="975" dirty="0"/>
          </a:p>
        </p:txBody>
      </p:sp>
      <p:sp>
        <p:nvSpPr>
          <p:cNvPr id="8" name="Text 4"/>
          <p:cNvSpPr txBox="1"/>
          <p:nvPr/>
        </p:nvSpPr>
        <p:spPr>
          <a:xfrm>
            <a:off x="600075" y="1838027"/>
            <a:ext cx="244792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dirty="0">
                <a:solidFill>
                  <a:srgbClr val="0E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item-store-date qty, revenue, discounts</a:t>
            </a:r>
            <a:endParaRPr lang="en-US" sz="975" dirty="0"/>
          </a:p>
        </p:txBody>
      </p:sp>
      <p:sp>
        <p:nvSpPr>
          <p:cNvPr id="9" name="Text 5"/>
          <p:cNvSpPr txBox="1"/>
          <p:nvPr/>
        </p:nvSpPr>
        <p:spPr>
          <a:xfrm>
            <a:off x="600075" y="2059484"/>
            <a:ext cx="2447925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Primary demand signal. Store cluster seasonality. 2+ years history for baseline.</a:t>
            </a:r>
            <a:endParaRPr lang="en-US" sz="82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175" y="1390352"/>
            <a:ext cx="2733675" cy="106620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448050" y="1597521"/>
            <a:ext cx="316260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</a:t>
            </a:r>
            <a:endParaRPr lang="en-US" sz="8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8325" y="1533227"/>
            <a:ext cx="247650" cy="24765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737622" y="1583234"/>
            <a:ext cx="158353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</a:t>
            </a:r>
            <a:endParaRPr lang="en-US" sz="975" dirty="0"/>
          </a:p>
        </p:txBody>
      </p:sp>
      <p:sp>
        <p:nvSpPr>
          <p:cNvPr id="14" name="Text 8"/>
          <p:cNvSpPr txBox="1"/>
          <p:nvPr/>
        </p:nvSpPr>
        <p:spPr>
          <a:xfrm>
            <a:off x="3448050" y="1838027"/>
            <a:ext cx="244792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dirty="0">
                <a:solidFill>
                  <a:srgbClr val="0E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Unit cost effective-date aware</a:t>
            </a:r>
            <a:endParaRPr lang="en-US" sz="975" dirty="0"/>
          </a:p>
        </p:txBody>
      </p:sp>
      <p:sp>
        <p:nvSpPr>
          <p:cNvPr id="15" name="Text 9"/>
          <p:cNvSpPr txBox="1"/>
          <p:nvPr/>
        </p:nvSpPr>
        <p:spPr>
          <a:xfrm>
            <a:off x="3448050" y="2059484"/>
            <a:ext cx="2447925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Most critical. Margin = f(cost active for recommendation period). Retain upload vs effective.</a:t>
            </a:r>
            <a:endParaRPr lang="en-US" sz="82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150" y="1390352"/>
            <a:ext cx="2733675" cy="1066205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296025" y="1597521"/>
            <a:ext cx="66213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</a:t>
            </a:r>
            <a:endParaRPr lang="en-US" sz="825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300" y="1533227"/>
            <a:ext cx="247650" cy="24765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573691" y="1583234"/>
            <a:ext cx="170259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⊞</a:t>
            </a:r>
            <a:endParaRPr lang="en-US" sz="975" dirty="0"/>
          </a:p>
        </p:txBody>
      </p:sp>
      <p:sp>
        <p:nvSpPr>
          <p:cNvPr id="20" name="Text 12"/>
          <p:cNvSpPr txBox="1"/>
          <p:nvPr/>
        </p:nvSpPr>
        <p:spPr>
          <a:xfrm>
            <a:off x="6296025" y="1838027"/>
            <a:ext cx="244792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dirty="0">
                <a:solidFill>
                  <a:srgbClr val="0E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On-hand, days cover, OOS rate</a:t>
            </a:r>
            <a:endParaRPr lang="en-US" sz="975" dirty="0"/>
          </a:p>
        </p:txBody>
      </p:sp>
      <p:sp>
        <p:nvSpPr>
          <p:cNvPr id="21" name="Text 13"/>
          <p:cNvSpPr txBox="1"/>
          <p:nvPr/>
        </p:nvSpPr>
        <p:spPr>
          <a:xfrm>
            <a:off x="6296025" y="2059484"/>
            <a:ext cx="2447925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Shrinkage, expiry risk, lead time. Fresh needs more weight on waste avoidance.</a:t>
            </a:r>
            <a:endParaRPr lang="en-US" sz="825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01125" y="1390352"/>
            <a:ext cx="2733675" cy="1066205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9144000" y="1597521"/>
            <a:ext cx="77896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PROMOTIONS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344275" y="1533227"/>
            <a:ext cx="247650" cy="24765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11413034" y="1583234"/>
            <a:ext cx="178891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975" dirty="0"/>
          </a:p>
        </p:txBody>
      </p:sp>
      <p:sp>
        <p:nvSpPr>
          <p:cNvPr id="26" name="Text 16"/>
          <p:cNvSpPr txBox="1"/>
          <p:nvPr/>
        </p:nvSpPr>
        <p:spPr>
          <a:xfrm>
            <a:off x="9144000" y="1838027"/>
            <a:ext cx="244792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dirty="0">
                <a:solidFill>
                  <a:srgbClr val="0E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Calendar, display, coupon, funding</a:t>
            </a:r>
            <a:endParaRPr lang="en-US" sz="975" dirty="0"/>
          </a:p>
        </p:txBody>
      </p:sp>
      <p:sp>
        <p:nvSpPr>
          <p:cNvPr id="27" name="Text 17"/>
          <p:cNvSpPr txBox="1"/>
          <p:nvPr/>
        </p:nvSpPr>
        <p:spPr>
          <a:xfrm>
            <a:off x="9144000" y="2059484"/>
            <a:ext cx="2447925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Regular vs promo must be separated. Funding impacts effective margin.</a:t>
            </a:r>
            <a:endParaRPr lang="en-US" sz="825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2570857"/>
            <a:ext cx="2733675" cy="1066205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600075" y="2778026"/>
            <a:ext cx="562124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</a:t>
            </a:r>
            <a:endParaRPr lang="en-US" sz="825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0350" y="2713732"/>
            <a:ext cx="247650" cy="24765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2877741" y="2763738"/>
            <a:ext cx="170259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⬙</a:t>
            </a:r>
            <a:endParaRPr lang="en-US" sz="975" dirty="0"/>
          </a:p>
        </p:txBody>
      </p:sp>
      <p:sp>
        <p:nvSpPr>
          <p:cNvPr id="32" name="Text 20"/>
          <p:cNvSpPr txBox="1"/>
          <p:nvPr/>
        </p:nvSpPr>
        <p:spPr>
          <a:xfrm>
            <a:off x="600075" y="3018532"/>
            <a:ext cx="244792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dirty="0">
                <a:solidFill>
                  <a:srgbClr val="0E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Hierarchy, brand, private label, KVI</a:t>
            </a:r>
            <a:endParaRPr lang="en-US" sz="975" dirty="0"/>
          </a:p>
        </p:txBody>
      </p:sp>
      <p:sp>
        <p:nvSpPr>
          <p:cNvPr id="33" name="Text 21"/>
          <p:cNvSpPr txBox="1"/>
          <p:nvPr/>
        </p:nvSpPr>
        <p:spPr>
          <a:xfrm>
            <a:off x="600075" y="3239988"/>
            <a:ext cx="2447925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KVI flag drives competitor policy. Brand ladder influences price endings.</a:t>
            </a:r>
            <a:endParaRPr lang="en-US" sz="825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5175" y="2570857"/>
            <a:ext cx="2733675" cy="1066205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3448050" y="2778026"/>
            <a:ext cx="759470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COMPETITOR</a:t>
            </a:r>
            <a:endParaRPr lang="en-US" sz="825" dirty="0"/>
          </a:p>
        </p:txBody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8325" y="2713732"/>
            <a:ext cx="247650" cy="24765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5710089" y="2763738"/>
            <a:ext cx="185886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◎</a:t>
            </a:r>
            <a:endParaRPr lang="en-US" sz="975" dirty="0"/>
          </a:p>
        </p:txBody>
      </p:sp>
      <p:sp>
        <p:nvSpPr>
          <p:cNvPr id="38" name="Text 24"/>
          <p:cNvSpPr txBox="1"/>
          <p:nvPr/>
        </p:nvSpPr>
        <p:spPr>
          <a:xfrm>
            <a:off x="3448050" y="3018532"/>
            <a:ext cx="244792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dirty="0">
                <a:solidFill>
                  <a:srgbClr val="0E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Matched item, gap, availability</a:t>
            </a:r>
            <a:endParaRPr lang="en-US" sz="975" dirty="0"/>
          </a:p>
        </p:txBody>
      </p:sp>
      <p:sp>
        <p:nvSpPr>
          <p:cNvPr id="39" name="Text 25"/>
          <p:cNvSpPr txBox="1"/>
          <p:nvPr/>
        </p:nvSpPr>
        <p:spPr>
          <a:xfrm>
            <a:off x="3448050" y="3239988"/>
            <a:ext cx="2447925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 quality validation required. Stale feed must block recommendation.</a:t>
            </a:r>
            <a:endParaRPr lang="en-US" sz="825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53150" y="2570857"/>
            <a:ext cx="2733675" cy="1066205"/>
          </a:xfrm>
          <a:prstGeom prst="rect">
            <a:avLst/>
          </a:prstGeom>
        </p:spPr>
      </p:pic>
      <p:sp>
        <p:nvSpPr>
          <p:cNvPr id="41" name="Text 26"/>
          <p:cNvSpPr txBox="1"/>
          <p:nvPr/>
        </p:nvSpPr>
        <p:spPr>
          <a:xfrm>
            <a:off x="6296025" y="2778026"/>
            <a:ext cx="685354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SHRINKAGE</a:t>
            </a:r>
            <a:endParaRPr lang="en-US" sz="825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6300" y="2713732"/>
            <a:ext cx="247650" cy="247650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8582620" y="2763738"/>
            <a:ext cx="161330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◐</a:t>
            </a:r>
            <a:endParaRPr lang="en-US" sz="975" dirty="0"/>
          </a:p>
        </p:txBody>
      </p:sp>
      <p:sp>
        <p:nvSpPr>
          <p:cNvPr id="44" name="Text 28"/>
          <p:cNvSpPr txBox="1"/>
          <p:nvPr/>
        </p:nvSpPr>
        <p:spPr>
          <a:xfrm>
            <a:off x="6296025" y="3018532"/>
            <a:ext cx="244792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dirty="0">
                <a:solidFill>
                  <a:srgbClr val="0E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Fresh waste, markdown risk</a:t>
            </a:r>
            <a:endParaRPr lang="en-US" sz="975" dirty="0"/>
          </a:p>
        </p:txBody>
      </p:sp>
      <p:sp>
        <p:nvSpPr>
          <p:cNvPr id="45" name="Text 29"/>
          <p:cNvSpPr txBox="1"/>
          <p:nvPr/>
        </p:nvSpPr>
        <p:spPr>
          <a:xfrm>
            <a:off x="6296025" y="3239988"/>
            <a:ext cx="2447925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Expiry curve + waste %. Clearance strategy uses this heavily.</a:t>
            </a:r>
            <a:endParaRPr lang="en-US" sz="825" dirty="0"/>
          </a:p>
        </p:txBody>
      </p:sp>
      <p:pic>
        <p:nvPicPr>
          <p:cNvPr id="4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01125" y="2570857"/>
            <a:ext cx="2733675" cy="1066205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9144000" y="2778026"/>
            <a:ext cx="1107430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 OVERRIDES</a:t>
            </a:r>
            <a:endParaRPr lang="en-US" sz="825" dirty="0"/>
          </a:p>
        </p:txBody>
      </p:sp>
      <p:pic>
        <p:nvPicPr>
          <p:cNvPr id="48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44275" y="2713732"/>
            <a:ext cx="247650" cy="247650"/>
          </a:xfrm>
          <a:prstGeom prst="rect">
            <a:avLst/>
          </a:prstGeom>
        </p:spPr>
      </p:pic>
      <p:sp>
        <p:nvSpPr>
          <p:cNvPr id="49" name="Text 31"/>
          <p:cNvSpPr txBox="1"/>
          <p:nvPr/>
        </p:nvSpPr>
        <p:spPr>
          <a:xfrm>
            <a:off x="11421666" y="2763738"/>
            <a:ext cx="170259" cy="19764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✦</a:t>
            </a:r>
            <a:endParaRPr lang="en-US" sz="975" dirty="0"/>
          </a:p>
        </p:txBody>
      </p:sp>
      <p:sp>
        <p:nvSpPr>
          <p:cNvPr id="50" name="Text 32"/>
          <p:cNvSpPr txBox="1"/>
          <p:nvPr/>
        </p:nvSpPr>
        <p:spPr>
          <a:xfrm>
            <a:off x="9144000" y="3018532"/>
            <a:ext cx="2447925" cy="15478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dirty="0">
                <a:solidFill>
                  <a:srgbClr val="0E20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History of decisions &amp; reasons</a:t>
            </a:r>
            <a:endParaRPr lang="en-US" sz="975" dirty="0"/>
          </a:p>
        </p:txBody>
      </p:sp>
      <p:sp>
        <p:nvSpPr>
          <p:cNvPr id="51" name="Text 33"/>
          <p:cNvSpPr txBox="1"/>
          <p:nvPr/>
        </p:nvSpPr>
        <p:spPr>
          <a:xfrm>
            <a:off x="9144000" y="3239988"/>
            <a:ext cx="2447925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Feedback loop. Override rate is key decision quality metric. Never overwrite.</a:t>
            </a:r>
            <a:endParaRPr lang="en-US" sz="825" dirty="0"/>
          </a:p>
        </p:txBody>
      </p:sp>
      <p:pic>
        <p:nvPicPr>
          <p:cNvPr id="52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" y="6219825"/>
            <a:ext cx="1767185" cy="257175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552450" y="6296025"/>
            <a:ext cx="157668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source_system + source_record_id</a:t>
            </a:r>
            <a:endParaRPr lang="en-US" sz="750" dirty="0"/>
          </a:p>
        </p:txBody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338685" y="6219825"/>
            <a:ext cx="2149078" cy="257175"/>
          </a:xfrm>
          <a:prstGeom prst="rect">
            <a:avLst/>
          </a:prstGeom>
        </p:spPr>
      </p:pic>
      <p:sp>
        <p:nvSpPr>
          <p:cNvPr id="55" name="Text 35"/>
          <p:cNvSpPr txBox="1"/>
          <p:nvPr/>
        </p:nvSpPr>
        <p:spPr>
          <a:xfrm>
            <a:off x="2433935" y="6296025"/>
            <a:ext cx="195857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ingestion_timestamp vs effective_timestamp</a:t>
            </a:r>
            <a:endParaRPr lang="en-US" sz="750" dirty="0"/>
          </a:p>
        </p:txBody>
      </p:sp>
      <p:pic>
        <p:nvPicPr>
          <p:cNvPr id="56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602063" y="6219825"/>
            <a:ext cx="2159198" cy="257175"/>
          </a:xfrm>
          <a:prstGeom prst="rect">
            <a:avLst/>
          </a:prstGeom>
        </p:spPr>
      </p:pic>
      <p:sp>
        <p:nvSpPr>
          <p:cNvPr id="57" name="Text 36"/>
          <p:cNvSpPr txBox="1"/>
          <p:nvPr/>
        </p:nvSpPr>
        <p:spPr>
          <a:xfrm>
            <a:off x="4697313" y="6296025"/>
            <a:ext cx="196869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event_version + raw_payload kept in Bronze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1950"/>
            <a:ext cx="112776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Ingestion strategy — freshness + trust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2905"/>
            <a:ext cx="876300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Retail pricing fails on stale cost. Margin = (price − effective cost) × demand. Need both business effective timestamp and ingestion timestamp. One pipeline gives freshness, other gives trust.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3804"/>
            <a:ext cx="5562600" cy="434072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8175" y="1583829"/>
            <a:ext cx="520065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BATCH — RECONCILIATION &amp; HISTORY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638175" y="1850529"/>
            <a:ext cx="52006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Nightly full reconciliation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38175" y="2202954"/>
            <a:ext cx="133350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847725" y="2202954"/>
            <a:ext cx="3593902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 sales, product hierarchy, promotion calendar, inventory snapshots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638175" y="2423815"/>
            <a:ext cx="133350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847725" y="2423815"/>
            <a:ext cx="2952006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Shrinkage, competitor refresh, price / cost history, Funding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638175" y="2644676"/>
            <a:ext cx="133350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847725" y="2644676"/>
            <a:ext cx="2420541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Fixes missed events, deduplication, late arrivals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2903637"/>
            <a:ext cx="5200650" cy="30643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2950" y="2998887"/>
            <a:ext cx="4991100" cy="1254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Databricks Workflows / Lakeflow • Spark SQL + PySpark • Delta Lake • Auto Loader • Unity Catalog lineage</a:t>
            </a:r>
            <a:endParaRPr lang="en-US" sz="788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1155204"/>
            <a:ext cx="5943600" cy="47979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3175" y="1583829"/>
            <a:ext cx="520065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EVENT-DRIVEN — CRITICAL PATH</a:t>
            </a:r>
            <a:endParaRPr lang="en-US" sz="750" dirty="0"/>
          </a:p>
        </p:txBody>
      </p:sp>
      <p:sp>
        <p:nvSpPr>
          <p:cNvPr id="17" name="Text 12"/>
          <p:cNvSpPr txBox="1"/>
          <p:nvPr/>
        </p:nvSpPr>
        <p:spPr>
          <a:xfrm>
            <a:off x="6353175" y="1850529"/>
            <a:ext cx="52006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b="1" spc="-13" kern="0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 change is critical event </a:t>
            </a:r>
            <a:pPr indent="0" marL="0">
              <a:buNone/>
            </a:pPr>
            <a:r>
              <a:rPr lang="en-US" sz="750" b="1" spc="-13" kern="0" dirty="0">
                <a:solidFill>
                  <a:srgbClr val="FFFFFF"/>
                </a:solidFill>
                <a:highlight>
                  <a:srgbClr val="0A7C74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Kafka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343650" y="2181225"/>
            <a:ext cx="5200650" cy="352425"/>
          </a:xfrm>
          <a:prstGeom prst="roundRect">
            <a:avLst>
              <a:gd name="adj" fmla="val 27027"/>
            </a:avLst>
          </a:prstGeom>
          <a:solidFill>
            <a:srgbClr val="0E1E1C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467475" y="2307729"/>
            <a:ext cx="444401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CFF6F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 Tool</a:t>
            </a:r>
            <a:endParaRPr lang="en-US" sz="825" dirty="0"/>
          </a:p>
        </p:txBody>
      </p:sp>
      <p:sp>
        <p:nvSpPr>
          <p:cNvPr id="20" name="Text 15"/>
          <p:cNvSpPr txBox="1"/>
          <p:nvPr/>
        </p:nvSpPr>
        <p:spPr>
          <a:xfrm>
            <a:off x="6969026" y="2307729"/>
            <a:ext cx="10596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16B5B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25" dirty="0"/>
          </a:p>
        </p:txBody>
      </p:sp>
      <p:sp>
        <p:nvSpPr>
          <p:cNvPr id="21" name="Text 16"/>
          <p:cNvSpPr txBox="1"/>
          <p:nvPr/>
        </p:nvSpPr>
        <p:spPr>
          <a:xfrm>
            <a:off x="7132141" y="2307729"/>
            <a:ext cx="564952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CFF6F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Kafka event</a:t>
            </a:r>
            <a:endParaRPr lang="en-US" sz="825" dirty="0"/>
          </a:p>
        </p:txBody>
      </p:sp>
      <p:sp>
        <p:nvSpPr>
          <p:cNvPr id="22" name="Text 17"/>
          <p:cNvSpPr txBox="1"/>
          <p:nvPr/>
        </p:nvSpPr>
        <p:spPr>
          <a:xfrm>
            <a:off x="7754243" y="2307729"/>
            <a:ext cx="10596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16B5B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25" dirty="0"/>
          </a:p>
        </p:txBody>
      </p:sp>
      <p:sp>
        <p:nvSpPr>
          <p:cNvPr id="23" name="Text 18"/>
          <p:cNvSpPr txBox="1"/>
          <p:nvPr/>
        </p:nvSpPr>
        <p:spPr>
          <a:xfrm>
            <a:off x="7917359" y="2307729"/>
            <a:ext cx="803077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CFF6F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Streaming ingest</a:t>
            </a:r>
            <a:endParaRPr lang="en-US" sz="825" dirty="0"/>
          </a:p>
        </p:txBody>
      </p:sp>
      <p:sp>
        <p:nvSpPr>
          <p:cNvPr id="24" name="Text 19"/>
          <p:cNvSpPr txBox="1"/>
          <p:nvPr/>
        </p:nvSpPr>
        <p:spPr>
          <a:xfrm>
            <a:off x="8777585" y="2307729"/>
            <a:ext cx="10596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16B5B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25" dirty="0"/>
          </a:p>
        </p:txBody>
      </p:sp>
      <p:sp>
        <p:nvSpPr>
          <p:cNvPr id="25" name="Text 20"/>
          <p:cNvSpPr txBox="1"/>
          <p:nvPr/>
        </p:nvSpPr>
        <p:spPr>
          <a:xfrm>
            <a:off x="8940701" y="2307729"/>
            <a:ext cx="463004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CFF6F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Validation</a:t>
            </a:r>
            <a:endParaRPr lang="en-US" sz="825" dirty="0"/>
          </a:p>
        </p:txBody>
      </p:sp>
      <p:sp>
        <p:nvSpPr>
          <p:cNvPr id="26" name="Text 21"/>
          <p:cNvSpPr txBox="1"/>
          <p:nvPr/>
        </p:nvSpPr>
        <p:spPr>
          <a:xfrm>
            <a:off x="9460855" y="2307729"/>
            <a:ext cx="10596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16B5B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25" dirty="0"/>
          </a:p>
        </p:txBody>
      </p:sp>
      <p:sp>
        <p:nvSpPr>
          <p:cNvPr id="27" name="Text 22"/>
          <p:cNvSpPr txBox="1"/>
          <p:nvPr/>
        </p:nvSpPr>
        <p:spPr>
          <a:xfrm>
            <a:off x="9623971" y="2307729"/>
            <a:ext cx="1515368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spc="8" kern="0" dirty="0">
                <a:solidFill>
                  <a:srgbClr val="CFF6F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Recompute impacted item-store</a:t>
            </a:r>
            <a:endParaRPr lang="en-US" sz="825" dirty="0"/>
          </a:p>
        </p:txBody>
      </p:sp>
      <p:sp>
        <p:nvSpPr>
          <p:cNvPr id="28" name="Text 23"/>
          <p:cNvSpPr txBox="1"/>
          <p:nvPr/>
        </p:nvSpPr>
        <p:spPr>
          <a:xfrm>
            <a:off x="6353175" y="2664916"/>
            <a:ext cx="133350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900" dirty="0"/>
          </a:p>
        </p:txBody>
      </p:sp>
      <p:sp>
        <p:nvSpPr>
          <p:cNvPr id="29" name="Text 24"/>
          <p:cNvSpPr txBox="1"/>
          <p:nvPr/>
        </p:nvSpPr>
        <p:spPr>
          <a:xfrm>
            <a:off x="6562725" y="2664916"/>
            <a:ext cx="3240137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Why: margin depends on cost active for recommendation period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6353175" y="2885777"/>
            <a:ext cx="133350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6562725" y="2885777"/>
            <a:ext cx="2581870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Keep upload_ts vs effective_ts — they are different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6353175" y="3106638"/>
            <a:ext cx="133350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6562725" y="3106638"/>
            <a:ext cx="2745432" cy="1446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Only recompute affected pairs, don't rerun full portfolio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57200" y="5895975"/>
            <a:ext cx="11277600" cy="600075"/>
          </a:xfrm>
          <a:prstGeom prst="roundRect">
            <a:avLst>
              <a:gd name="adj" fmla="val 22222"/>
            </a:avLst>
          </a:prstGeom>
          <a:solidFill>
            <a:srgbClr val="0E1E1C"/>
          </a:solidFill>
          <a:ln/>
        </p:spPr>
      </p:sp>
      <p:sp>
        <p:nvSpPr>
          <p:cNvPr id="35" name="Text 30"/>
          <p:cNvSpPr txBox="1"/>
          <p:nvPr/>
        </p:nvSpPr>
        <p:spPr>
          <a:xfrm>
            <a:off x="628650" y="6136481"/>
            <a:ext cx="1134070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RECOMMENDATION</a:t>
            </a:r>
            <a:endParaRPr lang="en-US" sz="825" dirty="0"/>
          </a:p>
        </p:txBody>
      </p:sp>
      <p:sp>
        <p:nvSpPr>
          <p:cNvPr id="36" name="Text 31"/>
          <p:cNvSpPr txBox="1"/>
          <p:nvPr/>
        </p:nvSpPr>
        <p:spPr>
          <a:xfrm>
            <a:off x="1896070" y="6038850"/>
            <a:ext cx="9667280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Stream gives freshness, batch repairs missed events.</a:t>
            </a:r>
            <a:pPr indent="0" marL="0">
              <a:buNone/>
            </a:pPr>
            <a:r>
              <a:rPr lang="en-US" sz="938" dirty="0">
                <a:solidFill>
                  <a:srgbClr val="C5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Event stream = incremental freshness &lt; 15min for cost. Nightly batch = trusted reconciliation point. Both write Bronze with ingestion_timestamp + business_effective_timestamp + event_version.</a:t>
            </a:r>
            <a:endParaRPr lang="en-US" sz="93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1000"/>
            <a:ext cx="11277600" cy="3561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5"/>
              </a:lnSpc>
              <a:spcAft>
                <a:spcPts val="450"/>
              </a:spcAft>
              <a:buNone/>
            </a:pPr>
            <a:r>
              <a:rPr lang="en-US" sz="2550" b="1" spc="-51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 — source history, little transformation</a:t>
            </a:r>
            <a:endParaRPr lang="en-US" sz="25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32421"/>
            <a:ext cx="11277600" cy="1762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600"/>
              </a:spcAft>
              <a:buNone/>
            </a:pPr>
            <a:r>
              <a:rPr lang="en-US" sz="975" dirty="0">
                <a:solidFill>
                  <a:srgbClr val="53666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Immutable, append-only, full history. Keep both ingestion time and business effective time — critical for cost. Don't clean yet.</a:t>
            </a:r>
            <a:endParaRPr lang="en-US" sz="9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13433"/>
            <a:ext cx="5524500" cy="369808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7225" y="1722983"/>
            <a:ext cx="51244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900"/>
              </a:spcAft>
              <a:buNone/>
            </a:pPr>
            <a:r>
              <a:rPr lang="en-US" sz="750" b="1" spc="75" kern="0" dirty="0">
                <a:solidFill>
                  <a:srgbClr val="C27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 TABLES — RAW PAYLOAD RETAINED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970633"/>
            <a:ext cx="5124450" cy="36909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81050" y="2075408"/>
            <a:ext cx="1006822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bronze.pos_sales</a:t>
            </a:r>
            <a:endParaRPr lang="en-US" sz="938" dirty="0"/>
          </a:p>
        </p:txBody>
      </p:sp>
      <p:sp>
        <p:nvSpPr>
          <p:cNvPr id="8" name="Text 4"/>
          <p:cNvSpPr txBox="1"/>
          <p:nvPr/>
        </p:nvSpPr>
        <p:spPr>
          <a:xfrm>
            <a:off x="4275832" y="2086124"/>
            <a:ext cx="138201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item-store-day qty, revenue</a:t>
            </a:r>
            <a:endParaRPr lang="en-US" sz="825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415927"/>
            <a:ext cx="5124450" cy="36909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81050" y="2520702"/>
            <a:ext cx="1149102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bronze.cost_history</a:t>
            </a:r>
            <a:endParaRPr lang="en-US" sz="938" dirty="0"/>
          </a:p>
        </p:txBody>
      </p:sp>
      <p:sp>
        <p:nvSpPr>
          <p:cNvPr id="11" name="Text 6"/>
          <p:cNvSpPr txBox="1"/>
          <p:nvPr/>
        </p:nvSpPr>
        <p:spPr>
          <a:xfrm>
            <a:off x="4363343" y="2531418"/>
            <a:ext cx="129450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RMS cost + effective_date</a:t>
            </a:r>
            <a:endParaRPr lang="en-US" sz="825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2861221"/>
            <a:ext cx="5124450" cy="369094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81050" y="2965996"/>
            <a:ext cx="1128713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bronze.cost_events</a:t>
            </a:r>
            <a:endParaRPr lang="en-US" sz="938" dirty="0"/>
          </a:p>
        </p:txBody>
      </p:sp>
      <p:sp>
        <p:nvSpPr>
          <p:cNvPr id="14" name="Text 8"/>
          <p:cNvSpPr txBox="1"/>
          <p:nvPr/>
        </p:nvSpPr>
        <p:spPr>
          <a:xfrm>
            <a:off x="4403080" y="2976711"/>
            <a:ext cx="125477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Kafka stream, tool events</a:t>
            </a:r>
            <a:endParaRPr lang="en-US" sz="825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225" y="3306514"/>
            <a:ext cx="5124450" cy="36909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81050" y="3411289"/>
            <a:ext cx="1563737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bronze.inventory_snapshot</a:t>
            </a:r>
            <a:endParaRPr lang="en-US" sz="938" dirty="0"/>
          </a:p>
        </p:txBody>
      </p:sp>
      <p:sp>
        <p:nvSpPr>
          <p:cNvPr id="17" name="Text 10"/>
          <p:cNvSpPr txBox="1"/>
          <p:nvPr/>
        </p:nvSpPr>
        <p:spPr>
          <a:xfrm>
            <a:off x="4664869" y="3422005"/>
            <a:ext cx="99298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on-hand, expiry risk</a:t>
            </a:r>
            <a:endParaRPr lang="en-US" sz="825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3751808"/>
            <a:ext cx="5124450" cy="369094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81050" y="3856583"/>
            <a:ext cx="1092994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bronze.promotions</a:t>
            </a:r>
            <a:endParaRPr lang="en-US" sz="938" dirty="0"/>
          </a:p>
        </p:txBody>
      </p:sp>
      <p:sp>
        <p:nvSpPr>
          <p:cNvPr id="20" name="Text 12"/>
          <p:cNvSpPr txBox="1"/>
          <p:nvPr/>
        </p:nvSpPr>
        <p:spPr>
          <a:xfrm>
            <a:off x="4395043" y="3867299"/>
            <a:ext cx="1262807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calendar, display, coupon</a:t>
            </a:r>
            <a:endParaRPr lang="en-US" sz="825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" y="4197102"/>
            <a:ext cx="5124450" cy="36909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81050" y="4301877"/>
            <a:ext cx="1484114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bronze.competitor_prices</a:t>
            </a:r>
            <a:endParaRPr lang="en-US" sz="938" dirty="0"/>
          </a:p>
        </p:txBody>
      </p:sp>
      <p:sp>
        <p:nvSpPr>
          <p:cNvPr id="23" name="Text 14"/>
          <p:cNvSpPr txBox="1"/>
          <p:nvPr/>
        </p:nvSpPr>
        <p:spPr>
          <a:xfrm>
            <a:off x="4421535" y="4312593"/>
            <a:ext cx="123631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matched competitor item</a:t>
            </a:r>
            <a:endParaRPr lang="en-US" sz="825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7225" y="4642396"/>
            <a:ext cx="5124450" cy="36909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81050" y="4747171"/>
            <a:ext cx="1379041" cy="16906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6"/>
              </a:lnSpc>
              <a:buNone/>
            </a:pPr>
            <a:r>
              <a:rPr lang="en-US" sz="938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bronze.buyer_decisions</a:t>
            </a:r>
            <a:endParaRPr lang="en-US" sz="938" dirty="0"/>
          </a:p>
        </p:txBody>
      </p:sp>
      <p:sp>
        <p:nvSpPr>
          <p:cNvPr id="26" name="Text 16"/>
          <p:cNvSpPr txBox="1"/>
          <p:nvPr/>
        </p:nvSpPr>
        <p:spPr>
          <a:xfrm>
            <a:off x="4692402" y="4757886"/>
            <a:ext cx="96544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history of overrides</a:t>
            </a:r>
            <a:endParaRPr lang="en-US" sz="825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10300" y="1513433"/>
            <a:ext cx="5524500" cy="3698081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6410325" y="1722983"/>
            <a:ext cx="512445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900"/>
              </a:spcAft>
              <a:buNone/>
            </a:pPr>
            <a:r>
              <a:rPr lang="en-US" sz="750" b="1" spc="75" kern="0" dirty="0">
                <a:solidFill>
                  <a:srgbClr val="7A8F8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RECORD MUST INCLUDE</a:t>
            </a:r>
            <a:endParaRPr lang="en-US" sz="7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0325" y="1970633"/>
            <a:ext cx="2524125" cy="50423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524625" y="2227808"/>
            <a:ext cx="2295525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750" b="1" spc="4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SOURCE_SYSTEM</a:t>
            </a:r>
            <a:pPr indent="0" marL="0">
              <a:buNone/>
            </a:pPr>
            <a:r>
              <a:rPr lang="en-US" sz="863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 / RMS / CostTool / Supplier feed</a:t>
            </a:r>
            <a:endParaRPr lang="en-US" sz="7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0650" y="1970633"/>
            <a:ext cx="2524125" cy="50423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9124950" y="2227808"/>
            <a:ext cx="2295525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750" b="1" spc="4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SOURCE_RECORD_ID</a:t>
            </a:r>
            <a:pPr indent="0" marL="0">
              <a:buNone/>
            </a:pPr>
            <a:r>
              <a:rPr lang="en-US" sz="863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Original PK for lineage</a:t>
            </a:r>
            <a:endParaRPr lang="en-US" sz="7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2551063"/>
            <a:ext cx="2524125" cy="50423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6524625" y="2808238"/>
            <a:ext cx="2295525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750" b="1" spc="4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INGESTION_TIMESTAMP</a:t>
            </a:r>
            <a:pPr indent="0" marL="0">
              <a:buNone/>
            </a:pPr>
            <a:r>
              <a:rPr lang="en-US" sz="863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we received it (Upload time)</a:t>
            </a:r>
            <a:endParaRPr lang="en-US" sz="750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10650" y="2551063"/>
            <a:ext cx="2524125" cy="50423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9124950" y="2808238"/>
            <a:ext cx="2295525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750" b="1" spc="4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BUSINESS_EFFECTIVE_TIMESTAMP</a:t>
            </a:r>
            <a:pPr indent="0" marL="0">
              <a:buNone/>
            </a:pPr>
            <a:r>
              <a:rPr lang="en-US" sz="863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When cost is active (Effective time)</a:t>
            </a:r>
            <a:endParaRPr lang="en-US" sz="75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0325" y="3131493"/>
            <a:ext cx="2524125" cy="50423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6524625" y="3388668"/>
            <a:ext cx="2295525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750" b="1" spc="4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EVENT_VERSION</a:t>
            </a:r>
            <a:pPr indent="0" marL="0">
              <a:buNone/>
            </a:pPr>
            <a:r>
              <a:rPr lang="en-US" sz="863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Cancellation / supersession handling</a:t>
            </a:r>
            <a:endParaRPr lang="en-US" sz="75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0650" y="3131493"/>
            <a:ext cx="2524125" cy="504230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9124950" y="3388668"/>
            <a:ext cx="2295525" cy="1422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750" b="1" spc="4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RAW_PAYLOAD</a:t>
            </a:r>
            <a:pPr indent="0" marL="0">
              <a:buNone/>
            </a:pPr>
            <a:r>
              <a:rPr lang="en-US" sz="863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JSON / original row, no loss</a:t>
            </a:r>
            <a:endParaRPr lang="en-US" sz="750" dirty="0"/>
          </a:p>
        </p:txBody>
      </p:sp>
      <p:sp>
        <p:nvSpPr>
          <p:cNvPr id="41" name="Shape 24"/>
          <p:cNvSpPr/>
          <p:nvPr/>
        </p:nvSpPr>
        <p:spPr>
          <a:xfrm>
            <a:off x="6410325" y="3752850"/>
            <a:ext cx="5124450" cy="762000"/>
          </a:xfrm>
          <a:prstGeom prst="roundRect">
            <a:avLst>
              <a:gd name="adj" fmla="val 15000"/>
            </a:avLst>
          </a:prstGeom>
          <a:solidFill>
            <a:srgbClr val="0E1E1C"/>
          </a:solidFill>
          <a:ln/>
        </p:spPr>
      </p:sp>
      <p:sp>
        <p:nvSpPr>
          <p:cNvPr id="42" name="Text 25"/>
          <p:cNvSpPr txBox="1"/>
          <p:nvPr/>
        </p:nvSpPr>
        <p:spPr>
          <a:xfrm>
            <a:off x="6562725" y="3892897"/>
            <a:ext cx="142726" cy="487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D6FF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⚠️</a:t>
            </a:r>
            <a:endParaRPr lang="en-US" sz="900" dirty="0"/>
          </a:p>
        </p:txBody>
      </p:sp>
      <p:sp>
        <p:nvSpPr>
          <p:cNvPr id="43" name="Text 26"/>
          <p:cNvSpPr txBox="1"/>
          <p:nvPr/>
        </p:nvSpPr>
        <p:spPr>
          <a:xfrm>
            <a:off x="6800701" y="3892897"/>
            <a:ext cx="4581674" cy="48741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Critical for margin:</a:t>
            </a:r>
            <a:pPr indent="0" marL="0">
              <a:buNone/>
            </a:pPr>
            <a:r>
              <a:rPr lang="en-US" sz="900" dirty="0">
                <a:solidFill>
                  <a:srgbClr val="D6FF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Upload timestamp ≠ Effective timestamp. For cost, retain both. If effective is future, margin calc for recommendation period must use correct future cost, not today's cost. Bronze makes this audit possible.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0050"/>
            <a:ext cx="11277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LAKEHOUSE • SILVER LAYER • CONFORMED, CLEANED, DEDUPLICATED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7225"/>
            <a:ext cx="11277600" cy="33992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78"/>
              </a:lnSpc>
              <a:buNone/>
            </a:pPr>
            <a:r>
              <a:rPr lang="en-US" sz="2550" b="1" spc="-51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 — Conformed retail entities</a:t>
            </a:r>
            <a:endParaRPr lang="en-US" sz="2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30498"/>
            <a:ext cx="6108353" cy="53465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8175" y="1330523"/>
            <a:ext cx="5746403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2F4C48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 TABLES</a:t>
            </a:r>
            <a:endParaRPr lang="en-US" sz="825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582936"/>
            <a:ext cx="2835027" cy="49872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42950" y="1848148"/>
            <a:ext cx="2625477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silver.item_store_sales_daily</a:t>
            </a:r>
            <a:pPr indent="0" marL="0">
              <a:buNone/>
            </a:pPr>
            <a:r>
              <a:rPr lang="en-US" sz="863" dirty="0">
                <a:solidFill>
                  <a:srgbClr val="2A3E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POS daily grain, deduped by store+item+date</a:t>
            </a:r>
            <a:endParaRPr lang="en-US" sz="825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402" y="1582936"/>
            <a:ext cx="2835176" cy="49872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54177" y="1848148"/>
            <a:ext cx="2625626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silver.item_store_cost_effective</a:t>
            </a:r>
            <a:pPr indent="0" marL="0">
              <a:buNone/>
            </a:pPr>
            <a:r>
              <a:rPr lang="en-US" sz="863" dirty="0">
                <a:solidFill>
                  <a:srgbClr val="2A3E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 active for pricing cycle — critical</a:t>
            </a:r>
            <a:endParaRPr lang="en-US" sz="825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2157859"/>
            <a:ext cx="2835027" cy="4987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42950" y="2423071"/>
            <a:ext cx="2625477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silver.item_store_inventory</a:t>
            </a:r>
            <a:pPr indent="0" marL="0">
              <a:buNone/>
            </a:pPr>
            <a:r>
              <a:rPr lang="en-US" sz="863" dirty="0">
                <a:solidFill>
                  <a:srgbClr val="2A3E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On-hand, days cover, OOS rate, expiry risk</a:t>
            </a:r>
            <a:endParaRPr lang="en-US" sz="825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402" y="2157859"/>
            <a:ext cx="2835176" cy="498723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3654177" y="2423071"/>
            <a:ext cx="2625626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silver.item_store_competitor_price</a:t>
            </a:r>
            <a:pPr indent="0" marL="0">
              <a:buNone/>
            </a:pPr>
            <a:r>
              <a:rPr lang="en-US" sz="863" dirty="0">
                <a:solidFill>
                  <a:srgbClr val="2A3E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Matched competitor item + availability</a:t>
            </a:r>
            <a:endParaRPr lang="en-US" sz="825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2732782"/>
            <a:ext cx="2835027" cy="498723"/>
          </a:xfrm>
          <a:prstGeom prst="rect">
            <a:avLst/>
          </a:prstGeom>
        </p:spPr>
      </p:pic>
      <p:sp>
        <p:nvSpPr>
          <p:cNvPr id="15" name="Text 7"/>
          <p:cNvSpPr txBox="1"/>
          <p:nvPr/>
        </p:nvSpPr>
        <p:spPr>
          <a:xfrm>
            <a:off x="742950" y="2997994"/>
            <a:ext cx="2625477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silver.item_store_promotion</a:t>
            </a:r>
            <a:pPr indent="0" marL="0">
              <a:buNone/>
            </a:pPr>
            <a:r>
              <a:rPr lang="en-US" sz="863" dirty="0">
                <a:solidFill>
                  <a:srgbClr val="2A3E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Calendar, display, coupon, funding flag</a:t>
            </a:r>
            <a:endParaRPr lang="en-US" sz="825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402" y="2732782"/>
            <a:ext cx="2835176" cy="498723"/>
          </a:xfrm>
          <a:prstGeom prst="rect">
            <a:avLst/>
          </a:prstGeom>
        </p:spPr>
      </p:pic>
      <p:sp>
        <p:nvSpPr>
          <p:cNvPr id="17" name="Text 8"/>
          <p:cNvSpPr txBox="1"/>
          <p:nvPr/>
        </p:nvSpPr>
        <p:spPr>
          <a:xfrm>
            <a:off x="3654177" y="2997994"/>
            <a:ext cx="2625626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silver.item_supplier_funding</a:t>
            </a:r>
            <a:pPr indent="0" marL="0">
              <a:buNone/>
            </a:pPr>
            <a:r>
              <a:rPr lang="en-US" sz="863" dirty="0">
                <a:solidFill>
                  <a:srgbClr val="2A3E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Back-margin, supplier support per item</a:t>
            </a:r>
            <a:endParaRPr lang="en-US" sz="825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3307705"/>
            <a:ext cx="2835027" cy="498723"/>
          </a:xfrm>
          <a:prstGeom prst="rect">
            <a:avLst/>
          </a:prstGeom>
        </p:spPr>
      </p:pic>
      <p:sp>
        <p:nvSpPr>
          <p:cNvPr id="19" name="Text 9"/>
          <p:cNvSpPr txBox="1"/>
          <p:nvPr/>
        </p:nvSpPr>
        <p:spPr>
          <a:xfrm>
            <a:off x="742950" y="3572917"/>
            <a:ext cx="2625477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silver.price_history</a:t>
            </a:r>
            <a:pPr indent="0" marL="0">
              <a:buNone/>
            </a:pPr>
            <a:r>
              <a:rPr lang="en-US" sz="863" dirty="0">
                <a:solidFill>
                  <a:srgbClr val="2A3E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Approved price + endings validated</a:t>
            </a:r>
            <a:endParaRPr lang="en-US" sz="825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9402" y="3307705"/>
            <a:ext cx="2835176" cy="498723"/>
          </a:xfrm>
          <a:prstGeom prst="rect">
            <a:avLst/>
          </a:prstGeom>
        </p:spPr>
      </p:pic>
      <p:sp>
        <p:nvSpPr>
          <p:cNvPr id="21" name="Text 10"/>
          <p:cNvSpPr txBox="1"/>
          <p:nvPr/>
        </p:nvSpPr>
        <p:spPr>
          <a:xfrm>
            <a:off x="3654177" y="3572917"/>
            <a:ext cx="2625626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silver.buyer_price_decision</a:t>
            </a:r>
            <a:pPr indent="0" marL="0">
              <a:buNone/>
            </a:pPr>
            <a:r>
              <a:rPr lang="en-US" sz="863" dirty="0">
                <a:solidFill>
                  <a:srgbClr val="2A3E3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Immutable buyer actions, versioned</a:t>
            </a:r>
            <a:endParaRPr lang="en-US" sz="825" dirty="0"/>
          </a:p>
        </p:txBody>
      </p:sp>
      <p:sp>
        <p:nvSpPr>
          <p:cNvPr id="22" name="Shape 11"/>
          <p:cNvSpPr/>
          <p:nvPr/>
        </p:nvSpPr>
        <p:spPr>
          <a:xfrm>
            <a:off x="638175" y="3924300"/>
            <a:ext cx="5743575" cy="1343025"/>
          </a:xfrm>
          <a:prstGeom prst="roundRect">
            <a:avLst>
              <a:gd name="adj" fmla="val 8511"/>
            </a:avLst>
          </a:prstGeom>
          <a:solidFill>
            <a:srgbClr val="0E1E1C"/>
          </a:solidFill>
          <a:ln/>
        </p:spPr>
      </p:sp>
      <p:sp>
        <p:nvSpPr>
          <p:cNvPr id="23" name="Text 12"/>
          <p:cNvSpPr txBox="1"/>
          <p:nvPr/>
        </p:nvSpPr>
        <p:spPr>
          <a:xfrm>
            <a:off x="790575" y="4073128"/>
            <a:ext cx="5441603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0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COST EFFECTIVE LOGIC — NOT LATEST INGESTION</a:t>
            </a:r>
            <a:endParaRPr lang="en-US" sz="750" dirty="0"/>
          </a:p>
        </p:txBody>
      </p:sp>
      <p:sp>
        <p:nvSpPr>
          <p:cNvPr id="24" name="Text 13"/>
          <p:cNvSpPr txBox="1"/>
          <p:nvPr/>
        </p:nvSpPr>
        <p:spPr>
          <a:xfrm>
            <a:off x="790575" y="4282678"/>
            <a:ext cx="5441603" cy="48741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key: item_id + store_id + supplier_id + effective_date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Latest: ORDER BY source_updated_timestamp DESC</a:t>
            </a:r>
            <a:endParaRPr lang="en-US" sz="900" dirty="0"/>
          </a:p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Take: approved + active + not cancelled + not superseded</a:t>
            </a:r>
            <a:endParaRPr lang="en-US" sz="900" dirty="0"/>
          </a:p>
        </p:txBody>
      </p:sp>
      <p:sp>
        <p:nvSpPr>
          <p:cNvPr id="25" name="Text 14"/>
          <p:cNvSpPr txBox="1"/>
          <p:nvPr/>
        </p:nvSpPr>
        <p:spPr>
          <a:xfrm>
            <a:off x="790575" y="4855815"/>
            <a:ext cx="5441603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600"/>
              </a:spcBef>
              <a:buNone/>
            </a:pPr>
            <a:r>
              <a:rPr lang="en-US" sz="825" dirty="0">
                <a:solidFill>
                  <a:srgbClr val="A0C8C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Choose correct business-effective record, not newest ingestion. Consider cancellation, supersession, approval, activation status.</a:t>
            </a:r>
            <a:endParaRPr lang="en-US" sz="825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37003" y="1130498"/>
            <a:ext cx="2451199" cy="824805"/>
          </a:xfrm>
          <a:prstGeom prst="rect">
            <a:avLst/>
          </a:prstGeom>
        </p:spPr>
      </p:pic>
      <p:sp>
        <p:nvSpPr>
          <p:cNvPr id="27" name="Text 15"/>
          <p:cNvSpPr txBox="1"/>
          <p:nvPr/>
        </p:nvSpPr>
        <p:spPr>
          <a:xfrm>
            <a:off x="6879878" y="1292423"/>
            <a:ext cx="2165449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</a:t>
            </a:r>
            <a:endParaRPr lang="en-US" sz="1500" dirty="0"/>
          </a:p>
        </p:txBody>
      </p:sp>
      <p:sp>
        <p:nvSpPr>
          <p:cNvPr id="28" name="Text 16"/>
          <p:cNvSpPr txBox="1"/>
          <p:nvPr/>
        </p:nvSpPr>
        <p:spPr>
          <a:xfrm>
            <a:off x="6879878" y="1568648"/>
            <a:ext cx="2165449" cy="2628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conformed entities feeding Gold — single source of truth for item-store</a:t>
            </a:r>
            <a:endParaRPr lang="en-US" sz="825" dirty="0"/>
          </a:p>
        </p:txBody>
      </p:sp>
      <p:pic>
        <p:nvPicPr>
          <p:cNvPr id="2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83452" y="1130498"/>
            <a:ext cx="2451348" cy="824805"/>
          </a:xfrm>
          <a:prstGeom prst="rect">
            <a:avLst/>
          </a:prstGeom>
        </p:spPr>
      </p:pic>
      <p:sp>
        <p:nvSpPr>
          <p:cNvPr id="30" name="Text 17"/>
          <p:cNvSpPr txBox="1"/>
          <p:nvPr/>
        </p:nvSpPr>
        <p:spPr>
          <a:xfrm>
            <a:off x="9426327" y="1292423"/>
            <a:ext cx="2165598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100%</a:t>
            </a:r>
            <a:endParaRPr lang="en-US" sz="1500" dirty="0"/>
          </a:p>
        </p:txBody>
      </p:sp>
      <p:sp>
        <p:nvSpPr>
          <p:cNvPr id="31" name="Text 18"/>
          <p:cNvSpPr txBox="1"/>
          <p:nvPr/>
        </p:nvSpPr>
        <p:spPr>
          <a:xfrm>
            <a:off x="9426327" y="1568648"/>
            <a:ext cx="2165598" cy="2628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effective-date-aware — margin depends on cost active for recommendation period</a:t>
            </a:r>
            <a:endParaRPr lang="en-US" sz="825" dirty="0"/>
          </a:p>
        </p:txBody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7003" y="2050554"/>
            <a:ext cx="2451199" cy="824805"/>
          </a:xfrm>
          <a:prstGeom prst="rect">
            <a:avLst/>
          </a:prstGeom>
        </p:spPr>
      </p:pic>
      <p:sp>
        <p:nvSpPr>
          <p:cNvPr id="33" name="Text 19"/>
          <p:cNvSpPr txBox="1"/>
          <p:nvPr/>
        </p:nvSpPr>
        <p:spPr>
          <a:xfrm>
            <a:off x="6879878" y="2212479"/>
            <a:ext cx="2165449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CDC</a:t>
            </a:r>
            <a:endParaRPr lang="en-US" sz="1500" dirty="0"/>
          </a:p>
        </p:txBody>
      </p:sp>
      <p:sp>
        <p:nvSpPr>
          <p:cNvPr id="34" name="Text 20"/>
          <p:cNvSpPr txBox="1"/>
          <p:nvPr/>
        </p:nvSpPr>
        <p:spPr>
          <a:xfrm>
            <a:off x="6879878" y="2488704"/>
            <a:ext cx="2165449" cy="2628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Deduplication via Delta MERGE + QUALIFY window logic</a:t>
            </a:r>
            <a:endParaRPr lang="en-US" sz="825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83452" y="2050554"/>
            <a:ext cx="2451348" cy="824805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9426327" y="2212479"/>
            <a:ext cx="2165598" cy="2476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Audit</a:t>
            </a:r>
            <a:endParaRPr lang="en-US" sz="1500" dirty="0"/>
          </a:p>
        </p:txBody>
      </p:sp>
      <p:sp>
        <p:nvSpPr>
          <p:cNvPr id="37" name="Text 22"/>
          <p:cNvSpPr txBox="1"/>
          <p:nvPr/>
        </p:nvSpPr>
        <p:spPr>
          <a:xfrm>
            <a:off x="9426327" y="2488704"/>
            <a:ext cx="2165598" cy="2628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ingestion_ts + effective_ts + source_updated_ts + version retained</a:t>
            </a:r>
            <a:endParaRPr lang="en-US" sz="825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7003" y="2989659"/>
            <a:ext cx="4997797" cy="516136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6860828" y="3113484"/>
            <a:ext cx="4750147" cy="2875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9C5C1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Common mistake:</a:t>
            </a:r>
            <a:pPr indent="0" marL="0">
              <a:buNone/>
            </a:pPr>
            <a:r>
              <a:rPr lang="en-US" sz="863" dirty="0">
                <a:solidFill>
                  <a:srgbClr val="6B4A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Picking latest ingestion_ts for cost. That breaks margin. You need effective_date for when cost is active, plus updated_ts for latest business version. Retain both.</a:t>
            </a:r>
            <a:endParaRPr lang="en-US" sz="863" dirty="0"/>
          </a:p>
        </p:txBody>
      </p:sp>
      <p:pic>
        <p:nvPicPr>
          <p:cNvPr id="4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37003" y="3620095"/>
            <a:ext cx="4997797" cy="919162"/>
          </a:xfrm>
          <a:prstGeom prst="rect">
            <a:avLst/>
          </a:prstGeom>
        </p:spPr>
      </p:pic>
      <p:sp>
        <p:nvSpPr>
          <p:cNvPr id="41" name="Text 24"/>
          <p:cNvSpPr txBox="1"/>
          <p:nvPr/>
        </p:nvSpPr>
        <p:spPr>
          <a:xfrm>
            <a:off x="6879878" y="3762970"/>
            <a:ext cx="471204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QUALITY CHECKS IN SILVER</a:t>
            </a:r>
            <a:endParaRPr lang="en-US" sz="750" dirty="0"/>
          </a:p>
        </p:txBody>
      </p:sp>
      <p:sp>
        <p:nvSpPr>
          <p:cNvPr id="42" name="Text 25"/>
          <p:cNvSpPr txBox="1"/>
          <p:nvPr/>
        </p:nvSpPr>
        <p:spPr>
          <a:xfrm>
            <a:off x="6879878" y="3962995"/>
            <a:ext cx="4712047" cy="4524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 No future effective_date without approval • No overlapping effective periods for same business key • Cost &gt;0 and within supplier contract • Inventory snapshot = latest per store-day • Competitor match score &gt; threshold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9100" y="361950"/>
            <a:ext cx="113538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LAKEHOUSE • GOLD • DECISION-READY &amp; AUDITABLE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19100" y="619125"/>
            <a:ext cx="113538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 — decision-ready tables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072455"/>
            <a:ext cx="2857500" cy="26920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61975" y="1234380"/>
            <a:ext cx="257175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 TABLES (6)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75" y="1453455"/>
            <a:ext cx="2571750" cy="3137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00100" y="1548705"/>
            <a:ext cx="2228850" cy="1327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1E33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gold.pricing_features_item_store_week</a:t>
            </a:r>
            <a:endParaRPr lang="en-US" sz="863" dirty="0"/>
          </a:p>
        </p:txBody>
      </p:sp>
      <p:sp>
        <p:nvSpPr>
          <p:cNvPr id="8" name="Shape 4"/>
          <p:cNvSpPr/>
          <p:nvPr/>
        </p:nvSpPr>
        <p:spPr>
          <a:xfrm>
            <a:off x="666750" y="15811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7C74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824335"/>
            <a:ext cx="2571750" cy="31373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00100" y="1919585"/>
            <a:ext cx="2228850" cy="1327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1E33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gold.demand_forecast_item_store_week</a:t>
            </a:r>
            <a:endParaRPr lang="en-US" sz="863" dirty="0"/>
          </a:p>
        </p:txBody>
      </p:sp>
      <p:sp>
        <p:nvSpPr>
          <p:cNvPr id="11" name="Shape 6"/>
          <p:cNvSpPr/>
          <p:nvPr/>
        </p:nvSpPr>
        <p:spPr>
          <a:xfrm>
            <a:off x="666750" y="19526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7C74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2195215"/>
            <a:ext cx="2571750" cy="31373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00100" y="2290465"/>
            <a:ext cx="2228850" cy="1327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1E33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gold.price_candidate_simulation</a:t>
            </a:r>
            <a:endParaRPr lang="en-US" sz="863" dirty="0"/>
          </a:p>
        </p:txBody>
      </p:sp>
      <p:sp>
        <p:nvSpPr>
          <p:cNvPr id="14" name="Shape 8"/>
          <p:cNvSpPr/>
          <p:nvPr/>
        </p:nvSpPr>
        <p:spPr>
          <a:xfrm>
            <a:off x="666750" y="2324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7C74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2566095"/>
            <a:ext cx="2571750" cy="31373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800100" y="2661345"/>
            <a:ext cx="2228850" cy="1327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1E33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gold.price_recommendation ← core</a:t>
            </a:r>
            <a:endParaRPr lang="en-US" sz="863" dirty="0"/>
          </a:p>
        </p:txBody>
      </p:sp>
      <p:sp>
        <p:nvSpPr>
          <p:cNvPr id="17" name="Shape 10"/>
          <p:cNvSpPr/>
          <p:nvPr/>
        </p:nvSpPr>
        <p:spPr>
          <a:xfrm>
            <a:off x="666750" y="269557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7C74"/>
          </a:solidFill>
          <a:ln/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936974"/>
            <a:ext cx="2571750" cy="31373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800100" y="3032224"/>
            <a:ext cx="2228850" cy="1327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1E33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gold.price_decision_audit</a:t>
            </a:r>
            <a:endParaRPr lang="en-US" sz="863" dirty="0"/>
          </a:p>
        </p:txBody>
      </p:sp>
      <p:sp>
        <p:nvSpPr>
          <p:cNvPr id="20" name="Shape 12"/>
          <p:cNvSpPr/>
          <p:nvPr/>
        </p:nvSpPr>
        <p:spPr>
          <a:xfrm>
            <a:off x="666750" y="30670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7C74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3307854"/>
            <a:ext cx="2571750" cy="31373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800100" y="3403104"/>
            <a:ext cx="2228850" cy="1327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863" dirty="0">
                <a:solidFill>
                  <a:srgbClr val="1E33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gold.pricing_experiment_results</a:t>
            </a:r>
            <a:endParaRPr lang="en-US" sz="863" dirty="0"/>
          </a:p>
        </p:txBody>
      </p:sp>
      <p:sp>
        <p:nvSpPr>
          <p:cNvPr id="23" name="Shape 14"/>
          <p:cNvSpPr/>
          <p:nvPr/>
        </p:nvSpPr>
        <p:spPr>
          <a:xfrm>
            <a:off x="666750" y="3438525"/>
            <a:ext cx="57150" cy="57150"/>
          </a:xfrm>
          <a:prstGeom prst="roundRect">
            <a:avLst>
              <a:gd name="adj" fmla="val 50000"/>
            </a:avLst>
          </a:prstGeom>
          <a:solidFill>
            <a:srgbClr val="0A7C74"/>
          </a:solidFill>
          <a:ln/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100" y="3859709"/>
            <a:ext cx="2857500" cy="750094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33400" y="3964484"/>
            <a:ext cx="2628900" cy="5500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2"/>
              </a:lnSpc>
              <a:buNone/>
            </a:pPr>
            <a:r>
              <a:rPr lang="en-US" sz="788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Full audit trail required for every row:</a:t>
            </a:r>
            <a:endParaRPr lang="en-US" sz="788" dirty="0"/>
          </a:p>
          <a:p>
            <a:pPr algn="l" indent="0" marL="0">
              <a:lnSpc>
                <a:spcPts val="1102"/>
              </a:lnSpc>
              <a:buNone/>
            </a:pPr>
            <a:r>
              <a:rPr lang="en-US" sz="788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model_version + feature_snapshot_version + cost_version + competitor_snapshot_time + optimization_policy_version + guardrail_version → Answer: Why 182?</a:t>
            </a:r>
            <a:endParaRPr lang="en-US" sz="788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9950" y="1072455"/>
            <a:ext cx="8362950" cy="5442645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3571875" y="1234380"/>
            <a:ext cx="80391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GOLD.PRICE_RECOMMENDATION — BUYER MUST SEE ALL BELOW</a:t>
            </a:r>
            <a:endParaRPr lang="en-US" sz="7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71875" y="1453455"/>
            <a:ext cx="2616101" cy="1307009"/>
          </a:xfrm>
          <a:prstGeom prst="rect">
            <a:avLst/>
          </a:prstGeom>
        </p:spPr>
      </p:pic>
      <p:sp>
        <p:nvSpPr>
          <p:cNvPr id="29" name="Text 17"/>
          <p:cNvSpPr txBox="1"/>
          <p:nvPr/>
        </p:nvSpPr>
        <p:spPr>
          <a:xfrm>
            <a:off x="3686175" y="1577280"/>
            <a:ext cx="238750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5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IDENTITY &amp; CYCLE</a:t>
            </a:r>
            <a:endParaRPr lang="en-US" sz="750" dirty="0"/>
          </a:p>
        </p:txBody>
      </p:sp>
      <p:sp>
        <p:nvSpPr>
          <p:cNvPr id="30" name="Text 18"/>
          <p:cNvSpPr txBox="1"/>
          <p:nvPr/>
        </p:nvSpPr>
        <p:spPr>
          <a:xfrm>
            <a:off x="3800624" y="1786830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recommendation_id / pricing_cycle</a:t>
            </a:r>
            <a:endParaRPr lang="en-US" sz="750" dirty="0"/>
          </a:p>
        </p:txBody>
      </p:sp>
      <p:sp>
        <p:nvSpPr>
          <p:cNvPr id="31" name="Text 19"/>
          <p:cNvSpPr txBox="1"/>
          <p:nvPr/>
        </p:nvSpPr>
        <p:spPr>
          <a:xfrm>
            <a:off x="3800624" y="1966317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item_id + store_id + supplier</a:t>
            </a:r>
            <a:endParaRPr lang="en-US" sz="750" dirty="0"/>
          </a:p>
        </p:txBody>
      </p:sp>
      <p:sp>
        <p:nvSpPr>
          <p:cNvPr id="32" name="Text 20"/>
          <p:cNvSpPr txBox="1"/>
          <p:nvPr/>
        </p:nvSpPr>
        <p:spPr>
          <a:xfrm>
            <a:off x="3800624" y="2145804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current_price / final_price</a:t>
            </a:r>
            <a:endParaRPr lang="en-US" sz="750" dirty="0"/>
          </a:p>
        </p:txBody>
      </p:sp>
      <p:sp>
        <p:nvSpPr>
          <p:cNvPr id="33" name="Text 21"/>
          <p:cNvSpPr txBox="1"/>
          <p:nvPr/>
        </p:nvSpPr>
        <p:spPr>
          <a:xfrm>
            <a:off x="3800624" y="2325291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supplier_recommended_price</a:t>
            </a:r>
            <a:endParaRPr lang="en-US" sz="750" dirty="0"/>
          </a:p>
        </p:txBody>
      </p:sp>
      <p:pic>
        <p:nvPicPr>
          <p:cNvPr id="3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83226" y="1453455"/>
            <a:ext cx="2616250" cy="1307009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6397526" y="1577280"/>
            <a:ext cx="238765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5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PREDICTION &amp; IMPACT</a:t>
            </a:r>
            <a:endParaRPr lang="en-US" sz="750" dirty="0"/>
          </a:p>
        </p:txBody>
      </p:sp>
      <p:sp>
        <p:nvSpPr>
          <p:cNvPr id="36" name="Text 23"/>
          <p:cNvSpPr txBox="1"/>
          <p:nvPr/>
        </p:nvSpPr>
        <p:spPr>
          <a:xfrm>
            <a:off x="6511975" y="1786830"/>
            <a:ext cx="2273201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predicted_units_current → recommended</a:t>
            </a:r>
            <a:endParaRPr lang="en-US" sz="750" dirty="0"/>
          </a:p>
        </p:txBody>
      </p:sp>
      <p:sp>
        <p:nvSpPr>
          <p:cNvPr id="37" name="Text 24"/>
          <p:cNvSpPr txBox="1"/>
          <p:nvPr/>
        </p:nvSpPr>
        <p:spPr>
          <a:xfrm>
            <a:off x="6511975" y="1966317"/>
            <a:ext cx="2273201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predicted_revenue_change / Δ%</a:t>
            </a:r>
            <a:endParaRPr lang="en-US" sz="750" dirty="0"/>
          </a:p>
        </p:txBody>
      </p:sp>
      <p:sp>
        <p:nvSpPr>
          <p:cNvPr id="38" name="Text 25"/>
          <p:cNvSpPr txBox="1"/>
          <p:nvPr/>
        </p:nvSpPr>
        <p:spPr>
          <a:xfrm>
            <a:off x="6511975" y="2145804"/>
            <a:ext cx="2273201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predicted_margin_change / Δ%</a:t>
            </a:r>
            <a:endParaRPr lang="en-US" sz="750" dirty="0"/>
          </a:p>
        </p:txBody>
      </p:sp>
      <p:sp>
        <p:nvSpPr>
          <p:cNvPr id="39" name="Text 26"/>
          <p:cNvSpPr txBox="1"/>
          <p:nvPr/>
        </p:nvSpPr>
        <p:spPr>
          <a:xfrm>
            <a:off x="6511975" y="2325291"/>
            <a:ext cx="2273201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inventory_days_cover / expiry risk</a:t>
            </a:r>
            <a:endParaRPr lang="en-US" sz="750" dirty="0"/>
          </a:p>
        </p:txBody>
      </p:sp>
      <p:sp>
        <p:nvSpPr>
          <p:cNvPr id="40" name="Text 27"/>
          <p:cNvSpPr txBox="1"/>
          <p:nvPr/>
        </p:nvSpPr>
        <p:spPr>
          <a:xfrm>
            <a:off x="6511975" y="2504777"/>
            <a:ext cx="2273201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competitor_price + gap</a:t>
            </a:r>
            <a:endParaRPr lang="en-US" sz="75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94725" y="1453455"/>
            <a:ext cx="2616101" cy="1307009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9109025" y="1577280"/>
            <a:ext cx="238750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52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CONFIDENCE &amp; GOVERNANCE</a:t>
            </a:r>
            <a:endParaRPr lang="en-US" sz="750" dirty="0"/>
          </a:p>
        </p:txBody>
      </p:sp>
      <p:sp>
        <p:nvSpPr>
          <p:cNvPr id="43" name="Text 29"/>
          <p:cNvSpPr txBox="1"/>
          <p:nvPr/>
        </p:nvSpPr>
        <p:spPr>
          <a:xfrm>
            <a:off x="9223474" y="1786830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confidence_score H/M/L</a:t>
            </a:r>
            <a:endParaRPr lang="en-US" sz="750" dirty="0"/>
          </a:p>
        </p:txBody>
      </p:sp>
      <p:sp>
        <p:nvSpPr>
          <p:cNvPr id="44" name="Text 30"/>
          <p:cNvSpPr txBox="1"/>
          <p:nvPr/>
        </p:nvSpPr>
        <p:spPr>
          <a:xfrm>
            <a:off x="9223474" y="1966317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recommendation_reason (NL)</a:t>
            </a:r>
            <a:endParaRPr lang="en-US" sz="750" dirty="0"/>
          </a:p>
        </p:txBody>
      </p:sp>
      <p:sp>
        <p:nvSpPr>
          <p:cNvPr id="45" name="Text 31"/>
          <p:cNvSpPr txBox="1"/>
          <p:nvPr/>
        </p:nvSpPr>
        <p:spPr>
          <a:xfrm>
            <a:off x="9223474" y="2145804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guardrail_status / decision_status</a:t>
            </a:r>
            <a:endParaRPr lang="en-US" sz="750" dirty="0"/>
          </a:p>
        </p:txBody>
      </p:sp>
      <p:sp>
        <p:nvSpPr>
          <p:cNvPr id="46" name="Text 32"/>
          <p:cNvSpPr txBox="1"/>
          <p:nvPr/>
        </p:nvSpPr>
        <p:spPr>
          <a:xfrm>
            <a:off x="9223474" y="2325291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model_version / feature_version</a:t>
            </a:r>
            <a:endParaRPr lang="en-US" sz="750" dirty="0"/>
          </a:p>
        </p:txBody>
      </p:sp>
      <p:sp>
        <p:nvSpPr>
          <p:cNvPr id="47" name="Text 33"/>
          <p:cNvSpPr txBox="1"/>
          <p:nvPr/>
        </p:nvSpPr>
        <p:spPr>
          <a:xfrm>
            <a:off x="9223474" y="2504777"/>
            <a:ext cx="2273052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750" dirty="0">
                <a:solidFill>
                  <a:srgbClr val="5A7B77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▸</a:t>
            </a:r>
            <a:pPr indent="0" marL="0">
              <a:buNone/>
            </a:pPr>
            <a:r>
              <a:rPr lang="en-US" sz="825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decision_timestamp / buyer_id</a:t>
            </a:r>
            <a:endParaRPr lang="en-US" sz="750" dirty="0"/>
          </a:p>
        </p:txBody>
      </p:sp>
      <p:pic>
        <p:nvPicPr>
          <p:cNvPr id="4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71875" y="2855714"/>
            <a:ext cx="3981450" cy="595610"/>
          </a:xfrm>
          <a:prstGeom prst="rect">
            <a:avLst/>
          </a:prstGeom>
        </p:spPr>
      </p:pic>
      <p:sp>
        <p:nvSpPr>
          <p:cNvPr id="49" name="Text 34"/>
          <p:cNvSpPr txBox="1"/>
          <p:nvPr/>
        </p:nvSpPr>
        <p:spPr>
          <a:xfrm>
            <a:off x="3676650" y="2950964"/>
            <a:ext cx="3771900" cy="4146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Immutable history:</a:t>
            </a:r>
            <a:pPr indent="0" marL="0">
              <a:buNone/>
            </a:pPr>
            <a:r>
              <a:rPr lang="en-US" sz="825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Never overwrite. Every system rec + supplier input + buyer override = own version. Buyer may freeze to earlier version — need version management.</a:t>
            </a:r>
            <a:endParaRPr lang="en-US" sz="825" dirty="0"/>
          </a:p>
        </p:txBody>
      </p:sp>
      <p:pic>
        <p:nvPicPr>
          <p:cNvPr id="5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9525" y="2855714"/>
            <a:ext cx="3981450" cy="595610"/>
          </a:xfrm>
          <a:prstGeom prst="rect">
            <a:avLst/>
          </a:prstGeom>
        </p:spPr>
      </p:pic>
      <p:sp>
        <p:nvSpPr>
          <p:cNvPr id="51" name="Text 35"/>
          <p:cNvSpPr txBox="1"/>
          <p:nvPr/>
        </p:nvSpPr>
        <p:spPr>
          <a:xfrm>
            <a:off x="7734300" y="2950964"/>
            <a:ext cx="3771900" cy="4146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Serving:</a:t>
            </a:r>
            <a:pPr indent="0" marL="0">
              <a:buNone/>
            </a:pPr>
            <a:r>
              <a:rPr lang="en-US" sz="825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Portal / Commercial Hub reads latest approved version per item-store-week. Downstream execution reads buyer_final_price only after approval flag = true.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9100" y="361950"/>
            <a:ext cx="113538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 LAYER • DECISION-READY, AUDITABLE, VERSIONED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19100" y="542925"/>
            <a:ext cx="4622155" cy="3107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8"/>
              </a:lnSpc>
              <a:buNone/>
            </a:pPr>
            <a:r>
              <a:rPr lang="en-US" sz="2400" b="1" spc="-48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 layer — what model sees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3039" y="596503"/>
            <a:ext cx="1979861" cy="2571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888289" y="672703"/>
            <a:ext cx="178936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gold.pricing_features_item_store_week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419100" y="863203"/>
            <a:ext cx="6096000" cy="3238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938" dirty="0">
                <a:solidFill>
                  <a:srgbClr val="4B5E5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Organized around price, demand memory, supply, commercial, context. All price-dependent features recalculated per candidate.</a:t>
            </a:r>
            <a:endParaRPr lang="en-US" sz="938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1339453"/>
            <a:ext cx="2179290" cy="4623197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482328"/>
            <a:ext cx="209550" cy="2095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18530" y="1527572"/>
            <a:ext cx="133945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$</a:t>
            </a:r>
            <a:endParaRPr lang="en-US" sz="825" dirty="0"/>
          </a:p>
        </p:txBody>
      </p:sp>
      <p:sp>
        <p:nvSpPr>
          <p:cNvPr id="10" name="Text 5"/>
          <p:cNvSpPr txBox="1"/>
          <p:nvPr/>
        </p:nvSpPr>
        <p:spPr>
          <a:xfrm>
            <a:off x="828675" y="1527572"/>
            <a:ext cx="351681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</a:t>
            </a:r>
            <a:endParaRPr lang="en-US" sz="825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1768078"/>
            <a:ext cx="1931640" cy="25047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28650" y="1834753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current_price</a:t>
            </a:r>
            <a:endParaRPr lang="en-US" sz="825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2066181"/>
            <a:ext cx="1931640" cy="25047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628650" y="2132856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candidate_price</a:t>
            </a:r>
            <a:endParaRPr lang="en-US" sz="825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364284"/>
            <a:ext cx="1931640" cy="25047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28650" y="2430959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log_candidate_price</a:t>
            </a:r>
            <a:endParaRPr lang="en-US" sz="825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2925" y="2662386"/>
            <a:ext cx="1931640" cy="25047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628650" y="2729061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price_change_%</a:t>
            </a:r>
            <a:endParaRPr lang="en-US" sz="825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2960489"/>
            <a:ext cx="1931640" cy="250478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628650" y="3027164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price_vs_competitor</a:t>
            </a:r>
            <a:endParaRPr lang="en-US" sz="825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2925" y="3258592"/>
            <a:ext cx="1931640" cy="250478"/>
          </a:xfrm>
          <a:prstGeom prst="rect">
            <a:avLst/>
          </a:prstGeom>
        </p:spPr>
      </p:pic>
      <p:sp>
        <p:nvSpPr>
          <p:cNvPr id="22" name="Text 11"/>
          <p:cNvSpPr txBox="1"/>
          <p:nvPr/>
        </p:nvSpPr>
        <p:spPr>
          <a:xfrm>
            <a:off x="628650" y="3325267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price_index, discount_depth</a:t>
            </a:r>
            <a:endParaRPr lang="en-US" sz="825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12690" y="1339453"/>
            <a:ext cx="2179290" cy="4623197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36515" y="1482328"/>
            <a:ext cx="209550" cy="209550"/>
          </a:xfrm>
          <a:prstGeom prst="rect">
            <a:avLst/>
          </a:prstGeom>
        </p:spPr>
      </p:pic>
      <p:sp>
        <p:nvSpPr>
          <p:cNvPr id="25" name="Text 12"/>
          <p:cNvSpPr txBox="1"/>
          <p:nvPr/>
        </p:nvSpPr>
        <p:spPr>
          <a:xfrm>
            <a:off x="2902000" y="1527572"/>
            <a:ext cx="144066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◧</a:t>
            </a:r>
            <a:endParaRPr lang="en-US" sz="825" dirty="0"/>
          </a:p>
        </p:txBody>
      </p:sp>
      <p:sp>
        <p:nvSpPr>
          <p:cNvPr id="26" name="Text 13"/>
          <p:cNvSpPr txBox="1"/>
          <p:nvPr/>
        </p:nvSpPr>
        <p:spPr>
          <a:xfrm>
            <a:off x="3122265" y="1527572"/>
            <a:ext cx="1038374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MEMORY</a:t>
            </a:r>
            <a:endParaRPr lang="en-US" sz="825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36515" y="1768078"/>
            <a:ext cx="1931640" cy="250478"/>
          </a:xfrm>
          <a:prstGeom prst="rect">
            <a:avLst/>
          </a:prstGeom>
        </p:spPr>
      </p:pic>
      <p:sp>
        <p:nvSpPr>
          <p:cNvPr id="28" name="Text 14"/>
          <p:cNvSpPr txBox="1"/>
          <p:nvPr/>
        </p:nvSpPr>
        <p:spPr>
          <a:xfrm>
            <a:off x="2922240" y="1834753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lag_1, lag_2, lag_4</a:t>
            </a:r>
            <a:endParaRPr lang="en-US" sz="825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836515" y="2066181"/>
            <a:ext cx="1931640" cy="250478"/>
          </a:xfrm>
          <a:prstGeom prst="rect">
            <a:avLst/>
          </a:prstGeom>
        </p:spPr>
      </p:pic>
      <p:sp>
        <p:nvSpPr>
          <p:cNvPr id="30" name="Text 15"/>
          <p:cNvSpPr txBox="1"/>
          <p:nvPr/>
        </p:nvSpPr>
        <p:spPr>
          <a:xfrm>
            <a:off x="2922240" y="2132856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rolling_4w, rolling_8w</a:t>
            </a:r>
            <a:endParaRPr lang="en-US" sz="825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36515" y="2364284"/>
            <a:ext cx="1931640" cy="250478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2922240" y="2430959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sales_momentum</a:t>
            </a:r>
            <a:endParaRPr lang="en-US" sz="825" dirty="0"/>
          </a:p>
        </p:txBody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836515" y="2662386"/>
            <a:ext cx="1931640" cy="250478"/>
          </a:xfrm>
          <a:prstGeom prst="rect">
            <a:avLst/>
          </a:prstGeom>
        </p:spPr>
      </p:pic>
      <p:sp>
        <p:nvSpPr>
          <p:cNvPr id="34" name="Text 17"/>
          <p:cNvSpPr txBox="1"/>
          <p:nvPr/>
        </p:nvSpPr>
        <p:spPr>
          <a:xfrm>
            <a:off x="2922240" y="2729061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historical_price_percentile</a:t>
            </a:r>
            <a:endParaRPr lang="en-US" sz="825" dirty="0"/>
          </a:p>
        </p:txBody>
      </p:sp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36515" y="2960489"/>
            <a:ext cx="1931640" cy="250478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2922240" y="3027164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store cluster seasonality</a:t>
            </a:r>
            <a:endParaRPr lang="en-US" sz="825" dirty="0"/>
          </a:p>
        </p:txBody>
      </p:sp>
      <p:pic>
        <p:nvPicPr>
          <p:cNvPr id="3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06280" y="1339453"/>
            <a:ext cx="2179290" cy="4623197"/>
          </a:xfrm>
          <a:prstGeom prst="rect">
            <a:avLst/>
          </a:prstGeom>
        </p:spPr>
      </p:pic>
      <p:pic>
        <p:nvPicPr>
          <p:cNvPr id="3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130105" y="1482328"/>
            <a:ext cx="209550" cy="209550"/>
          </a:xfrm>
          <a:prstGeom prst="rect">
            <a:avLst/>
          </a:prstGeom>
        </p:spPr>
      </p:pic>
      <p:sp>
        <p:nvSpPr>
          <p:cNvPr id="39" name="Text 19"/>
          <p:cNvSpPr txBox="1"/>
          <p:nvPr/>
        </p:nvSpPr>
        <p:spPr>
          <a:xfrm>
            <a:off x="5195590" y="1527572"/>
            <a:ext cx="144066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⊞</a:t>
            </a:r>
            <a:endParaRPr lang="en-US" sz="825" dirty="0"/>
          </a:p>
        </p:txBody>
      </p:sp>
      <p:sp>
        <p:nvSpPr>
          <p:cNvPr id="40" name="Text 20"/>
          <p:cNvSpPr txBox="1"/>
          <p:nvPr/>
        </p:nvSpPr>
        <p:spPr>
          <a:xfrm>
            <a:off x="5415855" y="1527572"/>
            <a:ext cx="1260277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SUPPLY &amp; INVENTORY</a:t>
            </a:r>
            <a:endParaRPr lang="en-US" sz="825" dirty="0"/>
          </a:p>
        </p:txBody>
      </p:sp>
      <p:pic>
        <p:nvPicPr>
          <p:cNvPr id="4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30105" y="1768078"/>
            <a:ext cx="1931640" cy="250478"/>
          </a:xfrm>
          <a:prstGeom prst="rect">
            <a:avLst/>
          </a:prstGeom>
        </p:spPr>
      </p:pic>
      <p:sp>
        <p:nvSpPr>
          <p:cNvPr id="42" name="Text 21"/>
          <p:cNvSpPr txBox="1"/>
          <p:nvPr/>
        </p:nvSpPr>
        <p:spPr>
          <a:xfrm>
            <a:off x="5215830" y="1834753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stock_on_hand</a:t>
            </a:r>
            <a:endParaRPr lang="en-US" sz="825" dirty="0"/>
          </a:p>
        </p:txBody>
      </p:sp>
      <p:pic>
        <p:nvPicPr>
          <p:cNvPr id="4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30105" y="2066181"/>
            <a:ext cx="1931640" cy="250478"/>
          </a:xfrm>
          <a:prstGeom prst="rect">
            <a:avLst/>
          </a:prstGeom>
        </p:spPr>
      </p:pic>
      <p:sp>
        <p:nvSpPr>
          <p:cNvPr id="44" name="Text 22"/>
          <p:cNvSpPr txBox="1"/>
          <p:nvPr/>
        </p:nvSpPr>
        <p:spPr>
          <a:xfrm>
            <a:off x="5215830" y="2132856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days_of_supply</a:t>
            </a:r>
            <a:endParaRPr lang="en-US" sz="825" dirty="0"/>
          </a:p>
        </p:txBody>
      </p:sp>
      <p:pic>
        <p:nvPicPr>
          <p:cNvPr id="45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130105" y="2364284"/>
            <a:ext cx="1931640" cy="250478"/>
          </a:xfrm>
          <a:prstGeom prst="rect">
            <a:avLst/>
          </a:prstGeom>
        </p:spPr>
      </p:pic>
      <p:sp>
        <p:nvSpPr>
          <p:cNvPr id="46" name="Text 23"/>
          <p:cNvSpPr txBox="1"/>
          <p:nvPr/>
        </p:nvSpPr>
        <p:spPr>
          <a:xfrm>
            <a:off x="5215830" y="2430959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out_of_stock_rate</a:t>
            </a:r>
            <a:endParaRPr lang="en-US" sz="825" dirty="0"/>
          </a:p>
        </p:txBody>
      </p:sp>
      <p:pic>
        <p:nvPicPr>
          <p:cNvPr id="47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30105" y="2662386"/>
            <a:ext cx="1931640" cy="250478"/>
          </a:xfrm>
          <a:prstGeom prst="rect">
            <a:avLst/>
          </a:prstGeom>
        </p:spPr>
      </p:pic>
      <p:sp>
        <p:nvSpPr>
          <p:cNvPr id="48" name="Text 24"/>
          <p:cNvSpPr txBox="1"/>
          <p:nvPr/>
        </p:nvSpPr>
        <p:spPr>
          <a:xfrm>
            <a:off x="5215830" y="2729061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shrinkage, expiry_risk</a:t>
            </a:r>
            <a:endParaRPr lang="en-US" sz="825" dirty="0"/>
          </a:p>
        </p:txBody>
      </p:sp>
      <p:pic>
        <p:nvPicPr>
          <p:cNvPr id="49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130105" y="2960489"/>
            <a:ext cx="1931640" cy="250478"/>
          </a:xfrm>
          <a:prstGeom prst="rect">
            <a:avLst/>
          </a:prstGeom>
        </p:spPr>
      </p:pic>
      <p:sp>
        <p:nvSpPr>
          <p:cNvPr id="50" name="Text 25"/>
          <p:cNvSpPr txBox="1"/>
          <p:nvPr/>
        </p:nvSpPr>
        <p:spPr>
          <a:xfrm>
            <a:off x="5215830" y="3027164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lead_time</a:t>
            </a:r>
            <a:endParaRPr lang="en-US" sz="825" dirty="0"/>
          </a:p>
        </p:txBody>
      </p:sp>
      <p:pic>
        <p:nvPicPr>
          <p:cNvPr id="5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299871" y="1339453"/>
            <a:ext cx="2179290" cy="4623197"/>
          </a:xfrm>
          <a:prstGeom prst="rect">
            <a:avLst/>
          </a:prstGeom>
        </p:spPr>
      </p:pic>
      <p:pic>
        <p:nvPicPr>
          <p:cNvPr id="52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423696" y="1482328"/>
            <a:ext cx="209550" cy="209550"/>
          </a:xfrm>
          <a:prstGeom prst="rect">
            <a:avLst/>
          </a:prstGeom>
        </p:spPr>
      </p:pic>
      <p:sp>
        <p:nvSpPr>
          <p:cNvPr id="53" name="Text 26"/>
          <p:cNvSpPr txBox="1"/>
          <p:nvPr/>
        </p:nvSpPr>
        <p:spPr>
          <a:xfrm>
            <a:off x="7481887" y="1527572"/>
            <a:ext cx="151358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825" dirty="0"/>
          </a:p>
        </p:txBody>
      </p:sp>
      <p:sp>
        <p:nvSpPr>
          <p:cNvPr id="54" name="Text 27"/>
          <p:cNvSpPr txBox="1"/>
          <p:nvPr/>
        </p:nvSpPr>
        <p:spPr>
          <a:xfrm>
            <a:off x="7709446" y="1527572"/>
            <a:ext cx="784622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COMMERCIAL</a:t>
            </a:r>
            <a:endParaRPr lang="en-US" sz="825" dirty="0"/>
          </a:p>
        </p:txBody>
      </p:sp>
      <p:pic>
        <p:nvPicPr>
          <p:cNvPr id="55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23696" y="1768078"/>
            <a:ext cx="1931640" cy="250478"/>
          </a:xfrm>
          <a:prstGeom prst="rect">
            <a:avLst/>
          </a:prstGeom>
        </p:spPr>
      </p:pic>
      <p:sp>
        <p:nvSpPr>
          <p:cNvPr id="56" name="Text 28"/>
          <p:cNvSpPr txBox="1"/>
          <p:nvPr/>
        </p:nvSpPr>
        <p:spPr>
          <a:xfrm>
            <a:off x="7509421" y="1834753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unit_cost (effective)</a:t>
            </a:r>
            <a:endParaRPr lang="en-US" sz="825" dirty="0"/>
          </a:p>
        </p:txBody>
      </p:sp>
      <p:pic>
        <p:nvPicPr>
          <p:cNvPr id="5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23696" y="2066181"/>
            <a:ext cx="1931640" cy="250478"/>
          </a:xfrm>
          <a:prstGeom prst="rect">
            <a:avLst/>
          </a:prstGeom>
        </p:spPr>
      </p:pic>
      <p:sp>
        <p:nvSpPr>
          <p:cNvPr id="58" name="Text 29"/>
          <p:cNvSpPr txBox="1"/>
          <p:nvPr/>
        </p:nvSpPr>
        <p:spPr>
          <a:xfrm>
            <a:off x="7509421" y="2132856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supplier_funding</a:t>
            </a:r>
            <a:endParaRPr lang="en-US" sz="825" dirty="0"/>
          </a:p>
        </p:txBody>
      </p:sp>
      <p:pic>
        <p:nvPicPr>
          <p:cNvPr id="5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423696" y="2364284"/>
            <a:ext cx="1931640" cy="250478"/>
          </a:xfrm>
          <a:prstGeom prst="rect">
            <a:avLst/>
          </a:prstGeom>
        </p:spPr>
      </p:pic>
      <p:sp>
        <p:nvSpPr>
          <p:cNvPr id="60" name="Text 30"/>
          <p:cNvSpPr txBox="1"/>
          <p:nvPr/>
        </p:nvSpPr>
        <p:spPr>
          <a:xfrm>
            <a:off x="7509421" y="2430959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promotion, display</a:t>
            </a:r>
            <a:endParaRPr lang="en-US" sz="825" dirty="0"/>
          </a:p>
        </p:txBody>
      </p:sp>
      <p:pic>
        <p:nvPicPr>
          <p:cNvPr id="61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423696" y="2662386"/>
            <a:ext cx="1931640" cy="250478"/>
          </a:xfrm>
          <a:prstGeom prst="rect">
            <a:avLst/>
          </a:prstGeom>
        </p:spPr>
      </p:pic>
      <p:sp>
        <p:nvSpPr>
          <p:cNvPr id="62" name="Text 31"/>
          <p:cNvSpPr txBox="1"/>
          <p:nvPr/>
        </p:nvSpPr>
        <p:spPr>
          <a:xfrm>
            <a:off x="7509421" y="2729061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minimum_margin, brand</a:t>
            </a:r>
            <a:endParaRPr lang="en-US" sz="825" dirty="0"/>
          </a:p>
        </p:txBody>
      </p:sp>
      <p:pic>
        <p:nvPicPr>
          <p:cNvPr id="63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23696" y="2960489"/>
            <a:ext cx="1931640" cy="250478"/>
          </a:xfrm>
          <a:prstGeom prst="rect">
            <a:avLst/>
          </a:prstGeom>
        </p:spPr>
      </p:pic>
      <p:sp>
        <p:nvSpPr>
          <p:cNvPr id="64" name="Text 32"/>
          <p:cNvSpPr txBox="1"/>
          <p:nvPr/>
        </p:nvSpPr>
        <p:spPr>
          <a:xfrm>
            <a:off x="7509421" y="3027164"/>
            <a:ext cx="176019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private_label, KVI_flag</a:t>
            </a:r>
            <a:endParaRPr lang="en-US" sz="825" dirty="0"/>
          </a:p>
        </p:txBody>
      </p:sp>
      <p:pic>
        <p:nvPicPr>
          <p:cNvPr id="6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593461" y="1339453"/>
            <a:ext cx="2179439" cy="4623197"/>
          </a:xfrm>
          <a:prstGeom prst="rect">
            <a:avLst/>
          </a:prstGeom>
        </p:spPr>
      </p:pic>
      <p:pic>
        <p:nvPicPr>
          <p:cNvPr id="6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717286" y="1482328"/>
            <a:ext cx="209550" cy="209550"/>
          </a:xfrm>
          <a:prstGeom prst="rect">
            <a:avLst/>
          </a:prstGeom>
        </p:spPr>
      </p:pic>
      <p:sp>
        <p:nvSpPr>
          <p:cNvPr id="67" name="Text 33"/>
          <p:cNvSpPr txBox="1"/>
          <p:nvPr/>
        </p:nvSpPr>
        <p:spPr>
          <a:xfrm>
            <a:off x="9790361" y="1527572"/>
            <a:ext cx="136475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◐</a:t>
            </a:r>
            <a:endParaRPr lang="en-US" sz="825" dirty="0"/>
          </a:p>
        </p:txBody>
      </p:sp>
      <p:sp>
        <p:nvSpPr>
          <p:cNvPr id="68" name="Text 34"/>
          <p:cNvSpPr txBox="1"/>
          <p:nvPr/>
        </p:nvSpPr>
        <p:spPr>
          <a:xfrm>
            <a:off x="10003036" y="1527572"/>
            <a:ext cx="544711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CONTEXT</a:t>
            </a:r>
            <a:endParaRPr lang="en-US" sz="825" dirty="0"/>
          </a:p>
        </p:txBody>
      </p:sp>
      <p:pic>
        <p:nvPicPr>
          <p:cNvPr id="69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717286" y="1768078"/>
            <a:ext cx="1931789" cy="250478"/>
          </a:xfrm>
          <a:prstGeom prst="rect">
            <a:avLst/>
          </a:prstGeom>
        </p:spPr>
      </p:pic>
      <p:sp>
        <p:nvSpPr>
          <p:cNvPr id="70" name="Text 35"/>
          <p:cNvSpPr txBox="1"/>
          <p:nvPr/>
        </p:nvSpPr>
        <p:spPr>
          <a:xfrm>
            <a:off x="9803011" y="1834753"/>
            <a:ext cx="1760339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store_cluster, region</a:t>
            </a:r>
            <a:endParaRPr lang="en-US" sz="825" dirty="0"/>
          </a:p>
        </p:txBody>
      </p:sp>
      <p:pic>
        <p:nvPicPr>
          <p:cNvPr id="71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717286" y="2066181"/>
            <a:ext cx="1931789" cy="250478"/>
          </a:xfrm>
          <a:prstGeom prst="rect">
            <a:avLst/>
          </a:prstGeom>
        </p:spPr>
      </p:pic>
      <p:sp>
        <p:nvSpPr>
          <p:cNvPr id="72" name="Text 36"/>
          <p:cNvSpPr txBox="1"/>
          <p:nvPr/>
        </p:nvSpPr>
        <p:spPr>
          <a:xfrm>
            <a:off x="9803011" y="2132856"/>
            <a:ext cx="1760339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week_of_year, holiday</a:t>
            </a:r>
            <a:endParaRPr lang="en-US" sz="825" dirty="0"/>
          </a:p>
        </p:txBody>
      </p:sp>
      <p:pic>
        <p:nvPicPr>
          <p:cNvPr id="73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717286" y="2364284"/>
            <a:ext cx="1931789" cy="250478"/>
          </a:xfrm>
          <a:prstGeom prst="rect">
            <a:avLst/>
          </a:prstGeom>
        </p:spPr>
      </p:pic>
      <p:sp>
        <p:nvSpPr>
          <p:cNvPr id="74" name="Text 37"/>
          <p:cNvSpPr txBox="1"/>
          <p:nvPr/>
        </p:nvSpPr>
        <p:spPr>
          <a:xfrm>
            <a:off x="9803011" y="2430959"/>
            <a:ext cx="1760339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24333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payday, channel</a:t>
            </a:r>
            <a:endParaRPr lang="en-US" sz="825" dirty="0"/>
          </a:p>
        </p:txBody>
      </p:sp>
      <p:pic>
        <p:nvPicPr>
          <p:cNvPr id="75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9717286" y="2662386"/>
            <a:ext cx="1931789" cy="250478"/>
          </a:xfrm>
          <a:prstGeom prst="rect">
            <a:avLst/>
          </a:prstGeom>
        </p:spPr>
      </p:pic>
      <p:sp>
        <p:nvSpPr>
          <p:cNvPr id="76" name="Text 38"/>
          <p:cNvSpPr txBox="1"/>
          <p:nvPr/>
        </p:nvSpPr>
        <p:spPr>
          <a:xfrm>
            <a:off x="9803011" y="2729061"/>
            <a:ext cx="1760339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category</a:t>
            </a:r>
            <a:endParaRPr lang="en-US" sz="825" dirty="0"/>
          </a:p>
        </p:txBody>
      </p:sp>
      <p:pic>
        <p:nvPicPr>
          <p:cNvPr id="77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717286" y="2960489"/>
            <a:ext cx="1931789" cy="250478"/>
          </a:xfrm>
          <a:prstGeom prst="rect">
            <a:avLst/>
          </a:prstGeom>
        </p:spPr>
      </p:pic>
      <p:sp>
        <p:nvSpPr>
          <p:cNvPr id="78" name="Text 39"/>
          <p:cNvSpPr txBox="1"/>
          <p:nvPr/>
        </p:nvSpPr>
        <p:spPr>
          <a:xfrm>
            <a:off x="9803011" y="3027164"/>
            <a:ext cx="1760339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competitor_availability</a:t>
            </a:r>
            <a:endParaRPr lang="en-US" sz="825" dirty="0"/>
          </a:p>
        </p:txBody>
      </p:sp>
      <p:pic>
        <p:nvPicPr>
          <p:cNvPr id="79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419100" y="6115050"/>
            <a:ext cx="11353800" cy="400050"/>
          </a:xfrm>
          <a:prstGeom prst="rect">
            <a:avLst/>
          </a:prstGeom>
        </p:spPr>
      </p:pic>
      <p:pic>
        <p:nvPicPr>
          <p:cNvPr id="80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61975" y="6219825"/>
            <a:ext cx="190500" cy="190500"/>
          </a:xfrm>
          <a:prstGeom prst="rect">
            <a:avLst/>
          </a:prstGeom>
        </p:spPr>
      </p:pic>
      <p:sp>
        <p:nvSpPr>
          <p:cNvPr id="81" name="Text 40"/>
          <p:cNvSpPr txBox="1"/>
          <p:nvPr/>
        </p:nvSpPr>
        <p:spPr>
          <a:xfrm>
            <a:off x="643979" y="6257925"/>
            <a:ext cx="108496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highlight>
                  <a:srgbClr val="0A7C74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!</a:t>
            </a:r>
            <a:endParaRPr lang="en-US" sz="750" dirty="0"/>
          </a:p>
        </p:txBody>
      </p:sp>
      <p:sp>
        <p:nvSpPr>
          <p:cNvPr id="82" name="Text 41"/>
          <p:cNvSpPr txBox="1"/>
          <p:nvPr/>
        </p:nvSpPr>
        <p:spPr>
          <a:xfrm>
            <a:off x="847725" y="6251228"/>
            <a:ext cx="10166896" cy="1370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Critical:</a:t>
            </a:r>
            <a:pPr indent="0" marL="0"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For each candidate price, recalc price_vs_competitor, price_change_%, discount_depth, price_index. Model scores demand(item,store,week | candidate). Version feature_snapshot_version per recommendation.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0050"/>
            <a:ext cx="11277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CORE PRINCIPLE • PREDICT-THEN-OPTIMIZE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275"/>
            <a:ext cx="112776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Don't predict best price directly — predict demand, then optimize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58180"/>
            <a:ext cx="8572500" cy="3494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model + price simulation + constrained optimization + business guardrails. Direct price prediction is unstable and not explainable. Response model is testable and tunable.</a:t>
            </a:r>
            <a:endParaRPr lang="en-US" sz="9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5750" y="1450479"/>
            <a:ext cx="6461671" cy="456188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841004"/>
            <a:ext cx="266700" cy="26670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0151" y="1907679"/>
            <a:ext cx="174724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000125" y="1914823"/>
            <a:ext cx="3403848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BASELINE DEMAND FORECAST — WITHOUT PRICE CHANGE</a:t>
            </a:r>
            <a:endParaRPr lang="en-US" sz="825" dirty="0"/>
          </a:p>
        </p:txBody>
      </p:sp>
      <p:sp>
        <p:nvSpPr>
          <p:cNvPr id="9" name="Text 5"/>
          <p:cNvSpPr txBox="1"/>
          <p:nvPr/>
        </p:nvSpPr>
        <p:spPr>
          <a:xfrm>
            <a:off x="638175" y="2222004"/>
            <a:ext cx="5756821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Qbaseline = f(history, seasonality, promo, inventory, store)</a:t>
            </a:r>
            <a:endParaRPr lang="en-US" sz="13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2524869"/>
            <a:ext cx="5756821" cy="118854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71525" y="2648694"/>
            <a:ext cx="5490121" cy="9504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7EF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Qbaseline = f(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7EF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historical sales, seasonality,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7EF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holidays, promotions, inventory,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7EF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store cluster, category, weather,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7EF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recent demand, payday flag</a:t>
            </a:r>
            <a:endParaRPr lang="en-US" sz="900" dirty="0"/>
          </a:p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C7EFE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)</a:t>
            </a:r>
            <a:endParaRPr lang="en-US" sz="900" dirty="0"/>
          </a:p>
        </p:txBody>
      </p:sp>
      <p:sp>
        <p:nvSpPr>
          <p:cNvPr id="12" name="Text 7"/>
          <p:cNvSpPr txBox="1"/>
          <p:nvPr/>
        </p:nvSpPr>
        <p:spPr>
          <a:xfrm>
            <a:off x="638175" y="3837236"/>
            <a:ext cx="5756821" cy="2836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Purpose: capture what would sell at current price. Isolate price effect from seasonality and promo lift. Baseline is needed to compute Δ vs candidate.</a:t>
            </a:r>
            <a:endParaRPr lang="en-US" sz="825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4235202"/>
            <a:ext cx="1029444" cy="25717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23900" y="4311402"/>
            <a:ext cx="857994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lag_1 / lag_2 / lag_4</a:t>
            </a:r>
            <a:endParaRPr lang="en-US" sz="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769" y="4235202"/>
            <a:ext cx="774948" cy="25717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810494" y="4311402"/>
            <a:ext cx="60349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rolling 4w / 8w</a:t>
            </a:r>
            <a:endParaRPr lang="en-US" sz="7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56867" y="4235202"/>
            <a:ext cx="647998" cy="257175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2642592" y="4311402"/>
            <a:ext cx="47654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seasonality</a:t>
            </a:r>
            <a:endParaRPr lang="en-US" sz="7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015" y="4235202"/>
            <a:ext cx="690265" cy="25717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3347740" y="4311402"/>
            <a:ext cx="51881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store cluster</a:t>
            </a:r>
            <a:endParaRPr lang="en-US" sz="75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9430" y="4235202"/>
            <a:ext cx="473422" cy="257175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4095155" y="4311402"/>
            <a:ext cx="30197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holiday</a:t>
            </a:r>
            <a:endParaRPr lang="en-US" sz="7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8371" y="1660029"/>
            <a:ext cx="5006429" cy="4142780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09346" y="1841004"/>
            <a:ext cx="266700" cy="266700"/>
          </a:xfrm>
          <a:prstGeom prst="rect">
            <a:avLst/>
          </a:prstGeom>
        </p:spPr>
      </p:pic>
      <p:sp>
        <p:nvSpPr>
          <p:cNvPr id="25" name="Text 13"/>
          <p:cNvSpPr txBox="1"/>
          <p:nvPr/>
        </p:nvSpPr>
        <p:spPr>
          <a:xfrm>
            <a:off x="7001321" y="1907679"/>
            <a:ext cx="174724" cy="2000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</a:t>
            </a:r>
            <a:endParaRPr lang="en-US" sz="900" dirty="0"/>
          </a:p>
        </p:txBody>
      </p:sp>
      <p:sp>
        <p:nvSpPr>
          <p:cNvPr id="26" name="Text 14"/>
          <p:cNvSpPr txBox="1"/>
          <p:nvPr/>
        </p:nvSpPr>
        <p:spPr>
          <a:xfrm>
            <a:off x="7271296" y="1914823"/>
            <a:ext cx="268783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5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PRICE-RESPONSE MODEL — CORE ELASTICITY</a:t>
            </a:r>
            <a:endParaRPr lang="en-US" sz="825" dirty="0"/>
          </a:p>
        </p:txBody>
      </p:sp>
      <p:sp>
        <p:nvSpPr>
          <p:cNvPr id="27" name="Text 15"/>
          <p:cNvSpPr txBox="1"/>
          <p:nvPr/>
        </p:nvSpPr>
        <p:spPr>
          <a:xfrm>
            <a:off x="6909346" y="2222004"/>
            <a:ext cx="4644479" cy="188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85"/>
              </a:lnSpc>
              <a:buNone/>
            </a:pPr>
            <a:r>
              <a:rPr lang="en-US" sz="1350" b="1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Demand(item, store, week | candidate price)</a:t>
            </a:r>
            <a:endParaRPr lang="en-US" sz="13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9346" y="2524869"/>
            <a:ext cx="4644479" cy="997000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7052221" y="2658219"/>
            <a:ext cx="4358729" cy="739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buNone/>
            </a:pPr>
            <a:r>
              <a:rPr lang="en-US" sz="900" b="1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Estimate elasticity</a:t>
            </a:r>
            <a:pPr indent="0" marL="0">
              <a:buNone/>
            </a:pPr>
            <a:r>
              <a:rPr lang="en-US" sz="900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not price point. For each candidate, recalculate price-dependent features, then predict.</a:t>
            </a:r>
            <a:endParaRPr lang="en-US" sz="900" dirty="0"/>
          </a:p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log_candidate_price</a:t>
            </a:r>
            <a:endParaRPr lang="en-US" sz="900" dirty="0"/>
          </a:p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price_vs_competitor</a:t>
            </a:r>
            <a:endParaRPr lang="en-US" sz="900" dirty="0"/>
          </a:p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discount_depth</a:t>
            </a:r>
            <a:endParaRPr lang="en-US" sz="900" dirty="0"/>
          </a:p>
          <a:p>
            <a:pPr algn="l" indent="0" marL="0">
              <a:lnSpc>
                <a:spcPts val="1088"/>
              </a:lnSpc>
              <a:buNone/>
            </a:pPr>
            <a:r>
              <a:rPr lang="en-US" sz="750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price_change_%</a:t>
            </a:r>
            <a:endParaRPr lang="en-US" sz="900" dirty="0"/>
          </a:p>
        </p:txBody>
      </p:sp>
      <p:sp>
        <p:nvSpPr>
          <p:cNvPr id="30" name="Text 17"/>
          <p:cNvSpPr txBox="1"/>
          <p:nvPr/>
        </p:nvSpPr>
        <p:spPr>
          <a:xfrm>
            <a:off x="6909346" y="3645694"/>
            <a:ext cx="4644479" cy="2836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Start with </a:t>
            </a:r>
            <a:pPr indent="0" marL="0"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LightGBM or HistGradientBoosting</a:t>
            </a:r>
            <a:pPr indent="0" marL="0">
              <a:buNone/>
            </a:pPr>
            <a:r>
              <a:rPr lang="en-US" sz="82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+ log-linear baseline for interpretability. Hierarchical forecasting for sparse long-tail. Elasticity distribution monitored.</a:t>
            </a:r>
            <a:endParaRPr lang="en-US" sz="825" dirty="0"/>
          </a:p>
        </p:txBody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909346" y="4043660"/>
            <a:ext cx="4644479" cy="48577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7014121" y="4148435"/>
            <a:ext cx="4434929" cy="2952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6B4A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not direct?</a:t>
            </a:r>
            <a:pPr indent="0" marL="0">
              <a:buNone/>
            </a:pPr>
            <a:r>
              <a:rPr lang="en-US" sz="825" dirty="0">
                <a:solidFill>
                  <a:srgbClr val="6B4A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Direct "best price" model can't explain reason, can't swap objective weights, can't apply ladder constraints.</a:t>
            </a:r>
            <a:endParaRPr lang="en-US" sz="825" dirty="0"/>
          </a:p>
        </p:txBody>
      </p:sp>
      <p:sp>
        <p:nvSpPr>
          <p:cNvPr id="33" name="Shape 19"/>
          <p:cNvSpPr/>
          <p:nvPr/>
        </p:nvSpPr>
        <p:spPr>
          <a:xfrm>
            <a:off x="457200" y="5953125"/>
            <a:ext cx="11277600" cy="523875"/>
          </a:xfrm>
          <a:prstGeom prst="roundRect">
            <a:avLst>
              <a:gd name="adj" fmla="val 21818"/>
            </a:avLst>
          </a:prstGeom>
          <a:solidFill>
            <a:srgbClr val="0E1E1C"/>
          </a:solidFill>
          <a:ln/>
        </p:spPr>
      </p:sp>
      <p:sp>
        <p:nvSpPr>
          <p:cNvPr id="34" name="Text 20"/>
          <p:cNvSpPr txBox="1"/>
          <p:nvPr/>
        </p:nvSpPr>
        <p:spPr>
          <a:xfrm>
            <a:off x="609600" y="6079034"/>
            <a:ext cx="7385893" cy="2836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Recommended stack:</a:t>
            </a:r>
            <a:pPr indent="0" marL="0">
              <a:buNone/>
            </a:pPr>
            <a:r>
              <a:rPr lang="en-US" sz="825" dirty="0">
                <a:solidFill>
                  <a:srgbClr val="A0C8C3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LightGBM / HistGradientBoosting for tabular retail + log-linear baseline. CatBoost for high cardinality (store, category). Hierarchical for sparse SKUs. SHAP for reason codes.</a:t>
            </a:r>
            <a:endParaRPr lang="en-US" sz="825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28843" y="6077992"/>
            <a:ext cx="1019175" cy="276225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8233618" y="6163717"/>
            <a:ext cx="80962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LightGBM ★ start</a:t>
            </a:r>
            <a:endParaRPr lang="en-US" sz="750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24218" y="6077992"/>
            <a:ext cx="532507" cy="276225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9328993" y="6163717"/>
            <a:ext cx="32295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HistGB</a:t>
            </a:r>
            <a:endParaRPr lang="en-US" sz="750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832925" y="6077992"/>
            <a:ext cx="617041" cy="276225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9937700" y="6163717"/>
            <a:ext cx="40749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XGBoost</a:t>
            </a:r>
            <a:endParaRPr lang="en-US" sz="750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26167" y="6077992"/>
            <a:ext cx="1056233" cy="276225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10630942" y="6163717"/>
            <a:ext cx="846683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Log-Linear (interp)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0050"/>
            <a:ext cx="11277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CANDIDATE GENERATION • BOUNDED • LADDER-COMPLIANT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275"/>
            <a:ext cx="112776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Generate only valid candidate prices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8655"/>
            <a:ext cx="5830639" cy="53283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8175" y="1348680"/>
            <a:ext cx="546868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DON'T ALLOW UNCONSTRAINED EXTRAPOLATION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605855"/>
            <a:ext cx="5468689" cy="149899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71525" y="1739205"/>
            <a:ext cx="5201989" cy="125134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1"/>
              </a:lnSpc>
              <a:buNone/>
            </a:pPr>
            <a:r>
              <a:rPr lang="en-US" sz="86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Exploration (model training):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candidates = [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current*0.95,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current*0.975,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current,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current*1.025,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current*1.05</a:t>
            </a:r>
            <a:endParaRPr lang="en-US" sz="863" dirty="0"/>
          </a:p>
          <a:p>
            <a:pPr algn="l" indent="0" marL="0">
              <a:lnSpc>
                <a:spcPts val="1251"/>
              </a:lnSpc>
              <a:buNone/>
            </a:pPr>
            <a:r>
              <a:rPr lang="en-US" sz="863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]</a:t>
            </a:r>
            <a:endParaRPr lang="en-US" sz="863" dirty="0"/>
          </a:p>
        </p:txBody>
      </p:sp>
      <p:sp>
        <p:nvSpPr>
          <p:cNvPr id="8" name="Text 4"/>
          <p:cNvSpPr txBox="1"/>
          <p:nvPr/>
        </p:nvSpPr>
        <p:spPr>
          <a:xfrm>
            <a:off x="638175" y="3257252"/>
            <a:ext cx="546868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PRODUCTION — REAL PRICE POINTS (PRICE LADDER)</a:t>
            </a:r>
            <a:endParaRPr lang="en-US" sz="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175" y="3514427"/>
            <a:ext cx="471785" cy="271463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742950" y="3590627"/>
            <a:ext cx="262235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89.00</a:t>
            </a:r>
            <a:endParaRPr lang="en-US" sz="825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7110" y="3514427"/>
            <a:ext cx="995809" cy="271463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271885" y="3590627"/>
            <a:ext cx="786259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90.00 ← current</a:t>
            </a:r>
            <a:endParaRPr lang="en-US" sz="825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0069" y="3514427"/>
            <a:ext cx="471785" cy="271463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2324844" y="3590627"/>
            <a:ext cx="262235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95.00</a:t>
            </a:r>
            <a:endParaRPr lang="en-US" sz="825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9004" y="3514427"/>
            <a:ext cx="471785" cy="271463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2853779" y="3590627"/>
            <a:ext cx="262235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99.00</a:t>
            </a:r>
            <a:endParaRPr lang="en-US" sz="825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7939" y="3514427"/>
            <a:ext cx="530126" cy="271463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3382714" y="3590627"/>
            <a:ext cx="32057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100.00</a:t>
            </a:r>
            <a:endParaRPr lang="en-US" sz="825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3919240"/>
            <a:ext cx="5468689" cy="749498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781050" y="4062115"/>
            <a:ext cx="5182939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Rule: recalc price-dependent features for each p</a:t>
            </a:r>
            <a:endParaRPr lang="en-US" sz="825" dirty="0"/>
          </a:p>
        </p:txBody>
      </p:sp>
      <p:sp>
        <p:nvSpPr>
          <p:cNvPr id="21" name="Text 11"/>
          <p:cNvSpPr txBox="1"/>
          <p:nvPr/>
        </p:nvSpPr>
        <p:spPr>
          <a:xfrm>
            <a:off x="781050" y="4257377"/>
            <a:ext cx="5182939" cy="2875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price_vs_competitor, discount_depth, historical_percentile, price_index all recomputed per candidate before prediction.</a:t>
            </a:r>
            <a:endParaRPr lang="en-US" sz="863" dirty="0"/>
          </a:p>
        </p:txBody>
      </p:sp>
      <p:sp>
        <p:nvSpPr>
          <p:cNvPr id="22" name="Text 12"/>
          <p:cNvSpPr txBox="1"/>
          <p:nvPr/>
        </p:nvSpPr>
        <p:spPr>
          <a:xfrm>
            <a:off x="6459289" y="1167705"/>
            <a:ext cx="527536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EACH CANDIDATE P IN ALLOWED SET</a:t>
            </a:r>
            <a:endParaRPr lang="en-US" sz="75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9289" y="1405830"/>
            <a:ext cx="2599581" cy="742950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6583114" y="1539180"/>
            <a:ext cx="235193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PREDICTED DEMAND</a:t>
            </a:r>
            <a:endParaRPr lang="en-US" sz="750" dirty="0"/>
          </a:p>
        </p:txBody>
      </p:sp>
      <p:sp>
        <p:nvSpPr>
          <p:cNvPr id="25" name="Text 14"/>
          <p:cNvSpPr txBox="1"/>
          <p:nvPr/>
        </p:nvSpPr>
        <p:spPr>
          <a:xfrm>
            <a:off x="6583114" y="1710630"/>
            <a:ext cx="2351931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D(p) = model(p)</a:t>
            </a:r>
            <a:endParaRPr lang="en-US" sz="938" dirty="0"/>
          </a:p>
        </p:txBody>
      </p:sp>
      <p:sp>
        <p:nvSpPr>
          <p:cNvPr id="26" name="Text 15"/>
          <p:cNvSpPr txBox="1"/>
          <p:nvPr/>
        </p:nvSpPr>
        <p:spPr>
          <a:xfrm>
            <a:off x="6583114" y="1893987"/>
            <a:ext cx="235193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5A6F6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Demand(item,store,week|p)</a:t>
            </a:r>
            <a:endParaRPr lang="en-US" sz="788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35070" y="1405830"/>
            <a:ext cx="2599581" cy="742950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9258895" y="1539180"/>
            <a:ext cx="235193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REVENUE</a:t>
            </a:r>
            <a:endParaRPr lang="en-US" sz="750" dirty="0"/>
          </a:p>
        </p:txBody>
      </p:sp>
      <p:sp>
        <p:nvSpPr>
          <p:cNvPr id="29" name="Text 17"/>
          <p:cNvSpPr txBox="1"/>
          <p:nvPr/>
        </p:nvSpPr>
        <p:spPr>
          <a:xfrm>
            <a:off x="9258895" y="1710630"/>
            <a:ext cx="2351931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R(p) = p × D(p)</a:t>
            </a:r>
            <a:endParaRPr lang="en-US" sz="938" dirty="0"/>
          </a:p>
        </p:txBody>
      </p:sp>
      <p:sp>
        <p:nvSpPr>
          <p:cNvPr id="30" name="Text 18"/>
          <p:cNvSpPr txBox="1"/>
          <p:nvPr/>
        </p:nvSpPr>
        <p:spPr>
          <a:xfrm>
            <a:off x="9258895" y="1893987"/>
            <a:ext cx="235193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5A6F6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Candidate price × demand</a:t>
            </a:r>
            <a:endParaRPr lang="en-US" sz="788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59289" y="2224980"/>
            <a:ext cx="2599581" cy="742950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583114" y="2358330"/>
            <a:ext cx="235193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GROSS MARGIN</a:t>
            </a:r>
            <a:endParaRPr lang="en-US" sz="750" dirty="0"/>
          </a:p>
        </p:txBody>
      </p:sp>
      <p:sp>
        <p:nvSpPr>
          <p:cNvPr id="33" name="Text 20"/>
          <p:cNvSpPr txBox="1"/>
          <p:nvPr/>
        </p:nvSpPr>
        <p:spPr>
          <a:xfrm>
            <a:off x="6583114" y="2529780"/>
            <a:ext cx="2351931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M(p) = (p - cost) × D(p)</a:t>
            </a:r>
            <a:endParaRPr lang="en-US" sz="938" dirty="0"/>
          </a:p>
        </p:txBody>
      </p:sp>
      <p:sp>
        <p:nvSpPr>
          <p:cNvPr id="34" name="Text 21"/>
          <p:cNvSpPr txBox="1"/>
          <p:nvPr/>
        </p:nvSpPr>
        <p:spPr>
          <a:xfrm>
            <a:off x="6583114" y="2713137"/>
            <a:ext cx="235193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5A6F6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Effective cost at period</a:t>
            </a:r>
            <a:endParaRPr lang="en-US" sz="788" dirty="0"/>
          </a:p>
        </p:txBody>
      </p:sp>
      <p:pic>
        <p:nvPicPr>
          <p:cNvPr id="3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35070" y="2224980"/>
            <a:ext cx="2599581" cy="742950"/>
          </a:xfrm>
          <a:prstGeom prst="rect">
            <a:avLst/>
          </a:prstGeom>
        </p:spPr>
      </p:pic>
      <p:sp>
        <p:nvSpPr>
          <p:cNvPr id="36" name="Text 22"/>
          <p:cNvSpPr txBox="1"/>
          <p:nvPr/>
        </p:nvSpPr>
        <p:spPr>
          <a:xfrm>
            <a:off x="9258895" y="2358330"/>
            <a:ext cx="235193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IMPACTS</a:t>
            </a:r>
            <a:endParaRPr lang="en-US" sz="750" dirty="0"/>
          </a:p>
        </p:txBody>
      </p:sp>
      <p:sp>
        <p:nvSpPr>
          <p:cNvPr id="37" name="Text 23"/>
          <p:cNvSpPr txBox="1"/>
          <p:nvPr/>
        </p:nvSpPr>
        <p:spPr>
          <a:xfrm>
            <a:off x="9258895" y="2529780"/>
            <a:ext cx="2351931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Vol, Rev, Margin, Inventory</a:t>
            </a:r>
            <a:endParaRPr lang="en-US" sz="938" dirty="0"/>
          </a:p>
        </p:txBody>
      </p:sp>
      <p:sp>
        <p:nvSpPr>
          <p:cNvPr id="38" name="Text 24"/>
          <p:cNvSpPr txBox="1"/>
          <p:nvPr/>
        </p:nvSpPr>
        <p:spPr>
          <a:xfrm>
            <a:off x="9258895" y="2713137"/>
            <a:ext cx="235193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spcBef>
                <a:spcPts val="225"/>
              </a:spcBef>
              <a:buNone/>
            </a:pPr>
            <a:r>
              <a:rPr lang="en-US" sz="788" dirty="0">
                <a:solidFill>
                  <a:srgbClr val="5A6F6C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+ competitor gap</a:t>
            </a:r>
            <a:endParaRPr lang="en-US" sz="788" dirty="0"/>
          </a:p>
        </p:txBody>
      </p:sp>
      <p:pic>
        <p:nvPicPr>
          <p:cNvPr id="3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59289" y="3082230"/>
            <a:ext cx="5275362" cy="749498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6602164" y="3225105"/>
            <a:ext cx="4989612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Then select</a:t>
            </a:r>
            <a:endParaRPr lang="en-US" sz="825" dirty="0"/>
          </a:p>
        </p:txBody>
      </p:sp>
      <p:sp>
        <p:nvSpPr>
          <p:cNvPr id="41" name="Text 26"/>
          <p:cNvSpPr txBox="1"/>
          <p:nvPr/>
        </p:nvSpPr>
        <p:spPr>
          <a:xfrm>
            <a:off x="6602164" y="3420368"/>
            <a:ext cx="4989612" cy="2875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recommended = argmax Score(p)</a:t>
            </a:r>
            <a:pPr indent="0" marL="0">
              <a:buNone/>
            </a:pPr>
            <a:r>
              <a:rPr lang="en-US" sz="863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for p in allowed_candidate_prices where guardrails pass. Score weights configurable by strategy (Margin / Volume / Clearance / Protection).</a:t>
            </a:r>
            <a:endParaRPr lang="en-US" sz="863" dirty="0"/>
          </a:p>
        </p:txBody>
      </p:sp>
      <p:sp>
        <p:nvSpPr>
          <p:cNvPr id="42" name="Shape 27"/>
          <p:cNvSpPr/>
          <p:nvPr/>
        </p:nvSpPr>
        <p:spPr>
          <a:xfrm>
            <a:off x="6457950" y="3943350"/>
            <a:ext cx="5276850" cy="533400"/>
          </a:xfrm>
          <a:prstGeom prst="roundRect">
            <a:avLst>
              <a:gd name="adj" fmla="val 21429"/>
            </a:avLst>
          </a:prstGeom>
          <a:solidFill>
            <a:srgbClr val="0E1E1C"/>
          </a:solidFill>
          <a:ln/>
        </p:spPr>
      </p:sp>
      <p:sp>
        <p:nvSpPr>
          <p:cNvPr id="43" name="Text 28"/>
          <p:cNvSpPr txBox="1"/>
          <p:nvPr/>
        </p:nvSpPr>
        <p:spPr>
          <a:xfrm>
            <a:off x="6611689" y="4156025"/>
            <a:ext cx="74861" cy="1342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16B5B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863" dirty="0"/>
          </a:p>
        </p:txBody>
      </p:sp>
      <p:sp>
        <p:nvSpPr>
          <p:cNvPr id="44" name="Text 29"/>
          <p:cNvSpPr txBox="1"/>
          <p:nvPr/>
        </p:nvSpPr>
        <p:spPr>
          <a:xfrm>
            <a:off x="6781800" y="4079379"/>
            <a:ext cx="4800451" cy="2875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Bounded simulation</a:t>
            </a:r>
            <a:pPr indent="0" marL="0">
              <a:buNone/>
            </a:pPr>
            <a:r>
              <a:rPr lang="en-US" sz="863" dirty="0">
                <a:solidFill>
                  <a:srgbClr val="D6FF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prevents unrealistic -30% drops. Ladder ensures shelf price is shoppable. All simulations stored in gold.price_candidate_simulation for audit.</a:t>
            </a:r>
            <a:endParaRPr lang="en-US" sz="863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90525"/>
            <a:ext cx="112776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OPTIMIZATION ENGINE • CONSTRAINED SCORING, NOT UNCONSTRAINED PREDICTION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7225"/>
            <a:ext cx="11277600" cy="32057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4"/>
              </a:lnSpc>
              <a:buNone/>
            </a:pPr>
            <a:r>
              <a:rPr lang="en-US" sz="2475" b="1" spc="-49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Score(p) = weighted objective — argmax over valid candidates</a:t>
            </a:r>
            <a:endParaRPr lang="en-US" sz="2475" dirty="0"/>
          </a:p>
        </p:txBody>
      </p:sp>
      <p:sp>
        <p:nvSpPr>
          <p:cNvPr id="4" name="Shape 2"/>
          <p:cNvSpPr/>
          <p:nvPr/>
        </p:nvSpPr>
        <p:spPr>
          <a:xfrm>
            <a:off x="457200" y="1114425"/>
            <a:ext cx="6381750" cy="3362325"/>
          </a:xfrm>
          <a:prstGeom prst="roundRect">
            <a:avLst>
              <a:gd name="adj" fmla="val 5099"/>
            </a:avLst>
          </a:prstGeom>
          <a:solidFill>
            <a:srgbClr val="0E1E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66750" y="1344811"/>
            <a:ext cx="5966817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75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CORE FORMULA</a:t>
            </a:r>
            <a:endParaRPr lang="en-US" sz="750" dirty="0"/>
          </a:p>
        </p:txBody>
      </p:sp>
      <p:sp>
        <p:nvSpPr>
          <p:cNvPr id="6" name="Text 4"/>
          <p:cNvSpPr txBox="1"/>
          <p:nvPr/>
        </p:nvSpPr>
        <p:spPr>
          <a:xfrm>
            <a:off x="666750" y="1630561"/>
            <a:ext cx="5966817" cy="197375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buNone/>
            </a:pPr>
            <a:r>
              <a:rPr lang="en-US" sz="101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Score(p) =</a:t>
            </a:r>
            <a:endParaRPr lang="en-US" sz="1013" dirty="0"/>
          </a:p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w1 × expected_gross_margin(p)</a:t>
            </a:r>
            <a:endParaRPr lang="en-US" sz="1013" dirty="0"/>
          </a:p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+ w2 × expected_revenue(p)</a:t>
            </a:r>
            <a:endParaRPr lang="en-US" sz="1013" dirty="0"/>
          </a:p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+ w3 × inventory_clearance_value(p)</a:t>
            </a:r>
            <a:endParaRPr lang="en-US" sz="1013" dirty="0"/>
          </a:p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buNone/>
            </a:pPr>
            <a:r>
              <a:rPr lang="en-US" sz="1013" dirty="0">
                <a:solidFill>
                  <a:srgbClr val="FF9B9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w4 × expected_volume_loss(p)</a:t>
            </a:r>
            <a:endParaRPr lang="en-US" sz="1013" dirty="0"/>
          </a:p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buNone/>
            </a:pPr>
            <a:r>
              <a:rPr lang="en-US" sz="1013" dirty="0">
                <a:solidFill>
                  <a:srgbClr val="FF9B9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w5 × competitor_gap_penalty(p)</a:t>
            </a:r>
            <a:endParaRPr lang="en-US" sz="1013" dirty="0"/>
          </a:p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buNone/>
            </a:pPr>
            <a:r>
              <a:rPr lang="en-US" sz="1013" dirty="0">
                <a:solidFill>
                  <a:srgbClr val="FF9B9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− w6 × price_change_penalty(p)</a:t>
            </a:r>
            <a:endParaRPr lang="en-US" sz="1013" dirty="0"/>
          </a:p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buNone/>
            </a:pPr>
            <a:r>
              <a:rPr lang="en-US" sz="101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recommended_price = argmax Score(p)</a:t>
            </a:r>
            <a:endParaRPr lang="en-US" sz="1013" dirty="0"/>
          </a:p>
          <a:p>
            <a:pPr algn="l" indent="0" marL="0">
              <a:lnSpc>
                <a:spcPts val="1569"/>
              </a:lnSpc>
              <a:buNone/>
            </a:pPr>
            <a:r>
              <a:rPr lang="en-US" sz="1013" dirty="0">
                <a:solidFill>
                  <a:srgbClr val="E6FFF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for p ∈ allowed_candidate_prices </a:t>
            </a:r>
            <a:endParaRPr lang="en-US" sz="1013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3737670"/>
            <a:ext cx="5966817" cy="5161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90575" y="3851970"/>
            <a:ext cx="5719167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dirty="0">
                <a:solidFill>
                  <a:srgbClr val="A8CEC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Why scoring vs hard rules: allows trade-off, explainable to buyer, tunable per strategy. Hard rules filter invalid; scoring ranks valid. All weights versioned in optimization_policy.</a:t>
            </a:r>
            <a:endParaRPr lang="en-US" sz="863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4567" y="1111151"/>
            <a:ext cx="4720233" cy="122872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76492" y="1282601"/>
            <a:ext cx="439638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450"/>
              </a:spcAft>
              <a:buNone/>
            </a:pPr>
            <a:r>
              <a:rPr lang="en-US" sz="825" b="1" spc="5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HOW IT WORKS IN PRODUCTION</a:t>
            </a:r>
            <a:endParaRPr lang="en-US" sz="825" dirty="0"/>
          </a:p>
        </p:txBody>
      </p:sp>
      <p:sp>
        <p:nvSpPr>
          <p:cNvPr id="11" name="Text 7"/>
          <p:cNvSpPr txBox="1"/>
          <p:nvPr/>
        </p:nvSpPr>
        <p:spPr>
          <a:xfrm>
            <a:off x="7176492" y="1496913"/>
            <a:ext cx="4396383" cy="68103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38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For each item × store × week, generate only valid price ladder points (89, 90, 95, 99, 100). Recalculate price-dependent features, predict demand for each p, compute margin / revenue / gap / inventory impact. Pick p with highest Score. Show reason + confidence.</a:t>
            </a:r>
            <a:endParaRPr lang="en-US" sz="938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4567" y="2454176"/>
            <a:ext cx="2322016" cy="6652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128867" y="2568476"/>
            <a:ext cx="209341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Margin</a:t>
            </a:r>
            <a:endParaRPr lang="en-US" sz="825" dirty="0"/>
          </a:p>
        </p:txBody>
      </p:sp>
      <p:sp>
        <p:nvSpPr>
          <p:cNvPr id="14" name="Text 9"/>
          <p:cNvSpPr txBox="1"/>
          <p:nvPr/>
        </p:nvSpPr>
        <p:spPr>
          <a:xfrm>
            <a:off x="7128867" y="2744688"/>
            <a:ext cx="2093416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w1 high</a:t>
            </a:r>
            <a:pPr indent="0" marL="0">
              <a:buNone/>
            </a:pPr>
            <a:r>
              <a:rPr lang="en-US" sz="78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protect gross margin when cost pressure</a:t>
            </a:r>
            <a:endParaRPr lang="en-US" sz="788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2784" y="2454176"/>
            <a:ext cx="2322016" cy="66526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527084" y="2568476"/>
            <a:ext cx="209341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Volume Recovery</a:t>
            </a:r>
            <a:endParaRPr lang="en-US" sz="825" dirty="0"/>
          </a:p>
        </p:txBody>
      </p:sp>
      <p:sp>
        <p:nvSpPr>
          <p:cNvPr id="17" name="Text 11"/>
          <p:cNvSpPr txBox="1"/>
          <p:nvPr/>
        </p:nvSpPr>
        <p:spPr>
          <a:xfrm>
            <a:off x="9527084" y="2744688"/>
            <a:ext cx="2093416" cy="1349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w2+w4</a:t>
            </a:r>
            <a:pPr indent="0" marL="0">
              <a:buNone/>
            </a:pPr>
            <a:r>
              <a:rPr lang="en-US" sz="78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favor units + competitiveness</a:t>
            </a:r>
            <a:endParaRPr lang="en-US" sz="788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4567" y="3195638"/>
            <a:ext cx="2322016" cy="66526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128867" y="3309938"/>
            <a:ext cx="209341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Clearance</a:t>
            </a:r>
            <a:endParaRPr lang="en-US" sz="825" dirty="0"/>
          </a:p>
        </p:txBody>
      </p:sp>
      <p:sp>
        <p:nvSpPr>
          <p:cNvPr id="20" name="Text 13"/>
          <p:cNvSpPr txBox="1"/>
          <p:nvPr/>
        </p:nvSpPr>
        <p:spPr>
          <a:xfrm>
            <a:off x="7128867" y="3486150"/>
            <a:ext cx="2093416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w3 high</a:t>
            </a:r>
            <a:pPr indent="0" marL="0">
              <a:buNone/>
            </a:pPr>
            <a:r>
              <a:rPr lang="en-US" sz="78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sell-through, expiry avoidance fresh</a:t>
            </a:r>
            <a:endParaRPr lang="en-US" sz="788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2784" y="3195638"/>
            <a:ext cx="2322016" cy="66526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9527084" y="3309938"/>
            <a:ext cx="2093416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Market Protect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9527084" y="3486150"/>
            <a:ext cx="2093416" cy="1349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w5 penalty high</a:t>
            </a:r>
            <a:pPr indent="0" marL="0">
              <a:buNone/>
            </a:pPr>
            <a:r>
              <a:rPr lang="en-US" sz="788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KVI competitor trust</a:t>
            </a:r>
            <a:endParaRPr lang="en-US" sz="788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4567" y="3975199"/>
            <a:ext cx="4720233" cy="502741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7138392" y="4079974"/>
            <a:ext cx="4472583" cy="2931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b="1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Confidence =</a:t>
            </a:r>
            <a:pPr indent="0" marL="0">
              <a:buNone/>
            </a:pPr>
            <a:r>
              <a:rPr lang="en-US" sz="82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data freshness (cost/competitor) × model certainty (elasticity stability) × inventory risk. Low confidence → no auto rec, buyer review only.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9100" y="371475"/>
            <a:ext cx="1135380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GUARDRAILS • MORE IMPORTANT THAN ALGORITHM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19100" y="638175"/>
            <a:ext cx="113538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Guardrails — mandatory + confidence + category policy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100" y="1091505"/>
            <a:ext cx="6160740" cy="54045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81025" y="1262955"/>
            <a:ext cx="583689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9C4A0D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MANDATORY — BLOCKS INVALID RECOMMENDATION</a:t>
            </a:r>
            <a:endParaRPr lang="en-US" sz="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" y="1491555"/>
            <a:ext cx="5836890" cy="33828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5325" y="1586805"/>
            <a:ext cx="17145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①</a:t>
            </a:r>
            <a:endParaRPr lang="en-US" sz="863" dirty="0"/>
          </a:p>
        </p:txBody>
      </p:sp>
      <p:sp>
        <p:nvSpPr>
          <p:cNvPr id="8" name="Text 4"/>
          <p:cNvSpPr txBox="1"/>
          <p:nvPr/>
        </p:nvSpPr>
        <p:spPr>
          <a:xfrm>
            <a:off x="962025" y="1586805"/>
            <a:ext cx="3663255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A38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price ≥ effective cost + minimum margin — no margin-negative publish</a:t>
            </a:r>
            <a:endParaRPr lang="en-US" sz="863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925092"/>
            <a:ext cx="5836890" cy="338286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95325" y="2020342"/>
            <a:ext cx="17145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②</a:t>
            </a:r>
            <a:endParaRPr lang="en-US" sz="863" dirty="0"/>
          </a:p>
        </p:txBody>
      </p:sp>
      <p:sp>
        <p:nvSpPr>
          <p:cNvPr id="11" name="Text 6"/>
          <p:cNvSpPr txBox="1"/>
          <p:nvPr/>
        </p:nvSpPr>
        <p:spPr>
          <a:xfrm>
            <a:off x="962025" y="2020342"/>
            <a:ext cx="3654028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A38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movement ≤ approved category limit (e.g. ±5% weekly) — avoid shock</a:t>
            </a:r>
            <a:endParaRPr lang="en-US" sz="863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358628"/>
            <a:ext cx="5836890" cy="338286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95325" y="2453878"/>
            <a:ext cx="17145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③</a:t>
            </a:r>
            <a:endParaRPr lang="en-US" sz="863" dirty="0"/>
          </a:p>
        </p:txBody>
      </p:sp>
      <p:sp>
        <p:nvSpPr>
          <p:cNvPr id="14" name="Text 8"/>
          <p:cNvSpPr txBox="1"/>
          <p:nvPr/>
        </p:nvSpPr>
        <p:spPr>
          <a:xfrm>
            <a:off x="962025" y="2453878"/>
            <a:ext cx="3262908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A38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Must use approved endings &amp; price ladder (89, 90, 95, 99, 100)</a:t>
            </a:r>
            <a:endParaRPr lang="en-US" sz="863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792164"/>
            <a:ext cx="5836890" cy="338286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695325" y="2887414"/>
            <a:ext cx="17145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④</a:t>
            </a:r>
            <a:endParaRPr lang="en-US" sz="863" dirty="0"/>
          </a:p>
        </p:txBody>
      </p:sp>
      <p:sp>
        <p:nvSpPr>
          <p:cNvPr id="17" name="Text 10"/>
          <p:cNvSpPr txBox="1"/>
          <p:nvPr/>
        </p:nvSpPr>
        <p:spPr>
          <a:xfrm>
            <a:off x="962025" y="2887414"/>
            <a:ext cx="3348335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A38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KVI policy, legal, supplier agreement, inventory availability check</a:t>
            </a:r>
            <a:endParaRPr lang="en-US" sz="863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225701"/>
            <a:ext cx="5836890" cy="338286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695325" y="3320951"/>
            <a:ext cx="171450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B4530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⑤</a:t>
            </a:r>
            <a:endParaRPr lang="en-US" sz="863" dirty="0"/>
          </a:p>
        </p:txBody>
      </p:sp>
      <p:sp>
        <p:nvSpPr>
          <p:cNvPr id="20" name="Text 12"/>
          <p:cNvSpPr txBox="1"/>
          <p:nvPr/>
        </p:nvSpPr>
        <p:spPr>
          <a:xfrm>
            <a:off x="962025" y="3320951"/>
            <a:ext cx="3991719" cy="14778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A383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stale cost, no invalid competitor match, no publish without buyer approval</a:t>
            </a:r>
            <a:endParaRPr lang="en-US" sz="863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3659237"/>
            <a:ext cx="5836890" cy="312837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704850" y="3744962"/>
            <a:ext cx="5589091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Guardrail failure = no recommendation.</a:t>
            </a:r>
            <a:pPr indent="0" marL="0">
              <a:buNone/>
            </a:pPr>
            <a:r>
              <a:rPr lang="en-US" sz="82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Logged in guardrail_status + reason_code for audit.</a:t>
            </a:r>
            <a:endParaRPr lang="en-US" sz="825" dirty="0"/>
          </a:p>
        </p:txBody>
      </p:sp>
      <p:sp>
        <p:nvSpPr>
          <p:cNvPr id="23" name="Shape 14"/>
          <p:cNvSpPr/>
          <p:nvPr/>
        </p:nvSpPr>
        <p:spPr>
          <a:xfrm>
            <a:off x="6734175" y="1095375"/>
            <a:ext cx="5038725" cy="2009775"/>
          </a:xfrm>
          <a:prstGeom prst="roundRect">
            <a:avLst>
              <a:gd name="adj" fmla="val 6635"/>
            </a:avLst>
          </a:prstGeom>
          <a:solidFill>
            <a:srgbClr val="0E1E1C"/>
          </a:solidFill>
          <a:ln/>
        </p:spPr>
      </p:sp>
      <p:sp>
        <p:nvSpPr>
          <p:cNvPr id="24" name="Text 15"/>
          <p:cNvSpPr txBox="1"/>
          <p:nvPr/>
        </p:nvSpPr>
        <p:spPr>
          <a:xfrm>
            <a:off x="6884640" y="1234380"/>
            <a:ext cx="473586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CONFIDENCE CONTROLS — DATA + MODEL CERTAINTY</a:t>
            </a:r>
            <a:endParaRPr lang="en-US" sz="7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4640" y="1462980"/>
            <a:ext cx="4735860" cy="454223"/>
          </a:xfrm>
          <a:prstGeom prst="rect">
            <a:avLst/>
          </a:prstGeom>
        </p:spPr>
      </p:pic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9415" y="1573411"/>
            <a:ext cx="800100" cy="233362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7065615" y="1621036"/>
            <a:ext cx="6477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</a:t>
            </a:r>
            <a:endParaRPr lang="en-US" sz="825" dirty="0"/>
          </a:p>
        </p:txBody>
      </p:sp>
      <p:sp>
        <p:nvSpPr>
          <p:cNvPr id="28" name="Text 17"/>
          <p:cNvSpPr txBox="1"/>
          <p:nvPr/>
        </p:nvSpPr>
        <p:spPr>
          <a:xfrm>
            <a:off x="7903815" y="1548705"/>
            <a:ext cx="3611910" cy="2827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C5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Fresh data, stable elasticity, trusted match → show preferred recommendation</a:t>
            </a:r>
            <a:endParaRPr lang="en-US" sz="825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4640" y="2012454"/>
            <a:ext cx="4735860" cy="404813"/>
          </a:xfrm>
          <a:prstGeom prst="rect">
            <a:avLst/>
          </a:prstGeom>
        </p:spPr>
      </p:pic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89415" y="2098179"/>
            <a:ext cx="800100" cy="233362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7065615" y="2145804"/>
            <a:ext cx="647551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1A1A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MEDIUM</a:t>
            </a:r>
            <a:endParaRPr lang="en-US" sz="825" dirty="0"/>
          </a:p>
        </p:txBody>
      </p:sp>
      <p:sp>
        <p:nvSpPr>
          <p:cNvPr id="32" name="Text 19"/>
          <p:cNvSpPr txBox="1"/>
          <p:nvPr/>
        </p:nvSpPr>
        <p:spPr>
          <a:xfrm>
            <a:off x="7903815" y="2144167"/>
            <a:ext cx="3611910" cy="141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C5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Partial staleness or higher variance → show with warning + reason</a:t>
            </a:r>
            <a:endParaRPr lang="en-US" sz="825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84640" y="2512516"/>
            <a:ext cx="4735860" cy="454223"/>
          </a:xfrm>
          <a:prstGeom prst="rect">
            <a:avLst/>
          </a:prstGeom>
        </p:spPr>
      </p:pic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89415" y="2622947"/>
            <a:ext cx="800100" cy="233362"/>
          </a:xfrm>
          <a:prstGeom prst="rect">
            <a:avLst/>
          </a:prstGeom>
        </p:spPr>
      </p:pic>
      <p:sp>
        <p:nvSpPr>
          <p:cNvPr id="35" name="Text 20"/>
          <p:cNvSpPr txBox="1"/>
          <p:nvPr/>
        </p:nvSpPr>
        <p:spPr>
          <a:xfrm>
            <a:off x="7065615" y="2670572"/>
            <a:ext cx="64770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LOW</a:t>
            </a:r>
            <a:endParaRPr lang="en-US" sz="825" dirty="0"/>
          </a:p>
        </p:txBody>
      </p:sp>
      <p:sp>
        <p:nvSpPr>
          <p:cNvPr id="36" name="Text 21"/>
          <p:cNvSpPr txBox="1"/>
          <p:nvPr/>
        </p:nvSpPr>
        <p:spPr>
          <a:xfrm>
            <a:off x="7903815" y="2598241"/>
            <a:ext cx="3611910" cy="28277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C5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Stale cost / invalid match / sparse history → no auto rec, buyer review only</a:t>
            </a:r>
            <a:endParaRPr lang="en-US" sz="825" dirty="0"/>
          </a:p>
        </p:txBody>
      </p:sp>
      <p:sp>
        <p:nvSpPr>
          <p:cNvPr id="37" name="Text 22"/>
          <p:cNvSpPr txBox="1"/>
          <p:nvPr/>
        </p:nvSpPr>
        <p:spPr>
          <a:xfrm>
            <a:off x="6732240" y="3223915"/>
            <a:ext cx="5040660" cy="1333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0" kern="0" dirty="0">
                <a:solidFill>
                  <a:srgbClr val="6B7D7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CATEGORY-SPECIFIC POLICY — ONE SIZE DOES NOT FIT ALL</a:t>
            </a:r>
            <a:endParaRPr lang="en-US" sz="750" dirty="0"/>
          </a:p>
        </p:txBody>
      </p:sp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732240" y="3433465"/>
            <a:ext cx="2482155" cy="665262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6846540" y="3547765"/>
            <a:ext cx="225355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Fresh / Perishable</a:t>
            </a:r>
            <a:endParaRPr lang="en-US" sz="825" dirty="0"/>
          </a:p>
        </p:txBody>
      </p:sp>
      <p:sp>
        <p:nvSpPr>
          <p:cNvPr id="40" name="Text 24"/>
          <p:cNvSpPr txBox="1"/>
          <p:nvPr/>
        </p:nvSpPr>
        <p:spPr>
          <a:xfrm>
            <a:off x="6846540" y="3723977"/>
            <a:ext cx="2253555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Inventory, shrinkage, shelf-life matters more than margin % — prioritize waste avoidance</a:t>
            </a:r>
            <a:endParaRPr lang="en-US" sz="788" dirty="0"/>
          </a:p>
        </p:txBody>
      </p:sp>
      <p:pic>
        <p:nvPicPr>
          <p:cNvPr id="4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90596" y="3433465"/>
            <a:ext cx="2482304" cy="665262"/>
          </a:xfrm>
          <a:prstGeom prst="rect">
            <a:avLst/>
          </a:prstGeom>
        </p:spPr>
      </p:pic>
      <p:sp>
        <p:nvSpPr>
          <p:cNvPr id="42" name="Text 25"/>
          <p:cNvSpPr txBox="1"/>
          <p:nvPr/>
        </p:nvSpPr>
        <p:spPr>
          <a:xfrm>
            <a:off x="9404896" y="3547765"/>
            <a:ext cx="225370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KVI — Known Value</a:t>
            </a:r>
            <a:endParaRPr lang="en-US" sz="825" dirty="0"/>
          </a:p>
        </p:txBody>
      </p:sp>
      <p:sp>
        <p:nvSpPr>
          <p:cNvPr id="43" name="Text 26"/>
          <p:cNvSpPr txBox="1"/>
          <p:nvPr/>
        </p:nvSpPr>
        <p:spPr>
          <a:xfrm>
            <a:off x="9404896" y="3723977"/>
            <a:ext cx="2253704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Competitor position &amp; customer trust matters more — tighter gap penalty</a:t>
            </a:r>
            <a:endParaRPr lang="en-US" sz="788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732240" y="4174927"/>
            <a:ext cx="2482155" cy="665262"/>
          </a:xfrm>
          <a:prstGeom prst="rect">
            <a:avLst/>
          </a:prstGeom>
        </p:spPr>
      </p:pic>
      <p:sp>
        <p:nvSpPr>
          <p:cNvPr id="45" name="Text 27"/>
          <p:cNvSpPr txBox="1"/>
          <p:nvPr/>
        </p:nvSpPr>
        <p:spPr>
          <a:xfrm>
            <a:off x="6846540" y="4289227"/>
            <a:ext cx="225355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Long-tail</a:t>
            </a:r>
            <a:endParaRPr lang="en-US" sz="825" dirty="0"/>
          </a:p>
        </p:txBody>
      </p:sp>
      <p:sp>
        <p:nvSpPr>
          <p:cNvPr id="46" name="Text 28"/>
          <p:cNvSpPr txBox="1"/>
          <p:nvPr/>
        </p:nvSpPr>
        <p:spPr>
          <a:xfrm>
            <a:off x="6846540" y="4465439"/>
            <a:ext cx="2253555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Sparse history — use pooled / category models, not individual store elasticities</a:t>
            </a:r>
            <a:endParaRPr lang="en-US" sz="788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290596" y="4174927"/>
            <a:ext cx="2482304" cy="665262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9404896" y="4289227"/>
            <a:ext cx="225370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spcAft>
                <a:spcPts val="225"/>
              </a:spcAft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Promotion</a:t>
            </a:r>
            <a:endParaRPr lang="en-US" sz="825" dirty="0"/>
          </a:p>
        </p:txBody>
      </p:sp>
      <p:sp>
        <p:nvSpPr>
          <p:cNvPr id="49" name="Text 30"/>
          <p:cNvSpPr txBox="1"/>
          <p:nvPr/>
        </p:nvSpPr>
        <p:spPr>
          <a:xfrm>
            <a:off x="9404896" y="4465439"/>
            <a:ext cx="2253704" cy="269974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Separate regular vs promo decisions — funding changes effective margin</a:t>
            </a:r>
            <a:endParaRPr lang="en-US" sz="78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0050"/>
            <a:ext cx="11277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HUMAN-IN-THE-LOOP • PORTAL • BUYER RETAINS FINAL DECISION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57225"/>
            <a:ext cx="112776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 reviews decision — UI must show evidence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10555"/>
            <a:ext cx="6108353" cy="536644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1272480"/>
            <a:ext cx="2825502" cy="58102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762000" y="1396305"/>
            <a:ext cx="257785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4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CURRENT PRICE</a:t>
            </a:r>
            <a:endParaRPr lang="en-US" sz="750" dirty="0"/>
          </a:p>
        </p:txBody>
      </p:sp>
      <p:sp>
        <p:nvSpPr>
          <p:cNvPr id="7" name="Text 3"/>
          <p:cNvSpPr txBox="1"/>
          <p:nvPr/>
        </p:nvSpPr>
        <p:spPr>
          <a:xfrm>
            <a:off x="762000" y="1558230"/>
            <a:ext cx="2577852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190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8927" y="1272480"/>
            <a:ext cx="2825651" cy="58102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682752" y="1396305"/>
            <a:ext cx="257800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4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SYSTEM RECOMMENDATION</a:t>
            </a:r>
            <a:endParaRPr lang="en-US" sz="750" dirty="0"/>
          </a:p>
        </p:txBody>
      </p:sp>
      <p:sp>
        <p:nvSpPr>
          <p:cNvPr id="10" name="Text 5"/>
          <p:cNvSpPr txBox="1"/>
          <p:nvPr/>
        </p:nvSpPr>
        <p:spPr>
          <a:xfrm>
            <a:off x="3682752" y="1558230"/>
            <a:ext cx="2578001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182 </a:t>
            </a:r>
            <a:pPr indent="0" marL="0">
              <a:buNone/>
            </a:pPr>
            <a:r>
              <a:rPr lang="en-US" sz="900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▼ 4.2%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1948755"/>
            <a:ext cx="2825502" cy="581025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62000" y="2072580"/>
            <a:ext cx="257785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4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SUPPLIER RECOMMENDATION</a:t>
            </a:r>
            <a:endParaRPr lang="en-US" sz="750" dirty="0"/>
          </a:p>
        </p:txBody>
      </p:sp>
      <p:sp>
        <p:nvSpPr>
          <p:cNvPr id="13" name="Text 7"/>
          <p:cNvSpPr txBox="1"/>
          <p:nvPr/>
        </p:nvSpPr>
        <p:spPr>
          <a:xfrm>
            <a:off x="762000" y="2234505"/>
            <a:ext cx="2577852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185</a:t>
            </a:r>
            <a:endParaRPr lang="en-US" sz="15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8927" y="1948755"/>
            <a:ext cx="2825651" cy="581025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3682752" y="2072580"/>
            <a:ext cx="257800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4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COMPETITOR / COST</a:t>
            </a:r>
            <a:endParaRPr lang="en-US" sz="750" dirty="0"/>
          </a:p>
        </p:txBody>
      </p:sp>
      <p:sp>
        <p:nvSpPr>
          <p:cNvPr id="16" name="Text 9"/>
          <p:cNvSpPr txBox="1"/>
          <p:nvPr/>
        </p:nvSpPr>
        <p:spPr>
          <a:xfrm>
            <a:off x="3682752" y="2234505"/>
            <a:ext cx="2578001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180 / </a:t>
            </a:r>
            <a:pPr indent="0" marL="0">
              <a:buNone/>
            </a:pPr>
            <a:r>
              <a:rPr lang="en-US" sz="1500" b="1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160</a:t>
            </a:r>
            <a:pPr indent="0" marL="0">
              <a:buNone/>
            </a:pPr>
            <a:r>
              <a:rPr lang="en-US" sz="1500" b="1" dirty="0">
                <a:solidFill>
                  <a:srgbClr val="0C1E1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buNone/>
            </a:pPr>
            <a:r>
              <a:rPr lang="en-US" sz="900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gap -2, margin 22</a:t>
            </a:r>
            <a:endParaRPr lang="en-US" sz="15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" y="2644080"/>
            <a:ext cx="2835027" cy="514201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42950" y="2758380"/>
            <a:ext cx="262547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PREDICTED UNITS</a:t>
            </a:r>
            <a:endParaRPr lang="en-US" sz="750" dirty="0"/>
          </a:p>
        </p:txBody>
      </p:sp>
      <p:sp>
        <p:nvSpPr>
          <p:cNvPr id="19" name="Text 11"/>
          <p:cNvSpPr txBox="1"/>
          <p:nvPr/>
        </p:nvSpPr>
        <p:spPr>
          <a:xfrm>
            <a:off x="742950" y="2910780"/>
            <a:ext cx="2625477" cy="15225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110 → </a:t>
            </a:r>
            <a:pPr indent="0" marL="0">
              <a:buNone/>
            </a:pPr>
            <a:r>
              <a:rPr lang="en-US" sz="975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124</a:t>
            </a:r>
            <a:pPr indent="0" marL="0">
              <a:buNone/>
            </a:pPr>
            <a:r>
              <a:rPr lang="en-US" sz="975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</a:t>
            </a:r>
            <a:pPr indent="0" marL="0">
              <a:buNone/>
            </a:pPr>
            <a:r>
              <a:rPr lang="en-US" sz="812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+12.7%</a:t>
            </a:r>
            <a:endParaRPr lang="en-US" sz="975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9402" y="2644080"/>
            <a:ext cx="2835176" cy="514201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654177" y="2758380"/>
            <a:ext cx="262562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PREDICTED MARGIN</a:t>
            </a:r>
            <a:endParaRPr lang="en-US" sz="750" dirty="0"/>
          </a:p>
        </p:txBody>
      </p:sp>
      <p:sp>
        <p:nvSpPr>
          <p:cNvPr id="22" name="Text 13"/>
          <p:cNvSpPr txBox="1"/>
          <p:nvPr/>
        </p:nvSpPr>
        <p:spPr>
          <a:xfrm>
            <a:off x="3654177" y="2910780"/>
            <a:ext cx="2625626" cy="15225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3,300 → 3,100 </a:t>
            </a:r>
            <a:pPr indent="0" marL="0">
              <a:buNone/>
            </a:pPr>
            <a:r>
              <a:rPr lang="en-US" sz="812" b="1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-6%, above thr</a:t>
            </a:r>
            <a:endParaRPr lang="en-US" sz="975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175" y="3234482"/>
            <a:ext cx="2835027" cy="51048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42950" y="3348782"/>
            <a:ext cx="262547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CONFIDENCE</a:t>
            </a:r>
            <a:endParaRPr lang="en-US" sz="750" dirty="0"/>
          </a:p>
        </p:txBody>
      </p:sp>
      <p:sp>
        <p:nvSpPr>
          <p:cNvPr id="25" name="Text 15"/>
          <p:cNvSpPr txBox="1"/>
          <p:nvPr/>
        </p:nvSpPr>
        <p:spPr>
          <a:xfrm>
            <a:off x="742950" y="3501182"/>
            <a:ext cx="2625477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Medium</a:t>
            </a:r>
            <a:endParaRPr lang="en-US" sz="975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9402" y="3234482"/>
            <a:ext cx="2835176" cy="51048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3654177" y="3348782"/>
            <a:ext cx="262562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225"/>
              </a:spcAft>
              <a:buNone/>
            </a:pPr>
            <a:r>
              <a:rPr lang="en-US" sz="750" b="1" spc="45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GUARDRAIL</a:t>
            </a:r>
            <a:endParaRPr lang="en-US" sz="750" dirty="0"/>
          </a:p>
        </p:txBody>
      </p:sp>
      <p:sp>
        <p:nvSpPr>
          <p:cNvPr id="28" name="Text 17"/>
          <p:cNvSpPr txBox="1"/>
          <p:nvPr/>
        </p:nvSpPr>
        <p:spPr>
          <a:xfrm>
            <a:off x="3654177" y="3501182"/>
            <a:ext cx="2625626" cy="1485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Pass • KVI ok • Ladder ok</a:t>
            </a:r>
            <a:endParaRPr lang="en-US" sz="975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8175" y="3859262"/>
            <a:ext cx="5746403" cy="497086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52475" y="3973562"/>
            <a:ext cx="5517803" cy="2875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Reason:</a:t>
            </a:r>
            <a:pPr indent="0" marL="0">
              <a:buNone/>
            </a:pPr>
            <a:r>
              <a:rPr lang="en-US" sz="863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competitor gap reduced, forecast volume improves +12 units, margin remains above threshold (cost 160 + min). Elasticity stable, cost fresh.</a:t>
            </a:r>
            <a:endParaRPr lang="en-US" sz="863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37003" y="1110555"/>
            <a:ext cx="4997797" cy="1643063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6898928" y="1272480"/>
            <a:ext cx="467394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600"/>
              </a:spcAft>
              <a:buNone/>
            </a:pPr>
            <a:r>
              <a:rPr lang="en-US" sz="750" b="1" spc="60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 ACTIONS — MANDATORY APPROVAL</a:t>
            </a:r>
            <a:endParaRPr lang="en-US" sz="7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98928" y="1472505"/>
            <a:ext cx="2298799" cy="328613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003703" y="1577280"/>
            <a:ext cx="2089249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Accept recommendation</a:t>
            </a:r>
            <a:endParaRPr lang="en-US" sz="825" dirty="0"/>
          </a:p>
        </p:txBody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3927" y="1472505"/>
            <a:ext cx="2298948" cy="328613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9378702" y="1577280"/>
            <a:ext cx="2089249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↗ Override price</a:t>
            </a:r>
            <a:endParaRPr lang="en-US" sz="825" dirty="0"/>
          </a:p>
        </p:txBody>
      </p:sp>
      <p:pic>
        <p:nvPicPr>
          <p:cNvPr id="3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98928" y="1877318"/>
            <a:ext cx="2298799" cy="328613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003703" y="1982093"/>
            <a:ext cx="2089100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— Hold current</a:t>
            </a:r>
            <a:endParaRPr lang="en-US" sz="825" dirty="0"/>
          </a:p>
        </p:txBody>
      </p:sp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73927" y="1877318"/>
            <a:ext cx="2298948" cy="328613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9378702" y="1982093"/>
            <a:ext cx="2089398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✕ Reject</a:t>
            </a:r>
            <a:endParaRPr lang="en-US" sz="825" dirty="0"/>
          </a:p>
        </p:txBody>
      </p:sp>
      <p:pic>
        <p:nvPicPr>
          <p:cNvPr id="4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928" y="2282130"/>
            <a:ext cx="4673947" cy="328613"/>
          </a:xfrm>
          <a:prstGeom prst="rect">
            <a:avLst/>
          </a:prstGeom>
        </p:spPr>
      </p:pic>
      <p:sp>
        <p:nvSpPr>
          <p:cNvPr id="42" name="Text 24"/>
          <p:cNvSpPr txBox="1"/>
          <p:nvPr/>
        </p:nvSpPr>
        <p:spPr>
          <a:xfrm>
            <a:off x="7003703" y="2386905"/>
            <a:ext cx="4464248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⟳ Request recalculation</a:t>
            </a:r>
            <a:endParaRPr lang="en-US" sz="825" dirty="0"/>
          </a:p>
        </p:txBody>
      </p:sp>
      <p:pic>
        <p:nvPicPr>
          <p:cNvPr id="4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737003" y="2867918"/>
            <a:ext cx="4997797" cy="1336179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6879878" y="3010793"/>
            <a:ext cx="471204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60" kern="0" dirty="0">
                <a:solidFill>
                  <a:srgbClr val="9C5C1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VERSIONING CRITICAL — DON'T OVERWRITE HISTORY</a:t>
            </a:r>
            <a:endParaRPr lang="en-US" sz="750" dirty="0"/>
          </a:p>
        </p:txBody>
      </p:sp>
      <p:sp>
        <p:nvSpPr>
          <p:cNvPr id="45" name="Text 26"/>
          <p:cNvSpPr txBox="1"/>
          <p:nvPr/>
        </p:nvSpPr>
        <p:spPr>
          <a:xfrm>
            <a:off x="6879878" y="3210818"/>
            <a:ext cx="4712047" cy="1342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spcAft>
                <a:spcPts val="450"/>
              </a:spcAft>
              <a:buNone/>
            </a:pPr>
            <a:r>
              <a:rPr lang="en-US" sz="863" dirty="0">
                <a:solidFill>
                  <a:srgbClr val="5A3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system rec + supplier input + buyer decision = immutable version. If override, capture:</a:t>
            </a:r>
            <a:endParaRPr lang="en-US" sz="863" dirty="0"/>
          </a:p>
        </p:txBody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79878" y="3402211"/>
            <a:ext cx="775097" cy="238125"/>
          </a:xfrm>
          <a:prstGeom prst="rect">
            <a:avLst/>
          </a:prstGeom>
        </p:spPr>
      </p:pic>
      <p:sp>
        <p:nvSpPr>
          <p:cNvPr id="47" name="Text 27"/>
          <p:cNvSpPr txBox="1"/>
          <p:nvPr/>
        </p:nvSpPr>
        <p:spPr>
          <a:xfrm>
            <a:off x="6965603" y="3468886"/>
            <a:ext cx="60364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4A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override_price</a:t>
            </a:r>
            <a:endParaRPr lang="en-US" sz="750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12125" y="3402211"/>
            <a:ext cx="859780" cy="238125"/>
          </a:xfrm>
          <a:prstGeom prst="rect">
            <a:avLst/>
          </a:prstGeom>
        </p:spPr>
      </p:pic>
      <p:sp>
        <p:nvSpPr>
          <p:cNvPr id="49" name="Text 28"/>
          <p:cNvSpPr txBox="1"/>
          <p:nvPr/>
        </p:nvSpPr>
        <p:spPr>
          <a:xfrm>
            <a:off x="7797850" y="3468886"/>
            <a:ext cx="68833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4A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override_reason</a:t>
            </a:r>
            <a:endParaRPr lang="en-US" sz="750" dirty="0"/>
          </a:p>
        </p:txBody>
      </p:sp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629055" y="3402211"/>
            <a:ext cx="536823" cy="238125"/>
          </a:xfrm>
          <a:prstGeom prst="rect">
            <a:avLst/>
          </a:prstGeom>
        </p:spPr>
      </p:pic>
      <p:sp>
        <p:nvSpPr>
          <p:cNvPr id="51" name="Text 29"/>
          <p:cNvSpPr txBox="1"/>
          <p:nvPr/>
        </p:nvSpPr>
        <p:spPr>
          <a:xfrm>
            <a:off x="8714780" y="3468886"/>
            <a:ext cx="365373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4A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buyer_id</a:t>
            </a:r>
            <a:endParaRPr lang="en-US" sz="750" dirty="0"/>
          </a:p>
        </p:txBody>
      </p:sp>
      <p:pic>
        <p:nvPicPr>
          <p:cNvPr id="5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223028" y="3402211"/>
            <a:ext cx="610791" cy="238125"/>
          </a:xfrm>
          <a:prstGeom prst="rect">
            <a:avLst/>
          </a:prstGeom>
        </p:spPr>
      </p:pic>
      <p:sp>
        <p:nvSpPr>
          <p:cNvPr id="53" name="Text 30"/>
          <p:cNvSpPr txBox="1"/>
          <p:nvPr/>
        </p:nvSpPr>
        <p:spPr>
          <a:xfrm>
            <a:off x="9308753" y="3468886"/>
            <a:ext cx="43934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4A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timestamp</a:t>
            </a:r>
            <a:endParaRPr lang="en-US" sz="750" dirty="0"/>
          </a:p>
        </p:txBody>
      </p:sp>
      <p:pic>
        <p:nvPicPr>
          <p:cNvPr id="54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890968" y="3402211"/>
            <a:ext cx="1002655" cy="238125"/>
          </a:xfrm>
          <a:prstGeom prst="rect">
            <a:avLst/>
          </a:prstGeom>
        </p:spPr>
      </p:pic>
      <p:sp>
        <p:nvSpPr>
          <p:cNvPr id="55" name="Text 31"/>
          <p:cNvSpPr txBox="1"/>
          <p:nvPr/>
        </p:nvSpPr>
        <p:spPr>
          <a:xfrm>
            <a:off x="9976693" y="3468886"/>
            <a:ext cx="83120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6B4A1E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source_rec_version</a:t>
            </a:r>
            <a:endParaRPr lang="en-US" sz="750" dirty="0"/>
          </a:p>
        </p:txBody>
      </p:sp>
      <p:sp>
        <p:nvSpPr>
          <p:cNvPr id="56" name="Text 32"/>
          <p:cNvSpPr txBox="1"/>
          <p:nvPr/>
        </p:nvSpPr>
        <p:spPr>
          <a:xfrm>
            <a:off x="6879878" y="3735586"/>
            <a:ext cx="4712047" cy="2875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spcBef>
                <a:spcPts val="600"/>
              </a:spcBef>
              <a:spcAft>
                <a:spcPts val="450"/>
              </a:spcAft>
              <a:buNone/>
            </a:pPr>
            <a:r>
              <a:rPr lang="en-US" sz="863" dirty="0">
                <a:solidFill>
                  <a:srgbClr val="5A3E1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Problem: supplier rec arrives after buyer starts review → transaction frozen to earlier version. Need version mgmt &amp; re-review trigger.</a:t>
            </a:r>
            <a:endParaRPr lang="en-US" sz="863" dirty="0"/>
          </a:p>
        </p:txBody>
      </p:sp>
      <p:pic>
        <p:nvPicPr>
          <p:cNvPr id="57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737003" y="4318397"/>
            <a:ext cx="4997797" cy="441424"/>
          </a:xfrm>
          <a:prstGeom prst="rect">
            <a:avLst/>
          </a:prstGeom>
        </p:spPr>
      </p:pic>
      <p:sp>
        <p:nvSpPr>
          <p:cNvPr id="58" name="Text 33"/>
          <p:cNvSpPr txBox="1"/>
          <p:nvPr/>
        </p:nvSpPr>
        <p:spPr>
          <a:xfrm>
            <a:off x="6841778" y="4413647"/>
            <a:ext cx="4788247" cy="26044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Rule: Must not publish without approval. Low confidence → no automated rec, buyer review only. All versions auditable via gold.price_decision_audit.</a:t>
            </a:r>
            <a:endParaRPr lang="en-US" sz="7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00050"/>
            <a:ext cx="11277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MLOPS • LINEAGE • AUDIT • WHY DID SYSTEM RECOMMEND 182?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275"/>
            <a:ext cx="11277600" cy="32995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MLOps — MLflow + Unity Catalog + Workflows</a:t>
            </a:r>
            <a:endParaRPr lang="en-US" sz="24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58627"/>
            <a:ext cx="6108353" cy="53265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" y="1282005"/>
            <a:ext cx="285750" cy="28575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83419" y="1343918"/>
            <a:ext cx="192881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◧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1047750" y="1272927"/>
            <a:ext cx="4885730" cy="1488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MLflow Experiments</a:t>
            </a:r>
            <a:endParaRPr lang="en-US" sz="938" dirty="0"/>
          </a:p>
        </p:txBody>
      </p:sp>
      <p:sp>
        <p:nvSpPr>
          <p:cNvPr id="8" name="Text 4"/>
          <p:cNvSpPr txBox="1"/>
          <p:nvPr/>
        </p:nvSpPr>
        <p:spPr>
          <a:xfrm>
            <a:off x="1047750" y="1450330"/>
            <a:ext cx="488573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Compare runs — demand MAE/WAPE, elasticity, bias per category</a:t>
            </a:r>
            <a:endParaRPr lang="en-US" sz="825" dirty="0"/>
          </a:p>
        </p:txBody>
      </p:sp>
      <p:sp>
        <p:nvSpPr>
          <p:cNvPr id="9" name="Text 5"/>
          <p:cNvSpPr txBox="1"/>
          <p:nvPr/>
        </p:nvSpPr>
        <p:spPr>
          <a:xfrm>
            <a:off x="6047780" y="1365349"/>
            <a:ext cx="384423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track</a:t>
            </a:r>
            <a:endParaRPr lang="en-US" sz="825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7483"/>
            <a:ext cx="6108353" cy="532656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" y="1890861"/>
            <a:ext cx="285750" cy="28575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83419" y="1952774"/>
            <a:ext cx="192881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⬙</a:t>
            </a:r>
            <a:endParaRPr lang="en-US" sz="1050" dirty="0"/>
          </a:p>
        </p:txBody>
      </p:sp>
      <p:sp>
        <p:nvSpPr>
          <p:cNvPr id="13" name="Text 7"/>
          <p:cNvSpPr txBox="1"/>
          <p:nvPr/>
        </p:nvSpPr>
        <p:spPr>
          <a:xfrm>
            <a:off x="1047750" y="1881783"/>
            <a:ext cx="4728567" cy="1488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Registry / Unity Catalog</a:t>
            </a:r>
            <a:endParaRPr lang="en-US" sz="938" dirty="0"/>
          </a:p>
        </p:txBody>
      </p:sp>
      <p:sp>
        <p:nvSpPr>
          <p:cNvPr id="14" name="Text 8"/>
          <p:cNvSpPr txBox="1"/>
          <p:nvPr/>
        </p:nvSpPr>
        <p:spPr>
          <a:xfrm>
            <a:off x="1047750" y="2059186"/>
            <a:ext cx="4728567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Approve production model versions — lineage + governance</a:t>
            </a:r>
            <a:endParaRPr lang="en-US" sz="825" dirty="0"/>
          </a:p>
        </p:txBody>
      </p:sp>
      <p:sp>
        <p:nvSpPr>
          <p:cNvPr id="15" name="Text 9"/>
          <p:cNvSpPr txBox="1"/>
          <p:nvPr/>
        </p:nvSpPr>
        <p:spPr>
          <a:xfrm>
            <a:off x="5890617" y="1974205"/>
            <a:ext cx="54158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approve</a:t>
            </a:r>
            <a:endParaRPr lang="en-US" sz="825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376339"/>
            <a:ext cx="6108353" cy="532656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550" y="2499717"/>
            <a:ext cx="285750" cy="285750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50230" y="2561630"/>
            <a:ext cx="226070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⚙</a:t>
            </a:r>
            <a:endParaRPr lang="en-US" sz="1050" dirty="0"/>
          </a:p>
        </p:txBody>
      </p:sp>
      <p:sp>
        <p:nvSpPr>
          <p:cNvPr id="19" name="Text 11"/>
          <p:cNvSpPr txBox="1"/>
          <p:nvPr/>
        </p:nvSpPr>
        <p:spPr>
          <a:xfrm>
            <a:off x="1047750" y="2490639"/>
            <a:ext cx="4967436" cy="1488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Databricks Workflows</a:t>
            </a:r>
            <a:endParaRPr lang="en-US" sz="938" dirty="0"/>
          </a:p>
        </p:txBody>
      </p:sp>
      <p:sp>
        <p:nvSpPr>
          <p:cNvPr id="20" name="Text 12"/>
          <p:cNvSpPr txBox="1"/>
          <p:nvPr/>
        </p:nvSpPr>
        <p:spPr>
          <a:xfrm>
            <a:off x="1047750" y="2668042"/>
            <a:ext cx="4967436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Feature, training, scoring pipelines — batch + stream</a:t>
            </a:r>
            <a:endParaRPr lang="en-US" sz="825" dirty="0"/>
          </a:p>
        </p:txBody>
      </p:sp>
      <p:sp>
        <p:nvSpPr>
          <p:cNvPr id="21" name="Text 13"/>
          <p:cNvSpPr txBox="1"/>
          <p:nvPr/>
        </p:nvSpPr>
        <p:spPr>
          <a:xfrm>
            <a:off x="6129486" y="2583061"/>
            <a:ext cx="302716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run</a:t>
            </a:r>
            <a:endParaRPr lang="en-US" sz="825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2985195"/>
            <a:ext cx="6108353" cy="532656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550" y="3108573"/>
            <a:ext cx="285750" cy="285750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666750" y="3170486"/>
            <a:ext cx="209550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▤</a:t>
            </a:r>
            <a:endParaRPr lang="en-US" sz="1050" dirty="0"/>
          </a:p>
        </p:txBody>
      </p:sp>
      <p:sp>
        <p:nvSpPr>
          <p:cNvPr id="25" name="Text 15"/>
          <p:cNvSpPr txBox="1"/>
          <p:nvPr/>
        </p:nvSpPr>
        <p:spPr>
          <a:xfrm>
            <a:off x="1047750" y="3099495"/>
            <a:ext cx="4862364" cy="1488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Delta Tables (Gold)</a:t>
            </a:r>
            <a:endParaRPr lang="en-US" sz="938" dirty="0"/>
          </a:p>
        </p:txBody>
      </p:sp>
      <p:sp>
        <p:nvSpPr>
          <p:cNvPr id="26" name="Text 16"/>
          <p:cNvSpPr txBox="1"/>
          <p:nvPr/>
        </p:nvSpPr>
        <p:spPr>
          <a:xfrm>
            <a:off x="1047750" y="3276898"/>
            <a:ext cx="4862364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Features, simulations, recommendations — immutable, versioned</a:t>
            </a:r>
            <a:endParaRPr lang="en-US" sz="825" dirty="0"/>
          </a:p>
        </p:txBody>
      </p:sp>
      <p:sp>
        <p:nvSpPr>
          <p:cNvPr id="27" name="Text 17"/>
          <p:cNvSpPr txBox="1"/>
          <p:nvPr/>
        </p:nvSpPr>
        <p:spPr>
          <a:xfrm>
            <a:off x="6024414" y="3191917"/>
            <a:ext cx="407789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serve</a:t>
            </a:r>
            <a:endParaRPr lang="en-US" sz="825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3594050"/>
            <a:ext cx="6108353" cy="532656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0550" y="3717429"/>
            <a:ext cx="285750" cy="28575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666750" y="3779341"/>
            <a:ext cx="209550" cy="2238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◎</a:t>
            </a:r>
            <a:endParaRPr lang="en-US" sz="1050" dirty="0"/>
          </a:p>
        </p:txBody>
      </p:sp>
      <p:sp>
        <p:nvSpPr>
          <p:cNvPr id="31" name="Text 19"/>
          <p:cNvSpPr txBox="1"/>
          <p:nvPr/>
        </p:nvSpPr>
        <p:spPr>
          <a:xfrm>
            <a:off x="1047750" y="3708350"/>
            <a:ext cx="4845100" cy="14882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72"/>
              </a:lnSpc>
              <a:buNone/>
            </a:pPr>
            <a:r>
              <a:rPr lang="en-US" sz="938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Unity Catalog + APIs</a:t>
            </a:r>
            <a:endParaRPr lang="en-US" sz="938" dirty="0"/>
          </a:p>
        </p:txBody>
      </p:sp>
      <p:sp>
        <p:nvSpPr>
          <p:cNvPr id="32" name="Text 20"/>
          <p:cNvSpPr txBox="1"/>
          <p:nvPr/>
        </p:nvSpPr>
        <p:spPr>
          <a:xfrm>
            <a:off x="1047750" y="3885754"/>
            <a:ext cx="4845100" cy="12665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150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Permissions, audit, lineage — publish to portal</a:t>
            </a:r>
            <a:endParaRPr lang="en-US" sz="825" dirty="0"/>
          </a:p>
        </p:txBody>
      </p:sp>
      <p:sp>
        <p:nvSpPr>
          <p:cNvPr id="33" name="Text 21"/>
          <p:cNvSpPr txBox="1"/>
          <p:nvPr/>
        </p:nvSpPr>
        <p:spPr>
          <a:xfrm>
            <a:off x="6007150" y="3800773"/>
            <a:ext cx="425053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 portal</a:t>
            </a:r>
            <a:endParaRPr lang="en-US" sz="825" dirty="0"/>
          </a:p>
        </p:txBody>
      </p:sp>
      <p:sp>
        <p:nvSpPr>
          <p:cNvPr id="34" name="Shape 22"/>
          <p:cNvSpPr/>
          <p:nvPr/>
        </p:nvSpPr>
        <p:spPr>
          <a:xfrm>
            <a:off x="6734175" y="1162050"/>
            <a:ext cx="5000625" cy="2181225"/>
          </a:xfrm>
          <a:prstGeom prst="roundRect">
            <a:avLst>
              <a:gd name="adj" fmla="val 6114"/>
            </a:avLst>
          </a:prstGeom>
          <a:solidFill>
            <a:srgbClr val="0E1E1C"/>
          </a:solidFill>
          <a:ln/>
        </p:spPr>
      </p:sp>
      <p:sp>
        <p:nvSpPr>
          <p:cNvPr id="35" name="Text 23"/>
          <p:cNvSpPr txBox="1"/>
          <p:nvPr/>
        </p:nvSpPr>
        <p:spPr>
          <a:xfrm>
            <a:off x="6908453" y="1330077"/>
            <a:ext cx="465489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EVERY RECOMMENDATION MUST RECORD</a:t>
            </a:r>
            <a:endParaRPr lang="en-US" sz="750" dirty="0"/>
          </a:p>
        </p:txBody>
      </p:sp>
      <p:sp>
        <p:nvSpPr>
          <p:cNvPr id="36" name="Text 24"/>
          <p:cNvSpPr txBox="1"/>
          <p:nvPr/>
        </p:nvSpPr>
        <p:spPr>
          <a:xfrm>
            <a:off x="6908453" y="1568202"/>
            <a:ext cx="4654897" cy="9239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model_version : LightGBM v32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feature_version : snapshot 2025-05-11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cost_version : effective 2025-05-12 00:00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competitor_snapshot_time : 2025-05-11T22:00Z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optimization_policy_version : margin_strat v2</a:t>
            </a:r>
            <a:endParaRPr lang="en-US" sz="825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BFEFE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guardrail_version : KVI + ladder v4 </a:t>
            </a:r>
            <a:endParaRPr lang="en-US" sz="825" dirty="0"/>
          </a:p>
        </p:txBody>
      </p:sp>
      <p:pic>
        <p:nvPicPr>
          <p:cNvPr id="3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08453" y="2587377"/>
            <a:ext cx="4654897" cy="59561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7013228" y="2682627"/>
            <a:ext cx="4445347" cy="4146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A8CEC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This lets you answer: </a:t>
            </a:r>
            <a:pPr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"Why did system recommend 182 for this item at this store?"</a:t>
            </a:r>
            <a:pPr indent="0" marL="0">
              <a:buNone/>
            </a:pPr>
            <a:r>
              <a:rPr lang="en-US" sz="825" dirty="0">
                <a:solidFill>
                  <a:srgbClr val="A8CEC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— full lineage from raw Bronze → Silver effective → Gold features → model → Score(p) → guardrails → buyer decision.</a:t>
            </a:r>
            <a:endParaRPr lang="en-US" sz="825" dirty="0"/>
          </a:p>
        </p:txBody>
      </p:sp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37003" y="3449687"/>
            <a:ext cx="2460724" cy="814685"/>
          </a:xfrm>
          <a:prstGeom prst="rect">
            <a:avLst/>
          </a:prstGeom>
        </p:spPr>
      </p:pic>
      <p:sp>
        <p:nvSpPr>
          <p:cNvPr id="40" name="Text 26"/>
          <p:cNvSpPr txBox="1"/>
          <p:nvPr/>
        </p:nvSpPr>
        <p:spPr>
          <a:xfrm>
            <a:off x="6851303" y="3573512"/>
            <a:ext cx="2232124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PERMISSIONS</a:t>
            </a:r>
            <a:endParaRPr lang="en-US" sz="750" dirty="0"/>
          </a:p>
        </p:txBody>
      </p:sp>
      <p:sp>
        <p:nvSpPr>
          <p:cNvPr id="41" name="Text 27"/>
          <p:cNvSpPr txBox="1"/>
          <p:nvPr/>
        </p:nvSpPr>
        <p:spPr>
          <a:xfrm>
            <a:off x="6851303" y="3744962"/>
            <a:ext cx="2232124" cy="4146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Unity Catalog: buyer sees rec + reason, cannot edit model. Engineer can deploy model, cannot approve price.</a:t>
            </a:r>
            <a:endParaRPr lang="en-US" sz="825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73927" y="3449687"/>
            <a:ext cx="2460873" cy="814685"/>
          </a:xfrm>
          <a:prstGeom prst="rect">
            <a:avLst/>
          </a:prstGeom>
        </p:spPr>
      </p:pic>
      <p:sp>
        <p:nvSpPr>
          <p:cNvPr id="43" name="Text 28"/>
          <p:cNvSpPr txBox="1"/>
          <p:nvPr/>
        </p:nvSpPr>
        <p:spPr>
          <a:xfrm>
            <a:off x="9388227" y="3573512"/>
            <a:ext cx="2232273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4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REPRODUCIBILITY</a:t>
            </a:r>
            <a:endParaRPr lang="en-US" sz="750" dirty="0"/>
          </a:p>
        </p:txBody>
      </p:sp>
      <p:sp>
        <p:nvSpPr>
          <p:cNvPr id="44" name="Text 29"/>
          <p:cNvSpPr txBox="1"/>
          <p:nvPr/>
        </p:nvSpPr>
        <p:spPr>
          <a:xfrm>
            <a:off x="9388227" y="3744962"/>
            <a:ext cx="2232273" cy="2732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Feature snapshot version pinned at inference. Re-run possible years later with same inputs.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1950"/>
            <a:ext cx="11277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OBSERVABILITY • 4 LAYERS BEYOND FORECAST ACCURACY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19125"/>
            <a:ext cx="11277600" cy="31998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400" b="1" spc="-48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Monitoring — data + model + decision + business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081980"/>
            <a:ext cx="819150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Don't judge success only by forecast accuracy. Judge by decision quality + business outcome. Each layer has owner and SLA.</a:t>
            </a:r>
            <a:endParaRPr lang="en-US" sz="9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9041"/>
            <a:ext cx="5581650" cy="224417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85825" y="1567160"/>
            <a:ext cx="50101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5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◧</a:t>
            </a:r>
            <a:endParaRPr lang="en-US" sz="90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b="1" spc="58" kern="0" dirty="0">
                <a:solidFill>
                  <a:srgbClr val="D6FF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 QUALITY — BLOCK BAD INPUT EARLY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00075" y="1817191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8" name="Text 5"/>
          <p:cNvSpPr txBox="1"/>
          <p:nvPr/>
        </p:nvSpPr>
        <p:spPr>
          <a:xfrm>
            <a:off x="790575" y="1817191"/>
            <a:ext cx="2651373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BFE4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Missing cost / stale competitor price &gt; 24h → block rec</a:t>
            </a:r>
            <a:endParaRPr lang="en-US" sz="863" dirty="0"/>
          </a:p>
        </p:txBody>
      </p:sp>
      <p:sp>
        <p:nvSpPr>
          <p:cNvPr id="9" name="Text 6"/>
          <p:cNvSpPr txBox="1"/>
          <p:nvPr/>
        </p:nvSpPr>
        <p:spPr>
          <a:xfrm>
            <a:off x="600075" y="2012603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0" name="Text 7"/>
          <p:cNvSpPr txBox="1"/>
          <p:nvPr/>
        </p:nvSpPr>
        <p:spPr>
          <a:xfrm>
            <a:off x="790575" y="2012603"/>
            <a:ext cx="2520404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BFE4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Duplicate item-store, invalid price, missing inventory</a:t>
            </a:r>
            <a:endParaRPr lang="en-US" sz="863" dirty="0"/>
          </a:p>
        </p:txBody>
      </p:sp>
      <p:sp>
        <p:nvSpPr>
          <p:cNvPr id="11" name="Text 8"/>
          <p:cNvSpPr txBox="1"/>
          <p:nvPr/>
        </p:nvSpPr>
        <p:spPr>
          <a:xfrm>
            <a:off x="600075" y="2208014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2" name="Text 9"/>
          <p:cNvSpPr txBox="1"/>
          <p:nvPr/>
        </p:nvSpPr>
        <p:spPr>
          <a:xfrm>
            <a:off x="790575" y="2208014"/>
            <a:ext cx="2356396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BFE4D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Late promotion data, unmatched competitor item</a:t>
            </a:r>
            <a:endParaRPr lang="en-US" sz="863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3150" y="1379041"/>
            <a:ext cx="5581650" cy="2244179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81775" y="1567160"/>
            <a:ext cx="50101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5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◐</a:t>
            </a:r>
            <a:endParaRPr lang="en-US" sz="90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b="1" spc="58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QUALITY — DEMAND &amp; ELASTICITY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6296025" y="1817191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6" name="Text 12"/>
          <p:cNvSpPr txBox="1"/>
          <p:nvPr/>
        </p:nvSpPr>
        <p:spPr>
          <a:xfrm>
            <a:off x="6486525" y="1817191"/>
            <a:ext cx="2723257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MAE / WAPE, bias per category &amp; store cluster</a:t>
            </a:r>
            <a:endParaRPr lang="en-US" sz="863" dirty="0"/>
          </a:p>
        </p:txBody>
      </p:sp>
      <p:sp>
        <p:nvSpPr>
          <p:cNvPr id="17" name="Text 13"/>
          <p:cNvSpPr txBox="1"/>
          <p:nvPr/>
        </p:nvSpPr>
        <p:spPr>
          <a:xfrm>
            <a:off x="6296025" y="2012603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8" name="Text 14"/>
          <p:cNvSpPr txBox="1"/>
          <p:nvPr/>
        </p:nvSpPr>
        <p:spPr>
          <a:xfrm>
            <a:off x="6486525" y="2012603"/>
            <a:ext cx="256922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Elasticity distribution drift, feature drift, prediction drift</a:t>
            </a:r>
            <a:endParaRPr lang="en-US" sz="863" dirty="0"/>
          </a:p>
        </p:txBody>
      </p:sp>
      <p:sp>
        <p:nvSpPr>
          <p:cNvPr id="19" name="Text 15"/>
          <p:cNvSpPr txBox="1"/>
          <p:nvPr/>
        </p:nvSpPr>
        <p:spPr>
          <a:xfrm>
            <a:off x="6296025" y="2208014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20" name="Text 16"/>
          <p:cNvSpPr txBox="1"/>
          <p:nvPr/>
        </p:nvSpPr>
        <p:spPr>
          <a:xfrm>
            <a:off x="6486525" y="2208014"/>
            <a:ext cx="2393007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Low data flag → pooled / category model fallback</a:t>
            </a:r>
            <a:endParaRPr lang="en-US" sz="863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37521"/>
            <a:ext cx="5581650" cy="2244179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5825" y="3925639"/>
            <a:ext cx="50101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5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✦</a:t>
            </a:r>
            <a:endParaRPr lang="en-US" sz="90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b="1" spc="58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DECISION QUALITY — BUYER ADOPTION</a:t>
            </a:r>
            <a:endParaRPr lang="en-US" sz="900" dirty="0"/>
          </a:p>
        </p:txBody>
      </p:sp>
      <p:sp>
        <p:nvSpPr>
          <p:cNvPr id="23" name="Text 18"/>
          <p:cNvSpPr txBox="1"/>
          <p:nvPr/>
        </p:nvSpPr>
        <p:spPr>
          <a:xfrm>
            <a:off x="600075" y="4175671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24" name="Text 19"/>
          <p:cNvSpPr txBox="1"/>
          <p:nvPr/>
        </p:nvSpPr>
        <p:spPr>
          <a:xfrm>
            <a:off x="790575" y="4175671"/>
            <a:ext cx="25146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Acceptance rate, override rate, avg price movement</a:t>
            </a:r>
            <a:endParaRPr lang="en-US" sz="863" dirty="0"/>
          </a:p>
        </p:txBody>
      </p:sp>
      <p:sp>
        <p:nvSpPr>
          <p:cNvPr id="25" name="Text 20"/>
          <p:cNvSpPr txBox="1"/>
          <p:nvPr/>
        </p:nvSpPr>
        <p:spPr>
          <a:xfrm>
            <a:off x="600075" y="4371082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26" name="Text 21"/>
          <p:cNvSpPr txBox="1"/>
          <p:nvPr/>
        </p:nvSpPr>
        <p:spPr>
          <a:xfrm>
            <a:off x="790575" y="4371082"/>
            <a:ext cx="2366218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Guardrail rejection rate, stability, time-to-decision</a:t>
            </a:r>
            <a:endParaRPr lang="en-US" sz="863" dirty="0"/>
          </a:p>
        </p:txBody>
      </p:sp>
      <p:sp>
        <p:nvSpPr>
          <p:cNvPr id="27" name="Text 22"/>
          <p:cNvSpPr txBox="1"/>
          <p:nvPr/>
        </p:nvSpPr>
        <p:spPr>
          <a:xfrm>
            <a:off x="600075" y="4566493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28" name="Text 23"/>
          <p:cNvSpPr txBox="1"/>
          <p:nvPr/>
        </p:nvSpPr>
        <p:spPr>
          <a:xfrm>
            <a:off x="790575" y="4566493"/>
            <a:ext cx="2063948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Override reason clustering → policy tuning</a:t>
            </a:r>
            <a:endParaRPr lang="en-US" sz="863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3737521"/>
            <a:ext cx="5581650" cy="2244179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6581775" y="3925639"/>
            <a:ext cx="5010150" cy="1643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58" kern="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%</a:t>
            </a:r>
            <a:endParaRPr lang="en-US" sz="900" dirty="0"/>
          </a:p>
          <a:p>
            <a:pPr algn="l" indent="0" marL="0">
              <a:lnSpc>
                <a:spcPts val="1238"/>
              </a:lnSpc>
              <a:buNone/>
            </a:pPr>
            <a:r>
              <a:rPr lang="en-US" sz="825" b="1" spc="58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OUTCOMES — REAL IMPACT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6296025" y="4175671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32" name="Text 26"/>
          <p:cNvSpPr txBox="1"/>
          <p:nvPr/>
        </p:nvSpPr>
        <p:spPr>
          <a:xfrm>
            <a:off x="6486525" y="4175671"/>
            <a:ext cx="2082254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Gross margin, revenue, units, basket value</a:t>
            </a:r>
            <a:endParaRPr lang="en-US" sz="863" dirty="0"/>
          </a:p>
        </p:txBody>
      </p:sp>
      <p:sp>
        <p:nvSpPr>
          <p:cNvPr id="33" name="Text 27"/>
          <p:cNvSpPr txBox="1"/>
          <p:nvPr/>
        </p:nvSpPr>
        <p:spPr>
          <a:xfrm>
            <a:off x="6296025" y="4371082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34" name="Text 28"/>
          <p:cNvSpPr txBox="1"/>
          <p:nvPr/>
        </p:nvSpPr>
        <p:spPr>
          <a:xfrm>
            <a:off x="6486525" y="4371082"/>
            <a:ext cx="292224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Market-price index, waste / shrinkage, stockouts, complaints</a:t>
            </a:r>
            <a:endParaRPr lang="en-US" sz="863" dirty="0"/>
          </a:p>
        </p:txBody>
      </p:sp>
      <p:sp>
        <p:nvSpPr>
          <p:cNvPr id="35" name="Text 29"/>
          <p:cNvSpPr txBox="1"/>
          <p:nvPr/>
        </p:nvSpPr>
        <p:spPr>
          <a:xfrm>
            <a:off x="6296025" y="4566493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36" name="Text 30"/>
          <p:cNvSpPr txBox="1"/>
          <p:nvPr/>
        </p:nvSpPr>
        <p:spPr>
          <a:xfrm>
            <a:off x="6486525" y="4566493"/>
            <a:ext cx="2352229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Measured via controlled pilot only, not offline sim</a:t>
            </a:r>
            <a:endParaRPr lang="en-US" sz="863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115050"/>
            <a:ext cx="11277600" cy="400050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0075" y="6219825"/>
            <a:ext cx="190500" cy="190500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82079" y="6257925"/>
            <a:ext cx="108496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/>
                </a:solidFill>
                <a:highlight>
                  <a:srgbClr val="0A7C74"/>
                </a:highlight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!</a:t>
            </a:r>
            <a:endParaRPr lang="en-US" sz="750" dirty="0"/>
          </a:p>
        </p:txBody>
      </p:sp>
      <p:sp>
        <p:nvSpPr>
          <p:cNvPr id="40" name="Text 32"/>
          <p:cNvSpPr txBox="1"/>
          <p:nvPr/>
        </p:nvSpPr>
        <p:spPr>
          <a:xfrm>
            <a:off x="904875" y="6257479"/>
            <a:ext cx="7845921" cy="1342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Rule:</a:t>
            </a:r>
            <a:pPr indent="0" marL="0">
              <a:buNone/>
            </a:pPr>
            <a:r>
              <a:rPr lang="en-US" sz="863" dirty="0">
                <a:solidFill>
                  <a:srgbClr val="3A4F4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Low confidence or stale cost → no automated rec, buyer review only. Alert owner: data eng for data, DS for model, product for decision, merch for business.</a:t>
            </a:r>
            <a:endParaRPr lang="en-US" sz="86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81000"/>
            <a:ext cx="11277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EXPERIMENT DESIGN — PROVE CAUSALITY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8175"/>
            <a:ext cx="11277600" cy="32995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99"/>
              </a:lnSpc>
              <a:buNone/>
            </a:pPr>
            <a:r>
              <a:rPr lang="en-US" sz="2475" b="1" spc="-49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Never claim uplift from offline simulation alone</a:t>
            </a:r>
            <a:endParaRPr lang="en-US" sz="2475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11002"/>
            <a:ext cx="685800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B5E5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Offline sim = observational. Production proof = controlled pilot. Label simulated uplift as observational, not causal.</a:t>
            </a:r>
            <a:endParaRPr lang="en-US" sz="9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08063"/>
            <a:ext cx="5572125" cy="220994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8175" y="1589038"/>
            <a:ext cx="521017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✗ WHAT NOT TO DO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638175" y="1808113"/>
            <a:ext cx="5210175" cy="1751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Offline simulation only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38175" y="2088059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9" name="Text 6"/>
          <p:cNvSpPr txBox="1"/>
          <p:nvPr/>
        </p:nvSpPr>
        <p:spPr>
          <a:xfrm>
            <a:off x="847725" y="2088059"/>
            <a:ext cx="3046958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Model predicts D(p) higher → claim margin +3% — </a:t>
            </a:r>
            <a:pPr indent="0" marL="0">
              <a:buNone/>
            </a:pPr>
            <a:r>
              <a:rPr lang="en-US" sz="863" b="1" dirty="0">
                <a:solidFill>
                  <a:srgbClr val="C0392B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 causal</a:t>
            </a:r>
            <a:endParaRPr lang="en-US" sz="863" dirty="0"/>
          </a:p>
        </p:txBody>
      </p:sp>
      <p:sp>
        <p:nvSpPr>
          <p:cNvPr id="10" name="Text 7"/>
          <p:cNvSpPr txBox="1"/>
          <p:nvPr/>
        </p:nvSpPr>
        <p:spPr>
          <a:xfrm>
            <a:off x="638175" y="2292995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1" name="Text 8"/>
          <p:cNvSpPr txBox="1"/>
          <p:nvPr/>
        </p:nvSpPr>
        <p:spPr>
          <a:xfrm>
            <a:off x="847725" y="2292995"/>
            <a:ext cx="3513088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 buyer behavior, no inventory constraint, no competitor reaction in sim</a:t>
            </a:r>
            <a:endParaRPr lang="en-US" sz="863" dirty="0"/>
          </a:p>
        </p:txBody>
      </p:sp>
      <p:sp>
        <p:nvSpPr>
          <p:cNvPr id="12" name="Text 9"/>
          <p:cNvSpPr txBox="1"/>
          <p:nvPr/>
        </p:nvSpPr>
        <p:spPr>
          <a:xfrm>
            <a:off x="638175" y="2497931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3" name="Text 10"/>
          <p:cNvSpPr txBox="1"/>
          <p:nvPr/>
        </p:nvSpPr>
        <p:spPr>
          <a:xfrm>
            <a:off x="847725" y="2497931"/>
            <a:ext cx="174754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Leaks future promo info into training</a:t>
            </a:r>
            <a:endParaRPr lang="en-US" sz="863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675" y="1408063"/>
            <a:ext cx="5572125" cy="2209949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343650" y="1589038"/>
            <a:ext cx="521017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 PRODUCTION VALIDATION</a:t>
            </a:r>
            <a:endParaRPr lang="en-US" sz="750" dirty="0"/>
          </a:p>
        </p:txBody>
      </p:sp>
      <p:sp>
        <p:nvSpPr>
          <p:cNvPr id="16" name="Text 12"/>
          <p:cNvSpPr txBox="1"/>
          <p:nvPr/>
        </p:nvSpPr>
        <p:spPr>
          <a:xfrm>
            <a:off x="6343650" y="1808113"/>
            <a:ext cx="5210175" cy="1751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Controlled pilot — Treatment vs Control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343650" y="2088059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</a:t>
            </a:r>
            <a:endParaRPr lang="en-US" sz="863" dirty="0"/>
          </a:p>
        </p:txBody>
      </p:sp>
      <p:sp>
        <p:nvSpPr>
          <p:cNvPr id="18" name="Text 14"/>
          <p:cNvSpPr txBox="1"/>
          <p:nvPr/>
        </p:nvSpPr>
        <p:spPr>
          <a:xfrm>
            <a:off x="6553200" y="2088059"/>
            <a:ext cx="2741861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C7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Treatment: buyer sees model recommendations in portal</a:t>
            </a:r>
            <a:endParaRPr lang="en-US" sz="863" dirty="0"/>
          </a:p>
        </p:txBody>
      </p:sp>
      <p:sp>
        <p:nvSpPr>
          <p:cNvPr id="19" name="Text 15"/>
          <p:cNvSpPr txBox="1"/>
          <p:nvPr/>
        </p:nvSpPr>
        <p:spPr>
          <a:xfrm>
            <a:off x="6343650" y="2292995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</a:t>
            </a:r>
            <a:endParaRPr lang="en-US" sz="863" dirty="0"/>
          </a:p>
        </p:txBody>
      </p:sp>
      <p:sp>
        <p:nvSpPr>
          <p:cNvPr id="20" name="Text 16"/>
          <p:cNvSpPr txBox="1"/>
          <p:nvPr/>
        </p:nvSpPr>
        <p:spPr>
          <a:xfrm>
            <a:off x="6553200" y="2292995"/>
            <a:ext cx="1552575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C7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Control: existing pricing process</a:t>
            </a:r>
            <a:endParaRPr lang="en-US" sz="863" dirty="0"/>
          </a:p>
        </p:txBody>
      </p:sp>
      <p:sp>
        <p:nvSpPr>
          <p:cNvPr id="21" name="Text 17"/>
          <p:cNvSpPr txBox="1"/>
          <p:nvPr/>
        </p:nvSpPr>
        <p:spPr>
          <a:xfrm>
            <a:off x="6343650" y="2497931"/>
            <a:ext cx="133350" cy="2860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→</a:t>
            </a:r>
            <a:endParaRPr lang="en-US" sz="863" dirty="0"/>
          </a:p>
        </p:txBody>
      </p:sp>
      <p:sp>
        <p:nvSpPr>
          <p:cNvPr id="22" name="Text 18"/>
          <p:cNvSpPr txBox="1"/>
          <p:nvPr/>
        </p:nvSpPr>
        <p:spPr>
          <a:xfrm>
            <a:off x="6553200" y="2497931"/>
            <a:ext cx="5000625" cy="28604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C7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Randomize at </a:t>
            </a:r>
            <a:pPr indent="0" marL="0">
              <a:buNone/>
            </a:pPr>
            <a:r>
              <a:rPr lang="en-US" sz="86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matched store-item groups</a:t>
            </a:r>
            <a:pPr indent="0" marL="0">
              <a:buNone/>
            </a:pPr>
            <a:r>
              <a:rPr lang="en-US" sz="863" dirty="0">
                <a:solidFill>
                  <a:srgbClr val="C7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or </a:t>
            </a:r>
            <a:pPr indent="0" marL="0">
              <a:buNone/>
            </a:pPr>
            <a:r>
              <a:rPr lang="en-US" sz="863" b="1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matched store clusters</a:t>
            </a:r>
            <a:pPr indent="0" marL="0">
              <a:buNone/>
            </a:pPr>
            <a:r>
              <a:rPr lang="en-US" sz="863" dirty="0">
                <a:solidFill>
                  <a:srgbClr val="C7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to avoid contamination (same buyer, same category leakage)</a:t>
            </a:r>
            <a:endParaRPr lang="en-US" sz="863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751362"/>
            <a:ext cx="5572125" cy="222944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8175" y="3932337"/>
            <a:ext cx="521017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EVALUATE — 6 METRICS + ADOPTION</a:t>
            </a:r>
            <a:endParaRPr lang="en-US" sz="7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4151412"/>
            <a:ext cx="2547938" cy="995363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62000" y="4275237"/>
            <a:ext cx="230028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4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BUSINESS (INCREMENTAL)</a:t>
            </a:r>
            <a:endParaRPr lang="en-US" sz="7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456212"/>
            <a:ext cx="844153" cy="26431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847725" y="4522887"/>
            <a:ext cx="672703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gross margin Δ</a:t>
            </a:r>
            <a:endParaRPr lang="en-US" sz="788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3303" y="4456212"/>
            <a:ext cx="627608" cy="264319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749028" y="4522887"/>
            <a:ext cx="456158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revenue Δ</a:t>
            </a:r>
            <a:endParaRPr lang="en-US" sz="788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8061" y="4456212"/>
            <a:ext cx="477441" cy="264319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433786" y="4522887"/>
            <a:ext cx="30599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units Δ</a:t>
            </a:r>
            <a:endParaRPr lang="en-US" sz="788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4777680"/>
            <a:ext cx="527447" cy="264319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47725" y="4844355"/>
            <a:ext cx="355997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waste Δ</a:t>
            </a:r>
            <a:endParaRPr lang="en-US" sz="788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6597" y="4777680"/>
            <a:ext cx="638621" cy="264319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1432322" y="4844355"/>
            <a:ext cx="46717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stockout Δ</a:t>
            </a:r>
            <a:endParaRPr lang="en-US" sz="788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42368" y="4777680"/>
            <a:ext cx="905321" cy="264319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2128093" y="4844355"/>
            <a:ext cx="733871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competitor index</a:t>
            </a:r>
            <a:endParaRPr lang="en-US" sz="788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300413" y="4151412"/>
            <a:ext cx="2547938" cy="995363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3424238" y="4275237"/>
            <a:ext cx="230028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450"/>
              </a:spcAft>
              <a:buNone/>
            </a:pPr>
            <a:r>
              <a:rPr lang="en-US" sz="750" b="1" spc="45" kern="0" dirty="0">
                <a:solidFill>
                  <a:srgbClr val="5A7B77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DECISION QUALITY</a:t>
            </a:r>
            <a:endParaRPr lang="en-US" sz="750" dirty="0"/>
          </a:p>
        </p:txBody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24238" y="4456212"/>
            <a:ext cx="833289" cy="264319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509963" y="4522887"/>
            <a:ext cx="661839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 adoption</a:t>
            </a:r>
            <a:endParaRPr lang="en-US" sz="788" dirty="0"/>
          </a:p>
        </p:txBody>
      </p:sp>
      <p:pic>
        <p:nvPicPr>
          <p:cNvPr id="4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4676" y="4456212"/>
            <a:ext cx="883146" cy="264319"/>
          </a:xfrm>
          <a:prstGeom prst="rect">
            <a:avLst/>
          </a:prstGeom>
        </p:spPr>
      </p:pic>
      <p:sp>
        <p:nvSpPr>
          <p:cNvPr id="44" name="Text 29"/>
          <p:cNvSpPr txBox="1"/>
          <p:nvPr/>
        </p:nvSpPr>
        <p:spPr>
          <a:xfrm>
            <a:off x="4400401" y="4522887"/>
            <a:ext cx="711696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acceptance rate</a:t>
            </a:r>
            <a:endParaRPr lang="en-US" sz="788" dirty="0"/>
          </a:p>
        </p:txBody>
      </p:sp>
      <p:pic>
        <p:nvPicPr>
          <p:cNvPr id="4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24238" y="4777680"/>
            <a:ext cx="732979" cy="264319"/>
          </a:xfrm>
          <a:prstGeom prst="rect">
            <a:avLst/>
          </a:prstGeom>
        </p:spPr>
      </p:pic>
      <p:sp>
        <p:nvSpPr>
          <p:cNvPr id="46" name="Text 30"/>
          <p:cNvSpPr txBox="1"/>
          <p:nvPr/>
        </p:nvSpPr>
        <p:spPr>
          <a:xfrm>
            <a:off x="3509963" y="4844355"/>
            <a:ext cx="561529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override rate</a:t>
            </a:r>
            <a:endParaRPr lang="en-US" sz="788" dirty="0"/>
          </a:p>
        </p:txBody>
      </p:sp>
      <p:pic>
        <p:nvPicPr>
          <p:cNvPr id="4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14366" y="4777680"/>
            <a:ext cx="866329" cy="264319"/>
          </a:xfrm>
          <a:prstGeom prst="rect">
            <a:avLst/>
          </a:prstGeom>
        </p:spPr>
      </p:pic>
      <p:sp>
        <p:nvSpPr>
          <p:cNvPr id="48" name="Text 31"/>
          <p:cNvSpPr txBox="1"/>
          <p:nvPr/>
        </p:nvSpPr>
        <p:spPr>
          <a:xfrm>
            <a:off x="4300091" y="4844355"/>
            <a:ext cx="694879" cy="14049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788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time to decision</a:t>
            </a:r>
            <a:endParaRPr lang="en-US" sz="788" dirty="0"/>
          </a:p>
        </p:txBody>
      </p:sp>
      <p:pic>
        <p:nvPicPr>
          <p:cNvPr id="49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162675" y="3751362"/>
            <a:ext cx="5572125" cy="2229445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6343650" y="3932337"/>
            <a:ext cx="521017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PILOT GUARDRAILS</a:t>
            </a:r>
            <a:endParaRPr lang="en-US" sz="750" dirty="0"/>
          </a:p>
        </p:txBody>
      </p:sp>
      <p:sp>
        <p:nvSpPr>
          <p:cNvPr id="51" name="Text 33"/>
          <p:cNvSpPr txBox="1"/>
          <p:nvPr/>
        </p:nvSpPr>
        <p:spPr>
          <a:xfrm>
            <a:off x="6343650" y="4151412"/>
            <a:ext cx="5210175" cy="15329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1050" b="1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4–6 weeks minimum for retail</a:t>
            </a:r>
            <a:endParaRPr lang="en-US" sz="1050" dirty="0"/>
          </a:p>
        </p:txBody>
      </p:sp>
      <p:sp>
        <p:nvSpPr>
          <p:cNvPr id="52" name="Text 34"/>
          <p:cNvSpPr txBox="1"/>
          <p:nvPr/>
        </p:nvSpPr>
        <p:spPr>
          <a:xfrm>
            <a:off x="6343650" y="4409480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53" name="Text 35"/>
          <p:cNvSpPr txBox="1"/>
          <p:nvPr/>
        </p:nvSpPr>
        <p:spPr>
          <a:xfrm>
            <a:off x="6553200" y="4409480"/>
            <a:ext cx="2709565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Cover promotion cycle + payday + weekend seasonality</a:t>
            </a:r>
            <a:endParaRPr lang="en-US" sz="863" dirty="0"/>
          </a:p>
        </p:txBody>
      </p:sp>
      <p:sp>
        <p:nvSpPr>
          <p:cNvPr id="54" name="Text 36"/>
          <p:cNvSpPr txBox="1"/>
          <p:nvPr/>
        </p:nvSpPr>
        <p:spPr>
          <a:xfrm>
            <a:off x="6343650" y="4614416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55" name="Text 37"/>
          <p:cNvSpPr txBox="1"/>
          <p:nvPr/>
        </p:nvSpPr>
        <p:spPr>
          <a:xfrm>
            <a:off x="6553200" y="4614416"/>
            <a:ext cx="2173486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Limit to 1–2 categories, limited stores to start</a:t>
            </a:r>
            <a:endParaRPr lang="en-US" sz="863" dirty="0"/>
          </a:p>
        </p:txBody>
      </p:sp>
      <p:sp>
        <p:nvSpPr>
          <p:cNvPr id="56" name="Text 38"/>
          <p:cNvSpPr txBox="1"/>
          <p:nvPr/>
        </p:nvSpPr>
        <p:spPr>
          <a:xfrm>
            <a:off x="6343650" y="4819352"/>
            <a:ext cx="13335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57" name="Text 39"/>
          <p:cNvSpPr txBox="1"/>
          <p:nvPr/>
        </p:nvSpPr>
        <p:spPr>
          <a:xfrm>
            <a:off x="6553200" y="4819352"/>
            <a:ext cx="2496592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D414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 approval mandatory — no auto execution yet</a:t>
            </a:r>
            <a:endParaRPr lang="en-US" sz="863" dirty="0"/>
          </a:p>
        </p:txBody>
      </p:sp>
      <p:sp>
        <p:nvSpPr>
          <p:cNvPr id="58" name="Shape 40"/>
          <p:cNvSpPr/>
          <p:nvPr/>
        </p:nvSpPr>
        <p:spPr>
          <a:xfrm>
            <a:off x="457200" y="6115050"/>
            <a:ext cx="11277600" cy="381000"/>
          </a:xfrm>
          <a:prstGeom prst="roundRect">
            <a:avLst>
              <a:gd name="adj" fmla="val 30000"/>
            </a:avLst>
          </a:prstGeom>
          <a:solidFill>
            <a:srgbClr val="0E1E1C"/>
          </a:solidFill>
          <a:ln/>
        </p:spPr>
      </p:sp>
      <p:sp>
        <p:nvSpPr>
          <p:cNvPr id="59" name="Text 41"/>
          <p:cNvSpPr txBox="1"/>
          <p:nvPr/>
        </p:nvSpPr>
        <p:spPr>
          <a:xfrm>
            <a:off x="609600" y="6252716"/>
            <a:ext cx="28976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RULE</a:t>
            </a:r>
            <a:endParaRPr lang="en-US" sz="750" dirty="0"/>
          </a:p>
        </p:txBody>
      </p:sp>
      <p:sp>
        <p:nvSpPr>
          <p:cNvPr id="60" name="Text 42"/>
          <p:cNvSpPr txBox="1"/>
          <p:nvPr/>
        </p:nvSpPr>
        <p:spPr>
          <a:xfrm>
            <a:off x="1051768" y="6247507"/>
            <a:ext cx="10530632" cy="13424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Simulated uplift = observational label in UI.</a:t>
            </a:r>
            <a:pPr indent="0" marL="0">
              <a:buNone/>
            </a:pPr>
            <a:r>
              <a:rPr lang="en-US" sz="863" dirty="0">
                <a:solidFill>
                  <a:srgbClr val="A8CEC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 Only pilot / A/B test can be shown as incremental margin / revenue. This prevents false claims and builds buyer trust.</a:t>
            </a:r>
            <a:endParaRPr lang="en-US" sz="86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1950"/>
            <a:ext cx="112776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90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ROLLOUT • CRAWL WALK RUN — NO BIG BANG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38175"/>
            <a:ext cx="11277600" cy="3302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1"/>
              </a:lnSpc>
              <a:buNone/>
            </a:pPr>
            <a:r>
              <a:rPr lang="en-US" sz="2550" b="1" spc="-51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Rollout — best practical for retail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30350"/>
            <a:ext cx="7810500" cy="1637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4A5F5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Start manual and auditable, earn automation. Every phase keeps buyer approval and versioning.</a:t>
            </a:r>
            <a:endParaRPr lang="en-US" sz="97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255961"/>
            <a:ext cx="3038475" cy="476205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" y="1608386"/>
            <a:ext cx="285750" cy="28575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30151" y="1684586"/>
            <a:ext cx="17472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</a:t>
            </a:r>
            <a:endParaRPr lang="en-US" sz="9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250" y="1641723"/>
            <a:ext cx="501700" cy="21907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603450" y="1698873"/>
            <a:ext cx="3493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CFF6F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CRAWL</a:t>
            </a:r>
            <a:endParaRPr lang="en-US" sz="750" dirty="0"/>
          </a:p>
        </p:txBody>
      </p:sp>
      <p:sp>
        <p:nvSpPr>
          <p:cNvPr id="10" name="Text 5"/>
          <p:cNvSpPr txBox="1"/>
          <p:nvPr/>
        </p:nvSpPr>
        <p:spPr>
          <a:xfrm>
            <a:off x="619125" y="2008436"/>
            <a:ext cx="2409825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DECISION SUPPORT</a:t>
            </a:r>
            <a:endParaRPr lang="en-US" sz="825" dirty="0"/>
          </a:p>
        </p:txBody>
      </p:sp>
      <p:sp>
        <p:nvSpPr>
          <p:cNvPr id="11" name="Text 6"/>
          <p:cNvSpPr txBox="1"/>
          <p:nvPr/>
        </p:nvSpPr>
        <p:spPr>
          <a:xfrm>
            <a:off x="619125" y="2251323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2" name="Text 7"/>
          <p:cNvSpPr txBox="1"/>
          <p:nvPr/>
        </p:nvSpPr>
        <p:spPr>
          <a:xfrm>
            <a:off x="800100" y="2251323"/>
            <a:ext cx="2094458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1-2 categories, limited stores, weekly batch</a:t>
            </a:r>
            <a:endParaRPr lang="en-US" sz="863" dirty="0"/>
          </a:p>
        </p:txBody>
      </p:sp>
      <p:sp>
        <p:nvSpPr>
          <p:cNvPr id="13" name="Text 8"/>
          <p:cNvSpPr txBox="1"/>
          <p:nvPr/>
        </p:nvSpPr>
        <p:spPr>
          <a:xfrm>
            <a:off x="619125" y="2456259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4" name="Text 9"/>
          <p:cNvSpPr txBox="1"/>
          <p:nvPr/>
        </p:nvSpPr>
        <p:spPr>
          <a:xfrm>
            <a:off x="800100" y="2456259"/>
            <a:ext cx="1964829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 approval mandatory, no auto exec</a:t>
            </a:r>
            <a:endParaRPr lang="en-US" sz="863" dirty="0"/>
          </a:p>
        </p:txBody>
      </p:sp>
      <p:sp>
        <p:nvSpPr>
          <p:cNvPr id="15" name="Text 10"/>
          <p:cNvSpPr txBox="1"/>
          <p:nvPr/>
        </p:nvSpPr>
        <p:spPr>
          <a:xfrm>
            <a:off x="619125" y="2661196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16" name="Text 11"/>
          <p:cNvSpPr txBox="1"/>
          <p:nvPr/>
        </p:nvSpPr>
        <p:spPr>
          <a:xfrm>
            <a:off x="800100" y="2661196"/>
            <a:ext cx="1074688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Goal: trust + feedback</a:t>
            </a:r>
            <a:endParaRPr lang="en-US" sz="863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5175" y="1446461"/>
            <a:ext cx="2733675" cy="4381054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7100" y="1608386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578126" y="1684586"/>
            <a:ext cx="17472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2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4934" y="1632198"/>
            <a:ext cx="451991" cy="238125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5510659" y="1698873"/>
            <a:ext cx="28054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WALK</a:t>
            </a:r>
            <a:endParaRPr lang="en-US" sz="750" dirty="0"/>
          </a:p>
        </p:txBody>
      </p:sp>
      <p:sp>
        <p:nvSpPr>
          <p:cNvPr id="22" name="Text 14"/>
          <p:cNvSpPr txBox="1"/>
          <p:nvPr/>
        </p:nvSpPr>
        <p:spPr>
          <a:xfrm>
            <a:off x="3467100" y="2008436"/>
            <a:ext cx="2409825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BETTER OPERATIONAL INPUTS</a:t>
            </a:r>
            <a:endParaRPr lang="en-US" sz="825" dirty="0"/>
          </a:p>
        </p:txBody>
      </p:sp>
      <p:sp>
        <p:nvSpPr>
          <p:cNvPr id="23" name="Text 15"/>
          <p:cNvSpPr txBox="1"/>
          <p:nvPr/>
        </p:nvSpPr>
        <p:spPr>
          <a:xfrm>
            <a:off x="3467100" y="2251323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24" name="Text 16"/>
          <p:cNvSpPr txBox="1"/>
          <p:nvPr/>
        </p:nvSpPr>
        <p:spPr>
          <a:xfrm>
            <a:off x="3648075" y="2251323"/>
            <a:ext cx="1714946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Effective-date cost, competitor feed</a:t>
            </a:r>
            <a:endParaRPr lang="en-US" sz="863" dirty="0"/>
          </a:p>
        </p:txBody>
      </p:sp>
      <p:sp>
        <p:nvSpPr>
          <p:cNvPr id="25" name="Text 17"/>
          <p:cNvSpPr txBox="1"/>
          <p:nvPr/>
        </p:nvSpPr>
        <p:spPr>
          <a:xfrm>
            <a:off x="3467100" y="2456259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26" name="Text 18"/>
          <p:cNvSpPr txBox="1"/>
          <p:nvPr/>
        </p:nvSpPr>
        <p:spPr>
          <a:xfrm>
            <a:off x="3648075" y="2456259"/>
            <a:ext cx="1812578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Inventory, shrinkage, supplier funding</a:t>
            </a:r>
            <a:endParaRPr lang="en-US" sz="863" dirty="0"/>
          </a:p>
        </p:txBody>
      </p:sp>
      <p:sp>
        <p:nvSpPr>
          <p:cNvPr id="27" name="Text 19"/>
          <p:cNvSpPr txBox="1"/>
          <p:nvPr/>
        </p:nvSpPr>
        <p:spPr>
          <a:xfrm>
            <a:off x="3467100" y="2661196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28" name="Text 20"/>
          <p:cNvSpPr txBox="1"/>
          <p:nvPr/>
        </p:nvSpPr>
        <p:spPr>
          <a:xfrm>
            <a:off x="3648075" y="2661196"/>
            <a:ext cx="1750665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Versioned recommendations + audit</a:t>
            </a:r>
            <a:endParaRPr lang="en-US" sz="863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3150" y="1446461"/>
            <a:ext cx="2733675" cy="4381054"/>
          </a:xfrm>
          <a:prstGeom prst="rect">
            <a:avLst/>
          </a:prstGeom>
        </p:spPr>
      </p:pic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15075" y="1608386"/>
            <a:ext cx="285750" cy="28575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6426101" y="1684586"/>
            <a:ext cx="17472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3</a:t>
            </a:r>
            <a:endParaRPr lang="en-US" sz="90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0493" y="1632198"/>
            <a:ext cx="494407" cy="238125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8316218" y="1698873"/>
            <a:ext cx="32295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2D444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SCALE</a:t>
            </a:r>
            <a:endParaRPr lang="en-US" sz="750" dirty="0"/>
          </a:p>
        </p:txBody>
      </p:sp>
      <p:sp>
        <p:nvSpPr>
          <p:cNvPr id="34" name="Text 23"/>
          <p:cNvSpPr txBox="1"/>
          <p:nvPr/>
        </p:nvSpPr>
        <p:spPr>
          <a:xfrm>
            <a:off x="6315075" y="2008436"/>
            <a:ext cx="2409825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EVENT-DRIVEN REFRESH</a:t>
            </a:r>
            <a:endParaRPr lang="en-US" sz="825" dirty="0"/>
          </a:p>
        </p:txBody>
      </p:sp>
      <p:sp>
        <p:nvSpPr>
          <p:cNvPr id="35" name="Text 24"/>
          <p:cNvSpPr txBox="1"/>
          <p:nvPr/>
        </p:nvSpPr>
        <p:spPr>
          <a:xfrm>
            <a:off x="6315075" y="2251323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36" name="Text 25"/>
          <p:cNvSpPr txBox="1"/>
          <p:nvPr/>
        </p:nvSpPr>
        <p:spPr>
          <a:xfrm>
            <a:off x="6496050" y="2251323"/>
            <a:ext cx="1552575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Kafka cost events → recompute</a:t>
            </a:r>
            <a:endParaRPr lang="en-US" sz="863" dirty="0"/>
          </a:p>
        </p:txBody>
      </p:sp>
      <p:sp>
        <p:nvSpPr>
          <p:cNvPr id="37" name="Text 26"/>
          <p:cNvSpPr txBox="1"/>
          <p:nvPr/>
        </p:nvSpPr>
        <p:spPr>
          <a:xfrm>
            <a:off x="6315075" y="2456259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38" name="Text 27"/>
          <p:cNvSpPr txBox="1"/>
          <p:nvPr/>
        </p:nvSpPr>
        <p:spPr>
          <a:xfrm>
            <a:off x="6496050" y="2456259"/>
            <a:ext cx="1467296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Impacted item-store pairs only</a:t>
            </a:r>
            <a:endParaRPr lang="en-US" sz="863" dirty="0"/>
          </a:p>
        </p:txBody>
      </p:sp>
      <p:sp>
        <p:nvSpPr>
          <p:cNvPr id="39" name="Text 28"/>
          <p:cNvSpPr txBox="1"/>
          <p:nvPr/>
        </p:nvSpPr>
        <p:spPr>
          <a:xfrm>
            <a:off x="6315075" y="2661196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•</a:t>
            </a:r>
            <a:endParaRPr lang="en-US" sz="863" dirty="0"/>
          </a:p>
        </p:txBody>
      </p:sp>
      <p:sp>
        <p:nvSpPr>
          <p:cNvPr id="40" name="Text 29"/>
          <p:cNvSpPr txBox="1"/>
          <p:nvPr/>
        </p:nvSpPr>
        <p:spPr>
          <a:xfrm>
            <a:off x="6496050" y="2661196"/>
            <a:ext cx="1275308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Don't rerun whole portfolio</a:t>
            </a:r>
            <a:endParaRPr lang="en-US" sz="863" dirty="0"/>
          </a:p>
        </p:txBody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01125" y="1446461"/>
            <a:ext cx="2733675" cy="4381054"/>
          </a:xfrm>
          <a:prstGeom prst="rect">
            <a:avLst/>
          </a:prstGeom>
        </p:spPr>
      </p:pic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63050" y="1608386"/>
            <a:ext cx="285750" cy="285750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9274076" y="1684586"/>
            <a:ext cx="17472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</a:t>
            </a:r>
            <a:endParaRPr lang="en-US" sz="900" dirty="0"/>
          </a:p>
        </p:txBody>
      </p:sp>
      <p:pic>
        <p:nvPicPr>
          <p:cNvPr id="4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14050" y="1641723"/>
            <a:ext cx="358825" cy="219075"/>
          </a:xfrm>
          <a:prstGeom prst="rect">
            <a:avLst/>
          </a:prstGeom>
        </p:spPr>
      </p:pic>
      <p:sp>
        <p:nvSpPr>
          <p:cNvPr id="45" name="Text 31"/>
          <p:cNvSpPr txBox="1"/>
          <p:nvPr/>
        </p:nvSpPr>
        <p:spPr>
          <a:xfrm>
            <a:off x="11290250" y="1698873"/>
            <a:ext cx="20642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RUN</a:t>
            </a:r>
            <a:endParaRPr lang="en-US" sz="750" dirty="0"/>
          </a:p>
        </p:txBody>
      </p:sp>
      <p:sp>
        <p:nvSpPr>
          <p:cNvPr id="46" name="Text 32"/>
          <p:cNvSpPr txBox="1"/>
          <p:nvPr/>
        </p:nvSpPr>
        <p:spPr>
          <a:xfrm>
            <a:off x="9163050" y="2008436"/>
            <a:ext cx="2409825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spc="66" kern="0" dirty="0">
                <a:solidFill>
                  <a:srgbClr val="0F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CONTROLLED AUTOMATION</a:t>
            </a:r>
            <a:endParaRPr lang="en-US" sz="825" dirty="0"/>
          </a:p>
        </p:txBody>
      </p:sp>
      <p:sp>
        <p:nvSpPr>
          <p:cNvPr id="47" name="Text 33"/>
          <p:cNvSpPr txBox="1"/>
          <p:nvPr/>
        </p:nvSpPr>
        <p:spPr>
          <a:xfrm>
            <a:off x="9163050" y="2251323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863" dirty="0"/>
          </a:p>
        </p:txBody>
      </p:sp>
      <p:sp>
        <p:nvSpPr>
          <p:cNvPr id="48" name="Text 34"/>
          <p:cNvSpPr txBox="1"/>
          <p:nvPr/>
        </p:nvSpPr>
        <p:spPr>
          <a:xfrm>
            <a:off x="9344025" y="2251323"/>
            <a:ext cx="1653183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High confidence + stable elasticity</a:t>
            </a:r>
            <a:endParaRPr lang="en-US" sz="863" dirty="0"/>
          </a:p>
        </p:txBody>
      </p:sp>
      <p:sp>
        <p:nvSpPr>
          <p:cNvPr id="49" name="Text 35"/>
          <p:cNvSpPr txBox="1"/>
          <p:nvPr/>
        </p:nvSpPr>
        <p:spPr>
          <a:xfrm>
            <a:off x="9163050" y="2456259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863" dirty="0"/>
          </a:p>
        </p:txBody>
      </p:sp>
      <p:sp>
        <p:nvSpPr>
          <p:cNvPr id="50" name="Text 36"/>
          <p:cNvSpPr txBox="1"/>
          <p:nvPr/>
        </p:nvSpPr>
        <p:spPr>
          <a:xfrm>
            <a:off x="9344025" y="2456259"/>
            <a:ext cx="1406575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Fresh data, no rule violations</a:t>
            </a:r>
            <a:endParaRPr lang="en-US" sz="863" dirty="0"/>
          </a:p>
        </p:txBody>
      </p:sp>
      <p:sp>
        <p:nvSpPr>
          <p:cNvPr id="51" name="Text 37"/>
          <p:cNvSpPr txBox="1"/>
          <p:nvPr/>
        </p:nvSpPr>
        <p:spPr>
          <a:xfrm>
            <a:off x="9163050" y="2661196"/>
            <a:ext cx="11430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b="1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✓</a:t>
            </a:r>
            <a:endParaRPr lang="en-US" sz="863" dirty="0"/>
          </a:p>
        </p:txBody>
      </p:sp>
      <p:sp>
        <p:nvSpPr>
          <p:cNvPr id="52" name="Text 38"/>
          <p:cNvSpPr txBox="1"/>
          <p:nvPr/>
        </p:nvSpPr>
        <p:spPr>
          <a:xfrm>
            <a:off x="9344025" y="2661196"/>
            <a:ext cx="1976140" cy="13826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64"/>
              </a:lnSpc>
              <a:buNone/>
            </a:pPr>
            <a:r>
              <a:rPr lang="en-US" sz="863" dirty="0">
                <a:solidFill>
                  <a:srgbClr val="2F4542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Repeated buyer acceptance + pilot proof</a:t>
            </a:r>
            <a:endParaRPr lang="en-US" sz="863" dirty="0"/>
          </a:p>
        </p:txBody>
      </p:sp>
      <p:sp>
        <p:nvSpPr>
          <p:cNvPr id="53" name="Shape 39"/>
          <p:cNvSpPr/>
          <p:nvPr/>
        </p:nvSpPr>
        <p:spPr>
          <a:xfrm>
            <a:off x="457200" y="5981700"/>
            <a:ext cx="11277600" cy="533400"/>
          </a:xfrm>
          <a:prstGeom prst="roundRect">
            <a:avLst>
              <a:gd name="adj" fmla="val 21429"/>
            </a:avLst>
          </a:prstGeom>
          <a:solidFill>
            <a:srgbClr val="0E1E1C"/>
          </a:solidFill>
          <a:ln/>
        </p:spPr>
      </p:sp>
      <p:sp>
        <p:nvSpPr>
          <p:cNvPr id="54" name="Text 40"/>
          <p:cNvSpPr txBox="1"/>
          <p:nvPr/>
        </p:nvSpPr>
        <p:spPr>
          <a:xfrm>
            <a:off x="609600" y="6195120"/>
            <a:ext cx="172640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spc="60" kern="0" dirty="0">
                <a:solidFill>
                  <a:srgbClr val="7EDDD6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STRONGEST RECOMMENDATION</a:t>
            </a:r>
            <a:endParaRPr lang="en-US" sz="750" dirty="0"/>
          </a:p>
        </p:txBody>
      </p:sp>
      <p:sp>
        <p:nvSpPr>
          <p:cNvPr id="55" name="Text 41"/>
          <p:cNvSpPr txBox="1"/>
          <p:nvPr/>
        </p:nvSpPr>
        <p:spPr>
          <a:xfrm>
            <a:off x="2469356" y="6113264"/>
            <a:ext cx="9113044" cy="28753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8"/>
              </a:lnSpc>
              <a:buNone/>
            </a:pPr>
            <a:r>
              <a:rPr lang="en-US" sz="863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Databricks-based demand prediction + constrained optimization</a:t>
            </a:r>
            <a:pPr indent="0" marL="0">
              <a:buNone/>
            </a:pPr>
            <a:r>
              <a:rPr lang="en-US" sz="863" dirty="0">
                <a:solidFill>
                  <a:srgbClr val="C7DDD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fed by POS, effective cost, inventory, promo, competitor, published to portal for buyer approval and complete auditability. </a:t>
            </a:r>
            <a:pPr indent="0" marL="0">
              <a:buNone/>
            </a:pPr>
            <a:r>
              <a:rPr lang="en-US" sz="863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 one algorithm — trusted data + response model + optimizer + versioning + workflow + experimentation + monitoring.</a:t>
            </a:r>
            <a:endParaRPr lang="en-US" sz="86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481364" y="1394668"/>
            <a:ext cx="3229273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125"/>
              </a:lnSpc>
              <a:spcAft>
                <a:spcPts val="1500"/>
              </a:spcAft>
              <a:buNone/>
            </a:pPr>
            <a:r>
              <a:rPr lang="en-US" sz="750" b="1" spc="105" kern="0" dirty="0">
                <a:solidFill>
                  <a:srgbClr val="0A7C74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PRODUCTION READINESS • RETAIL PRICING PLATFORM</a:t>
            </a:r>
            <a:endParaRPr lang="en-US" sz="750" dirty="0"/>
          </a:p>
        </p:txBody>
      </p:sp>
      <p:sp>
        <p:nvSpPr>
          <p:cNvPr id="3" name="Text 1"/>
          <p:cNvSpPr txBox="1"/>
          <p:nvPr/>
        </p:nvSpPr>
        <p:spPr>
          <a:xfrm>
            <a:off x="2125266" y="1708993"/>
            <a:ext cx="7941320" cy="4274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366"/>
              </a:lnSpc>
              <a:spcAft>
                <a:spcPts val="1650"/>
              </a:spcAft>
              <a:buNone/>
            </a:pPr>
            <a:r>
              <a:rPr lang="en-US" sz="3300" b="1" spc="-99" kern="0" dirty="0">
                <a:solidFill>
                  <a:srgbClr val="0B1715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Technical centerpiece is not one algorithm</a:t>
            </a:r>
            <a:endParaRPr lang="en-US" sz="3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6764" y="2345978"/>
            <a:ext cx="899071" cy="31670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090589" y="2441228"/>
            <a:ext cx="651421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E34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Trusted data</a:t>
            </a:r>
            <a:endParaRPr lang="en-US" sz="863" dirty="0"/>
          </a:p>
        </p:txBody>
      </p:sp>
      <p:sp>
        <p:nvSpPr>
          <p:cNvPr id="6" name="Text 3"/>
          <p:cNvSpPr txBox="1"/>
          <p:nvPr/>
        </p:nvSpPr>
        <p:spPr>
          <a:xfrm>
            <a:off x="2942034" y="2437656"/>
            <a:ext cx="66824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AAFA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058" y="2345978"/>
            <a:ext cx="1197322" cy="31670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208883" y="2441228"/>
            <a:ext cx="949672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E34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Demand response</a:t>
            </a:r>
            <a:endParaRPr lang="en-US" sz="863" dirty="0"/>
          </a:p>
        </p:txBody>
      </p:sp>
      <p:sp>
        <p:nvSpPr>
          <p:cNvPr id="9" name="Text 5"/>
          <p:cNvSpPr txBox="1"/>
          <p:nvPr/>
        </p:nvSpPr>
        <p:spPr>
          <a:xfrm>
            <a:off x="4358580" y="2437656"/>
            <a:ext cx="66824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AAFA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1604" y="2345978"/>
            <a:ext cx="1404045" cy="31670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625429" y="2441228"/>
            <a:ext cx="1156395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E34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Constrained optimizer</a:t>
            </a:r>
            <a:endParaRPr lang="en-US" sz="863" dirty="0"/>
          </a:p>
        </p:txBody>
      </p:sp>
      <p:sp>
        <p:nvSpPr>
          <p:cNvPr id="12" name="Text 7"/>
          <p:cNvSpPr txBox="1"/>
          <p:nvPr/>
        </p:nvSpPr>
        <p:spPr>
          <a:xfrm>
            <a:off x="5981849" y="2437656"/>
            <a:ext cx="66824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AAFA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873" y="2345978"/>
            <a:ext cx="1349573" cy="31670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248698" y="2441228"/>
            <a:ext cx="1101923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E34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Version management</a:t>
            </a:r>
            <a:endParaRPr lang="en-US" sz="863" dirty="0"/>
          </a:p>
        </p:txBody>
      </p:sp>
      <p:sp>
        <p:nvSpPr>
          <p:cNvPr id="15" name="Text 9"/>
          <p:cNvSpPr txBox="1"/>
          <p:nvPr/>
        </p:nvSpPr>
        <p:spPr>
          <a:xfrm>
            <a:off x="7550646" y="2437656"/>
            <a:ext cx="66824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AAFA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670" y="2345978"/>
            <a:ext cx="1063377" cy="31670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7817495" y="2441228"/>
            <a:ext cx="815727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E34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 workflow</a:t>
            </a:r>
            <a:endParaRPr lang="en-US" sz="863" dirty="0"/>
          </a:p>
        </p:txBody>
      </p:sp>
      <p:sp>
        <p:nvSpPr>
          <p:cNvPr id="18" name="Text 11"/>
          <p:cNvSpPr txBox="1"/>
          <p:nvPr/>
        </p:nvSpPr>
        <p:spPr>
          <a:xfrm>
            <a:off x="8833247" y="2437656"/>
            <a:ext cx="66824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AAFA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271" y="2345978"/>
            <a:ext cx="1105942" cy="31670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100096" y="2441228"/>
            <a:ext cx="858292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E34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Experimentation</a:t>
            </a:r>
            <a:endParaRPr lang="en-US" sz="863" dirty="0"/>
          </a:p>
        </p:txBody>
      </p:sp>
      <p:sp>
        <p:nvSpPr>
          <p:cNvPr id="21" name="Text 13"/>
          <p:cNvSpPr txBox="1"/>
          <p:nvPr/>
        </p:nvSpPr>
        <p:spPr>
          <a:xfrm>
            <a:off x="10158413" y="2437656"/>
            <a:ext cx="66824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9AAFAA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+</a:t>
            </a:r>
            <a:endParaRPr lang="en-US" sz="9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8335" y="2738884"/>
            <a:ext cx="1215182" cy="316706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612160" y="2834134"/>
            <a:ext cx="967532" cy="1452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94"/>
              </a:lnSpc>
              <a:buNone/>
            </a:pPr>
            <a:r>
              <a:rPr lang="en-US" sz="863" b="1" dirty="0">
                <a:solidFill>
                  <a:srgbClr val="1E342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Monitoring &amp; audit</a:t>
            </a:r>
            <a:endParaRPr lang="en-US" sz="863" dirty="0"/>
          </a:p>
        </p:txBody>
      </p:sp>
      <p:sp>
        <p:nvSpPr>
          <p:cNvPr id="24" name="Shape 15"/>
          <p:cNvSpPr/>
          <p:nvPr/>
        </p:nvSpPr>
        <p:spPr>
          <a:xfrm>
            <a:off x="1981200" y="3305175"/>
            <a:ext cx="8229600" cy="885825"/>
          </a:xfrm>
          <a:prstGeom prst="roundRect">
            <a:avLst>
              <a:gd name="adj" fmla="val 17204"/>
            </a:avLst>
          </a:prstGeom>
          <a:solidFill>
            <a:srgbClr val="0E1E1C"/>
          </a:solidFill>
          <a:ln/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0750" y="3515320"/>
            <a:ext cx="457200" cy="45720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2361754" y="3639145"/>
            <a:ext cx="286196" cy="3333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◐</a:t>
            </a:r>
            <a:endParaRPr lang="en-US" sz="1500" dirty="0"/>
          </a:p>
        </p:txBody>
      </p:sp>
      <p:sp>
        <p:nvSpPr>
          <p:cNvPr id="27" name="Text 17"/>
          <p:cNvSpPr txBox="1"/>
          <p:nvPr/>
        </p:nvSpPr>
        <p:spPr>
          <a:xfrm>
            <a:off x="2819400" y="3484215"/>
            <a:ext cx="7181850" cy="52893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Build as human-in-the-loop Price Recommendation Platform</a:t>
            </a:r>
            <a:pPr indent="0" marL="0">
              <a:buNone/>
            </a:pPr>
            <a:r>
              <a:rPr lang="en-US" sz="975" dirty="0">
                <a:solidFill>
                  <a:srgbClr val="D6FFF9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, not fully automatic AI changes shelf prices. Matches retail operating model: recommendations at item-store level, buyer sees suggestion with reason &amp; confidence, can modify, retains final decision. All versions immutable &amp; auditable.</a:t>
            </a:r>
            <a:endParaRPr lang="en-US" sz="975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0750" y="4356050"/>
            <a:ext cx="2527250" cy="75947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2333625" y="4498925"/>
            <a:ext cx="22415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60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SUCCESS = ADOPTION</a:t>
            </a:r>
            <a:endParaRPr lang="en-US" sz="750" dirty="0"/>
          </a:p>
        </p:txBody>
      </p:sp>
      <p:sp>
        <p:nvSpPr>
          <p:cNvPr id="30" name="Text 19"/>
          <p:cNvSpPr txBox="1"/>
          <p:nvPr/>
        </p:nvSpPr>
        <p:spPr>
          <a:xfrm>
            <a:off x="2333625" y="4660850"/>
            <a:ext cx="2241500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Buyer acceptance + override learning</a:t>
            </a:r>
            <a:endParaRPr lang="en-US" sz="975" dirty="0"/>
          </a:p>
        </p:txBody>
      </p:sp>
      <p:sp>
        <p:nvSpPr>
          <p:cNvPr id="31" name="Text 20"/>
          <p:cNvSpPr txBox="1"/>
          <p:nvPr/>
        </p:nvSpPr>
        <p:spPr>
          <a:xfrm>
            <a:off x="2333625" y="4859834"/>
            <a:ext cx="2241500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If buyers don't trust, no impact</a:t>
            </a:r>
            <a:endParaRPr lang="en-US" sz="825" dirty="0"/>
          </a:p>
        </p:txBody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2300" y="4356050"/>
            <a:ext cx="2527250" cy="759470"/>
          </a:xfrm>
          <a:prstGeom prst="rect">
            <a:avLst/>
          </a:prstGeom>
        </p:spPr>
      </p:pic>
      <p:sp>
        <p:nvSpPr>
          <p:cNvPr id="33" name="Text 21"/>
          <p:cNvSpPr txBox="1"/>
          <p:nvPr/>
        </p:nvSpPr>
        <p:spPr>
          <a:xfrm>
            <a:off x="4975175" y="4498925"/>
            <a:ext cx="22415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60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SUCCESS = MARGIN</a:t>
            </a:r>
            <a:endParaRPr lang="en-US" sz="750" dirty="0"/>
          </a:p>
        </p:txBody>
      </p:sp>
      <p:sp>
        <p:nvSpPr>
          <p:cNvPr id="34" name="Text 22"/>
          <p:cNvSpPr txBox="1"/>
          <p:nvPr/>
        </p:nvSpPr>
        <p:spPr>
          <a:xfrm>
            <a:off x="4975175" y="4660850"/>
            <a:ext cx="2241500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Incremental gross margin &amp; revenue</a:t>
            </a:r>
            <a:endParaRPr lang="en-US" sz="975" dirty="0"/>
          </a:p>
        </p:txBody>
      </p:sp>
      <p:sp>
        <p:nvSpPr>
          <p:cNvPr id="35" name="Text 23"/>
          <p:cNvSpPr txBox="1"/>
          <p:nvPr/>
        </p:nvSpPr>
        <p:spPr>
          <a:xfrm>
            <a:off x="4975175" y="4859834"/>
            <a:ext cx="2241500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Measured via controlled pilot only</a:t>
            </a:r>
            <a:endParaRPr lang="en-US" sz="825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73851" y="4356050"/>
            <a:ext cx="2527399" cy="75947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7616726" y="4498925"/>
            <a:ext cx="224164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spcAft>
                <a:spcPts val="300"/>
              </a:spcAft>
              <a:buNone/>
            </a:pPr>
            <a:r>
              <a:rPr lang="en-US" sz="750" b="1" spc="60" kern="0" dirty="0">
                <a:solidFill>
                  <a:srgbClr val="6B8480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SUCCESS = MEASURABLE CAUSALITY</a:t>
            </a:r>
            <a:endParaRPr lang="en-US" sz="750" dirty="0"/>
          </a:p>
        </p:txBody>
      </p:sp>
      <p:sp>
        <p:nvSpPr>
          <p:cNvPr id="38" name="Text 25"/>
          <p:cNvSpPr txBox="1"/>
          <p:nvPr/>
        </p:nvSpPr>
        <p:spPr>
          <a:xfrm>
            <a:off x="7616726" y="4660850"/>
            <a:ext cx="2241649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0E1E1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Not offline sim uplift</a:t>
            </a:r>
            <a:endParaRPr lang="en-US" sz="975" dirty="0"/>
          </a:p>
        </p:txBody>
      </p:sp>
      <p:sp>
        <p:nvSpPr>
          <p:cNvPr id="39" name="Text 26"/>
          <p:cNvSpPr txBox="1"/>
          <p:nvPr/>
        </p:nvSpPr>
        <p:spPr>
          <a:xfrm>
            <a:off x="7616726" y="4859834"/>
            <a:ext cx="2241649" cy="1318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4"/>
              </a:lnSpc>
              <a:spcBef>
                <a:spcPts val="225"/>
              </a:spcBef>
              <a:buNone/>
            </a:pPr>
            <a:r>
              <a:rPr lang="en-US" sz="825" dirty="0">
                <a:solidFill>
                  <a:srgbClr val="5A6F6C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4-6 weeks pilot, matched clusters</a:t>
            </a:r>
            <a:endParaRPr lang="en-US" sz="825" dirty="0"/>
          </a:p>
        </p:txBody>
      </p:sp>
      <p:sp>
        <p:nvSpPr>
          <p:cNvPr id="40" name="Text 27"/>
          <p:cNvSpPr txBox="1"/>
          <p:nvPr/>
        </p:nvSpPr>
        <p:spPr>
          <a:xfrm>
            <a:off x="2115294" y="5344120"/>
            <a:ext cx="7961263" cy="1381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238"/>
              </a:lnSpc>
              <a:spcBef>
                <a:spcPts val="1650"/>
              </a:spcBef>
              <a:buNone/>
            </a:pPr>
            <a:r>
              <a:rPr lang="en-US" sz="825" spc="17" kern="0" dirty="0">
                <a:solidFill>
                  <a:srgbClr val="7A9491"/>
                </a:solidFill>
                <a:latin typeface="-apple-system" pitchFamily="34" charset="0"/>
                <a:ea typeface="-apple-system" pitchFamily="34" charset="-122"/>
                <a:cs typeface="-apple-system" pitchFamily="34" charset="-120"/>
              </a:rPr>
              <a:t>Databricks-based • Demand prediction + constrained optimization • Fed by POS, effective cost, inventory, promo, competitor • Portal approval • Complete auditability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Retail-Price-Recommendation-Platform-Production-Architecture</dc:title>
  <dc:subject>PptxGenJS Presentation</dc:subject>
  <dc:creator>PptxGenJS</dc:creator>
  <cp:lastModifiedBy>PptxGenJS</cp:lastModifiedBy>
  <cp:revision>1</cp:revision>
  <dcterms:created xsi:type="dcterms:W3CDTF">2026-10-12T10:59:55Z</dcterms:created>
  <dcterms:modified xsi:type="dcterms:W3CDTF">2026-10-12T10:59:55Z</dcterms:modified>
</cp:coreProperties>
</file>