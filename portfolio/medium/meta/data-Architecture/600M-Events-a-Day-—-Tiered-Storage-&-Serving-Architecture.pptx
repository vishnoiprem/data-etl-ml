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774257"/>
            <a:ext cx="8191500" cy="12693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b="1" spc="-9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600M Events a Day</a:t>
            </a:r>
            <a:pPr indent="0" marL="0">
              <a:buNone/>
            </a:pPr>
            <a:r>
              <a:rPr lang="en-US" sz="2700" b="1" spc="-27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Tiered storage &amp; serving from Kafka to four clocks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533400" y="6334125"/>
            <a:ext cx="609600" cy="19050"/>
          </a:xfrm>
          <a:prstGeom prst="rect">
            <a:avLst/>
          </a:prstGeom>
          <a:solidFill>
            <a:srgbClr val="1FB0B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295400" y="6262688"/>
            <a:ext cx="347022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spc="176" kern="0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LOG • FOUR SLAS • ZERO FULL SCANS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spcAft>
                <a:spcPts val="1350"/>
              </a:spcAft>
              <a:buNone/>
            </a:pPr>
            <a:r>
              <a:rPr lang="en-US" sz="3300" b="1" spc="-66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ask: one stream, four clocks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68586"/>
            <a:ext cx="3619500" cy="53322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2475" y="1297186"/>
            <a:ext cx="31813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MATH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752475" y="1540073"/>
            <a:ext cx="153352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6,944</a:t>
            </a:r>
            <a:endParaRPr lang="en-US" sz="1950" dirty="0"/>
          </a:p>
        </p:txBody>
      </p:sp>
      <p:sp>
        <p:nvSpPr>
          <p:cNvPr id="6" name="Text 3"/>
          <p:cNvSpPr txBox="1"/>
          <p:nvPr/>
        </p:nvSpPr>
        <p:spPr>
          <a:xfrm>
            <a:off x="752475" y="1835348"/>
            <a:ext cx="15335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eps</a:t>
            </a:r>
            <a:endParaRPr lang="en-US" sz="825" dirty="0"/>
          </a:p>
        </p:txBody>
      </p:sp>
      <p:sp>
        <p:nvSpPr>
          <p:cNvPr id="7" name="Text 4"/>
          <p:cNvSpPr txBox="1"/>
          <p:nvPr/>
        </p:nvSpPr>
        <p:spPr>
          <a:xfrm>
            <a:off x="2400300" y="1540073"/>
            <a:ext cx="153352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35K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2400300" y="1835348"/>
            <a:ext cx="15335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eps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135386"/>
            <a:ext cx="3181350" cy="7505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2475" y="2144911"/>
            <a:ext cx="16957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825" dirty="0"/>
          </a:p>
        </p:txBody>
      </p:sp>
      <p:sp>
        <p:nvSpPr>
          <p:cNvPr id="11" name="Text 7"/>
          <p:cNvSpPr txBox="1"/>
          <p:nvPr/>
        </p:nvSpPr>
        <p:spPr>
          <a:xfrm>
            <a:off x="752475" y="2340173"/>
            <a:ext cx="1695748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 — 1.2 TB / day raw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752475" y="2621161"/>
            <a:ext cx="169574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1.5KB Avro vs 3KB JSON, ZSTD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038326"/>
            <a:ext cx="3181350" cy="7505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2475" y="3047851"/>
            <a:ext cx="246712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825" dirty="0"/>
          </a:p>
        </p:txBody>
      </p:sp>
      <p:sp>
        <p:nvSpPr>
          <p:cNvPr id="15" name="Text 10"/>
          <p:cNvSpPr txBox="1"/>
          <p:nvPr/>
        </p:nvSpPr>
        <p:spPr>
          <a:xfrm>
            <a:off x="752475" y="3243114"/>
            <a:ext cx="2467124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years = 438 — 650 TB in S3 ZSTD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752475" y="3524101"/>
            <a:ext cx="2467124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2.6 PB in Kafka RF3 → 17x cost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41266"/>
            <a:ext cx="3181350" cy="7505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52475" y="3950791"/>
            <a:ext cx="211752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PARTITIONS</a:t>
            </a:r>
            <a:endParaRPr lang="en-US" sz="825" dirty="0"/>
          </a:p>
        </p:txBody>
      </p:sp>
      <p:sp>
        <p:nvSpPr>
          <p:cNvPr id="19" name="Text 13"/>
          <p:cNvSpPr txBox="1"/>
          <p:nvPr/>
        </p:nvSpPr>
        <p:spPr>
          <a:xfrm>
            <a:off x="752475" y="4146054"/>
            <a:ext cx="2117527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 partitions @ ~500 eps each</a:t>
            </a:r>
            <a:endParaRPr lang="en-US" sz="1125" dirty="0"/>
          </a:p>
        </p:txBody>
      </p:sp>
      <p:sp>
        <p:nvSpPr>
          <p:cNvPr id="20" name="Text 14"/>
          <p:cNvSpPr txBox="1"/>
          <p:nvPr/>
        </p:nvSpPr>
        <p:spPr>
          <a:xfrm>
            <a:off x="752475" y="4427041"/>
            <a:ext cx="2117527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key=user_id, acks=all, idempotent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958507"/>
            <a:ext cx="3181350" cy="81915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968032"/>
            <a:ext cx="3162300" cy="80010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1068586"/>
            <a:ext cx="3571875" cy="166776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391025" y="1078111"/>
            <a:ext cx="355282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4562475" y="1259086"/>
            <a:ext cx="32099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2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 • ONLINE</a:t>
            </a:r>
            <a:endParaRPr lang="en-US" sz="750" dirty="0"/>
          </a:p>
        </p:txBody>
      </p:sp>
      <p:sp>
        <p:nvSpPr>
          <p:cNvPr id="26" name="Text 17"/>
          <p:cNvSpPr txBox="1"/>
          <p:nvPr/>
        </p:nvSpPr>
        <p:spPr>
          <a:xfrm>
            <a:off x="4562475" y="1468636"/>
            <a:ext cx="3209925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activity in seconds</a:t>
            </a:r>
            <a:endParaRPr lang="en-US" sz="1275" dirty="0"/>
          </a:p>
        </p:txBody>
      </p:sp>
      <p:sp>
        <p:nvSpPr>
          <p:cNvPr id="27" name="Text 18"/>
          <p:cNvSpPr txBox="1"/>
          <p:nvPr/>
        </p:nvSpPr>
        <p:spPr>
          <a:xfrm>
            <a:off x="4940647" y="1782961"/>
            <a:ext cx="2831753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&lt;3s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Flink → ScyllaDB • p95 &lt;15ms</a:t>
            </a:r>
            <a:endParaRPr lang="en-US" sz="13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725" y="1068586"/>
            <a:ext cx="3571875" cy="166776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096250" y="1078111"/>
            <a:ext cx="355282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8267700" y="1259086"/>
            <a:ext cx="32099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2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• STREAM</a:t>
            </a:r>
            <a:endParaRPr lang="en-US" sz="750" dirty="0"/>
          </a:p>
        </p:txBody>
      </p:sp>
      <p:sp>
        <p:nvSpPr>
          <p:cNvPr id="31" name="Text 21"/>
          <p:cNvSpPr txBox="1"/>
          <p:nvPr/>
        </p:nvSpPr>
        <p:spPr>
          <a:xfrm>
            <a:off x="8267700" y="1468636"/>
            <a:ext cx="3209925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events in minutes</a:t>
            </a:r>
            <a:endParaRPr lang="en-US" sz="1275" dirty="0"/>
          </a:p>
        </p:txBody>
      </p:sp>
      <p:sp>
        <p:nvSpPr>
          <p:cNvPr id="32" name="Text 22"/>
          <p:cNvSpPr txBox="1"/>
          <p:nvPr/>
        </p:nvSpPr>
        <p:spPr>
          <a:xfrm>
            <a:off x="8709571" y="1782961"/>
            <a:ext cx="2768054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&lt;2m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Filter 5% • 5-min window</a:t>
            </a:r>
            <a:endParaRPr lang="en-US" sz="13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2869704"/>
            <a:ext cx="3571875" cy="1667917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391025" y="2879229"/>
            <a:ext cx="355282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5" name="Text 24"/>
          <p:cNvSpPr txBox="1"/>
          <p:nvPr/>
        </p:nvSpPr>
        <p:spPr>
          <a:xfrm>
            <a:off x="4562475" y="3060204"/>
            <a:ext cx="32099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2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• LAKEHOUSE</a:t>
            </a:r>
            <a:endParaRPr lang="en-US" sz="750" dirty="0"/>
          </a:p>
        </p:txBody>
      </p:sp>
      <p:sp>
        <p:nvSpPr>
          <p:cNvPr id="36" name="Text 25"/>
          <p:cNvSpPr txBox="1"/>
          <p:nvPr/>
        </p:nvSpPr>
        <p:spPr>
          <a:xfrm>
            <a:off x="4562475" y="3269754"/>
            <a:ext cx="3209925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accept 15 min lag</a:t>
            </a:r>
            <a:endParaRPr lang="en-US" sz="1275" dirty="0"/>
          </a:p>
        </p:txBody>
      </p:sp>
      <p:sp>
        <p:nvSpPr>
          <p:cNvPr id="37" name="Text 26"/>
          <p:cNvSpPr txBox="1"/>
          <p:nvPr/>
        </p:nvSpPr>
        <p:spPr>
          <a:xfrm>
            <a:off x="4968478" y="3584079"/>
            <a:ext cx="2803922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15m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StarRocks on Gold • was scanning 2y</a:t>
            </a:r>
            <a:endParaRPr lang="en-US" sz="13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6725" y="2869704"/>
            <a:ext cx="3571875" cy="1667917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096250" y="2879229"/>
            <a:ext cx="355282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40" name="Text 28"/>
          <p:cNvSpPr txBox="1"/>
          <p:nvPr/>
        </p:nvSpPr>
        <p:spPr>
          <a:xfrm>
            <a:off x="8267700" y="3060204"/>
            <a:ext cx="32099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2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• BATCH</a:t>
            </a:r>
            <a:endParaRPr lang="en-US" sz="750" dirty="0"/>
          </a:p>
        </p:txBody>
      </p:sp>
      <p:sp>
        <p:nvSpPr>
          <p:cNvPr id="41" name="Text 29"/>
          <p:cNvSpPr txBox="1"/>
          <p:nvPr/>
        </p:nvSpPr>
        <p:spPr>
          <a:xfrm>
            <a:off x="8267700" y="3269754"/>
            <a:ext cx="3209925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Next-day features T+1</a:t>
            </a:r>
            <a:endParaRPr lang="en-US" sz="1275" dirty="0"/>
          </a:p>
        </p:txBody>
      </p:sp>
      <p:sp>
        <p:nvSpPr>
          <p:cNvPr id="42" name="Text 30"/>
          <p:cNvSpPr txBox="1"/>
          <p:nvPr/>
        </p:nvSpPr>
        <p:spPr>
          <a:xfrm>
            <a:off x="8621018" y="3584079"/>
            <a:ext cx="2856607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T+1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Iceberg time-travel • Feast offline</a:t>
            </a:r>
            <a:endParaRPr lang="en-US" sz="13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4670971"/>
            <a:ext cx="7277100" cy="1729829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391025" y="4680496"/>
            <a:ext cx="7258050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45" name="Text 32"/>
          <p:cNvSpPr txBox="1"/>
          <p:nvPr/>
        </p:nvSpPr>
        <p:spPr>
          <a:xfrm>
            <a:off x="4562475" y="5176242"/>
            <a:ext cx="5924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20" kern="0" dirty="0">
                <a:solidFill>
                  <a:srgbClr val="EF8888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• DELETION STAGE</a:t>
            </a:r>
            <a:endParaRPr lang="en-US" sz="750" dirty="0"/>
          </a:p>
        </p:txBody>
      </p:sp>
      <p:sp>
        <p:nvSpPr>
          <p:cNvPr id="46" name="Text 33"/>
          <p:cNvSpPr txBox="1"/>
          <p:nvPr/>
        </p:nvSpPr>
        <p:spPr>
          <a:xfrm>
            <a:off x="4562475" y="5385792"/>
            <a:ext cx="5924550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Right-to-erasure fans out to every store</a:t>
            </a:r>
            <a:endParaRPr lang="en-US" sz="1275" dirty="0"/>
          </a:p>
        </p:txBody>
      </p:sp>
      <p:sp>
        <p:nvSpPr>
          <p:cNvPr id="47" name="Text 34"/>
          <p:cNvSpPr txBox="1"/>
          <p:nvPr/>
        </p:nvSpPr>
        <p:spPr>
          <a:xfrm>
            <a:off x="4930378" y="5700117"/>
            <a:ext cx="5556647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EF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&lt;1h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online, </a:t>
            </a:r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&lt;24h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lake • crypto-shred + equality deletes</a:t>
            </a:r>
            <a:endParaRPr lang="en-US" sz="13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77525" y="5135761"/>
            <a:ext cx="8001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Anti-pattern: Kafka as database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47750"/>
            <a:ext cx="5972175" cy="53530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2925" y="1057275"/>
            <a:ext cx="595312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266825"/>
            <a:ext cx="1875830" cy="2762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7250" y="1343025"/>
            <a:ext cx="16662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FF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• 2YR RF3 IN KAFKA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676400"/>
            <a:ext cx="5534025" cy="61138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52475" y="1819275"/>
            <a:ext cx="1143000" cy="3446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3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2009775" y="1800225"/>
            <a:ext cx="4276725" cy="3637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 PB in Kafka (1.2 TB × 730 × 3) = $260k/mo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650 TB S3 ZSTD = $15k/mo → 94% more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421136"/>
            <a:ext cx="5534025" cy="61138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52475" y="2564011"/>
            <a:ext cx="1143000" cy="3446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3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</a:t>
            </a:r>
            <a:endParaRPr lang="en-US" sz="825" dirty="0"/>
          </a:p>
        </p:txBody>
      </p:sp>
      <p:sp>
        <p:nvSpPr>
          <p:cNvPr id="12" name="Text 6"/>
          <p:cNvSpPr txBox="1"/>
          <p:nvPr/>
        </p:nvSpPr>
        <p:spPr>
          <a:xfrm>
            <a:off x="2009775" y="2544961"/>
            <a:ext cx="4276725" cy="3637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partition pruning, no predicate pushdown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event_date='2026-10-01' scans full 2 years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165872"/>
            <a:ext cx="5534025" cy="61138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52475" y="3308747"/>
            <a:ext cx="1143000" cy="3446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3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</a:t>
            </a:r>
            <a:endParaRPr lang="en-US" sz="825" dirty="0"/>
          </a:p>
        </p:txBody>
      </p:sp>
      <p:sp>
        <p:nvSpPr>
          <p:cNvPr id="15" name="Text 8"/>
          <p:cNvSpPr txBox="1"/>
          <p:nvPr/>
        </p:nvSpPr>
        <p:spPr>
          <a:xfrm>
            <a:off x="2009775" y="3289697"/>
            <a:ext cx="4276725" cy="3637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deletion by key impossible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Tombstones don't remove data, compacted topics leak PII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910608"/>
            <a:ext cx="5534025" cy="61138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52475" y="4053483"/>
            <a:ext cx="1143000" cy="3446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3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</a:t>
            </a:r>
            <a:endParaRPr lang="en-US" sz="825" dirty="0"/>
          </a:p>
        </p:txBody>
      </p:sp>
      <p:sp>
        <p:nvSpPr>
          <p:cNvPr id="18" name="Text 10"/>
          <p:cNvSpPr txBox="1"/>
          <p:nvPr/>
        </p:nvSpPr>
        <p:spPr>
          <a:xfrm>
            <a:off x="2009775" y="4034433"/>
            <a:ext cx="4276725" cy="3637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hot + Tiered Storage is the fix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= transport, S3 = truth • replay from Bronze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655344"/>
            <a:ext cx="5534025" cy="93345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95350" y="4788694"/>
            <a:ext cx="5248275" cy="6762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retention.ms=7d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confluent.tier.enable=true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local.retention.ms=604800000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remote.storage.enable=true</a:t>
            </a:r>
            <a:endParaRPr lang="en-US" sz="9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275" y="1047750"/>
            <a:ext cx="4886325" cy="3800475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1057275"/>
            <a:ext cx="4867275" cy="3781425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2275" y="4981575"/>
            <a:ext cx="4886325" cy="1419225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0" y="5143500"/>
            <a:ext cx="2202656" cy="276225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7058025" y="5219700"/>
            <a:ext cx="199310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7BE1E8"/>
                </a:solidFill>
                <a:highlight>
                  <a:srgbClr val="1EAFB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AFTER • 7-DAY HOT + S3 ICEBERG</a:t>
            </a:r>
            <a:endParaRPr lang="en-US" sz="750" dirty="0"/>
          </a:p>
        </p:txBody>
      </p:sp>
      <p:sp>
        <p:nvSpPr>
          <p:cNvPr id="26" name="Text 13"/>
          <p:cNvSpPr txBox="1"/>
          <p:nvPr/>
        </p:nvSpPr>
        <p:spPr>
          <a:xfrm>
            <a:off x="6953250" y="5505450"/>
            <a:ext cx="4524375" cy="733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keeps </a:t>
            </a:r>
            <a:pPr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days hot locally</a:t>
            </a:r>
            <a:pPr indent="0" marL="0">
              <a:buNone/>
            </a:pPr>
            <a:r>
              <a:rPr lang="en-US" sz="975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tiered to S3 via KIP-405. Flink S3 sink builds Bronze. Iceberg Silver gives </a:t>
            </a:r>
            <a:pPr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days(event_time) hidden partitioning</a:t>
            </a:r>
            <a:pPr indent="0" marL="0">
              <a:buNone/>
            </a:pPr>
            <a:r>
              <a:rPr lang="en-US" sz="975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Parquet stats.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650TB → 50GB scanned, 3-5 sec Athena.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principles for 600M / day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85850"/>
            <a:ext cx="3606701" cy="35623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2925" y="1095375"/>
            <a:ext cx="3587648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1095375" y="1354931"/>
            <a:ext cx="2844701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137" kern="0" dirty="0">
                <a:solidFill>
                  <a:srgbClr val="1FB0BC"/>
                </a:solidFill>
                <a:highlight>
                  <a:srgbClr val="20B2B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indent="0" marL="0">
              <a:buNone/>
            </a:pPr>
            <a:r>
              <a:rPr lang="en-US" sz="975" b="1" spc="137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TIER EVERYTHING</a:t>
            </a:r>
            <a:endParaRPr lang="en-US" sz="975" dirty="0"/>
          </a:p>
        </p:txBody>
      </p:sp>
      <p:sp>
        <p:nvSpPr>
          <p:cNvPr id="6" name="Text 3"/>
          <p:cNvSpPr txBox="1"/>
          <p:nvPr/>
        </p:nvSpPr>
        <p:spPr>
          <a:xfrm>
            <a:off x="733425" y="1704975"/>
            <a:ext cx="3206651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→ Warm → Cold, not hot forever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3425" y="2276475"/>
            <a:ext cx="3206651" cy="3667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holds 7 days hot, tiered to S3 after. S3 is truth. Small files die by compaction.</a:t>
            </a:r>
            <a:endParaRPr lang="en-US" sz="1013" dirty="0"/>
          </a:p>
        </p:txBody>
      </p:sp>
      <p:sp>
        <p:nvSpPr>
          <p:cNvPr id="8" name="Text 5"/>
          <p:cNvSpPr txBox="1"/>
          <p:nvPr/>
        </p:nvSpPr>
        <p:spPr>
          <a:xfrm>
            <a:off x="928688" y="2843213"/>
            <a:ext cx="301138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7d local + Tiered S3 remote 2y</a:t>
            </a:r>
            <a:endParaRPr lang="en-US" sz="938" dirty="0"/>
          </a:p>
        </p:txBody>
      </p:sp>
      <p:sp>
        <p:nvSpPr>
          <p:cNvPr id="9" name="Text 6"/>
          <p:cNvSpPr txBox="1"/>
          <p:nvPr/>
        </p:nvSpPr>
        <p:spPr>
          <a:xfrm>
            <a:off x="928688" y="3086100"/>
            <a:ext cx="301138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raw 128MB / Silver 512MB Parquet ZSTD</a:t>
            </a:r>
            <a:endParaRPr lang="en-US" sz="938" dirty="0"/>
          </a:p>
        </p:txBody>
      </p:sp>
      <p:sp>
        <p:nvSpPr>
          <p:cNvPr id="10" name="Text 7"/>
          <p:cNvSpPr txBox="1"/>
          <p:nvPr/>
        </p:nvSpPr>
        <p:spPr>
          <a:xfrm>
            <a:off x="928688" y="3328988"/>
            <a:ext cx="301138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 pruning = skip 99.99%</a:t>
            </a:r>
            <a:endParaRPr lang="en-US" sz="938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501" y="1085850"/>
            <a:ext cx="3606850" cy="35623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02026" y="1095375"/>
            <a:ext cx="3587801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854476" y="1354931"/>
            <a:ext cx="2844850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137" kern="0" dirty="0">
                <a:solidFill>
                  <a:srgbClr val="4478B9"/>
                </a:solidFill>
                <a:highlight>
                  <a:srgbClr val="4476B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indent="0" marL="0">
              <a:buNone/>
            </a:pPr>
            <a:r>
              <a:rPr lang="en-US" sz="975" b="1" spc="137" kern="0" dirty="0">
                <a:solidFill>
                  <a:srgbClr val="4478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SEPARATE SPEED &amp; TRUTH</a:t>
            </a:r>
            <a:endParaRPr lang="en-US" sz="975" dirty="0"/>
          </a:p>
        </p:txBody>
      </p:sp>
      <p:sp>
        <p:nvSpPr>
          <p:cNvPr id="14" name="Text 10"/>
          <p:cNvSpPr txBox="1"/>
          <p:nvPr/>
        </p:nvSpPr>
        <p:spPr>
          <a:xfrm>
            <a:off x="4492526" y="1704975"/>
            <a:ext cx="3206800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Flink for seconds, lakehouse for 15 min / T+1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92526" y="2276475"/>
            <a:ext cx="3206800" cy="3667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store can do p95 10ms and scan 650 TB. Split the clocks.</a:t>
            </a:r>
            <a:endParaRPr lang="en-US" sz="1013" dirty="0"/>
          </a:p>
        </p:txBody>
      </p:sp>
      <p:sp>
        <p:nvSpPr>
          <p:cNvPr id="16" name="Text 12"/>
          <p:cNvSpPr txBox="1"/>
          <p:nvPr/>
        </p:nvSpPr>
        <p:spPr>
          <a:xfrm>
            <a:off x="4687788" y="2843213"/>
            <a:ext cx="3011537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Speed: ScyllaDB / Cassandra upsert</a:t>
            </a:r>
            <a:endParaRPr lang="en-US" sz="938" dirty="0"/>
          </a:p>
        </p:txBody>
      </p:sp>
      <p:sp>
        <p:nvSpPr>
          <p:cNvPr id="17" name="Text 13"/>
          <p:cNvSpPr txBox="1"/>
          <p:nvPr/>
        </p:nvSpPr>
        <p:spPr>
          <a:xfrm>
            <a:off x="4687788" y="3086100"/>
            <a:ext cx="3011537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Truth: Iceberg Silver days(event_time)</a:t>
            </a:r>
            <a:endParaRPr lang="en-US" sz="938" dirty="0"/>
          </a:p>
        </p:txBody>
      </p:sp>
      <p:sp>
        <p:nvSpPr>
          <p:cNvPr id="18" name="Text 14"/>
          <p:cNvSpPr txBox="1"/>
          <p:nvPr/>
        </p:nvSpPr>
        <p:spPr>
          <a:xfrm>
            <a:off x="4687788" y="3328988"/>
            <a:ext cx="3011537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Serving: StarRocks Gold 15m dbt</a:t>
            </a:r>
            <a:endParaRPr lang="en-US" sz="938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750" y="1085850"/>
            <a:ext cx="3606701" cy="356235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61275" y="1095375"/>
            <a:ext cx="3587648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613725" y="1354931"/>
            <a:ext cx="2844701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137" kern="0" dirty="0">
                <a:solidFill>
                  <a:srgbClr val="E8A317"/>
                </a:solidFill>
                <a:highlight>
                  <a:srgbClr val="E8A41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indent="0" marL="0">
              <a:buNone/>
            </a:pPr>
            <a:r>
              <a:rPr lang="en-US" sz="975" b="1" spc="137" kern="0" dirty="0">
                <a:solidFill>
                  <a:srgbClr val="E8A3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ERASURE BY DESIGN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8251775" y="1704975"/>
            <a:ext cx="3206651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Deletion is a stream, not a script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251775" y="2066925"/>
            <a:ext cx="3206651" cy="3667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Per-user DEK encrypted PII + equality deletes. One request fans out everywhere.</a:t>
            </a:r>
            <a:endParaRPr lang="en-US" sz="1013" dirty="0"/>
          </a:p>
        </p:txBody>
      </p:sp>
      <p:sp>
        <p:nvSpPr>
          <p:cNvPr id="24" name="Text 19"/>
          <p:cNvSpPr txBox="1"/>
          <p:nvPr/>
        </p:nvSpPr>
        <p:spPr>
          <a:xfrm>
            <a:off x="8447038" y="2633663"/>
            <a:ext cx="301138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topic user_deletion_requests</a:t>
            </a:r>
            <a:endParaRPr lang="en-US" sz="938" dirty="0"/>
          </a:p>
        </p:txBody>
      </p:sp>
      <p:sp>
        <p:nvSpPr>
          <p:cNvPr id="25" name="Text 20"/>
          <p:cNvSpPr txBox="1"/>
          <p:nvPr/>
        </p:nvSpPr>
        <p:spPr>
          <a:xfrm>
            <a:off x="8447038" y="2876550"/>
            <a:ext cx="301138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equality delete files, merge at read</a:t>
            </a:r>
            <a:endParaRPr lang="en-US" sz="938" dirty="0"/>
          </a:p>
        </p:txBody>
      </p:sp>
      <p:sp>
        <p:nvSpPr>
          <p:cNvPr id="26" name="Text 21"/>
          <p:cNvSpPr txBox="1"/>
          <p:nvPr/>
        </p:nvSpPr>
        <p:spPr>
          <a:xfrm>
            <a:off x="8447038" y="3119438"/>
            <a:ext cx="301138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KMS shred: instant unreadable</a:t>
            </a:r>
            <a:endParaRPr lang="en-US" sz="938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00600"/>
            <a:ext cx="11125051" cy="160020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5472113"/>
            <a:ext cx="599182" cy="25717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8675" y="5538788"/>
            <a:ext cx="4086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12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750" dirty="0"/>
          </a:p>
        </p:txBody>
      </p:sp>
      <p:sp>
        <p:nvSpPr>
          <p:cNvPr id="30" name="Text 23"/>
          <p:cNvSpPr txBox="1"/>
          <p:nvPr/>
        </p:nvSpPr>
        <p:spPr>
          <a:xfrm>
            <a:off x="1465957" y="5424488"/>
            <a:ext cx="6439644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Avro + Schema Registry + ZSTD = 60% smaller than JSON</a:t>
            </a:r>
            <a:pPr indent="0" marL="0">
              <a:buNone/>
            </a:pPr>
            <a:r>
              <a:rPr lang="en-US" sz="975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3KB → 1.5KB, 0.9TB/day not 1.8TB, faster SerDe, evolution safe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8077051" y="5462588"/>
            <a:ext cx="3381375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BD7E6">
                    <a:alpha val="6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event_id uuid / user_id str / type enum / pii_encrypted bytes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81000"/>
            <a:ext cx="303401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flow</a:t>
            </a:r>
            <a:endParaRPr lang="en-US" sz="3150" dirty="0"/>
          </a:p>
        </p:txBody>
      </p:sp>
      <p:sp>
        <p:nvSpPr>
          <p:cNvPr id="3" name="Text 1"/>
          <p:cNvSpPr txBox="1"/>
          <p:nvPr/>
        </p:nvSpPr>
        <p:spPr>
          <a:xfrm>
            <a:off x="7413575" y="604838"/>
            <a:ext cx="424502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log → four clocks + deletion stream • 72 partitions keyed by user_id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7239000" y="6572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FB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14400"/>
            <a:ext cx="7924800" cy="58199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4375" y="1047750"/>
            <a:ext cx="437658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→ S3 BRONZE → ICEBERG SILVER → SERVING • TIERED 7D HOT + S3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546205" y="1047750"/>
            <a:ext cx="173102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1FB0B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EXACTLY-ONCE FLINK → S3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57225" y="1276350"/>
            <a:ext cx="767715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52550"/>
            <a:ext cx="7524750" cy="5181749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914400"/>
            <a:ext cx="3048000" cy="11694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20125" y="923925"/>
            <a:ext cx="28575" cy="115043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8753475" y="1047750"/>
            <a:ext cx="276225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1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A • PERSONALIZATION &lt;3S</a:t>
            </a:r>
            <a:endParaRPr lang="en-US" sz="675" dirty="0"/>
          </a:p>
        </p:txBody>
      </p:sp>
      <p:sp>
        <p:nvSpPr>
          <p:cNvPr id="13" name="Text 8"/>
          <p:cNvSpPr txBox="1"/>
          <p:nvPr/>
        </p:nvSpPr>
        <p:spPr>
          <a:xfrm>
            <a:off x="8753475" y="1204913"/>
            <a:ext cx="27622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ScyllaDB online feature store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753475" y="1404938"/>
            <a:ext cx="2762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→ Flink keyBy(user_id) RocksDB last 20 → upsert user_activity</a:t>
            </a:r>
            <a:endParaRPr lang="en-US" sz="82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475" y="1755279"/>
            <a:ext cx="323255" cy="2047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0150" y="1802904"/>
            <a:ext cx="18990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CC0C9"/>
                </a:solidFill>
                <a:highlight>
                  <a:srgbClr val="21B1B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Flink</a:t>
            </a:r>
            <a:endParaRPr lang="en-US" sz="6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880" y="1755279"/>
            <a:ext cx="905917" cy="20478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200555" y="1802904"/>
            <a:ext cx="772567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CC0C9"/>
                </a:solidFill>
                <a:highlight>
                  <a:srgbClr val="21B1B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ScyllaDB p95 10ms</a:t>
            </a:r>
            <a:endParaRPr lang="en-US" sz="6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2179141"/>
            <a:ext cx="3048000" cy="116949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20125" y="2188666"/>
            <a:ext cx="28575" cy="115043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1" name="Text 13"/>
          <p:cNvSpPr txBox="1"/>
          <p:nvPr/>
        </p:nvSpPr>
        <p:spPr>
          <a:xfrm>
            <a:off x="8753475" y="2312491"/>
            <a:ext cx="276225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1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B • FRAUD &lt;2MIN</a:t>
            </a:r>
            <a:endParaRPr lang="en-US" sz="675" dirty="0"/>
          </a:p>
        </p:txBody>
      </p:sp>
      <p:sp>
        <p:nvSpPr>
          <p:cNvPr id="22" name="Text 14"/>
          <p:cNvSpPr txBox="1"/>
          <p:nvPr/>
        </p:nvSpPr>
        <p:spPr>
          <a:xfrm>
            <a:off x="8753475" y="2469654"/>
            <a:ext cx="27622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Filtered purchase stream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8753475" y="2669679"/>
            <a:ext cx="2762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type='purchase' ~30M/day • velocity check • alert</a:t>
            </a:r>
            <a:endParaRPr lang="en-US" sz="825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475" y="3020020"/>
            <a:ext cx="531316" cy="20478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820150" y="3067645"/>
            <a:ext cx="397966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EDB545"/>
                </a:solidFill>
                <a:highlight>
                  <a:srgbClr val="E9A11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Flink filter</a:t>
            </a:r>
            <a:endParaRPr lang="en-US" sz="675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1941" y="3020020"/>
            <a:ext cx="790575" cy="20478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408616" y="3067645"/>
            <a:ext cx="65722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EDB545"/>
                </a:solidFill>
                <a:highlight>
                  <a:srgbClr val="E9A11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Cassandra audit</a:t>
            </a:r>
            <a:endParaRPr lang="en-US" sz="675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3443883"/>
            <a:ext cx="3048000" cy="1169491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620125" y="3453408"/>
            <a:ext cx="28575" cy="115043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0" name="Text 19"/>
          <p:cNvSpPr txBox="1"/>
          <p:nvPr/>
        </p:nvSpPr>
        <p:spPr>
          <a:xfrm>
            <a:off x="8753475" y="3577233"/>
            <a:ext cx="276225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1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C • ANALYTICS 15M</a:t>
            </a:r>
            <a:endParaRPr lang="en-US" sz="675" dirty="0"/>
          </a:p>
        </p:txBody>
      </p:sp>
      <p:sp>
        <p:nvSpPr>
          <p:cNvPr id="31" name="Text 20"/>
          <p:cNvSpPr txBox="1"/>
          <p:nvPr/>
        </p:nvSpPr>
        <p:spPr>
          <a:xfrm>
            <a:off x="8753475" y="3734395"/>
            <a:ext cx="27622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Silver + StarRocks Gold</a:t>
            </a:r>
            <a:endParaRPr lang="en-US" sz="1050" dirty="0"/>
          </a:p>
        </p:txBody>
      </p:sp>
      <p:sp>
        <p:nvSpPr>
          <p:cNvPr id="32" name="Text 21"/>
          <p:cNvSpPr txBox="1"/>
          <p:nvPr/>
        </p:nvSpPr>
        <p:spPr>
          <a:xfrm>
            <a:off x="8753475" y="3934420"/>
            <a:ext cx="2762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Bronze 60s rolling → days(event_time) → Gold aggregates 15min dbt</a:t>
            </a:r>
            <a:endParaRPr lang="en-US" sz="825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3475" y="4284762"/>
            <a:ext cx="993874" cy="204788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820150" y="4332387"/>
            <a:ext cx="860524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A289F1"/>
                </a:solidFill>
                <a:highlight>
                  <a:srgbClr val="8B69E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Parquet ZSTD 512MB</a:t>
            </a:r>
            <a:endParaRPr lang="en-US" sz="675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4499" y="4284762"/>
            <a:ext cx="545157" cy="20478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871174" y="4332387"/>
            <a:ext cx="411807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A289F1"/>
                </a:solidFill>
                <a:highlight>
                  <a:srgbClr val="8B69E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StarRocks</a:t>
            </a:r>
            <a:endParaRPr lang="en-US" sz="675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600" y="4708624"/>
            <a:ext cx="3048000" cy="1169491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620125" y="4718149"/>
            <a:ext cx="28575" cy="115043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9" name="Text 25"/>
          <p:cNvSpPr txBox="1"/>
          <p:nvPr/>
        </p:nvSpPr>
        <p:spPr>
          <a:xfrm>
            <a:off x="8753475" y="4841974"/>
            <a:ext cx="276225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1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D • TRAINING T+1</a:t>
            </a:r>
            <a:endParaRPr lang="en-US" sz="675" dirty="0"/>
          </a:p>
        </p:txBody>
      </p:sp>
      <p:sp>
        <p:nvSpPr>
          <p:cNvPr id="40" name="Text 26"/>
          <p:cNvSpPr txBox="1"/>
          <p:nvPr/>
        </p:nvSpPr>
        <p:spPr>
          <a:xfrm>
            <a:off x="8753475" y="4999137"/>
            <a:ext cx="27622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snapshot → Feast offline</a:t>
            </a:r>
            <a:endParaRPr lang="en-US" sz="1050" dirty="0"/>
          </a:p>
        </p:txBody>
      </p:sp>
      <p:sp>
        <p:nvSpPr>
          <p:cNvPr id="41" name="Text 27"/>
          <p:cNvSpPr txBox="1"/>
          <p:nvPr/>
        </p:nvSpPr>
        <p:spPr>
          <a:xfrm>
            <a:off x="8753475" y="5199162"/>
            <a:ext cx="2762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TIMESTAMP AS OF T-1 → offline store → Spark train</a:t>
            </a:r>
            <a:endParaRPr lang="en-US" sz="825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3475" y="5549503"/>
            <a:ext cx="583109" cy="204788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820150" y="5597128"/>
            <a:ext cx="449759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8D6A7"/>
                </a:solidFill>
                <a:highlight>
                  <a:srgbClr val="2CCD9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Time travel</a:t>
            </a:r>
            <a:endParaRPr lang="en-US" sz="675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3734" y="5549503"/>
            <a:ext cx="352871" cy="204788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9460409" y="5597128"/>
            <a:ext cx="219521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8D6A7"/>
                </a:solidFill>
                <a:highlight>
                  <a:srgbClr val="2CCD9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Feast</a:t>
            </a:r>
            <a:endParaRPr lang="en-US" sz="675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0600" y="5973366"/>
            <a:ext cx="3048000" cy="760958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8620125" y="5982891"/>
            <a:ext cx="28575" cy="7419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48" name="Text 31"/>
          <p:cNvSpPr txBox="1"/>
          <p:nvPr/>
        </p:nvSpPr>
        <p:spPr>
          <a:xfrm>
            <a:off x="8753475" y="6106716"/>
            <a:ext cx="276225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150"/>
              </a:spcAft>
              <a:buNone/>
            </a:pPr>
            <a:r>
              <a:rPr lang="en-US" sz="675" spc="95" kern="0" dirty="0">
                <a:solidFill>
                  <a:srgbClr val="FF9A9A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DELETION ORCHESTRATOR</a:t>
            </a:r>
            <a:endParaRPr lang="en-US" sz="675" dirty="0"/>
          </a:p>
        </p:txBody>
      </p:sp>
      <p:sp>
        <p:nvSpPr>
          <p:cNvPr id="49" name="Text 32"/>
          <p:cNvSpPr txBox="1"/>
          <p:nvPr/>
        </p:nvSpPr>
        <p:spPr>
          <a:xfrm>
            <a:off x="8753475" y="6263878"/>
            <a:ext cx="27622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Equality deletes + KMS crypto-shred</a:t>
            </a:r>
            <a:endParaRPr lang="en-US" sz="1050" dirty="0"/>
          </a:p>
        </p:txBody>
      </p:sp>
      <p:sp>
        <p:nvSpPr>
          <p:cNvPr id="50" name="Text 33"/>
          <p:cNvSpPr txBox="1"/>
          <p:nvPr/>
        </p:nvSpPr>
        <p:spPr>
          <a:xfrm>
            <a:off x="8753475" y="6463903"/>
            <a:ext cx="2762250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user_deletion_requests topic fans out to all 5 stores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28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Kafka as shock absorber </a:t>
            </a:r>
            <a:pPr indent="0" marL="0">
              <a:buNone/>
            </a:pPr>
            <a:r>
              <a:rPr lang="en-US" sz="3300" b="1" spc="-66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72 partitions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95375"/>
            <a:ext cx="6319986" cy="8733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5325" y="12382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21B1BC">
              <a:alpha val="1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6775" y="140970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1152525" y="1257300"/>
            <a:ext cx="553893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Cluster: MSK / Confluent, 3 AZ, r6g.xlarge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152525" y="1476375"/>
            <a:ext cx="5538936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225"/>
              </a:spcBef>
              <a:buNone/>
            </a:pPr>
            <a:r>
              <a:rPr lang="en-US" sz="97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 partitions keyed by user_id % 72, acks=all, idempotent, compression.type=zstd. 35K eps peak is trivial — 500 eps per partition.</a:t>
            </a:r>
            <a:endParaRPr lang="en-US" sz="97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02048"/>
            <a:ext cx="6319986" cy="87332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5325" y="22479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21B1BC">
              <a:alpha val="18000"/>
            </a:srgb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6775" y="24193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1152525" y="2263973"/>
            <a:ext cx="553893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Schema: Avro + Registry + field-level encryption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152525" y="2483048"/>
            <a:ext cx="5538936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225"/>
              </a:spcBef>
              <a:buNone/>
            </a:pPr>
            <a:r>
              <a:rPr lang="en-US" sz="97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Per-user DEK, KEK in KMS. pii_encrypted bytes. Envelope keeps GDPR shred instant. 1.5KB vs 3KB JSON = 60% smaller.</a:t>
            </a:r>
            <a:endParaRPr lang="en-US" sz="97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108722"/>
            <a:ext cx="6319986" cy="87332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95325" y="32480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21B1BC">
              <a:alpha val="18000"/>
            </a:srgbClr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66775" y="34194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 txBox="1"/>
          <p:nvPr/>
        </p:nvSpPr>
        <p:spPr>
          <a:xfrm>
            <a:off x="1152525" y="3270647"/>
            <a:ext cx="553893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Tiered Storage: 7d hot, 2y remote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1152525" y="3489722"/>
            <a:ext cx="5538936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225"/>
              </a:spcBef>
              <a:buNone/>
            </a:pPr>
            <a:r>
              <a:rPr lang="en-US" sz="97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local.retention.ms 7d, tiering to S3. Kafka = transport, S3 = truth. Replays from Bronze, not Kafka log.</a:t>
            </a:r>
            <a:endParaRPr lang="en-US" sz="975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15395"/>
            <a:ext cx="6319986" cy="69383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95325" y="42576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21B1BC">
              <a:alpha val="18000"/>
            </a:srgbClr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66775" y="44291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 txBox="1"/>
          <p:nvPr/>
        </p:nvSpPr>
        <p:spPr>
          <a:xfrm>
            <a:off x="1152525" y="4277320"/>
            <a:ext cx="553893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Exactly-once: Flink checkpoints to S3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1152525" y="4496395"/>
            <a:ext cx="5538936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225"/>
              </a:spcBef>
              <a:buNone/>
            </a:pPr>
            <a:r>
              <a:rPr lang="en-US" sz="97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sink, checkpointing 2-min. Bottleneck is downstream compaction, not ingest.</a:t>
            </a:r>
            <a:endParaRPr lang="en-US" sz="97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986" y="1095375"/>
            <a:ext cx="4576465" cy="1828800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511" y="1104900"/>
            <a:ext cx="4557415" cy="1809750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986" y="3057525"/>
            <a:ext cx="2231082" cy="7239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224861" y="3209925"/>
            <a:ext cx="1945332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0.9-1.2 TB/d</a:t>
            </a:r>
            <a:endParaRPr lang="en-US" sz="1650" dirty="0"/>
          </a:p>
        </p:txBody>
      </p:sp>
      <p:sp>
        <p:nvSpPr>
          <p:cNvPr id="27" name="Text 18"/>
          <p:cNvSpPr txBox="1"/>
          <p:nvPr/>
        </p:nvSpPr>
        <p:spPr>
          <a:xfrm>
            <a:off x="7224861" y="3524250"/>
            <a:ext cx="194533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spc="9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 ZSTD</a:t>
            </a:r>
            <a:endParaRPr lang="en-US" sz="7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7369" y="3057525"/>
            <a:ext cx="2231082" cy="723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570244" y="3209925"/>
            <a:ext cx="1945332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7d → S3</a:t>
            </a:r>
            <a:endParaRPr lang="en-US" sz="1650" dirty="0"/>
          </a:p>
        </p:txBody>
      </p:sp>
      <p:sp>
        <p:nvSpPr>
          <p:cNvPr id="30" name="Text 20"/>
          <p:cNvSpPr txBox="1"/>
          <p:nvPr/>
        </p:nvSpPr>
        <p:spPr>
          <a:xfrm>
            <a:off x="9570244" y="3524250"/>
            <a:ext cx="194533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spc="9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→ TIERED</a:t>
            </a:r>
            <a:endParaRPr lang="en-US" sz="7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1986" y="3914775"/>
            <a:ext cx="4576465" cy="122872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224861" y="4067175"/>
            <a:ext cx="4290715" cy="933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topic: ecommerce.events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partitions=72, key=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retention.ms=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7d</a:t>
            </a:r>
            <a:pPr indent="0" marL="0"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tiered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Avro + 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Registry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DEK per user → 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KMS KEK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compression=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zstd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079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3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User's latest activity in seconds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17538"/>
            <a:ext cx="4886325" cy="30247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2925" y="1027063"/>
            <a:ext cx="486727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733425" y="1208038"/>
            <a:ext cx="44862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A • PERSONALIZATION &lt;3S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733425" y="1417588"/>
            <a:ext cx="448627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→ Flink keyBy(user_id) → ScyllaDB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3425" y="1693813"/>
            <a:ext cx="44862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CBD7E6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Flink keeps last 20 events per user in RocksDB state. On each event, upsert with TTL 2y. Truth stays in Iceberg Silver.</a:t>
            </a:r>
            <a:endParaRPr lang="en-US" sz="97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2131963"/>
            <a:ext cx="4486275" cy="94833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7250" y="2274838"/>
            <a:ext cx="4238625" cy="6816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spcBef>
                <a:spcPts val="600"/>
              </a:spcBef>
              <a:buNone/>
            </a:pPr>
            <a:r>
              <a:rPr lang="en-US" sz="863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stream.keyBy(e =&gt; e.user_id)</a:t>
            </a:r>
            <a:endParaRPr lang="en-US" sz="863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863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.process(RocksDB Last20)</a:t>
            </a:r>
            <a:endParaRPr lang="en-US" sz="863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863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.addSink(ScyllaUpsert)</a:t>
            </a:r>
            <a:endParaRPr lang="en-US" sz="863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863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checkpoint: 2min S3 exactly-once</a:t>
            </a:r>
            <a:endParaRPr lang="en-US" sz="86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3175546"/>
            <a:ext cx="1419225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7250" y="3289846"/>
            <a:ext cx="1171575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p95 10ms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857250" y="3623221"/>
            <a:ext cx="11715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spc="7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 READ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0" y="3175546"/>
            <a:ext cx="1419225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390775" y="3289846"/>
            <a:ext cx="1171575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p99 25ms</a:t>
            </a:r>
            <a:endParaRPr lang="en-US" sz="1650" dirty="0"/>
          </a:p>
        </p:txBody>
      </p:sp>
      <p:sp>
        <p:nvSpPr>
          <p:cNvPr id="15" name="Text 9"/>
          <p:cNvSpPr txBox="1"/>
          <p:nvPr/>
        </p:nvSpPr>
        <p:spPr>
          <a:xfrm>
            <a:off x="2390775" y="3623221"/>
            <a:ext cx="11715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spc="7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EDGE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75" y="3175546"/>
            <a:ext cx="1419225" cy="6858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924300" y="3289846"/>
            <a:ext cx="1171575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F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35K</a:t>
            </a:r>
            <a:endParaRPr lang="en-US" sz="1650" dirty="0"/>
          </a:p>
        </p:txBody>
      </p:sp>
      <p:sp>
        <p:nvSpPr>
          <p:cNvPr id="18" name="Text 11"/>
          <p:cNvSpPr txBox="1"/>
          <p:nvPr/>
        </p:nvSpPr>
        <p:spPr>
          <a:xfrm>
            <a:off x="3924300" y="3623221"/>
            <a:ext cx="11715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spc="7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RPS TRIVIAL</a:t>
            </a:r>
            <a:endParaRPr lang="en-US" sz="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75671"/>
            <a:ext cx="4886325" cy="12192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2925" y="4185196"/>
            <a:ext cx="486727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1" name="Text 13"/>
          <p:cNvSpPr txBox="1"/>
          <p:nvPr/>
        </p:nvSpPr>
        <p:spPr>
          <a:xfrm>
            <a:off x="733425" y="4366171"/>
            <a:ext cx="44862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</a:t>
            </a:r>
            <a:endParaRPr lang="en-US" sz="750" dirty="0"/>
          </a:p>
        </p:txBody>
      </p:sp>
      <p:sp>
        <p:nvSpPr>
          <p:cNvPr id="22" name="Text 14"/>
          <p:cNvSpPr txBox="1"/>
          <p:nvPr/>
        </p:nvSpPr>
        <p:spPr>
          <a:xfrm>
            <a:off x="733425" y="4575721"/>
            <a:ext cx="448627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Cluster &lt;5ms but 5x cost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733425" y="4851946"/>
            <a:ext cx="44862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CBD7E6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 gives wide-row, LSM, lower $/GB for 600M writes/day. Use Redis only for top 1% VIP if needed.</a:t>
            </a:r>
            <a:endParaRPr lang="en-US" sz="975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6425" y="1017538"/>
            <a:ext cx="5972175" cy="584046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695950" y="1027063"/>
            <a:ext cx="595312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950" y="1027063"/>
            <a:ext cx="5953125" cy="55245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1179463"/>
            <a:ext cx="1720007" cy="276225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972175" y="1255663"/>
            <a:ext cx="151045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7BE1E8"/>
                </a:solidFill>
                <a:highlight>
                  <a:srgbClr val="21B1B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SCYLLADB USER_ACTIVITY</a:t>
            </a:r>
            <a:endParaRPr lang="en-US" sz="750" dirty="0"/>
          </a:p>
        </p:txBody>
      </p:sp>
      <p:sp>
        <p:nvSpPr>
          <p:cNvPr id="29" name="Text 18"/>
          <p:cNvSpPr txBox="1"/>
          <p:nvPr/>
        </p:nvSpPr>
        <p:spPr>
          <a:xfrm>
            <a:off x="10454729" y="1255663"/>
            <a:ext cx="102289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7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 user_id — LWW</a:t>
            </a:r>
            <a:endParaRPr lang="en-US" sz="7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400" y="1712863"/>
            <a:ext cx="2757488" cy="1140619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991225" y="1827163"/>
            <a:ext cx="25098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</a:t>
            </a:r>
            <a:endParaRPr lang="en-US" sz="750" dirty="0"/>
          </a:p>
        </p:txBody>
      </p:sp>
      <p:sp>
        <p:nvSpPr>
          <p:cNvPr id="32" name="Text 20"/>
          <p:cNvSpPr txBox="1"/>
          <p:nvPr/>
        </p:nvSpPr>
        <p:spPr>
          <a:xfrm>
            <a:off x="5991225" y="2036713"/>
            <a:ext cx="2509838" cy="7119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last_event_ts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last_event_type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last_20_events list&lt;json&gt;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session_id</a:t>
            </a:r>
            <a:endParaRPr lang="en-US" sz="9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0138" y="1712863"/>
            <a:ext cx="2757488" cy="1140619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843963" y="1827163"/>
            <a:ext cx="25098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PATH</a:t>
            </a:r>
            <a:endParaRPr lang="en-US" sz="750" dirty="0"/>
          </a:p>
        </p:txBody>
      </p:sp>
      <p:sp>
        <p:nvSpPr>
          <p:cNvPr id="35" name="Text 22"/>
          <p:cNvSpPr txBox="1"/>
          <p:nvPr/>
        </p:nvSpPr>
        <p:spPr>
          <a:xfrm>
            <a:off x="8843963" y="2036713"/>
            <a:ext cx="2509838" cy="7119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→ ScyllaDB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federated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Cache-Control no-cache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Fan-out: Iceberg source-of-truth</a:t>
            </a:r>
            <a:endParaRPr lang="en-US" sz="9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0" y="2986832"/>
            <a:ext cx="5724525" cy="3822650"/>
          </a:xfrm>
          <a:prstGeom prst="rect">
            <a:avLst/>
          </a:prstGeom>
        </p:spPr>
      </p:pic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9775" y="2996357"/>
            <a:ext cx="5705475" cy="380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Purchase stream in minutes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09650"/>
            <a:ext cx="5437138" cy="342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25" y="1104900"/>
            <a:ext cx="497993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72p → Flink SQL Filter → Enrich → 5-min window → Dual sink • SLA 2 min checkpoint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76275" y="1143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  <a:effectLst>
            <a:outerShdw sx="100000" sy="100000" kx="0" ky="0" algn="bl" rotWithShape="0" blurRad="114300" dist="50800" dir="16200000">
              <a:srgbClr val="E8A317">
                <a:alpha val="10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85900"/>
            <a:ext cx="5972175" cy="87049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647825"/>
            <a:ext cx="304800" cy="3048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37307" y="1719263"/>
            <a:ext cx="172343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D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171575" y="1657350"/>
            <a:ext cx="51530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• 5% OF STREAM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1171575" y="1819275"/>
            <a:ext cx="5153025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type='purchase' → 30M / day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171575" y="2034480"/>
            <a:ext cx="515302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600M × 0.05 = 30M purchases. Flink SQL pushdown, no custom code.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89746"/>
            <a:ext cx="5972175" cy="870496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51671"/>
            <a:ext cx="304800" cy="3048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4210" y="2723108"/>
            <a:ext cx="185440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D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1171575" y="2661196"/>
            <a:ext cx="51530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 • ASYNC I/O</a:t>
            </a:r>
            <a:endParaRPr lang="en-US" sz="750" dirty="0"/>
          </a:p>
        </p:txBody>
      </p:sp>
      <p:sp>
        <p:nvSpPr>
          <p:cNvPr id="16" name="Text 9"/>
          <p:cNvSpPr txBox="1"/>
          <p:nvPr/>
        </p:nvSpPr>
        <p:spPr>
          <a:xfrm>
            <a:off x="1171575" y="2823121"/>
            <a:ext cx="5153025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lookup ScyllaDB velocity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171575" y="3038326"/>
            <a:ext cx="515302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Purchases last 10 min, last device, geo drift. Timeout 20ms, retries bounded.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493591"/>
            <a:ext cx="5972175" cy="870496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655516"/>
            <a:ext cx="304800" cy="3048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22871" y="3726954"/>
            <a:ext cx="186779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D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2"/>
          <p:cNvSpPr txBox="1"/>
          <p:nvPr/>
        </p:nvSpPr>
        <p:spPr>
          <a:xfrm>
            <a:off x="1171575" y="3665041"/>
            <a:ext cx="51530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STATEFUL • TUMBLING WINDOW</a:t>
            </a:r>
            <a:endParaRPr lang="en-US" sz="750" dirty="0"/>
          </a:p>
        </p:txBody>
      </p:sp>
      <p:sp>
        <p:nvSpPr>
          <p:cNvPr id="22" name="Text 13"/>
          <p:cNvSpPr txBox="1"/>
          <p:nvPr/>
        </p:nvSpPr>
        <p:spPr>
          <a:xfrm>
            <a:off x="1171575" y="3826966"/>
            <a:ext cx="5153025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5-min window keyBy(user_id), count &gt; threshold → Alert</a:t>
            </a:r>
            <a:endParaRPr lang="en-US" sz="1050" dirty="0"/>
          </a:p>
        </p:txBody>
      </p:sp>
      <p:sp>
        <p:nvSpPr>
          <p:cNvPr id="23" name="Text 14"/>
          <p:cNvSpPr txBox="1"/>
          <p:nvPr/>
        </p:nvSpPr>
        <p:spPr>
          <a:xfrm>
            <a:off x="1171575" y="4042172"/>
            <a:ext cx="515302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RocksDB state backend, checkpoint interval 2 min. Exactly-once to sinks.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275" y="1009650"/>
            <a:ext cx="4886325" cy="978098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1019175"/>
            <a:ext cx="4867275" cy="395288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934200" y="1143000"/>
            <a:ext cx="89192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SINK 1 • SYNC</a:t>
            </a:r>
            <a:endParaRPr lang="en-US" sz="825" dirty="0"/>
          </a:p>
        </p:txBody>
      </p:sp>
      <p:sp>
        <p:nvSpPr>
          <p:cNvPr id="27" name="Text 16"/>
          <p:cNvSpPr txBox="1"/>
          <p:nvPr/>
        </p:nvSpPr>
        <p:spPr>
          <a:xfrm>
            <a:off x="10796736" y="1143000"/>
            <a:ext cx="69993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E8A3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P50 &lt;80MS</a:t>
            </a:r>
            <a:endParaRPr lang="en-US" sz="825" dirty="0"/>
          </a:p>
        </p:txBody>
      </p:sp>
      <p:sp>
        <p:nvSpPr>
          <p:cNvPr id="28" name="Text 17"/>
          <p:cNvSpPr txBox="1"/>
          <p:nvPr/>
        </p:nvSpPr>
        <p:spPr>
          <a:xfrm>
            <a:off x="6934200" y="1547813"/>
            <a:ext cx="1140470" cy="2970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8A3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API</a:t>
            </a:r>
            <a:endParaRPr lang="en-US" sz="1950" dirty="0"/>
          </a:p>
        </p:txBody>
      </p:sp>
      <p:sp>
        <p:nvSpPr>
          <p:cNvPr id="29" name="Text 18"/>
          <p:cNvSpPr txBox="1"/>
          <p:nvPr/>
        </p:nvSpPr>
        <p:spPr>
          <a:xfrm>
            <a:off x="8227070" y="1547813"/>
            <a:ext cx="1378446" cy="2970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/v1/fraud/check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 features → score</a:t>
            </a:r>
            <a:endParaRPr lang="en-US" sz="9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2275" y="2121098"/>
            <a:ext cx="4886325" cy="1914525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1800" y="2130623"/>
            <a:ext cx="4867275" cy="39528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934200" y="2254448"/>
            <a:ext cx="95160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SINK 2 • AUDIT</a:t>
            </a:r>
            <a:endParaRPr lang="en-US" sz="825" dirty="0"/>
          </a:p>
        </p:txBody>
      </p:sp>
      <p:sp>
        <p:nvSpPr>
          <p:cNvPr id="33" name="Text 20"/>
          <p:cNvSpPr txBox="1"/>
          <p:nvPr/>
        </p:nvSpPr>
        <p:spPr>
          <a:xfrm>
            <a:off x="10735717" y="2254448"/>
            <a:ext cx="76095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CASSANDRA</a:t>
            </a:r>
            <a:endParaRPr lang="en-US" sz="825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2659261"/>
            <a:ext cx="4562475" cy="1233488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7077075" y="2792611"/>
            <a:ext cx="4276725" cy="976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TABLE purchases_by_user (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user_id text,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purchase_time timestamp,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amount decimal,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PRIMARY KEY (user_id, purchase_time)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WITH CLUSTERING ORDER BY (purchase_time DESC);</a:t>
            </a:r>
            <a:endParaRPr lang="en-US" sz="863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2275" y="4168973"/>
            <a:ext cx="4886325" cy="1152525"/>
          </a:xfrm>
          <a:prstGeom prst="rect">
            <a:avLst/>
          </a:prstGeom>
        </p:spPr>
      </p:pic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1800" y="4178498"/>
            <a:ext cx="4867275" cy="395288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6934200" y="4302323"/>
            <a:ext cx="126117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MATH</a:t>
            </a:r>
            <a:endParaRPr lang="en-US" sz="825" dirty="0"/>
          </a:p>
        </p:txBody>
      </p:sp>
      <p:sp>
        <p:nvSpPr>
          <p:cNvPr id="39" name="Text 23"/>
          <p:cNvSpPr txBox="1"/>
          <p:nvPr/>
        </p:nvSpPr>
        <p:spPr>
          <a:xfrm>
            <a:off x="10937677" y="4302323"/>
            <a:ext cx="55899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99" kern="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30M/DAY</a:t>
            </a:r>
            <a:endParaRPr lang="en-US" sz="825" dirty="0"/>
          </a:p>
        </p:txBody>
      </p:sp>
      <p:sp>
        <p:nvSpPr>
          <p:cNvPr id="40" name="Text 24"/>
          <p:cNvSpPr txBox="1"/>
          <p:nvPr/>
        </p:nvSpPr>
        <p:spPr>
          <a:xfrm>
            <a:off x="6934200" y="4716661"/>
            <a:ext cx="2224088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347</a:t>
            </a:r>
            <a:endParaRPr lang="en-US" sz="1650" dirty="0"/>
          </a:p>
        </p:txBody>
      </p:sp>
      <p:sp>
        <p:nvSpPr>
          <p:cNvPr id="41" name="Text 25"/>
          <p:cNvSpPr txBox="1"/>
          <p:nvPr/>
        </p:nvSpPr>
        <p:spPr>
          <a:xfrm>
            <a:off x="6934200" y="5030986"/>
            <a:ext cx="22240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eps purchases</a:t>
            </a:r>
            <a:endParaRPr lang="en-US" sz="825" dirty="0"/>
          </a:p>
        </p:txBody>
      </p:sp>
      <p:sp>
        <p:nvSpPr>
          <p:cNvPr id="42" name="Text 26"/>
          <p:cNvSpPr txBox="1"/>
          <p:nvPr/>
        </p:nvSpPr>
        <p:spPr>
          <a:xfrm>
            <a:off x="9272588" y="4716661"/>
            <a:ext cx="2224088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1.7K</a:t>
            </a:r>
            <a:endParaRPr lang="en-US" sz="1650" dirty="0"/>
          </a:p>
        </p:txBody>
      </p:sp>
      <p:sp>
        <p:nvSpPr>
          <p:cNvPr id="43" name="Text 27"/>
          <p:cNvSpPr txBox="1"/>
          <p:nvPr/>
        </p:nvSpPr>
        <p:spPr>
          <a:xfrm>
            <a:off x="9272588" y="5030986"/>
            <a:ext cx="22240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eps purchases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81000"/>
            <a:ext cx="6760518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Lakehouse — bronze → silver → gold</a:t>
            </a:r>
            <a:endParaRPr lang="en-US" sz="3150" dirty="0"/>
          </a:p>
        </p:txBody>
      </p:sp>
      <p:sp>
        <p:nvSpPr>
          <p:cNvPr id="3" name="Text 1"/>
          <p:cNvSpPr txBox="1"/>
          <p:nvPr/>
        </p:nvSpPr>
        <p:spPr>
          <a:xfrm>
            <a:off x="7723733" y="619125"/>
            <a:ext cx="393486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0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FULL SCANS • </a:t>
            </a:r>
            <a:pPr indent="0" marL="0">
              <a:buNone/>
            </a:pPr>
            <a:r>
              <a:rPr lang="en-US" sz="900" b="1" spc="18" kern="0" dirty="0">
                <a:solidFill>
                  <a:srgbClr val="1FB0B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 freshness, 50 GB scanned not 650 TB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33450"/>
            <a:ext cx="11125200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5325" y="1047750"/>
            <a:ext cx="548208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 EVOLUTION • HIDDEN DAYS(EVENT_TIME) • Z-ORDER USER_ID • MANIFEST PRUNING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872538" y="1047750"/>
            <a:ext cx="26241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8" kern="0" dirty="0">
                <a:solidFill>
                  <a:srgbClr val="1FB0B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FLINK 60S ROLLING • SPARK REWRITE 512 MB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38175" y="1257300"/>
            <a:ext cx="10915650" cy="1171575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14450"/>
            <a:ext cx="10801350" cy="105727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86050"/>
            <a:ext cx="3619500" cy="37909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2925" y="2695575"/>
            <a:ext cx="3600450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733425" y="2876550"/>
            <a:ext cx="3219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8B6C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• RAW LANDING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733425" y="3105150"/>
            <a:ext cx="3219450" cy="1989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raw Avro hour= part</a:t>
            </a:r>
            <a:endParaRPr lang="en-US" sz="1425" dirty="0"/>
          </a:p>
        </p:txBody>
      </p:sp>
      <p:sp>
        <p:nvSpPr>
          <p:cNvPr id="13" name="Text 8"/>
          <p:cNvSpPr txBox="1"/>
          <p:nvPr/>
        </p:nvSpPr>
        <p:spPr>
          <a:xfrm>
            <a:off x="733425" y="3408908"/>
            <a:ext cx="32194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Flink S3 sink exactly-once, 60s rolling, 128 MB files. Handles late data, replayable from any hour.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3837533"/>
            <a:ext cx="3219450" cy="6810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7250" y="3951833"/>
            <a:ext cx="2971800" cy="4619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s3://lake/bronze/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hour=2026-10-13-14/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file-128MB-0001.avro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613821"/>
            <a:ext cx="698302" cy="23812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19150" y="4670971"/>
            <a:ext cx="52685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82F1"/>
                </a:solidFill>
                <a:highlight>
                  <a:srgbClr val="8B69E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1.2 TB / day</a:t>
            </a:r>
            <a:endParaRPr lang="en-US" sz="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927" y="4613821"/>
            <a:ext cx="743099" cy="23812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593652" y="4670971"/>
            <a:ext cx="57164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82F1"/>
                </a:solidFill>
                <a:highlight>
                  <a:srgbClr val="8B69E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Avro + ZSTD</a:t>
            </a:r>
            <a:endParaRPr lang="en-US" sz="7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0" y="2686050"/>
            <a:ext cx="3619500" cy="379095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295775" y="2695575"/>
            <a:ext cx="3600450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4486275" y="2876550"/>
            <a:ext cx="3219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4478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• SOURCE OF TRUTH</a:t>
            </a:r>
            <a:endParaRPr lang="en-US" sz="750" dirty="0"/>
          </a:p>
        </p:txBody>
      </p:sp>
      <p:sp>
        <p:nvSpPr>
          <p:cNvPr id="23" name="Text 14"/>
          <p:cNvSpPr txBox="1"/>
          <p:nvPr/>
        </p:nvSpPr>
        <p:spPr>
          <a:xfrm>
            <a:off x="4486275" y="3105150"/>
            <a:ext cx="3219450" cy="1989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silver.events</a:t>
            </a:r>
            <a:endParaRPr lang="en-US" sz="1425" dirty="0"/>
          </a:p>
        </p:txBody>
      </p:sp>
      <p:sp>
        <p:nvSpPr>
          <p:cNvPr id="24" name="Text 15"/>
          <p:cNvSpPr txBox="1"/>
          <p:nvPr/>
        </p:nvSpPr>
        <p:spPr>
          <a:xfrm>
            <a:off x="4486275" y="3408908"/>
            <a:ext cx="32194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partitioned by days(event_time), sorted by user_id. ZSTD Parquet 512 MB target.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275" y="3837533"/>
            <a:ext cx="3219450" cy="8382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610100" y="3951833"/>
            <a:ext cx="2971800" cy="619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PARTITIONED BY days(event_time)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SORTED BY user_id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TBLPROPERTIES (format=parquet, codec=zstd)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 pruning • stats pruning</a:t>
            </a:r>
            <a:endParaRPr lang="en-US" sz="825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4770983"/>
            <a:ext cx="921841" cy="238125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572000" y="4828133"/>
            <a:ext cx="75039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08CC4"/>
                </a:solidFill>
                <a:highlight>
                  <a:srgbClr val="437AB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Compaction 15m</a:t>
            </a:r>
            <a:endParaRPr lang="en-US" sz="7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4316" y="4770983"/>
            <a:ext cx="835075" cy="23812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5570041" y="4828133"/>
            <a:ext cx="6636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08CC4"/>
                </a:solidFill>
                <a:highlight>
                  <a:srgbClr val="437AB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Time travel T-1</a:t>
            </a:r>
            <a:endParaRPr lang="en-US" sz="7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2686050"/>
            <a:ext cx="3619500" cy="379095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48625" y="2695575"/>
            <a:ext cx="3600450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3" name="Text 20"/>
          <p:cNvSpPr txBox="1"/>
          <p:nvPr/>
        </p:nvSpPr>
        <p:spPr>
          <a:xfrm>
            <a:off x="8239125" y="2876550"/>
            <a:ext cx="3219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• SERVED AGGREGATES</a:t>
            </a:r>
            <a:endParaRPr lang="en-US" sz="750" dirty="0"/>
          </a:p>
        </p:txBody>
      </p:sp>
      <p:sp>
        <p:nvSpPr>
          <p:cNvPr id="34" name="Text 21"/>
          <p:cNvSpPr txBox="1"/>
          <p:nvPr/>
        </p:nvSpPr>
        <p:spPr>
          <a:xfrm>
            <a:off x="8239125" y="3105150"/>
            <a:ext cx="3219450" cy="1989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dbt → daily_kpi, funnel_hourly</a:t>
            </a:r>
            <a:endParaRPr lang="en-US" sz="1425" dirty="0"/>
          </a:p>
        </p:txBody>
      </p:sp>
      <p:sp>
        <p:nvSpPr>
          <p:cNvPr id="35" name="Text 22"/>
          <p:cNvSpPr txBox="1"/>
          <p:nvPr/>
        </p:nvSpPr>
        <p:spPr>
          <a:xfrm>
            <a:off x="8239125" y="3408908"/>
            <a:ext cx="32194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dbt jobs every 15 min materialize into StarRocks / ClickHouse Gold. No dashboard hits Silver directly.</a:t>
            </a:r>
            <a:endParaRPr lang="en-US" sz="9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5" y="3837533"/>
            <a:ext cx="3219450" cy="8382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362950" y="3951833"/>
            <a:ext cx="2971800" cy="619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gold.daily_kpi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gold.funnel_hourly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gold.feature_agg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StarRocks primary key</a:t>
            </a:r>
            <a:endParaRPr lang="en-US" sz="825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9125" y="4770983"/>
            <a:ext cx="647998" cy="238125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8324850" y="4828133"/>
            <a:ext cx="47654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1BCC6"/>
                </a:solidFill>
                <a:highlight>
                  <a:srgbClr val="21B1B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15-min dbt</a:t>
            </a:r>
            <a:endParaRPr lang="en-US" sz="7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3323" y="4770983"/>
            <a:ext cx="1109216" cy="23812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9049048" y="4828133"/>
            <a:ext cx="9377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1BCC6"/>
                </a:solidFill>
                <a:highlight>
                  <a:srgbClr val="21B1B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Sub-sec dashboards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38150"/>
            <a:ext cx="11125200" cy="4295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full scan to </a:t>
            </a:r>
            <a:pPr indent="0" marL="0">
              <a:buNone/>
            </a:pPr>
            <a:r>
              <a:rPr lang="en-US" sz="3150" b="1" spc="-63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50GB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39118"/>
            <a:ext cx="2775942" cy="10209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5325" y="1191518"/>
            <a:ext cx="24520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• NO PRUNING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695325" y="1362968"/>
            <a:ext cx="2452092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FF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650 TB scanned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95325" y="1620143"/>
            <a:ext cx="2452092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event_date='2026-10-01' scans 2 years, no partition.</a:t>
            </a:r>
            <a:endParaRPr lang="en-US" sz="86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642" y="1039118"/>
            <a:ext cx="2775942" cy="10209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85567" y="1191518"/>
            <a:ext cx="24520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• ICEBERG PRUNING</a:t>
            </a:r>
            <a:endParaRPr lang="en-US" sz="750" dirty="0"/>
          </a:p>
        </p:txBody>
      </p:sp>
      <p:sp>
        <p:nvSpPr>
          <p:cNvPr id="9" name="Text 5"/>
          <p:cNvSpPr txBox="1"/>
          <p:nvPr/>
        </p:nvSpPr>
        <p:spPr>
          <a:xfrm>
            <a:off x="3585567" y="1362968"/>
            <a:ext cx="2452092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7BE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GB scanned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3585567" y="1620143"/>
            <a:ext cx="2452092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days(event_time) hidden + min/max stats → 99.99% pruned.</a:t>
            </a:r>
            <a:endParaRPr lang="en-US" sz="86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93429"/>
            <a:ext cx="5666184" cy="61674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2358926"/>
            <a:ext cx="285750" cy="2857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93849" y="2425601"/>
            <a:ext cx="158651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BE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152525" y="2326779"/>
            <a:ext cx="407655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 pruning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1152525" y="2531566"/>
            <a:ext cx="407655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CBD7E6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hidden partitioning days(event_time) • 1 day out of 730</a:t>
            </a:r>
            <a:endParaRPr lang="en-US" sz="863" dirty="0"/>
          </a:p>
        </p:txBody>
      </p:sp>
      <p:sp>
        <p:nvSpPr>
          <p:cNvPr id="16" name="Text 10"/>
          <p:cNvSpPr txBox="1"/>
          <p:nvPr/>
        </p:nvSpPr>
        <p:spPr>
          <a:xfrm>
            <a:off x="5343376" y="2418457"/>
            <a:ext cx="713333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650→1.2TB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05423"/>
            <a:ext cx="5666184" cy="616744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070920"/>
            <a:ext cx="285750" cy="28575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82687" y="3137595"/>
            <a:ext cx="169813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BE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1152525" y="3038773"/>
            <a:ext cx="3983087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 + column pruning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1152525" y="3243560"/>
            <a:ext cx="3983087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CBD7E6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Parquet min/max for user_id, event_time • file &amp; column stats</a:t>
            </a:r>
            <a:endParaRPr lang="en-US" sz="863" dirty="0"/>
          </a:p>
        </p:txBody>
      </p:sp>
      <p:sp>
        <p:nvSpPr>
          <p:cNvPr id="22" name="Text 14"/>
          <p:cNvSpPr txBox="1"/>
          <p:nvPr/>
        </p:nvSpPr>
        <p:spPr>
          <a:xfrm>
            <a:off x="5249912" y="3130451"/>
            <a:ext cx="806797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1.2TB→50GB</a:t>
            </a:r>
            <a:endParaRPr lang="en-US" sz="97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17416"/>
            <a:ext cx="5666184" cy="616744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3782913"/>
            <a:ext cx="285750" cy="28575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81496" y="3849588"/>
            <a:ext cx="17100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BE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1152525" y="3750766"/>
            <a:ext cx="432554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cache on Gold</a:t>
            </a:r>
            <a:endParaRPr lang="en-US" sz="975" dirty="0"/>
          </a:p>
        </p:txBody>
      </p:sp>
      <p:sp>
        <p:nvSpPr>
          <p:cNvPr id="27" name="Text 17"/>
          <p:cNvSpPr txBox="1"/>
          <p:nvPr/>
        </p:nvSpPr>
        <p:spPr>
          <a:xfrm>
            <a:off x="1152525" y="3955554"/>
            <a:ext cx="432554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CBD7E6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aggregates in StarRocks, not Silver. 3-5 sec Athena/Trino ad-hoc.</a:t>
            </a:r>
            <a:endParaRPr lang="en-US" sz="863" dirty="0"/>
          </a:p>
        </p:txBody>
      </p:sp>
      <p:sp>
        <p:nvSpPr>
          <p:cNvPr id="28" name="Text 18"/>
          <p:cNvSpPr txBox="1"/>
          <p:nvPr/>
        </p:nvSpPr>
        <p:spPr>
          <a:xfrm>
            <a:off x="5592366" y="3842445"/>
            <a:ext cx="46434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 sec</a:t>
            </a:r>
            <a:endParaRPr lang="en-US" sz="975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367510"/>
            <a:ext cx="5666184" cy="52953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76275" y="46291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0"/>
          <p:cNvSpPr txBox="1"/>
          <p:nvPr/>
        </p:nvSpPr>
        <p:spPr>
          <a:xfrm>
            <a:off x="771525" y="4472285"/>
            <a:ext cx="5285184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SQL:</a:t>
            </a:r>
            <a:pPr indent="0" marL="0">
              <a:buNone/>
            </a:pPr>
            <a:r>
              <a:rPr lang="en-US" sz="900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PARTITIONED BY days(event_time) SORTED BY user_id • TBLPROPERTIES write.format='parquet' codec='zstd'</a:t>
            </a:r>
            <a:endParaRPr lang="en-US" sz="9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184" y="1039118"/>
            <a:ext cx="5230416" cy="5380732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590109" y="1172468"/>
            <a:ext cx="261074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2A2F4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DATE-FILTER FIX: 650TB → 50GB (LOG SCALE)</a:t>
            </a:r>
            <a:endParaRPr lang="en-US" sz="750" dirty="0"/>
          </a:p>
        </p:txBody>
      </p:sp>
      <p:sp>
        <p:nvSpPr>
          <p:cNvPr id="34" name="Text 22"/>
          <p:cNvSpPr txBox="1"/>
          <p:nvPr/>
        </p:nvSpPr>
        <p:spPr>
          <a:xfrm>
            <a:off x="10922496" y="1172468"/>
            <a:ext cx="57417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2A2F4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PRUNED</a:t>
            </a:r>
            <a:endParaRPr lang="en-US" sz="7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3909" y="1382018"/>
            <a:ext cx="5058966" cy="49521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Serving: dashboards &amp; training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90600"/>
            <a:ext cx="5486400" cy="46291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2925" y="1000125"/>
            <a:ext cx="5467350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828675" y="1200150"/>
            <a:ext cx="49720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ANALYTICS • 15 MIN LAG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742950" y="125730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752475" y="1447800"/>
            <a:ext cx="5048250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tables in StarRocks / ClickHouse / Pinot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52475" y="1760190"/>
            <a:ext cx="50482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read </a:t>
            </a:r>
            <a:pPr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gold.daily_kpi, funnel_hourly</a:t>
            </a:r>
            <a:pPr indent="0" marL="0">
              <a:buNone/>
            </a:pPr>
            <a:r>
              <a:rPr lang="en-US" sz="975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512MB Parquet → dbt every 15 min. Sub-second queries, decoupled compute/storage.</a:t>
            </a:r>
            <a:endParaRPr lang="en-US" sz="97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236440"/>
            <a:ext cx="5048250" cy="6810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6300" y="2350740"/>
            <a:ext cx="4800600" cy="4619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 StarRocks on s3://lake/gold/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date, COUNT(*) FROM gold.daily_kpi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date = CURRENT_DATE - 1 • p95 120ms</a:t>
            </a:r>
            <a:endParaRPr lang="en-US" sz="82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069878"/>
            <a:ext cx="1389608" cy="2571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7725" y="3136553"/>
            <a:ext cx="119910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5" kern="0" dirty="0">
                <a:solidFill>
                  <a:srgbClr val="AE98F3"/>
                </a:solidFill>
                <a:highlight>
                  <a:srgbClr val="896AE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Trino on Silver for ad-hoc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283" y="3069878"/>
            <a:ext cx="1314004" cy="25717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313533" y="3136553"/>
            <a:ext cx="112350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5" kern="0" dirty="0">
                <a:solidFill>
                  <a:srgbClr val="AE98F3"/>
                </a:solidFill>
                <a:highlight>
                  <a:srgbClr val="896AE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Manifest pruning 99.9%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8487" y="3069878"/>
            <a:ext cx="749052" cy="25717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703737" y="3136553"/>
            <a:ext cx="55855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5" kern="0" dirty="0">
                <a:solidFill>
                  <a:srgbClr val="AE98F3"/>
                </a:solidFill>
                <a:highlight>
                  <a:srgbClr val="896AE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No full scan</a:t>
            </a:r>
            <a:endParaRPr lang="en-US" sz="7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498503"/>
            <a:ext cx="1619250" cy="56673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6300" y="3603278"/>
            <a:ext cx="137160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15m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876300" y="3841403"/>
            <a:ext cx="137160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6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DBT FRESHNESS</a:t>
            </a:r>
            <a:endParaRPr lang="en-US" sz="67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6975" y="3498503"/>
            <a:ext cx="1619250" cy="56673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590800" y="3603278"/>
            <a:ext cx="137160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&lt;1s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2590800" y="3841403"/>
            <a:ext cx="137160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6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P95</a:t>
            </a:r>
            <a:endParaRPr lang="en-US" sz="6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475" y="3498503"/>
            <a:ext cx="1619250" cy="56673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305300" y="3603278"/>
            <a:ext cx="137160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/ TB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4305300" y="3841403"/>
            <a:ext cx="137160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6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SEPARATE</a:t>
            </a:r>
            <a:endParaRPr lang="en-US" sz="675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990600"/>
            <a:ext cx="5486400" cy="462915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181725" y="1000125"/>
            <a:ext cx="5467350" cy="28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8" name="Text 17"/>
          <p:cNvSpPr txBox="1"/>
          <p:nvPr/>
        </p:nvSpPr>
        <p:spPr>
          <a:xfrm>
            <a:off x="6467475" y="1200150"/>
            <a:ext cx="49720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• T+1 BATCH</a:t>
            </a:r>
            <a:endParaRPr lang="en-US" sz="750" dirty="0"/>
          </a:p>
        </p:txBody>
      </p:sp>
      <p:sp>
        <p:nvSpPr>
          <p:cNvPr id="29" name="Text 18"/>
          <p:cNvSpPr txBox="1"/>
          <p:nvPr/>
        </p:nvSpPr>
        <p:spPr>
          <a:xfrm>
            <a:off x="6381750" y="125730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19"/>
          <p:cNvSpPr txBox="1"/>
          <p:nvPr/>
        </p:nvSpPr>
        <p:spPr>
          <a:xfrm>
            <a:off x="6391275" y="1447800"/>
            <a:ext cx="5048250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time travel → Feast offline → Spark</a:t>
            </a:r>
            <a:endParaRPr lang="en-US" sz="1350" dirty="0"/>
          </a:p>
        </p:txBody>
      </p:sp>
      <p:sp>
        <p:nvSpPr>
          <p:cNvPr id="31" name="Text 20"/>
          <p:cNvSpPr txBox="1"/>
          <p:nvPr/>
        </p:nvSpPr>
        <p:spPr>
          <a:xfrm>
            <a:off x="6391275" y="1760190"/>
            <a:ext cx="50482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never hits online. Reads T-1 snapshot deterministically, exports to offline store. No impact on Scylla/StarRocks.</a:t>
            </a:r>
            <a:endParaRPr lang="en-US" sz="975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2236440"/>
            <a:ext cx="5048250" cy="68103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515100" y="2350740"/>
            <a:ext cx="4800600" cy="4619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* FROM silver.events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TIMESTAMP AS OF '2026-10-12'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A8C0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 → s3://features/offline/dt=2026-10-12/</a:t>
            </a:r>
            <a:endParaRPr lang="en-US" sz="825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3069878"/>
            <a:ext cx="1050280" cy="25717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486525" y="3136553"/>
            <a:ext cx="8597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5" kern="0" dirty="0">
                <a:solidFill>
                  <a:srgbClr val="6DDBB2"/>
                </a:solidFill>
                <a:highlight>
                  <a:srgbClr val="2CCD8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Snapshot isolation</a:t>
            </a:r>
            <a:endParaRPr lang="en-US" sz="7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7755" y="3069878"/>
            <a:ext cx="899071" cy="257175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7613005" y="3136553"/>
            <a:ext cx="70857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5" kern="0" dirty="0">
                <a:solidFill>
                  <a:srgbClr val="6DDBB2"/>
                </a:solidFill>
                <a:highlight>
                  <a:srgbClr val="2CCD8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Replay any day</a:t>
            </a:r>
            <a:endParaRPr lang="en-US" sz="7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3026" y="3069878"/>
            <a:ext cx="673447" cy="257175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8588276" y="3136553"/>
            <a:ext cx="48294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5" kern="0" dirty="0">
                <a:solidFill>
                  <a:srgbClr val="6DDBB2"/>
                </a:solidFill>
                <a:highlight>
                  <a:srgbClr val="2CCD8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Zero skew</a:t>
            </a:r>
            <a:endParaRPr lang="en-US" sz="7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3498503"/>
            <a:ext cx="1619250" cy="69532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6515100" y="3603278"/>
            <a:ext cx="137160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T-1</a:t>
            </a:r>
            <a:endParaRPr lang="en-US" sz="1500" dirty="0"/>
          </a:p>
        </p:txBody>
      </p:sp>
      <p:sp>
        <p:nvSpPr>
          <p:cNvPr id="42" name="Text 26"/>
          <p:cNvSpPr txBox="1"/>
          <p:nvPr/>
        </p:nvSpPr>
        <p:spPr>
          <a:xfrm>
            <a:off x="6515100" y="3841403"/>
            <a:ext cx="137160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6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SNAPSHOT</a:t>
            </a:r>
            <a:endParaRPr lang="en-US" sz="675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5775" y="3498503"/>
            <a:ext cx="1619250" cy="695325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8229600" y="3603278"/>
            <a:ext cx="137160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Feast</a:t>
            </a:r>
            <a:endParaRPr lang="en-US" sz="1500" dirty="0"/>
          </a:p>
        </p:txBody>
      </p:sp>
      <p:sp>
        <p:nvSpPr>
          <p:cNvPr id="45" name="Text 28"/>
          <p:cNvSpPr txBox="1"/>
          <p:nvPr/>
        </p:nvSpPr>
        <p:spPr>
          <a:xfrm>
            <a:off x="8229600" y="3841403"/>
            <a:ext cx="13716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6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ONLINE/OFFLINE CONSISTENCY</a:t>
            </a:r>
            <a:endParaRPr lang="en-US" sz="675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20275" y="3498503"/>
            <a:ext cx="1619250" cy="695325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9944100" y="3603278"/>
            <a:ext cx="137160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</a:t>
            </a:r>
            <a:endParaRPr lang="en-US" sz="1500" dirty="0"/>
          </a:p>
        </p:txBody>
      </p:sp>
      <p:sp>
        <p:nvSpPr>
          <p:cNvPr id="48" name="Text 30"/>
          <p:cNvSpPr txBox="1"/>
          <p:nvPr/>
        </p:nvSpPr>
        <p:spPr>
          <a:xfrm>
            <a:off x="9944100" y="3841403"/>
            <a:ext cx="137160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6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CLUSTER</a:t>
            </a:r>
            <a:endParaRPr lang="en-US" sz="675" dirty="0"/>
          </a:p>
        </p:txBody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5791200"/>
            <a:ext cx="11125200" cy="647700"/>
          </a:xfrm>
          <a:prstGeom prst="rect">
            <a:avLst/>
          </a:prstGeom>
        </p:spPr>
      </p:pic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5325" y="5924550"/>
            <a:ext cx="381000" cy="381000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885825" y="61150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2"/>
          <p:cNvSpPr txBox="1"/>
          <p:nvPr/>
        </p:nvSpPr>
        <p:spPr>
          <a:xfrm>
            <a:off x="1209675" y="5945981"/>
            <a:ext cx="8610302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layer: GraphQL federated over Scylla (online p95 10ms) + StarRocks (offline aggregates)</a:t>
            </a:r>
            <a:endParaRPr lang="en-US" sz="1050" dirty="0"/>
          </a:p>
        </p:txBody>
      </p:sp>
      <p:sp>
        <p:nvSpPr>
          <p:cNvPr id="53" name="Text 33"/>
          <p:cNvSpPr txBox="1"/>
          <p:nvPr/>
        </p:nvSpPr>
        <p:spPr>
          <a:xfrm>
            <a:off x="1209675" y="6155531"/>
            <a:ext cx="861030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 → Scylla, analytics → StarRocks, feature flag routes by latency SLO • cache gold, not silver</a:t>
            </a:r>
            <a:endParaRPr lang="en-US" sz="825" dirty="0"/>
          </a:p>
        </p:txBody>
      </p:sp>
      <p:sp>
        <p:nvSpPr>
          <p:cNvPr id="54" name="Text 34"/>
          <p:cNvSpPr txBox="1"/>
          <p:nvPr/>
        </p:nvSpPr>
        <p:spPr>
          <a:xfrm>
            <a:off x="9953327" y="5924550"/>
            <a:ext cx="1543348" cy="3905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7E6">
                    <a:alpha val="5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S3 $15k/mo 650TB</a:t>
            </a:r>
            <a:endParaRPr lang="en-US" sz="750" dirty="0"/>
          </a:p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7E6">
                    <a:alpha val="5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vs Kafka $260k/mo</a:t>
            </a:r>
            <a:endParaRPr lang="en-US" sz="750" dirty="0"/>
          </a:p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7E6">
                    <a:alpha val="5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StarRocks computes separate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17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3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Erasure is a stream, </a:t>
            </a:r>
            <a:pPr indent="0" marL="0">
              <a:buNone/>
            </a:pPr>
            <a:r>
              <a:rPr lang="en-US" sz="3150" b="1" spc="-63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script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046113"/>
            <a:ext cx="5972175" cy="535468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150888"/>
            <a:ext cx="2251323" cy="25717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09625" y="1217563"/>
            <a:ext cx="206082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FF9E9E"/>
                </a:solidFill>
                <a:highlight>
                  <a:srgbClr val="EE434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TOPIC: USER_DELETION_REQUESTS</a:t>
            </a:r>
            <a:endParaRPr lang="en-US" sz="750" dirty="0"/>
          </a:p>
        </p:txBody>
      </p:sp>
      <p:sp>
        <p:nvSpPr>
          <p:cNvPr id="6" name="Text 2"/>
          <p:cNvSpPr txBox="1"/>
          <p:nvPr/>
        </p:nvSpPr>
        <p:spPr>
          <a:xfrm>
            <a:off x="4625876" y="1217563"/>
            <a:ext cx="169872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7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REQUEST → EVERY STORE</a:t>
            </a:r>
            <a:endParaRPr lang="en-US" sz="750" dirty="0"/>
          </a:p>
        </p:txBody>
      </p:sp>
      <p:sp>
        <p:nvSpPr>
          <p:cNvPr id="7" name="Shape 3"/>
          <p:cNvSpPr/>
          <p:nvPr/>
        </p:nvSpPr>
        <p:spPr>
          <a:xfrm>
            <a:off x="638175" y="1524000"/>
            <a:ext cx="5762625" cy="4124325"/>
          </a:xfrm>
          <a:prstGeom prst="roundRect">
            <a:avLst>
              <a:gd name="adj" fmla="val 2771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598563"/>
            <a:ext cx="5610225" cy="397356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743575"/>
            <a:ext cx="5762625" cy="5524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5810250"/>
            <a:ext cx="495300" cy="43815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428750" y="5887938"/>
            <a:ext cx="4886325" cy="28277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Crypto-shred • DEK per user</a:t>
            </a:r>
            <a:endParaRPr lang="en-US" sz="825" dirty="0"/>
          </a:p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CBD7E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KEK in KMS • field-level PII bytes = instant unreadable when DEK deleted. Tombstone not enough.</a:t>
            </a:r>
            <a:endParaRPr lang="en-US" sz="825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1737717"/>
            <a:ext cx="4886325" cy="52387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6896100" y="1852017"/>
            <a:ext cx="4638675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→ Kafka 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user_deletion_requests</a:t>
            </a:r>
            <a:pPr indent="0" marL="0"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{user_id, request_id, requested_at}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(Flink) fans out • Audit log gdpr_audit(request_id, stores_purged)</a:t>
            </a:r>
            <a:endParaRPr lang="en-US" sz="825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2375892"/>
            <a:ext cx="4886325" cy="695176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5150" y="2490192"/>
            <a:ext cx="266700" cy="26670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7021711" y="2540198"/>
            <a:ext cx="150614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7"/>
          <p:cNvSpPr txBox="1"/>
          <p:nvPr/>
        </p:nvSpPr>
        <p:spPr>
          <a:xfrm>
            <a:off x="7277100" y="2499717"/>
            <a:ext cx="42386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STORES • &lt;1H SLA</a:t>
            </a:r>
            <a:endParaRPr lang="en-US" sz="750" dirty="0"/>
          </a:p>
        </p:txBody>
      </p:sp>
      <p:sp>
        <p:nvSpPr>
          <p:cNvPr id="18" name="Text 8"/>
          <p:cNvSpPr txBox="1"/>
          <p:nvPr/>
        </p:nvSpPr>
        <p:spPr>
          <a:xfrm>
            <a:off x="7277100" y="2642592"/>
            <a:ext cx="423862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75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Scylla / Redis / Cassandra keys</a:t>
            </a:r>
            <a:endParaRPr lang="en-US" sz="975" dirty="0"/>
          </a:p>
        </p:txBody>
      </p:sp>
      <p:sp>
        <p:nvSpPr>
          <p:cNvPr id="19" name="Text 9"/>
          <p:cNvSpPr txBox="1"/>
          <p:nvPr/>
        </p:nvSpPr>
        <p:spPr>
          <a:xfrm>
            <a:off x="7277100" y="2810173"/>
            <a:ext cx="4238625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 user_activity PK user_id, purchases_by_user</a:t>
            </a:r>
            <a:endParaRPr lang="en-US" sz="825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2275" y="3166318"/>
            <a:ext cx="4886325" cy="695176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5150" y="3280618"/>
            <a:ext cx="266700" cy="266700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7009358" y="3330625"/>
            <a:ext cx="162967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A99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23" name="Text 11"/>
          <p:cNvSpPr txBox="1"/>
          <p:nvPr/>
        </p:nvSpPr>
        <p:spPr>
          <a:xfrm>
            <a:off x="7277100" y="3290143"/>
            <a:ext cx="42386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• EQUALITY DELETES</a:t>
            </a:r>
            <a:endParaRPr lang="en-US" sz="750" dirty="0"/>
          </a:p>
        </p:txBody>
      </p:sp>
      <p:sp>
        <p:nvSpPr>
          <p:cNvPr id="24" name="Text 12"/>
          <p:cNvSpPr txBox="1"/>
          <p:nvPr/>
        </p:nvSpPr>
        <p:spPr>
          <a:xfrm>
            <a:off x="7277100" y="3433018"/>
            <a:ext cx="423862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75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delete files → merged at read</a:t>
            </a:r>
            <a:endParaRPr lang="en-US" sz="975" dirty="0"/>
          </a:p>
        </p:txBody>
      </p:sp>
      <p:sp>
        <p:nvSpPr>
          <p:cNvPr id="25" name="Text 13"/>
          <p:cNvSpPr txBox="1"/>
          <p:nvPr/>
        </p:nvSpPr>
        <p:spPr>
          <a:xfrm>
            <a:off x="7277100" y="3600599"/>
            <a:ext cx="4238625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Nightly rewrite_data_files physical removal • manifest pruning intact</a:t>
            </a:r>
            <a:endParaRPr lang="en-US" sz="825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2275" y="3956745"/>
            <a:ext cx="4886325" cy="695176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5150" y="4071045"/>
            <a:ext cx="266700" cy="26670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008465" y="4121051"/>
            <a:ext cx="163860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29" name="Text 15"/>
          <p:cNvSpPr txBox="1"/>
          <p:nvPr/>
        </p:nvSpPr>
        <p:spPr>
          <a:xfrm>
            <a:off x="7277100" y="4080570"/>
            <a:ext cx="42386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KMS • CRYPTO-SHRED INSTANTANEOUS</a:t>
            </a:r>
            <a:endParaRPr lang="en-US" sz="750" dirty="0"/>
          </a:p>
        </p:txBody>
      </p:sp>
      <p:sp>
        <p:nvSpPr>
          <p:cNvPr id="30" name="Text 16"/>
          <p:cNvSpPr txBox="1"/>
          <p:nvPr/>
        </p:nvSpPr>
        <p:spPr>
          <a:xfrm>
            <a:off x="7277100" y="4223445"/>
            <a:ext cx="423862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75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KMS DEK per user</a:t>
            </a:r>
            <a:endParaRPr lang="en-US" sz="975" dirty="0"/>
          </a:p>
        </p:txBody>
      </p:sp>
      <p:sp>
        <p:nvSpPr>
          <p:cNvPr id="31" name="Text 17"/>
          <p:cNvSpPr txBox="1"/>
          <p:nvPr/>
        </p:nvSpPr>
        <p:spPr>
          <a:xfrm>
            <a:off x="7277100" y="4391025"/>
            <a:ext cx="4238625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CBD7E6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bytes already encrypted • key deletion = unreadable in 7d+ tiered S3 too</a:t>
            </a:r>
            <a:endParaRPr lang="en-US" sz="825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2275" y="4766221"/>
            <a:ext cx="1565225" cy="942975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877050" y="4861471"/>
            <a:ext cx="1355527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&lt;1h</a:t>
            </a:r>
            <a:endParaRPr lang="en-US" sz="1350" dirty="0"/>
          </a:p>
        </p:txBody>
      </p:sp>
      <p:sp>
        <p:nvSpPr>
          <p:cNvPr id="34" name="Text 19"/>
          <p:cNvSpPr txBox="1"/>
          <p:nvPr/>
        </p:nvSpPr>
        <p:spPr>
          <a:xfrm>
            <a:off x="7365057" y="5213896"/>
            <a:ext cx="379512" cy="104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spc="81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</a:t>
            </a:r>
            <a:endParaRPr lang="en-US" sz="675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2750" y="4766221"/>
            <a:ext cx="1565374" cy="942975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8537525" y="4861471"/>
            <a:ext cx="135567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&lt;24h</a:t>
            </a:r>
            <a:endParaRPr lang="en-US" sz="1350" dirty="0"/>
          </a:p>
        </p:txBody>
      </p:sp>
      <p:sp>
        <p:nvSpPr>
          <p:cNvPr id="37" name="Text 21"/>
          <p:cNvSpPr txBox="1"/>
          <p:nvPr/>
        </p:nvSpPr>
        <p:spPr>
          <a:xfrm>
            <a:off x="8727132" y="5213896"/>
            <a:ext cx="976610" cy="104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spc="81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 COMPACTION</a:t>
            </a:r>
            <a:endParaRPr lang="en-US" sz="675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3375" y="4766221"/>
            <a:ext cx="1565225" cy="94297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10198150" y="4861471"/>
            <a:ext cx="1355527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7d</a:t>
            </a:r>
            <a:endParaRPr lang="en-US" sz="1350" dirty="0"/>
          </a:p>
        </p:txBody>
      </p:sp>
      <p:sp>
        <p:nvSpPr>
          <p:cNvPr id="40" name="Text 23"/>
          <p:cNvSpPr txBox="1"/>
          <p:nvPr/>
        </p:nvSpPr>
        <p:spPr>
          <a:xfrm>
            <a:off x="10401300" y="5213896"/>
            <a:ext cx="949226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spc="81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RETENTION SOLVES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199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stack?</a:t>
            </a:r>
            <a:endParaRPr lang="en-US" sz="31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86718"/>
            <a:ext cx="7239000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CBD7E6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choice optimizes for one clock while keeping erasure auditable. Iceberg wins for GDPR because equality deletes and partition evolution are first-class.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14165"/>
            <a:ext cx="3619500" cy="17832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2925" y="1423690"/>
            <a:ext cx="3600450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14375" y="1604665"/>
            <a:ext cx="3257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• TRANSPORT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714375" y="1833265"/>
            <a:ext cx="32575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+ Flink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14375" y="2120801"/>
            <a:ext cx="32575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Exactly-once checkpoints to S3, SQL filter, 72 partitions @ 500 eps.</a:t>
            </a:r>
            <a:pPr indent="0" marL="0">
              <a:buNone/>
            </a:pPr>
            <a:r>
              <a:rPr lang="en-US" sz="938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 latency, backpressure aware.</a:t>
            </a:r>
            <a:endParaRPr lang="en-US" sz="938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551807"/>
            <a:ext cx="3257550" cy="46464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9150" y="2637532"/>
            <a:ext cx="304800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0C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Kinesis: vendor lock, no RocksDB state. &gt; Spark streaming: 2-min &gt; Flink 10-sec.</a:t>
            </a:r>
            <a:endParaRPr lang="en-US" sz="82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414165"/>
            <a:ext cx="3619500" cy="178325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95775" y="1423690"/>
            <a:ext cx="3600450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4467225" y="1604665"/>
            <a:ext cx="3257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 • TRUTH</a:t>
            </a:r>
            <a:endParaRPr lang="en-US" sz="750" dirty="0"/>
          </a:p>
        </p:txBody>
      </p:sp>
      <p:sp>
        <p:nvSpPr>
          <p:cNvPr id="14" name="Text 9"/>
          <p:cNvSpPr txBox="1"/>
          <p:nvPr/>
        </p:nvSpPr>
        <p:spPr>
          <a:xfrm>
            <a:off x="4467225" y="1833265"/>
            <a:ext cx="32575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+ Iceberg Silver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467225" y="2120801"/>
            <a:ext cx="3114526" cy="31551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partitioning days(event_time), Z-order user_id, equality deletes, time travel.</a:t>
            </a:r>
            <a:endParaRPr lang="en-US" sz="938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2551807"/>
            <a:ext cx="3257550" cy="46464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72000" y="2637532"/>
            <a:ext cx="304800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58C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Delta/Hudi: delete-by-rewrite, no native equality. Iceberg = GDPR compliant, partition evolution.</a:t>
            </a:r>
            <a:endParaRPr lang="en-US" sz="825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100" y="1414165"/>
            <a:ext cx="3619500" cy="178325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048625" y="1423690"/>
            <a:ext cx="3600450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8220075" y="1604665"/>
            <a:ext cx="3257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• SPEED</a:t>
            </a:r>
            <a:endParaRPr lang="en-US" sz="750" dirty="0"/>
          </a:p>
        </p:txBody>
      </p:sp>
      <p:sp>
        <p:nvSpPr>
          <p:cNvPr id="21" name="Text 14"/>
          <p:cNvSpPr txBox="1"/>
          <p:nvPr/>
        </p:nvSpPr>
        <p:spPr>
          <a:xfrm>
            <a:off x="8220075" y="1833265"/>
            <a:ext cx="32575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ScyllaDB / DynamoDB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220075" y="2120801"/>
            <a:ext cx="32575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 p95 10ms at 600M writes/day, 5× cheaper than Redis.</a:t>
            </a:r>
            <a:pPr indent="0" marL="0">
              <a:buNone/>
            </a:pPr>
            <a:r>
              <a:rPr lang="en-US" sz="938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DynamoDB if managed is priority.</a:t>
            </a:r>
            <a:endParaRPr lang="en-US" sz="938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075" y="2551807"/>
            <a:ext cx="3257550" cy="46464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324850" y="2637532"/>
            <a:ext cx="304800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D96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Redis: cost explodes at 1.2 TB/day. Scylla = LSM, wide rows, TTL 2y.</a:t>
            </a:r>
            <a:endParaRPr lang="en-US" sz="825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330773"/>
            <a:ext cx="3619500" cy="1955899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2925" y="3340298"/>
            <a:ext cx="3600450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714375" y="3521273"/>
            <a:ext cx="3257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OLAP • 15M DASHBOARDS</a:t>
            </a:r>
            <a:endParaRPr lang="en-US" sz="750" dirty="0"/>
          </a:p>
        </p:txBody>
      </p:sp>
      <p:sp>
        <p:nvSpPr>
          <p:cNvPr id="28" name="Text 19"/>
          <p:cNvSpPr txBox="1"/>
          <p:nvPr/>
        </p:nvSpPr>
        <p:spPr>
          <a:xfrm>
            <a:off x="714375" y="3749873"/>
            <a:ext cx="32575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StarRocks / ClickHouse / Pinot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714375" y="4037409"/>
            <a:ext cx="3257550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StarRocks = MySQL compat + separate compute, 12 min freshness on Gold.</a:t>
            </a:r>
            <a:pPr indent="0" marL="0">
              <a:buNone/>
            </a:pPr>
            <a:r>
              <a:rPr lang="en-US" sz="938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ClickHouse for speed, Pinot for real-time.</a:t>
            </a:r>
            <a:endParaRPr lang="en-US" sz="938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641056"/>
            <a:ext cx="3257550" cy="464641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19150" y="4726781"/>
            <a:ext cx="304800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DB7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aggregates dbt every 15m, not Silver. Trino for ad-hoc on Silver.</a:t>
            </a:r>
            <a:endParaRPr lang="en-US" sz="825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3330773"/>
            <a:ext cx="3619500" cy="1955899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295775" y="3340298"/>
            <a:ext cx="3600450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4" name="Text 23"/>
          <p:cNvSpPr txBox="1"/>
          <p:nvPr/>
        </p:nvSpPr>
        <p:spPr>
          <a:xfrm>
            <a:off x="4467225" y="3521273"/>
            <a:ext cx="3257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105" kern="0" dirty="0">
                <a:solidFill>
                  <a:srgbClr val="CBD7E6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• CONSISTENCY</a:t>
            </a:r>
            <a:endParaRPr lang="en-US" sz="750" dirty="0"/>
          </a:p>
        </p:txBody>
      </p:sp>
      <p:sp>
        <p:nvSpPr>
          <p:cNvPr id="35" name="Text 24"/>
          <p:cNvSpPr txBox="1"/>
          <p:nvPr/>
        </p:nvSpPr>
        <p:spPr>
          <a:xfrm>
            <a:off x="4467225" y="3749873"/>
            <a:ext cx="32575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Feast online + offline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4467225" y="4037409"/>
            <a:ext cx="32575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definition for online Scylla and offline Iceberg T-1 snapshot.</a:t>
            </a:r>
            <a:pPr indent="0" marL="0">
              <a:buNone/>
            </a:pPr>
            <a:r>
              <a:rPr lang="en-US" sz="938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skew training/serving.</a:t>
            </a:r>
            <a:endParaRPr lang="en-US" sz="938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7225" y="4641056"/>
            <a:ext cx="3257550" cy="464641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4572000" y="4726781"/>
            <a:ext cx="304800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359"/>
              </a:spcBef>
              <a:buNone/>
            </a:pPr>
            <a:r>
              <a:rPr lang="en-US" sz="825" dirty="0">
                <a:solidFill>
                  <a:srgbClr val="5CD7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FOR TIMESTAMP AS OF T-1 → offline store s3://features/offline/</a:t>
            </a:r>
            <a:endParaRPr lang="en-US" sz="825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5420023"/>
            <a:ext cx="11125200" cy="514350"/>
          </a:xfrm>
          <a:prstGeom prst="rect">
            <a:avLst/>
          </a:prstGeom>
        </p:spPr>
      </p:pic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5543848"/>
            <a:ext cx="266700" cy="26670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783134" y="5596235"/>
            <a:ext cx="178891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B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Text 28"/>
          <p:cNvSpPr txBox="1"/>
          <p:nvPr/>
        </p:nvSpPr>
        <p:spPr>
          <a:xfrm>
            <a:off x="1095375" y="5603379"/>
            <a:ext cx="9905851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Kappa for transport + Lakehouse for truth + Online for speed.</a:t>
            </a:r>
            <a:pPr indent="0" marL="0">
              <a:buNone/>
            </a:pPr>
            <a:r>
              <a:rPr lang="en-US" sz="938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event lands in Scylla in 2 sec, StarRocks in 12 min, T-1 snapshot tomorrow — without ever scanning 2 years.</a:t>
            </a:r>
            <a:endParaRPr lang="en-US" sz="9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417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3"/>
              </a:lnSpc>
              <a:buNone/>
            </a:pPr>
            <a:r>
              <a:rPr lang="en-US" sz="3150" b="1" spc="-63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Cost, monitoring, </a:t>
            </a:r>
            <a:pPr indent="0" marL="0">
              <a:buNone/>
            </a:pPr>
            <a:r>
              <a:rPr lang="en-US" sz="3150" b="1" spc="-63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88963"/>
            <a:ext cx="5982593" cy="54499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4375" y="1112788"/>
            <a:ext cx="2661791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S3 650 TB $15k/mo vs Kafka 2.6 PB $260k/mo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715024" y="1136600"/>
            <a:ext cx="161999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1FB0B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 CHEAPER + QUERYABLE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57225" y="1381125"/>
            <a:ext cx="5734050" cy="4162425"/>
          </a:xfrm>
          <a:prstGeom prst="roundRect">
            <a:avLst>
              <a:gd name="adj" fmla="val 2746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474738"/>
            <a:ext cx="5544443" cy="3975497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5640735"/>
            <a:ext cx="2819846" cy="6743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1050" y="5745510"/>
            <a:ext cx="2572196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FF8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$260,000/mo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781050" y="5962650"/>
            <a:ext cx="2572196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25"/>
              </a:spcBef>
              <a:buNone/>
            </a:pPr>
            <a:r>
              <a:rPr lang="en-US" sz="750" spc="60" kern="0" dirty="0">
                <a:solidFill>
                  <a:srgbClr val="CBD7E6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2YR RF3 2.6 PB • $100/TB • NO PRUNING, NO SQL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321" y="5640735"/>
            <a:ext cx="2819846" cy="6743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696146" y="5745510"/>
            <a:ext cx="2572196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$15,000/mo</a:t>
            </a:r>
            <a:endParaRPr lang="en-US" sz="1350" dirty="0"/>
          </a:p>
        </p:txBody>
      </p:sp>
      <p:sp>
        <p:nvSpPr>
          <p:cNvPr id="13" name="Text 7"/>
          <p:cNvSpPr txBox="1"/>
          <p:nvPr/>
        </p:nvSpPr>
        <p:spPr>
          <a:xfrm>
            <a:off x="3696146" y="5962650"/>
            <a:ext cx="2572196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25"/>
              </a:spcBef>
              <a:buNone/>
            </a:pPr>
            <a:r>
              <a:rPr lang="en-US" sz="750" spc="60" kern="0" dirty="0">
                <a:solidFill>
                  <a:srgbClr val="CBD7E6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ICEBERG 650 TB ZSTD • $23/TB • DAYS() PRUNING + STATS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643" y="2069009"/>
            <a:ext cx="4894957" cy="92809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773168" y="2078534"/>
            <a:ext cx="19050" cy="9090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518" y="2202359"/>
            <a:ext cx="266700" cy="26670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005" y="2278559"/>
            <a:ext cx="85725" cy="1143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287518" y="2211884"/>
            <a:ext cx="422820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FILES SOLVED</a:t>
            </a:r>
            <a:endParaRPr lang="en-US" sz="750" dirty="0"/>
          </a:p>
        </p:txBody>
      </p:sp>
      <p:sp>
        <p:nvSpPr>
          <p:cNvPr id="19" name="Text 10"/>
          <p:cNvSpPr txBox="1"/>
          <p:nvPr/>
        </p:nvSpPr>
        <p:spPr>
          <a:xfrm>
            <a:off x="7287518" y="2364284"/>
            <a:ext cx="4228207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Flink 60s rolling → 128 MB, Spark rewrite 512 MB</a:t>
            </a:r>
            <a:endParaRPr lang="en-US" sz="975" dirty="0"/>
          </a:p>
        </p:txBody>
      </p:sp>
      <p:sp>
        <p:nvSpPr>
          <p:cNvPr id="20" name="Text 11"/>
          <p:cNvSpPr txBox="1"/>
          <p:nvPr/>
        </p:nvSpPr>
        <p:spPr>
          <a:xfrm>
            <a:off x="7287518" y="2566690"/>
            <a:ext cx="4228207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CBD7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512 MB Parquet reduces manifest from 50k → 1.3k files/day. Auto compact every 15 min.</a:t>
            </a:r>
            <a:endParaRPr lang="en-US" sz="863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3643" y="3111401"/>
            <a:ext cx="4894957" cy="1204913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773168" y="3120926"/>
            <a:ext cx="19050" cy="11858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6518" y="3244751"/>
            <a:ext cx="266700" cy="26670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5574" y="3320951"/>
            <a:ext cx="128588" cy="1143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287518" y="3254276"/>
            <a:ext cx="422820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 MONITORING • 4 CLOCKS</a:t>
            </a:r>
            <a:endParaRPr lang="en-US" sz="750" dirty="0"/>
          </a:p>
        </p:txBody>
      </p:sp>
      <p:sp>
        <p:nvSpPr>
          <p:cNvPr id="26" name="Text 14"/>
          <p:cNvSpPr txBox="1"/>
          <p:nvPr/>
        </p:nvSpPr>
        <p:spPr>
          <a:xfrm>
            <a:off x="7287518" y="3406676"/>
            <a:ext cx="4228207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Flink backpressure, consumer lag, snapshot age, p95</a:t>
            </a:r>
            <a:endParaRPr lang="en-US" sz="975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518" y="3561457"/>
            <a:ext cx="4228207" cy="621506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392293" y="3656707"/>
            <a:ext cx="4018657" cy="4405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consumer_lag{topic=events} &lt; 2m</a:t>
            </a:r>
            <a:endParaRPr lang="en-US" sz="788" dirty="0"/>
          </a:p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iceberg_snapshot_age &lt; 15m</a:t>
            </a:r>
            <a:endParaRPr lang="en-US" sz="788" dirty="0"/>
          </a:p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AB6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scylla_p95{tbl=user_activity} &lt; 15ms</a:t>
            </a:r>
            <a:endParaRPr lang="en-US" sz="788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3643" y="4430613"/>
            <a:ext cx="4894957" cy="928092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6773168" y="4440138"/>
            <a:ext cx="19050" cy="9090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06518" y="4563963"/>
            <a:ext cx="266700" cy="266700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2718" y="4640163"/>
            <a:ext cx="114300" cy="11430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7287518" y="4573488"/>
            <a:ext cx="422820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8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FROM ANY DATE</a:t>
            </a:r>
            <a:endParaRPr lang="en-US" sz="750" dirty="0"/>
          </a:p>
        </p:txBody>
      </p:sp>
      <p:sp>
        <p:nvSpPr>
          <p:cNvPr id="34" name="Text 18"/>
          <p:cNvSpPr txBox="1"/>
          <p:nvPr/>
        </p:nvSpPr>
        <p:spPr>
          <a:xfrm>
            <a:off x="7287518" y="4725888"/>
            <a:ext cx="4228207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Reprocess Bronze → Silver via Iceberg time travel</a:t>
            </a:r>
            <a:endParaRPr lang="en-US" sz="975" dirty="0"/>
          </a:p>
        </p:txBody>
      </p:sp>
      <p:sp>
        <p:nvSpPr>
          <p:cNvPr id="35" name="Text 19"/>
          <p:cNvSpPr txBox="1"/>
          <p:nvPr/>
        </p:nvSpPr>
        <p:spPr>
          <a:xfrm>
            <a:off x="7287518" y="4928295"/>
            <a:ext cx="4228207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CBD7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TIMESTAMP AS OF '2026-10-01' → rewrites Silver slice. No replay through Kafka tiered log.</a:t>
            </a:r>
            <a:endParaRPr lang="en-US" sz="86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334" y="1563886"/>
            <a:ext cx="7895332" cy="4799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spc="-78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log, </a:t>
            </a:r>
            <a:pPr indent="0" marL="0">
              <a:buNone/>
            </a:pPr>
            <a:r>
              <a:rPr lang="en-US" sz="3900" b="1" spc="-78" kern="0" dirty="0">
                <a:solidFill>
                  <a:srgbClr val="1FB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SLAs</a:t>
            </a:r>
            <a:pPr indent="0" marL="0">
              <a:buNone/>
            </a:pPr>
            <a:r>
              <a:rPr lang="en-US" sz="3900" b="1" spc="-78" kern="0" dirty="0">
                <a:solidFill>
                  <a:srgbClr val="CBD7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zero full scans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5638800" y="2257425"/>
            <a:ext cx="914400" cy="19050"/>
          </a:xfrm>
          <a:prstGeom prst="rect">
            <a:avLst/>
          </a:prstGeom>
          <a:solidFill>
            <a:srgbClr val="1FB0B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476500" y="2501057"/>
            <a:ext cx="7239000" cy="3771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</a:t>
            </a:r>
            <a:pPr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Kafka + Tiered S3 + Flink speed layer + Iceberg lakehouse + StarRocks serving + deletion stream</a:t>
            </a:r>
            <a:pPr indent="0" marL="0">
              <a:buNone/>
            </a:pPr>
            <a:r>
              <a:rPr lang="en-US" sz="975" dirty="0">
                <a:solidFill>
                  <a:srgbClr val="CBD7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Transport stays hot, truth lives in S3, speed lives in Scylla.</a:t>
            </a:r>
            <a:endParaRPr lang="en-US" sz="9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3087737"/>
            <a:ext cx="2009775" cy="9533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66925" y="3240137"/>
            <a:ext cx="168592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675" dirty="0"/>
          </a:p>
        </p:txBody>
      </p:sp>
      <p:sp>
        <p:nvSpPr>
          <p:cNvPr id="7" name="Text 4"/>
          <p:cNvSpPr txBox="1"/>
          <p:nvPr/>
        </p:nvSpPr>
        <p:spPr>
          <a:xfrm>
            <a:off x="2066925" y="3416350"/>
            <a:ext cx="168592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&lt;3s to Scylla</a:t>
            </a:r>
            <a:endParaRPr lang="en-US" sz="1125" dirty="0"/>
          </a:p>
        </p:txBody>
      </p:sp>
      <p:sp>
        <p:nvSpPr>
          <p:cNvPr id="8" name="Text 5"/>
          <p:cNvSpPr txBox="1"/>
          <p:nvPr/>
        </p:nvSpPr>
        <p:spPr>
          <a:xfrm>
            <a:off x="2066925" y="3625900"/>
            <a:ext cx="168592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10ms, last 20 events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3087737"/>
            <a:ext cx="2009775" cy="9533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91000" y="3240137"/>
            <a:ext cx="168592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</a:t>
            </a:r>
            <a:endParaRPr lang="en-US" sz="675" dirty="0"/>
          </a:p>
        </p:txBody>
      </p:sp>
      <p:sp>
        <p:nvSpPr>
          <p:cNvPr id="11" name="Text 7"/>
          <p:cNvSpPr txBox="1"/>
          <p:nvPr/>
        </p:nvSpPr>
        <p:spPr>
          <a:xfrm>
            <a:off x="4191000" y="3416350"/>
            <a:ext cx="168592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&lt;2min filtered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4191000" y="3625900"/>
            <a:ext cx="1685925" cy="2723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30M purchase/day, 5-min window</a:t>
            </a:r>
            <a:endParaRPr lang="en-US" sz="82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3087737"/>
            <a:ext cx="2009775" cy="9533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15075" y="3240137"/>
            <a:ext cx="168592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675" dirty="0"/>
          </a:p>
        </p:txBody>
      </p:sp>
      <p:sp>
        <p:nvSpPr>
          <p:cNvPr id="15" name="Text 10"/>
          <p:cNvSpPr txBox="1"/>
          <p:nvPr/>
        </p:nvSpPr>
        <p:spPr>
          <a:xfrm>
            <a:off x="6315075" y="3416350"/>
            <a:ext cx="168592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15min, 50GB not 650TB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6315075" y="3625900"/>
            <a:ext cx="168592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days(event_time) pruning</a:t>
            </a:r>
            <a:endParaRPr lang="en-US" sz="82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25" y="3087737"/>
            <a:ext cx="2009775" cy="9533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39150" y="3240137"/>
            <a:ext cx="168592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450"/>
              </a:spcAft>
              <a:buNone/>
            </a:pPr>
            <a:r>
              <a:rPr lang="en-US" sz="675" spc="95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</a:t>
            </a:r>
            <a:endParaRPr lang="en-US" sz="675" dirty="0"/>
          </a:p>
        </p:txBody>
      </p:sp>
      <p:sp>
        <p:nvSpPr>
          <p:cNvPr id="19" name="Text 13"/>
          <p:cNvSpPr txBox="1"/>
          <p:nvPr/>
        </p:nvSpPr>
        <p:spPr>
          <a:xfrm>
            <a:off x="8439150" y="3416350"/>
            <a:ext cx="168592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Erasure as stream</a:t>
            </a:r>
            <a:endParaRPr lang="en-US" sz="1125" dirty="0"/>
          </a:p>
        </p:txBody>
      </p:sp>
      <p:sp>
        <p:nvSpPr>
          <p:cNvPr id="20" name="Text 14"/>
          <p:cNvSpPr txBox="1"/>
          <p:nvPr/>
        </p:nvSpPr>
        <p:spPr>
          <a:xfrm>
            <a:off x="8439150" y="3625900"/>
            <a:ext cx="168592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BD7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equality deletes + KMS shred</a:t>
            </a:r>
            <a:endParaRPr lang="en-US" sz="825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269730"/>
            <a:ext cx="3718024" cy="10242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066925" y="4422130"/>
            <a:ext cx="339417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90" kern="0" dirty="0">
                <a:solidFill>
                  <a:srgbClr val="CBD7E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• POC</a:t>
            </a:r>
            <a:endParaRPr lang="en-US" sz="750" dirty="0"/>
          </a:p>
        </p:txBody>
      </p:sp>
      <p:sp>
        <p:nvSpPr>
          <p:cNvPr id="23" name="Text 16"/>
          <p:cNvSpPr txBox="1"/>
          <p:nvPr/>
        </p:nvSpPr>
        <p:spPr>
          <a:xfrm>
            <a:off x="2066925" y="4622155"/>
            <a:ext cx="3394174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Replay 1 day Bronze → Silver, benchmark partition pruning Trino 3-5 sec, load test Scylla 35K rps, write first </a:t>
            </a:r>
            <a:pPr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equality delete file</a:t>
            </a:r>
            <a:pPr indent="0" marL="0">
              <a:buNone/>
            </a:pPr>
            <a:r>
              <a:rPr lang="en-US" sz="975" dirty="0">
                <a:solidFill>
                  <a:srgbClr val="CBD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validate KMS per-user DEK</a:t>
            </a:r>
            <a:endParaRPr lang="en-US" sz="975" dirty="0"/>
          </a:p>
        </p:txBody>
      </p:sp>
      <p:sp>
        <p:nvSpPr>
          <p:cNvPr id="24" name="Shape 17"/>
          <p:cNvSpPr/>
          <p:nvPr/>
        </p:nvSpPr>
        <p:spPr>
          <a:xfrm>
            <a:off x="5753100" y="4267200"/>
            <a:ext cx="4533900" cy="1028700"/>
          </a:xfrm>
          <a:prstGeom prst="roundRect">
            <a:avLst>
              <a:gd name="adj" fmla="val 12963"/>
            </a:avLst>
          </a:prstGeom>
          <a:solidFill>
            <a:srgbClr val="1FB0BC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5927824" y="4601319"/>
            <a:ext cx="4187726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0613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 stack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927824" y="4826050"/>
            <a:ext cx="418772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6131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Bronze/Silver + personalization path → fraud filter → Gold aggregates 15m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600M-Events-a-Day-—-Tiered-Storage-&amp;-Serving-Architecture</dc:title>
  <dc:subject>PptxGenJS Presentation</dc:subject>
  <dc:creator>PptxGenJS</dc:creator>
  <cp:lastModifiedBy>PptxGenJS</cp:lastModifiedBy>
  <cp:revision>1</cp:revision>
  <dcterms:created xsi:type="dcterms:W3CDTF">2026-10-13T08:37:07Z</dcterms:created>
  <dcterms:modified xsi:type="dcterms:W3CDTF">2026-10-13T08:37:07Z</dcterms:modified>
</cp:coreProperties>
</file>