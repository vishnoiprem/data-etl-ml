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200" y="2368302"/>
            <a:ext cx="7239000" cy="68803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300" b="1" spc="-252" kern="0" dirty="0">
                <a:solidFill>
                  <a:srgbClr val="101011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</a:t>
            </a:r>
            <a:endParaRPr lang="en-US" sz="6300" dirty="0"/>
          </a:p>
        </p:txBody>
      </p:sp>
      <p:sp>
        <p:nvSpPr>
          <p:cNvPr id="5" name="Text 1"/>
          <p:cNvSpPr txBox="1"/>
          <p:nvPr/>
        </p:nvSpPr>
        <p:spPr>
          <a:xfrm>
            <a:off x="838200" y="3056334"/>
            <a:ext cx="7239000" cy="68803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300" b="1" spc="-252" kern="0" dirty="0">
                <a:solidFill>
                  <a:srgbClr val="101011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(Ownership)</a:t>
            </a:r>
            <a:endParaRPr lang="en-US" sz="6300" dirty="0"/>
          </a:p>
        </p:txBody>
      </p:sp>
      <p:sp>
        <p:nvSpPr>
          <p:cNvPr id="6" name="Text 2"/>
          <p:cNvSpPr txBox="1"/>
          <p:nvPr/>
        </p:nvSpPr>
        <p:spPr>
          <a:xfrm>
            <a:off x="838200" y="3801517"/>
            <a:ext cx="7239000" cy="68803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00"/>
              </a:lnSpc>
              <a:spcBef>
                <a:spcPts val="450"/>
              </a:spcBef>
              <a:buNone/>
            </a:pPr>
            <a:r>
              <a:rPr lang="en-US" sz="6300" b="1" spc="-346" kern="0" dirty="0">
                <a:solidFill>
                  <a:srgbClr val="1010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 </a:t>
            </a:r>
            <a:endParaRPr lang="en-US" sz="6300" dirty="0"/>
          </a:p>
        </p:txBody>
      </p:sp>
      <p:sp>
        <p:nvSpPr>
          <p:cNvPr id="7" name="Shape 3"/>
          <p:cNvSpPr/>
          <p:nvPr/>
        </p:nvSpPr>
        <p:spPr>
          <a:xfrm>
            <a:off x="838200" y="6848475"/>
            <a:ext cx="10515600" cy="9525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125200" cy="85055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3400" y="466725"/>
            <a:ext cx="612725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182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// HOW THIS ROUND IS SCORED</a:t>
            </a:r>
            <a:endParaRPr lang="en-US" sz="825" dirty="0"/>
          </a:p>
        </p:txBody>
      </p:sp>
      <p:sp>
        <p:nvSpPr>
          <p:cNvPr id="4" name="Text 1"/>
          <p:cNvSpPr txBox="1"/>
          <p:nvPr/>
        </p:nvSpPr>
        <p:spPr>
          <a:xfrm>
            <a:off x="533400" y="709613"/>
            <a:ext cx="6127254" cy="3981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spcBef>
                <a:spcPts val="750"/>
              </a:spcBef>
              <a:buNone/>
            </a:pPr>
            <a:r>
              <a:rPr lang="en-US" sz="3300" b="1" spc="-132" kern="0" dirty="0">
                <a:solidFill>
                  <a:srgbClr val="0F0F1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Ownership — What Meta Scores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8610600" y="560040"/>
            <a:ext cx="3048000" cy="547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4–5 questions in 30 min.</a:t>
            </a:r>
            <a:pPr indent="0" marL="0">
              <a:buNone/>
            </a:pPr>
            <a:r>
              <a:rPr lang="en-US" sz="97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story ≤5 min, aim 3:00–4:30. Going over costs volume. Rehearse aloud with timer.</a:t>
            </a:r>
            <a:endParaRPr lang="en-US" sz="97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36353"/>
            <a:ext cx="2667000" cy="223242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3425" y="1764953"/>
            <a:ext cx="22669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35" kern="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KEY — OWNERSHIP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733425" y="2031653"/>
            <a:ext cx="2266950" cy="2914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spc="-102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I, not we</a:t>
            </a:r>
            <a:endParaRPr lang="en-US" sz="2550" dirty="0"/>
          </a:p>
        </p:txBody>
      </p:sp>
      <p:sp>
        <p:nvSpPr>
          <p:cNvPr id="9" name="Text 5"/>
          <p:cNvSpPr txBox="1"/>
          <p:nvPr/>
        </p:nvSpPr>
        <p:spPr>
          <a:xfrm>
            <a:off x="733425" y="2484983"/>
            <a:ext cx="2266950" cy="5289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with your actions. Name what you designed, wrote, drove. Trade-off = yours.</a:t>
            </a:r>
            <a:endParaRPr lang="en-US" sz="97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3147268"/>
            <a:ext cx="1594545" cy="29051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8200" y="3223468"/>
            <a:ext cx="138499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designed · I drove · I wrote</a:t>
            </a:r>
            <a:endParaRPr lang="en-US" sz="82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1536353"/>
            <a:ext cx="2667000" cy="223242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552825" y="1764953"/>
            <a:ext cx="22669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RULE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3552825" y="2031653"/>
            <a:ext cx="2266950" cy="58281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spc="-102" kern="0" dirty="0">
                <a:solidFill>
                  <a:srgbClr val="0F0F1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 30·30·120·30s</a:t>
            </a:r>
            <a:endParaRPr lang="en-US" sz="2550" dirty="0"/>
          </a:p>
        </p:txBody>
      </p:sp>
      <p:sp>
        <p:nvSpPr>
          <p:cNvPr id="15" name="Text 9"/>
          <p:cNvSpPr txBox="1"/>
          <p:nvPr/>
        </p:nvSpPr>
        <p:spPr>
          <a:xfrm>
            <a:off x="3552825" y="2776389"/>
            <a:ext cx="226695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3A3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Situation ≤30s, Task ≤30s, Action ≤2m, Result ≤30s. No filler.</a:t>
            </a:r>
            <a:endParaRPr lang="en-US" sz="97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2825" y="3259187"/>
            <a:ext cx="773311" cy="29051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657600" y="3335387"/>
            <a:ext cx="56376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3:30 target</a:t>
            </a:r>
            <a:endParaRPr lang="en-US" sz="825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536353"/>
            <a:ext cx="2667000" cy="223242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372225" y="1764953"/>
            <a:ext cx="22669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FORMAT</a:t>
            </a:r>
            <a:endParaRPr lang="en-US" sz="750" dirty="0"/>
          </a:p>
        </p:txBody>
      </p:sp>
      <p:sp>
        <p:nvSpPr>
          <p:cNvPr id="20" name="Text 12"/>
          <p:cNvSpPr txBox="1"/>
          <p:nvPr/>
        </p:nvSpPr>
        <p:spPr>
          <a:xfrm>
            <a:off x="6372225" y="2031653"/>
            <a:ext cx="2266950" cy="2914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spc="-102" kern="0" dirty="0">
                <a:solidFill>
                  <a:srgbClr val="0F0F1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%, $, hrs, ms</a:t>
            </a:r>
            <a:endParaRPr lang="en-US" sz="2550" dirty="0"/>
          </a:p>
        </p:txBody>
      </p:sp>
      <p:sp>
        <p:nvSpPr>
          <p:cNvPr id="21" name="Text 13"/>
          <p:cNvSpPr txBox="1"/>
          <p:nvPr/>
        </p:nvSpPr>
        <p:spPr>
          <a:xfrm>
            <a:off x="6372225" y="2484983"/>
            <a:ext cx="226695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3A3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measurable. Then what you'd change — growth signal.</a:t>
            </a:r>
            <a:endParaRPr lang="en-US" sz="975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225" y="2967782"/>
            <a:ext cx="953393" cy="290513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477000" y="3043982"/>
            <a:ext cx="74384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→ After</a:t>
            </a:r>
            <a:endParaRPr lang="en-US" sz="8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1600" y="1536353"/>
            <a:ext cx="2667000" cy="223242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9191625" y="1764953"/>
            <a:ext cx="22669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</a:t>
            </a:r>
            <a:endParaRPr lang="en-US" sz="750" dirty="0"/>
          </a:p>
        </p:txBody>
      </p:sp>
      <p:sp>
        <p:nvSpPr>
          <p:cNvPr id="26" name="Text 16"/>
          <p:cNvSpPr txBox="1"/>
          <p:nvPr/>
        </p:nvSpPr>
        <p:spPr>
          <a:xfrm>
            <a:off x="9191625" y="2031653"/>
            <a:ext cx="2266950" cy="2914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spc="-102" kern="0" dirty="0">
                <a:solidFill>
                  <a:srgbClr val="0F0F1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Timer Drill</a:t>
            </a:r>
            <a:endParaRPr lang="en-US" sz="2550" dirty="0"/>
          </a:p>
        </p:txBody>
      </p:sp>
      <p:sp>
        <p:nvSpPr>
          <p:cNvPr id="27" name="Text 17"/>
          <p:cNvSpPr txBox="1"/>
          <p:nvPr/>
        </p:nvSpPr>
        <p:spPr>
          <a:xfrm>
            <a:off x="9191625" y="2484983"/>
            <a:ext cx="226695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3A3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prep hides mumbles. Record, listen for “we” vs “I”.</a:t>
            </a:r>
            <a:endParaRPr lang="en-US" sz="975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1625" y="2967782"/>
            <a:ext cx="1604516" cy="290513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9296400" y="3043982"/>
            <a:ext cx="139496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before: 4 back-to-back</a:t>
            </a:r>
            <a:endParaRPr lang="en-US" sz="825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4016425"/>
            <a:ext cx="5486400" cy="931069"/>
          </a:xfrm>
          <a:prstGeom prst="rect">
            <a:avLst/>
          </a:prstGeom>
        </p:spPr>
      </p:pic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4197400"/>
            <a:ext cx="266700" cy="2667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54422" y="4254550"/>
            <a:ext cx="155228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0F1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≠</a:t>
            </a:r>
            <a:endParaRPr lang="en-US" sz="900" dirty="0"/>
          </a:p>
        </p:txBody>
      </p:sp>
      <p:sp>
        <p:nvSpPr>
          <p:cNvPr id="33" name="Text 20"/>
          <p:cNvSpPr txBox="1"/>
          <p:nvPr/>
        </p:nvSpPr>
        <p:spPr>
          <a:xfrm>
            <a:off x="1152525" y="4206925"/>
            <a:ext cx="464820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heroes vs villains</a:t>
            </a:r>
            <a:endParaRPr lang="en-US" sz="975" dirty="0"/>
          </a:p>
        </p:txBody>
      </p:sp>
      <p:sp>
        <p:nvSpPr>
          <p:cNvPr id="34" name="Text 21"/>
          <p:cNvSpPr txBox="1"/>
          <p:nvPr/>
        </p:nvSpPr>
        <p:spPr>
          <a:xfrm>
            <a:off x="1152525" y="4430762"/>
            <a:ext cx="464820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as trade-offs, not personalities. Learning &gt; blame. “I would've raised earlier” lands.</a:t>
            </a:r>
            <a:endParaRPr lang="en-US" sz="938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4016425"/>
            <a:ext cx="5486400" cy="931069"/>
          </a:xfrm>
          <a:prstGeom prst="rect">
            <a:avLst/>
          </a:prstGeom>
        </p:spPr>
      </p:pic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4197400"/>
            <a:ext cx="266700" cy="266700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6503343" y="4254550"/>
            <a:ext cx="145107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0F1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!</a:t>
            </a:r>
            <a:endParaRPr lang="en-US" sz="900" dirty="0"/>
          </a:p>
        </p:txBody>
      </p:sp>
      <p:sp>
        <p:nvSpPr>
          <p:cNvPr id="38" name="Text 23"/>
          <p:cNvSpPr txBox="1"/>
          <p:nvPr/>
        </p:nvSpPr>
        <p:spPr>
          <a:xfrm>
            <a:off x="6791325" y="4206925"/>
            <a:ext cx="464820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F0F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Follow-ups are scored</a:t>
            </a:r>
            <a:endParaRPr lang="en-US" sz="975" dirty="0"/>
          </a:p>
        </p:txBody>
      </p:sp>
      <p:sp>
        <p:nvSpPr>
          <p:cNvPr id="39" name="Text 24"/>
          <p:cNvSpPr txBox="1"/>
          <p:nvPr/>
        </p:nvSpPr>
        <p:spPr>
          <a:xfrm>
            <a:off x="6791325" y="4430762"/>
            <a:ext cx="464820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“What if manager said no?” — have partner drill. Ownership lives in follow-ups, not opener.</a:t>
            </a:r>
            <a:endParaRPr lang="en-US" sz="93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52425"/>
            <a:ext cx="32385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65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1 — OWNERSHIP · END-TO-END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2925"/>
            <a:ext cx="3238500" cy="5956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Bef>
                <a:spcPts val="450"/>
              </a:spcBef>
              <a:buNone/>
            </a:pPr>
            <a:r>
              <a:rPr lang="en-US" sz="2550" b="1" spc="-102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Led Project End-to-End</a:t>
            </a:r>
            <a:endParaRPr lang="en-US" sz="2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0935"/>
            <a:ext cx="3238500" cy="9048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0075" y="1424285"/>
            <a:ext cx="2952750" cy="647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Prompt:</a:t>
            </a:r>
            <a:pPr indent="0" marL="0">
              <a:buNone/>
            </a:pPr>
            <a:r>
              <a:rPr lang="en-US" sz="863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Tell me about a time you led a project end-to-end.</a:t>
            </a:r>
            <a:endParaRPr lang="en-US" sz="863" dirty="0"/>
          </a:p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when:</a:t>
            </a:r>
            <a:pPr indent="0" marL="0">
              <a:buNone/>
            </a:pPr>
            <a:r>
              <a:rPr lang="en-US" sz="863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ownership, delivery, proudest project. Real: data-quality reconciliation.</a:t>
            </a:r>
            <a:endParaRPr lang="en-US" sz="863" dirty="0"/>
          </a:p>
        </p:txBody>
      </p:sp>
      <p:sp>
        <p:nvSpPr>
          <p:cNvPr id="6" name="Shape 3"/>
          <p:cNvSpPr/>
          <p:nvPr/>
        </p:nvSpPr>
        <p:spPr>
          <a:xfrm>
            <a:off x="457200" y="2352675"/>
            <a:ext cx="3238500" cy="1666875"/>
          </a:xfrm>
          <a:prstGeom prst="roundRect">
            <a:avLst>
              <a:gd name="adj" fmla="val 11429"/>
            </a:avLst>
          </a:prstGeom>
          <a:solidFill>
            <a:srgbClr val="11111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6750" y="2548235"/>
            <a:ext cx="28194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35" kern="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OUTCOME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666750" y="3024485"/>
            <a:ext cx="428774" cy="2952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strike="sngStrike" dirty="0">
                <a:solidFill>
                  <a:srgbClr val="FFFFFF">
                    <a:alpha val="4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12%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1190774" y="3081635"/>
            <a:ext cx="1714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457474" y="2824460"/>
            <a:ext cx="1052215" cy="552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spc="-126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0.3%</a:t>
            </a:r>
            <a:endParaRPr lang="en-US" sz="3150" dirty="0"/>
          </a:p>
        </p:txBody>
      </p:sp>
      <p:sp>
        <p:nvSpPr>
          <p:cNvPr id="11" name="Text 8"/>
          <p:cNvSpPr txBox="1"/>
          <p:nvPr/>
        </p:nvSpPr>
        <p:spPr>
          <a:xfrm>
            <a:off x="666750" y="3500735"/>
            <a:ext cx="281940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900"/>
              </a:spcBef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trust restored. Retired old report 60 days later. Row-hash job &lt;10 min on 2B rows.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27302"/>
            <a:ext cx="3238500" cy="14097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19125" y="4279702"/>
            <a:ext cx="119955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runtime (2B rows)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3101578" y="4279702"/>
            <a:ext cx="43219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&lt;10 min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9125" y="4533900"/>
            <a:ext cx="2914650" cy="57150"/>
          </a:xfrm>
          <a:prstGeom prst="roundRect">
            <a:avLst>
              <a:gd name="adj" fmla="val 166667"/>
            </a:avLst>
          </a:prstGeom>
          <a:solidFill>
            <a:srgbClr val="E8E8ED"/>
          </a:solidFill>
          <a:ln/>
        </p:spPr>
      </p:sp>
      <p:sp>
        <p:nvSpPr>
          <p:cNvPr id="16" name="Shape 12"/>
          <p:cNvSpPr/>
          <p:nvPr/>
        </p:nvSpPr>
        <p:spPr>
          <a:xfrm>
            <a:off x="619125" y="4533900"/>
            <a:ext cx="638175" cy="57150"/>
          </a:xfrm>
          <a:prstGeom prst="rect">
            <a:avLst/>
          </a:prstGeom>
          <a:solidFill>
            <a:srgbClr val="11111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19125" y="4698802"/>
            <a:ext cx="79444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threshold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2974777" y="4698802"/>
            <a:ext cx="55899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0.5% only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19125" y="4965502"/>
            <a:ext cx="77256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mode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3076426" y="4965502"/>
            <a:ext cx="457349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weeks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19125" y="5232202"/>
            <a:ext cx="706189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521595" y="5232202"/>
            <a:ext cx="101218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teams + Finance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651302"/>
            <a:ext cx="1035100" cy="264319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61975" y="5717977"/>
            <a:ext cx="8255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111113"/>
                </a:solidFill>
                <a:highlight>
                  <a:srgbClr val="F5F5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Scoped + Owned</a:t>
            </a:r>
            <a:endParaRPr lang="en-US" sz="788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450" y="5651302"/>
            <a:ext cx="1011882" cy="26431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654225" y="5717977"/>
            <a:ext cx="802332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111113"/>
                </a:solidFill>
                <a:highlight>
                  <a:srgbClr val="F5F5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Cross-functional</a:t>
            </a:r>
            <a:endParaRPr lang="en-US" sz="788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972770"/>
            <a:ext cx="1146721" cy="26431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61975" y="6039445"/>
            <a:ext cx="93717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111113"/>
                </a:solidFill>
                <a:highlight>
                  <a:srgbClr val="F5F5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Row-hash trade-off</a:t>
            </a:r>
            <a:endParaRPr lang="en-US" sz="788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1071" y="5972770"/>
            <a:ext cx="684907" cy="264319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765846" y="6039445"/>
            <a:ext cx="475357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111113"/>
                </a:solidFill>
                <a:highlight>
                  <a:srgbClr val="F5F5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Reflective</a:t>
            </a:r>
            <a:endParaRPr lang="en-US" sz="788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342900"/>
            <a:ext cx="7848600" cy="1267123"/>
          </a:xfrm>
          <a:prstGeom prst="rect">
            <a:avLst/>
          </a:prstGeom>
        </p:spPr>
      </p:pic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6225" y="504825"/>
            <a:ext cx="457200" cy="4572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270772" y="652463"/>
            <a:ext cx="263128" cy="300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050" dirty="0"/>
          </a:p>
        </p:txBody>
      </p:sp>
      <p:sp>
        <p:nvSpPr>
          <p:cNvPr id="34" name="Text 24"/>
          <p:cNvSpPr txBox="1"/>
          <p:nvPr/>
        </p:nvSpPr>
        <p:spPr>
          <a:xfrm>
            <a:off x="4695825" y="518368"/>
            <a:ext cx="6838950" cy="1421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3"/>
              </a:lnSpc>
              <a:spcAft>
                <a:spcPts val="450"/>
              </a:spcAft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SITUATION </a:t>
            </a:r>
            <a:pPr indent="0" marL="0">
              <a:buNone/>
            </a:pPr>
            <a:r>
              <a:rPr lang="en-US" sz="675" b="1" spc="135" kern="0" dirty="0">
                <a:solidFill>
                  <a:srgbClr val="6E6E73"/>
                </a:solidFill>
                <a:highlight>
                  <a:srgbClr val="FFFFFF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≤30S</a:t>
            </a:r>
            <a:endParaRPr lang="en-US" sz="750" dirty="0"/>
          </a:p>
        </p:txBody>
      </p:sp>
      <p:sp>
        <p:nvSpPr>
          <p:cNvPr id="35" name="Text 25"/>
          <p:cNvSpPr txBox="1"/>
          <p:nvPr/>
        </p:nvSpPr>
        <p:spPr>
          <a:xfrm>
            <a:off x="4695825" y="727174"/>
            <a:ext cx="6838950" cy="35510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99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dashboards 12% gap vs OLTP, finance losing trust.</a:t>
            </a:r>
            <a:pPr indent="0" marL="0">
              <a:buNone/>
            </a:pPr>
            <a:r>
              <a:rPr lang="en-US" sz="99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 product teams depend on table. Lead DE on recon project, 4-month span.</a:t>
            </a:r>
            <a:endParaRPr lang="en-US" sz="99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1724323"/>
            <a:ext cx="7848600" cy="1267271"/>
          </a:xfrm>
          <a:prstGeom prst="rect">
            <a:avLst/>
          </a:prstGeom>
        </p:spPr>
      </p:pic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6225" y="1886248"/>
            <a:ext cx="457200" cy="45720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4269581" y="2033885"/>
            <a:ext cx="264319" cy="300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1050" dirty="0"/>
          </a:p>
        </p:txBody>
      </p:sp>
      <p:sp>
        <p:nvSpPr>
          <p:cNvPr id="39" name="Text 27"/>
          <p:cNvSpPr txBox="1"/>
          <p:nvPr/>
        </p:nvSpPr>
        <p:spPr>
          <a:xfrm>
            <a:off x="4695825" y="1899791"/>
            <a:ext cx="6838950" cy="1421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3"/>
              </a:lnSpc>
              <a:spcAft>
                <a:spcPts val="450"/>
              </a:spcAft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</a:t>
            </a:r>
            <a:pPr indent="0" marL="0">
              <a:buNone/>
            </a:pPr>
            <a:r>
              <a:rPr lang="en-US" sz="675" b="1" spc="135" kern="0" dirty="0">
                <a:solidFill>
                  <a:srgbClr val="6E6E73"/>
                </a:solidFill>
                <a:highlight>
                  <a:srgbClr val="FFFFFF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≤30S</a:t>
            </a:r>
            <a:endParaRPr lang="en-US" sz="750" dirty="0"/>
          </a:p>
        </p:txBody>
      </p:sp>
      <p:sp>
        <p:nvSpPr>
          <p:cNvPr id="40" name="Text 28"/>
          <p:cNvSpPr txBox="1"/>
          <p:nvPr/>
        </p:nvSpPr>
        <p:spPr>
          <a:xfrm>
            <a:off x="4695825" y="2108597"/>
            <a:ext cx="6838950" cy="35510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99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daily recon job end-to-end — schema, diff logic, alert routing, rollout. Done = gap &lt;0.5% + finance sign-off.</a:t>
            </a:r>
            <a:endParaRPr lang="en-US" sz="99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6200" y="3105894"/>
            <a:ext cx="7848600" cy="2027634"/>
          </a:xfrm>
          <a:prstGeom prst="rect">
            <a:avLst/>
          </a:prstGeom>
        </p:spPr>
      </p:pic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6225" y="3267819"/>
            <a:ext cx="457200" cy="45720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4263479" y="3415457"/>
            <a:ext cx="279946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050" dirty="0"/>
          </a:p>
        </p:txBody>
      </p:sp>
      <p:sp>
        <p:nvSpPr>
          <p:cNvPr id="44" name="Text 30"/>
          <p:cNvSpPr txBox="1"/>
          <p:nvPr/>
        </p:nvSpPr>
        <p:spPr>
          <a:xfrm>
            <a:off x="4695825" y="3281363"/>
            <a:ext cx="6838950" cy="1421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3"/>
              </a:lnSpc>
              <a:spcAft>
                <a:spcPts val="450"/>
              </a:spcAft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 </a:t>
            </a:r>
            <a:pPr indent="0" marL="0">
              <a:buNone/>
            </a:pPr>
            <a:r>
              <a:rPr lang="en-US" sz="675" b="1" spc="135" kern="0" dirty="0">
                <a:solidFill>
                  <a:srgbClr val="6E6E73"/>
                </a:solidFill>
                <a:highlight>
                  <a:srgbClr val="FFFFFF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≤2M — I, NOT WE</a:t>
            </a:r>
            <a:endParaRPr lang="en-US" sz="750" dirty="0"/>
          </a:p>
        </p:txBody>
      </p:sp>
      <p:sp>
        <p:nvSpPr>
          <p:cNvPr id="45" name="Text 31"/>
          <p:cNvSpPr txBox="1"/>
          <p:nvPr/>
        </p:nvSpPr>
        <p:spPr>
          <a:xfrm>
            <a:off x="4695825" y="3490168"/>
            <a:ext cx="6838950" cy="35510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99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designed</a:t>
            </a:r>
            <a:pPr indent="0" marL="0">
              <a:buNone/>
            </a:pPr>
            <a:r>
              <a:rPr lang="en-US" sz="99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row-hash vs full diff (2B rows &lt;10 min). </a:t>
            </a:r>
            <a:pPr indent="0" marL="0">
              <a:buNone/>
            </a:pPr>
            <a:r>
              <a:rPr lang="en-US" sz="99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wrote</a:t>
            </a:r>
            <a:pPr indent="0" marL="0">
              <a:buNone/>
            </a:pPr>
            <a:r>
              <a:rPr lang="en-US" sz="99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alert only &gt;0.5%, not transient blips. </a:t>
            </a:r>
            <a:pPr indent="0" marL="0">
              <a:buNone/>
            </a:pPr>
            <a:r>
              <a:rPr lang="en-US" sz="99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drove</a:t>
            </a:r>
            <a:pPr indent="0" marL="0">
              <a:buNone/>
            </a:pPr>
            <a:r>
              <a:rPr lang="en-US" sz="99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rollout: shadow 2 weeks, weekly finance report, single approval gate before decommission old report.</a:t>
            </a:r>
            <a:endParaRPr lang="en-US" sz="99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86200" y="5247829"/>
            <a:ext cx="7848600" cy="1267271"/>
          </a:xfrm>
          <a:prstGeom prst="rect">
            <a:avLst/>
          </a:prstGeom>
        </p:spPr>
      </p:pic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86225" y="5409754"/>
            <a:ext cx="457200" cy="457200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4270623" y="5557391"/>
            <a:ext cx="272802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050" dirty="0"/>
          </a:p>
        </p:txBody>
      </p:sp>
      <p:sp>
        <p:nvSpPr>
          <p:cNvPr id="49" name="Text 33"/>
          <p:cNvSpPr txBox="1"/>
          <p:nvPr/>
        </p:nvSpPr>
        <p:spPr>
          <a:xfrm>
            <a:off x="4695825" y="5423297"/>
            <a:ext cx="6838950" cy="1421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3"/>
              </a:lnSpc>
              <a:spcAft>
                <a:spcPts val="450"/>
              </a:spcAft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 </a:t>
            </a:r>
            <a:pPr indent="0" marL="0">
              <a:buNone/>
            </a:pPr>
            <a:r>
              <a:rPr lang="en-US" sz="675" b="1" spc="135" kern="0" dirty="0">
                <a:solidFill>
                  <a:srgbClr val="6E6E73"/>
                </a:solidFill>
                <a:highlight>
                  <a:srgbClr val="FFFFFF"/>
                </a:highligh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≤30S + CHANGE</a:t>
            </a:r>
            <a:endParaRPr lang="en-US" sz="750" dirty="0"/>
          </a:p>
        </p:txBody>
      </p:sp>
      <p:sp>
        <p:nvSpPr>
          <p:cNvPr id="50" name="Text 34"/>
          <p:cNvSpPr txBox="1"/>
          <p:nvPr/>
        </p:nvSpPr>
        <p:spPr>
          <a:xfrm>
            <a:off x="4695825" y="5632103"/>
            <a:ext cx="6838950" cy="35510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6"/>
              </a:lnSpc>
              <a:buNone/>
            </a:pPr>
            <a:r>
              <a:rPr lang="en-US" sz="99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12% → 0.3%, finance regained trust, retired old report 60 days later.</a:t>
            </a:r>
            <a:pPr indent="0" marL="0">
              <a:buNone/>
            </a:pPr>
            <a:r>
              <a:rPr lang="en-US" sz="99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I'd change: push back on 2-week shadow — would've caught bug a sprint earlier.</a:t>
            </a:r>
            <a:endParaRPr lang="en-US" sz="9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52425"/>
            <a:ext cx="637505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65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2 — DISAGREED &amp; RESOLVED · FRICTION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2925"/>
            <a:ext cx="6375053" cy="59561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spcBef>
                <a:spcPts val="450"/>
              </a:spcBef>
              <a:buNone/>
            </a:pPr>
            <a:r>
              <a:rPr lang="en-US" sz="2550" b="1" spc="-102" kern="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Disagreed on</a:t>
            </a:r>
            <a:endParaRPr lang="en-US" sz="255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2550" b="1" spc="-102" kern="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Big-Bang Cutover</a:t>
            </a:r>
            <a:endParaRPr lang="en-US" sz="2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71885"/>
            <a:ext cx="6375053" cy="703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0075" y="1395710"/>
            <a:ext cx="6089303" cy="45541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Prompt:</a:t>
            </a:r>
            <a:pPr indent="0" marL="0">
              <a:buNone/>
            </a:pPr>
            <a:r>
              <a:rPr lang="en-US" sz="82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Tell me about a time you disagreed with your manager.</a:t>
            </a:r>
            <a:endParaRPr lang="en-US" sz="825" dirty="0"/>
          </a:p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when:</a:t>
            </a:r>
            <a:pPr indent="0" marL="0">
              <a:buNone/>
            </a:pPr>
            <a:r>
              <a:rPr lang="en-US" sz="82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conflict, pushback, influence without authority. Real: Redshift → Snowflake, ~150 tables, hard contract deadline.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7349"/>
            <a:ext cx="6375053" cy="85620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270224"/>
            <a:ext cx="381000" cy="3810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71823" y="2384524"/>
            <a:ext cx="218777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1133475" y="2292995"/>
            <a:ext cx="5536853" cy="13722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SITUATION </a:t>
            </a:r>
            <a:pPr indent="0" marL="0">
              <a:buNone/>
            </a:pPr>
            <a:r>
              <a:rPr lang="en-US" sz="675" b="1" spc="135" kern="0" dirty="0">
                <a:solidFill>
                  <a:srgbClr val="3A3A3C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≤30S</a:t>
            </a:r>
            <a:endParaRPr lang="en-US" sz="750" dirty="0"/>
          </a:p>
        </p:txBody>
      </p:sp>
      <p:sp>
        <p:nvSpPr>
          <p:cNvPr id="10" name="Text 5"/>
          <p:cNvSpPr txBox="1"/>
          <p:nvPr/>
        </p:nvSpPr>
        <p:spPr>
          <a:xfrm>
            <a:off x="1133475" y="2496889"/>
            <a:ext cx="5536853" cy="34379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wanted single big-bang before quarter end. </a:t>
            </a:r>
            <a:pPr indent="0" marL="0">
              <a:buNone/>
            </a:pPr>
            <a:r>
              <a:rPr lang="en-US" sz="96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~150 tables, 40 dbt models, 30 dashboards all dark if 1 breaks.</a:t>
            </a:r>
            <a:pPr indent="0" marL="0"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quick rollback.</a:t>
            </a:r>
            <a:endParaRPr lang="en-US" sz="96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97857"/>
            <a:ext cx="6375053" cy="856208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3240732"/>
            <a:ext cx="381000" cy="3810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0930" y="3355032"/>
            <a:ext cx="21967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1133475" y="3263503"/>
            <a:ext cx="5536853" cy="13722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</a:t>
            </a:r>
            <a:pPr indent="0" marL="0">
              <a:buNone/>
            </a:pPr>
            <a:r>
              <a:rPr lang="en-US" sz="675" b="1" spc="135" kern="0" dirty="0">
                <a:solidFill>
                  <a:srgbClr val="3A3A3C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≤30S</a:t>
            </a:r>
            <a:endParaRPr lang="en-US" sz="750" dirty="0"/>
          </a:p>
        </p:txBody>
      </p:sp>
      <p:sp>
        <p:nvSpPr>
          <p:cNvPr id="15" name="Text 8"/>
          <p:cNvSpPr txBox="1"/>
          <p:nvPr/>
        </p:nvSpPr>
        <p:spPr>
          <a:xfrm>
            <a:off x="1133475" y="3467398"/>
            <a:ext cx="5536853" cy="34379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owned cutover</a:t>
            </a:r>
            <a:pPr indent="0" marL="0"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validation, dbt port, dashboard rewiring. If big-bang fails, I'm on rollback at 2am.</a:t>
            </a:r>
            <a:endParaRPr lang="en-US" sz="96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68366"/>
            <a:ext cx="6375053" cy="1209526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4211241"/>
            <a:ext cx="381000" cy="38100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765572" y="4325541"/>
            <a:ext cx="234553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1133475" y="4234011"/>
            <a:ext cx="5536853" cy="13722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spc="135" kern="0" dirty="0">
                <a:solidFill>
                  <a:srgbClr val="FFFFFF">
                    <a:alpha val="6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 </a:t>
            </a:r>
            <a:pPr indent="0" marL="0">
              <a:buNone/>
            </a:pPr>
            <a:r>
              <a:rPr lang="en-US" sz="675" b="1" spc="135" kern="0" dirty="0">
                <a:solidFill>
                  <a:srgbClr val="FFFFFF"/>
                </a:solidFill>
                <a:highlight>
                  <a:srgbClr val="2A2A2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≤2M — 1-PAGER + MIDDLE PATH</a:t>
            </a:r>
            <a:endParaRPr lang="en-US" sz="750" dirty="0"/>
          </a:p>
        </p:txBody>
      </p:sp>
      <p:sp>
        <p:nvSpPr>
          <p:cNvPr id="20" name="Text 11"/>
          <p:cNvSpPr txBox="1"/>
          <p:nvPr/>
        </p:nvSpPr>
        <p:spPr>
          <a:xfrm>
            <a:off x="1133475" y="4437906"/>
            <a:ext cx="5536853" cy="69711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Didn't say “no.” </a:t>
            </a:r>
            <a:pPr indent="0" marL="0">
              <a:buNone/>
            </a:pPr>
            <a:r>
              <a:rPr lang="en-US" sz="960" b="1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profiled 12 highest-risk tables</a:t>
            </a:r>
            <a:pPr indent="0" marL="0">
              <a:buNone/>
            </a:pPr>
            <a:r>
              <a:rPr lang="en-US" sz="960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+ 8-hour freeze cost vs 3-hr windows. Built strangler-fig plan: dual-write both warehouses, dual-materialized dbt, dashboards team-by-team, lowest-stakes first. Booked 30-min with manager + skip, acknowledged deadline, proposed 6-week hard cap + per-wave rollback (config flip).</a:t>
            </a:r>
            <a:endParaRPr lang="en-US" sz="96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392192"/>
            <a:ext cx="6375053" cy="1032867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5535067"/>
            <a:ext cx="381000" cy="38100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771674" y="5649367"/>
            <a:ext cx="228451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900" dirty="0"/>
          </a:p>
        </p:txBody>
      </p:sp>
      <p:sp>
        <p:nvSpPr>
          <p:cNvPr id="24" name="Text 13"/>
          <p:cNvSpPr txBox="1"/>
          <p:nvPr/>
        </p:nvSpPr>
        <p:spPr>
          <a:xfrm>
            <a:off x="1133475" y="5557838"/>
            <a:ext cx="5536853" cy="13722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 </a:t>
            </a:r>
            <a:pPr indent="0" marL="0">
              <a:buNone/>
            </a:pPr>
            <a:r>
              <a:rPr lang="en-US" sz="675" b="1" spc="135" kern="0" dirty="0">
                <a:solidFill>
                  <a:srgbClr val="3A3A3C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≤30S + CHANGE</a:t>
            </a:r>
            <a:endParaRPr lang="en-US" sz="750" dirty="0"/>
          </a:p>
        </p:txBody>
      </p:sp>
      <p:sp>
        <p:nvSpPr>
          <p:cNvPr id="25" name="Text 14"/>
          <p:cNvSpPr txBox="1"/>
          <p:nvPr/>
        </p:nvSpPr>
        <p:spPr>
          <a:xfrm>
            <a:off x="1133475" y="5761732"/>
            <a:ext cx="5536853" cy="52045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weeks, 3 waves, zero downtime.</a:t>
            </a:r>
            <a:pPr indent="0" marL="0"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 2 waves surfaced 6 issues that would've been catastrophic under big-bang. Hit contract +1 week spare. Change: raise day proposal landed, not week before kickoff.</a:t>
            </a:r>
            <a:endParaRPr lang="en-US" sz="96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2753" y="342900"/>
            <a:ext cx="4712047" cy="3214688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222778" y="542925"/>
            <a:ext cx="4311997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1-PAGER I BROUGHT — HOMEWORK, NOT OPINION</a:t>
            </a:r>
            <a:endParaRPr lang="en-US" sz="7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22778" y="790575"/>
            <a:ext cx="4311997" cy="333375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7222778" y="876300"/>
            <a:ext cx="3540621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Blast radius counted</a:t>
            </a:r>
            <a:endParaRPr lang="en-US" sz="900" dirty="0"/>
          </a:p>
        </p:txBody>
      </p:sp>
      <p:sp>
        <p:nvSpPr>
          <p:cNvPr id="30" name="Text 17"/>
          <p:cNvSpPr txBox="1"/>
          <p:nvPr/>
        </p:nvSpPr>
        <p:spPr>
          <a:xfrm>
            <a:off x="10839599" y="876300"/>
            <a:ext cx="69517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/ 40 / 30</a:t>
            </a:r>
            <a:endParaRPr lang="en-US" sz="9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2778" y="1257300"/>
            <a:ext cx="4311997" cy="333375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7222778" y="1343025"/>
            <a:ext cx="295438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highest-risk tables</a:t>
            </a:r>
            <a:endParaRPr lang="en-US" sz="900" dirty="0"/>
          </a:p>
        </p:txBody>
      </p:sp>
      <p:sp>
        <p:nvSpPr>
          <p:cNvPr id="33" name="Text 19"/>
          <p:cNvSpPr txBox="1"/>
          <p:nvPr/>
        </p:nvSpPr>
        <p:spPr>
          <a:xfrm>
            <a:off x="10253365" y="1343025"/>
            <a:ext cx="128141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Rows + models + users</a:t>
            </a:r>
            <a:endParaRPr lang="en-US" sz="9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22778" y="1724025"/>
            <a:ext cx="4311997" cy="333375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7222778" y="1809750"/>
            <a:ext cx="376237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Window: big-bang vs phased</a:t>
            </a:r>
            <a:endParaRPr lang="en-US" sz="900" dirty="0"/>
          </a:p>
        </p:txBody>
      </p:sp>
      <p:sp>
        <p:nvSpPr>
          <p:cNvPr id="36" name="Text 21"/>
          <p:cNvSpPr txBox="1"/>
          <p:nvPr/>
        </p:nvSpPr>
        <p:spPr>
          <a:xfrm>
            <a:off x="11061353" y="1809750"/>
            <a:ext cx="473422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8h vs 3h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2778" y="2190750"/>
            <a:ext cx="4311997" cy="333375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7222778" y="2276475"/>
            <a:ext cx="2941439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cap proposed</a:t>
            </a:r>
            <a:endParaRPr lang="en-US" sz="900" dirty="0"/>
          </a:p>
        </p:txBody>
      </p:sp>
      <p:sp>
        <p:nvSpPr>
          <p:cNvPr id="39" name="Text 23"/>
          <p:cNvSpPr txBox="1"/>
          <p:nvPr/>
        </p:nvSpPr>
        <p:spPr>
          <a:xfrm>
            <a:off x="10240417" y="2276475"/>
            <a:ext cx="129435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weeks, no extensions</a:t>
            </a:r>
            <a:endParaRPr lang="en-US" sz="9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2778" y="2657475"/>
            <a:ext cx="1373832" cy="700088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7327553" y="2800350"/>
            <a:ext cx="1164282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spc="-45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wks</a:t>
            </a:r>
            <a:endParaRPr lang="en-US" sz="1500" dirty="0"/>
          </a:p>
        </p:txBody>
      </p:sp>
      <p:sp>
        <p:nvSpPr>
          <p:cNvPr id="42" name="Text 25"/>
          <p:cNvSpPr txBox="1"/>
          <p:nvPr/>
        </p:nvSpPr>
        <p:spPr>
          <a:xfrm>
            <a:off x="7327553" y="3114675"/>
            <a:ext cx="1164282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spcBef>
                <a:spcPts val="300"/>
              </a:spcBef>
              <a:buNone/>
            </a:pPr>
            <a:r>
              <a:rPr lang="en-US" sz="675" spc="81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MIGRATION</a:t>
            </a:r>
            <a:endParaRPr lang="en-US" sz="675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1860" y="2657475"/>
            <a:ext cx="1373832" cy="700088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8796635" y="2800350"/>
            <a:ext cx="1164282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spc="-45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500" dirty="0"/>
          </a:p>
        </p:txBody>
      </p:sp>
      <p:sp>
        <p:nvSpPr>
          <p:cNvPr id="45" name="Text 27"/>
          <p:cNvSpPr txBox="1"/>
          <p:nvPr/>
        </p:nvSpPr>
        <p:spPr>
          <a:xfrm>
            <a:off x="8796635" y="3114675"/>
            <a:ext cx="1164134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spcBef>
                <a:spcPts val="300"/>
              </a:spcBef>
              <a:buNone/>
            </a:pPr>
            <a:r>
              <a:rPr lang="en-US" sz="675" spc="81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WAVES</a:t>
            </a:r>
            <a:endParaRPr lang="en-US" sz="675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60943" y="2657475"/>
            <a:ext cx="1373832" cy="700088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10265718" y="2800350"/>
            <a:ext cx="1164134" cy="2667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spc="-45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</a:t>
            </a:r>
            <a:endParaRPr lang="en-US" sz="1500" dirty="0"/>
          </a:p>
        </p:txBody>
      </p:sp>
      <p:sp>
        <p:nvSpPr>
          <p:cNvPr id="48" name="Text 29"/>
          <p:cNvSpPr txBox="1"/>
          <p:nvPr/>
        </p:nvSpPr>
        <p:spPr>
          <a:xfrm>
            <a:off x="10265718" y="3114675"/>
            <a:ext cx="1164134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spcBef>
                <a:spcPts val="300"/>
              </a:spcBef>
              <a:buNone/>
            </a:pPr>
            <a:r>
              <a:rPr lang="en-US" sz="675" spc="81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DOWNTIME</a:t>
            </a:r>
            <a:endParaRPr lang="en-US" sz="675" dirty="0"/>
          </a:p>
        </p:txBody>
      </p:sp>
      <p:sp>
        <p:nvSpPr>
          <p:cNvPr id="49" name="Shape 30"/>
          <p:cNvSpPr/>
          <p:nvPr/>
        </p:nvSpPr>
        <p:spPr>
          <a:xfrm>
            <a:off x="7019925" y="3695700"/>
            <a:ext cx="4714875" cy="2333625"/>
          </a:xfrm>
          <a:prstGeom prst="roundRect">
            <a:avLst>
              <a:gd name="adj" fmla="val 7347"/>
            </a:avLst>
          </a:prstGeom>
          <a:solidFill>
            <a:srgbClr val="111113"/>
          </a:solidFill>
          <a:ln/>
        </p:spPr>
      </p:sp>
      <p:sp>
        <p:nvSpPr>
          <p:cNvPr id="50" name="Text 31"/>
          <p:cNvSpPr txBox="1"/>
          <p:nvPr/>
        </p:nvSpPr>
        <p:spPr>
          <a:xfrm>
            <a:off x="7194203" y="3843338"/>
            <a:ext cx="4369147" cy="7313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750"/>
              </a:spcAft>
              <a:buNone/>
            </a:pPr>
            <a:r>
              <a:rPr lang="en-US" sz="2400" b="1" spc="-24" kern="0" dirty="0">
                <a:solidFill>
                  <a:srgbClr val="FFFFFF">
                    <a:alpha val="5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This Proves — Visible Keys</a:t>
            </a:r>
            <a:endParaRPr lang="en-US" sz="2400" dirty="0"/>
          </a:p>
        </p:txBody>
      </p:sp>
      <p:sp>
        <p:nvSpPr>
          <p:cNvPr id="51" name="Text 32"/>
          <p:cNvSpPr txBox="1"/>
          <p:nvPr/>
        </p:nvSpPr>
        <p:spPr>
          <a:xfrm>
            <a:off x="7194203" y="4679454"/>
            <a:ext cx="4369147" cy="1190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Disagreed with evidence + concrete alternative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Respected hard constraint, proposed cap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Per-wave rollback = config change, not fire drill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Framing: “We can do this with less risk and still hit date”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line:</a:t>
            </a:r>
            <a:pPr indent="0" marL="0">
              <a:buNone/>
            </a:pPr>
            <a:r>
              <a:rPr lang="en-US" sz="9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“Same pushback a week earlier saves a week of rushed work. I was nervous to push — burned a week.”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2900"/>
            <a:ext cx="11277600" cy="8834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52425"/>
            <a:ext cx="551423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65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3 — PROCESS WIN · FRAMEWORK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61975"/>
            <a:ext cx="5514231" cy="31536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700" b="1" spc="-108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 Reusable Ingestion Framework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42900"/>
            <a:ext cx="3619500" cy="70246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58175" y="457200"/>
            <a:ext cx="3333750" cy="4833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Prompt:</a:t>
            </a:r>
            <a:pPr indent="0" marL="0">
              <a:buNone/>
            </a:pPr>
            <a:r>
              <a:rPr lang="en-US" sz="863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Tell me about a process you improved.</a:t>
            </a:r>
            <a:endParaRPr lang="en-US" sz="863" dirty="0"/>
          </a:p>
          <a:p>
            <a:pPr algn="r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when:</a:t>
            </a:r>
            <a:pPr indent="0" marL="0">
              <a:buNone/>
            </a:pPr>
            <a:r>
              <a:rPr lang="en-US" sz="863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how you make team better, platform work adopted. Real: 30 one-off pipelines → config-driven framework.</a:t>
            </a:r>
            <a:endParaRPr lang="en-US" sz="86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8744"/>
            <a:ext cx="2857500" cy="163591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57225" y="1752898"/>
            <a:ext cx="24574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35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NEW SOURCE</a:t>
            </a:r>
            <a:endParaRPr lang="en-US" sz="750" dirty="0"/>
          </a:p>
        </p:txBody>
      </p:sp>
      <p:sp>
        <p:nvSpPr>
          <p:cNvPr id="9" name="Text 4"/>
          <p:cNvSpPr txBox="1"/>
          <p:nvPr/>
        </p:nvSpPr>
        <p:spPr>
          <a:xfrm>
            <a:off x="657225" y="1962448"/>
            <a:ext cx="2457450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2400" b="1" spc="-96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wk → 2 d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657225" y="2352973"/>
            <a:ext cx="2457450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600"/>
              </a:spcBef>
              <a:buNone/>
            </a:pPr>
            <a:r>
              <a:rPr lang="en-US" sz="8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reduction.</a:t>
            </a:r>
            <a:pPr indent="0" marL="0">
              <a:buNone/>
            </a:pPr>
            <a:r>
              <a:rPr lang="en-US" sz="863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YAML config only: source, schedule, contract, target.</a:t>
            </a:r>
            <a:endParaRPr lang="en-US" sz="863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28963"/>
            <a:ext cx="2857500" cy="163591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57225" y="3503116"/>
            <a:ext cx="24574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ON-CALL &amp; QUALITY</a:t>
            </a:r>
            <a:endParaRPr lang="en-US" sz="750" dirty="0"/>
          </a:p>
        </p:txBody>
      </p:sp>
      <p:sp>
        <p:nvSpPr>
          <p:cNvPr id="13" name="Text 7"/>
          <p:cNvSpPr txBox="1"/>
          <p:nvPr/>
        </p:nvSpPr>
        <p:spPr>
          <a:xfrm>
            <a:off x="657225" y="3712666"/>
            <a:ext cx="2457450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2400" b="1" spc="-96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70% ↓ pages</a:t>
            </a:r>
            <a:endParaRPr lang="en-US" sz="2400" dirty="0"/>
          </a:p>
        </p:txBody>
      </p:sp>
      <p:sp>
        <p:nvSpPr>
          <p:cNvPr id="14" name="Text 8"/>
          <p:cNvSpPr txBox="1"/>
          <p:nvPr/>
        </p:nvSpPr>
        <p:spPr>
          <a:xfrm>
            <a:off x="657225" y="4103191"/>
            <a:ext cx="2457450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600"/>
              </a:spcBef>
              <a:buNone/>
            </a:pPr>
            <a:r>
              <a:rPr lang="en-US" sz="863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schema drifts caught auto. Previously silent loss.</a:t>
            </a:r>
            <a:endParaRPr lang="en-US" sz="863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879181"/>
            <a:ext cx="2857500" cy="163591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57225" y="5253335"/>
            <a:ext cx="24574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IN 3 MONTHS</a:t>
            </a:r>
            <a:endParaRPr lang="en-US" sz="750" dirty="0"/>
          </a:p>
        </p:txBody>
      </p:sp>
      <p:sp>
        <p:nvSpPr>
          <p:cNvPr id="17" name="Text 10"/>
          <p:cNvSpPr txBox="1"/>
          <p:nvPr/>
        </p:nvSpPr>
        <p:spPr>
          <a:xfrm>
            <a:off x="657225" y="5462885"/>
            <a:ext cx="2457450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600"/>
              </a:spcBef>
              <a:buNone/>
            </a:pPr>
            <a:r>
              <a:rPr lang="en-US" sz="2400" b="1" spc="-96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 / 30 migrated</a:t>
            </a:r>
            <a:endParaRPr lang="en-US" sz="2400" dirty="0"/>
          </a:p>
        </p:txBody>
      </p:sp>
      <p:sp>
        <p:nvSpPr>
          <p:cNvPr id="18" name="Text 11"/>
          <p:cNvSpPr txBox="1"/>
          <p:nvPr/>
        </p:nvSpPr>
        <p:spPr>
          <a:xfrm>
            <a:off x="657225" y="5853410"/>
            <a:ext cx="2457450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600"/>
              </a:spcBef>
              <a:buNone/>
            </a:pPr>
            <a:r>
              <a:rPr lang="en-US" sz="863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teams adopted in first month, pull not push. Dogfooded 2 highest-traffic.</a:t>
            </a:r>
            <a:endParaRPr lang="en-US" sz="863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00" y="1378744"/>
            <a:ext cx="4076700" cy="1635919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025" y="1521619"/>
            <a:ext cx="304800" cy="3048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3746748" y="1604963"/>
            <a:ext cx="177552" cy="2119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825" dirty="0"/>
          </a:p>
        </p:txBody>
      </p:sp>
      <p:sp>
        <p:nvSpPr>
          <p:cNvPr id="22" name="Text 13"/>
          <p:cNvSpPr txBox="1"/>
          <p:nvPr/>
        </p:nvSpPr>
        <p:spPr>
          <a:xfrm>
            <a:off x="4048125" y="1544389"/>
            <a:ext cx="3333750" cy="13722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spc="120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SITUATION </a:t>
            </a:r>
            <a:pPr indent="0" marL="0">
              <a:buNone/>
            </a:pPr>
            <a:r>
              <a:rPr lang="en-US" sz="675" b="1" spc="120" kern="0" dirty="0">
                <a:solidFill>
                  <a:srgbClr val="6E6E7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≤30S</a:t>
            </a:r>
            <a:endParaRPr lang="en-US" sz="750" dirty="0"/>
          </a:p>
        </p:txBody>
      </p:sp>
      <p:sp>
        <p:nvSpPr>
          <p:cNvPr id="23" name="Text 14"/>
          <p:cNvSpPr txBox="1"/>
          <p:nvPr/>
        </p:nvSpPr>
        <p:spPr>
          <a:xfrm>
            <a:off x="4048125" y="1748284"/>
            <a:ext cx="3333750" cy="5083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one-off pipelines, 2 weeks each.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Airflow DAG, schema logic, tests. Half no tests, ⅓ silently dropped rows on drift. On-call hours/week chasing.</a:t>
            </a:r>
            <a:endParaRPr lang="en-US" sz="938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100" y="1378744"/>
            <a:ext cx="4076700" cy="1635919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0025" y="1521619"/>
            <a:ext cx="304800" cy="3048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7936855" y="1604963"/>
            <a:ext cx="178445" cy="2119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825" dirty="0"/>
          </a:p>
        </p:txBody>
      </p:sp>
      <p:sp>
        <p:nvSpPr>
          <p:cNvPr id="27" name="Text 16"/>
          <p:cNvSpPr txBox="1"/>
          <p:nvPr/>
        </p:nvSpPr>
        <p:spPr>
          <a:xfrm>
            <a:off x="8239125" y="1544389"/>
            <a:ext cx="3333750" cy="13722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spc="120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</a:t>
            </a:r>
            <a:pPr indent="0" marL="0">
              <a:buNone/>
            </a:pPr>
            <a:r>
              <a:rPr lang="en-US" sz="675" b="1" spc="120" kern="0" dirty="0">
                <a:solidFill>
                  <a:srgbClr val="6E6E7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≤30S</a:t>
            </a:r>
            <a:endParaRPr lang="en-US" sz="750" dirty="0"/>
          </a:p>
        </p:txBody>
      </p:sp>
      <p:sp>
        <p:nvSpPr>
          <p:cNvPr id="28" name="Text 17"/>
          <p:cNvSpPr txBox="1"/>
          <p:nvPr/>
        </p:nvSpPr>
        <p:spPr>
          <a:xfrm>
            <a:off x="8239125" y="1748284"/>
            <a:ext cx="333375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eng on framework. Users = downstream teams. Own single abstraction teams can point at source &amp; ship in days.</a:t>
            </a:r>
            <a:endParaRPr lang="en-US" sz="938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7100" y="3128963"/>
            <a:ext cx="8267700" cy="1808559"/>
          </a:xfrm>
          <a:prstGeom prst="rect">
            <a:avLst/>
          </a:prstGeom>
        </p:spPr>
      </p:pic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9025" y="3271838"/>
            <a:ext cx="304800" cy="304800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3741093" y="3355181"/>
            <a:ext cx="192732" cy="2214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825" dirty="0"/>
          </a:p>
        </p:txBody>
      </p:sp>
      <p:sp>
        <p:nvSpPr>
          <p:cNvPr id="32" name="Text 19"/>
          <p:cNvSpPr txBox="1"/>
          <p:nvPr/>
        </p:nvSpPr>
        <p:spPr>
          <a:xfrm>
            <a:off x="4048125" y="3294608"/>
            <a:ext cx="7524750" cy="13722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spc="120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 </a:t>
            </a:r>
            <a:pPr indent="0" marL="0">
              <a:buNone/>
            </a:pPr>
            <a:r>
              <a:rPr lang="en-US" sz="675" b="1" spc="120" kern="0" dirty="0">
                <a:solidFill>
                  <a:srgbClr val="6E6E7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≤2M — DIAGNOSIS → FIX → ROLLOUT</a:t>
            </a:r>
            <a:endParaRPr lang="en-US" sz="750" dirty="0"/>
          </a:p>
        </p:txBody>
      </p:sp>
      <p:sp>
        <p:nvSpPr>
          <p:cNvPr id="33" name="Text 20"/>
          <p:cNvSpPr txBox="1"/>
          <p:nvPr/>
        </p:nvSpPr>
        <p:spPr>
          <a:xfrm>
            <a:off x="4048125" y="3498503"/>
            <a:ext cx="7524750" cy="681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Catalogued 3 patterns (REST API, relational DB, SFTP = ~90%). Built config-driven: YAML → idempotent S3 Parquet, schema-drift detection, Great Expectations, dbt scaffolding, retries/backoff, PagerDuty+Slack. Built on Airflow+dbt, no new learning. </a:t>
            </a:r>
            <a:pPr indent="0" marL="0">
              <a:buNone/>
            </a:pPr>
            <a:r>
              <a:rPr lang="en-US" sz="938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dogfooded orders + customers feeds myself</a:t>
            </a:r>
            <a:pPr indent="0" marL="0">
              <a:buNone/>
            </a:pPr>
            <a:r>
              <a:rPr lang="en-US" sz="93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asking anyone. Wrote 1-page README + worked example + 30-min lunch-and-learn with numbers.</a:t>
            </a:r>
            <a:endParaRPr lang="en-US" sz="938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67100" y="5051822"/>
            <a:ext cx="8267700" cy="1463278"/>
          </a:xfrm>
          <a:prstGeom prst="rect">
            <a:avLst/>
          </a:prstGeom>
        </p:spPr>
      </p:pic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9025" y="5194697"/>
            <a:ext cx="304800" cy="30480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3746599" y="5278041"/>
            <a:ext cx="187226" cy="2214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825" dirty="0"/>
          </a:p>
        </p:txBody>
      </p:sp>
      <p:sp>
        <p:nvSpPr>
          <p:cNvPr id="37" name="Text 22"/>
          <p:cNvSpPr txBox="1"/>
          <p:nvPr/>
        </p:nvSpPr>
        <p:spPr>
          <a:xfrm>
            <a:off x="4048125" y="5217468"/>
            <a:ext cx="7524750" cy="13722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spc="120" kern="0" dirty="0">
                <a:solidFill>
                  <a:srgbClr val="FFFFFF">
                    <a:alpha val="5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 + WHAT I'D CHANGE </a:t>
            </a:r>
            <a:pPr indent="0" marL="0">
              <a:buNone/>
            </a:pPr>
            <a:r>
              <a:rPr lang="en-US" sz="675" b="1" spc="120" kern="0" dirty="0">
                <a:solidFill>
                  <a:srgbClr val="FFFFFF"/>
                </a:solidFill>
                <a:highlight>
                  <a:srgbClr val="2A2A2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≤30S</a:t>
            </a:r>
            <a:endParaRPr lang="en-US" sz="750" dirty="0"/>
          </a:p>
        </p:txBody>
      </p:sp>
      <p:sp>
        <p:nvSpPr>
          <p:cNvPr id="38" name="Text 23"/>
          <p:cNvSpPr txBox="1"/>
          <p:nvPr/>
        </p:nvSpPr>
        <p:spPr>
          <a:xfrm>
            <a:off x="4048125" y="5421362"/>
            <a:ext cx="7524750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weeks → 2 days, 8 pipelines in 3 months, on-call ↓70%, 3 drifts auto-caught.</a:t>
            </a:r>
            <a:pPr indent="0" marL="0">
              <a:buNone/>
            </a:pPr>
            <a:r>
              <a:rPr lang="en-US" sz="938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I'd change: instrument row-count + freshness day 1 — added month 2, had 2 quiet stale-data incidents gap broke dashboards.</a:t>
            </a:r>
            <a:endParaRPr lang="en-US" sz="93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2900"/>
            <a:ext cx="11277600" cy="100012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52425"/>
            <a:ext cx="516284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65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4 — LEARNING AGILITY · RAMP-UP SPEED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61975"/>
            <a:ext cx="5162848" cy="31536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buNone/>
            </a:pPr>
            <a:r>
              <a:rPr lang="en-US" sz="2700" b="1" spc="-108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Learned New System &amp; Delivered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42900"/>
            <a:ext cx="3619500" cy="838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58175" y="457200"/>
            <a:ext cx="3333750" cy="619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Prompt:</a:t>
            </a:r>
            <a:pPr indent="0" marL="0">
              <a:buNone/>
            </a:pPr>
            <a:r>
              <a:rPr lang="en-US" sz="82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 new tool quickly &amp; deliver</a:t>
            </a:r>
            <a:endParaRPr lang="en-US" sz="825" dirty="0"/>
          </a:p>
          <a:p>
            <a:pPr algn="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Tool:</a:t>
            </a:r>
            <a:pPr indent="0" marL="0">
              <a:buNone/>
            </a:pPr>
            <a:r>
              <a:rPr lang="en-US" sz="82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dbt + Snowflake from scratch, 6 weeks, revenue dataset for quarter sign-off</a:t>
            </a:r>
            <a:endParaRPr lang="en-US" sz="825" dirty="0"/>
          </a:p>
          <a:p>
            <a:pPr algn="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discipline: 4 models, not 10. Tests day 1.</a:t>
            </a:r>
            <a:endParaRPr lang="en-US" sz="82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95425"/>
            <a:ext cx="2733675" cy="736104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711077"/>
            <a:ext cx="304800" cy="3048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98153" y="1787277"/>
            <a:ext cx="216247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3d</a:t>
            </a:r>
            <a:endParaRPr lang="en-US" sz="900" dirty="0"/>
          </a:p>
        </p:txBody>
      </p:sp>
      <p:sp>
        <p:nvSpPr>
          <p:cNvPr id="10" name="Text 4"/>
          <p:cNvSpPr txBox="1"/>
          <p:nvPr/>
        </p:nvSpPr>
        <p:spPr>
          <a:xfrm>
            <a:off x="1038225" y="1638300"/>
            <a:ext cx="1990725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spc="-24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Docs + rebuild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1038225" y="1828800"/>
            <a:ext cx="1990725" cy="25985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Rebuilt existing pipeline as learning exercise</a:t>
            </a:r>
            <a:endParaRPr lang="en-US" sz="788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175" y="1495425"/>
            <a:ext cx="2733675" cy="736104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00" y="1711077"/>
            <a:ext cx="304800" cy="3048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562499" y="1787277"/>
            <a:ext cx="199876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1h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3886200" y="1703189"/>
            <a:ext cx="1664345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spc="-24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office hrs · 2 wks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3886200" y="1893689"/>
            <a:ext cx="1664345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analytics eng for first 2 weeks</a:t>
            </a:r>
            <a:endParaRPr lang="en-US" sz="788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0" y="1495425"/>
            <a:ext cx="2733675" cy="73610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075" y="1711077"/>
            <a:ext cx="304800" cy="3048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6372820" y="1787277"/>
            <a:ext cx="237530" cy="2190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4→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6734175" y="1638300"/>
            <a:ext cx="1990725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spc="-24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Scoping 4 not 10</a:t>
            </a:r>
            <a:endParaRPr lang="en-US" sz="1200" dirty="0"/>
          </a:p>
        </p:txBody>
      </p:sp>
      <p:sp>
        <p:nvSpPr>
          <p:cNvPr id="21" name="Text 11"/>
          <p:cNvSpPr txBox="1"/>
          <p:nvPr/>
        </p:nvSpPr>
        <p:spPr>
          <a:xfrm>
            <a:off x="6734175" y="1828800"/>
            <a:ext cx="1990725" cy="25985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+ tests day 1, paired finance every 2d</a:t>
            </a:r>
            <a:endParaRPr lang="en-US" sz="788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1125" y="1495425"/>
            <a:ext cx="2733675" cy="736104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3050" y="1711077"/>
            <a:ext cx="304800" cy="30480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9276308" y="1787277"/>
            <a:ext cx="191542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13"/>
          <p:cNvSpPr txBox="1"/>
          <p:nvPr/>
        </p:nvSpPr>
        <p:spPr>
          <a:xfrm>
            <a:off x="9582150" y="1638300"/>
            <a:ext cx="1990725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spc="-24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On-time + Template</a:t>
            </a:r>
            <a:endParaRPr lang="en-US" sz="1200" dirty="0"/>
          </a:p>
        </p:txBody>
      </p:sp>
      <p:sp>
        <p:nvSpPr>
          <p:cNvPr id="26" name="Text 14"/>
          <p:cNvSpPr txBox="1"/>
          <p:nvPr/>
        </p:nvSpPr>
        <p:spPr>
          <a:xfrm>
            <a:off x="9582150" y="1828800"/>
            <a:ext cx="1990725" cy="25985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sign-off, became template for next 2</a:t>
            </a:r>
            <a:endParaRPr lang="en-US" sz="788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383929"/>
            <a:ext cx="5581650" cy="1831777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638175" y="2559397"/>
            <a:ext cx="5219700" cy="1421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 — SITUATION </a:t>
            </a:r>
            <a:pPr indent="0" marL="0">
              <a:buNone/>
            </a:pPr>
            <a:r>
              <a:rPr lang="en-US" sz="675" b="1" spc="135" kern="0" dirty="0">
                <a:solidFill>
                  <a:srgbClr val="3A3A3C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≤30S</a:t>
            </a:r>
            <a:endParaRPr lang="en-US" sz="750" dirty="0"/>
          </a:p>
        </p:txBody>
      </p:sp>
      <p:sp>
        <p:nvSpPr>
          <p:cNvPr id="29" name="Text 16"/>
          <p:cNvSpPr txBox="1"/>
          <p:nvPr/>
        </p:nvSpPr>
        <p:spPr>
          <a:xfrm>
            <a:off x="638175" y="2787253"/>
            <a:ext cx="5219700" cy="34379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adopted </a:t>
            </a:r>
            <a:pPr indent="0" marL="0">
              <a:buNone/>
            </a:pPr>
            <a:r>
              <a:rPr lang="en-US" sz="96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dbt + Snowflake 6 weeks before finance close.</a:t>
            </a:r>
            <a:pPr indent="0" marL="0"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Never used either. Deliverable was reconciled revenue dataset quarter sign-off.</a:t>
            </a:r>
            <a:endParaRPr lang="en-US" sz="96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3150" y="2383929"/>
            <a:ext cx="5581650" cy="1831777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6334125" y="2559397"/>
            <a:ext cx="5219700" cy="1421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 — TASK </a:t>
            </a:r>
            <a:pPr indent="0" marL="0">
              <a:buNone/>
            </a:pPr>
            <a:r>
              <a:rPr lang="en-US" sz="675" b="1" spc="135" kern="0" dirty="0">
                <a:solidFill>
                  <a:srgbClr val="3A3A3C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≤30S</a:t>
            </a:r>
            <a:endParaRPr lang="en-US" sz="750" dirty="0"/>
          </a:p>
        </p:txBody>
      </p:sp>
      <p:sp>
        <p:nvSpPr>
          <p:cNvPr id="32" name="Text 18"/>
          <p:cNvSpPr txBox="1"/>
          <p:nvPr/>
        </p:nvSpPr>
        <p:spPr>
          <a:xfrm>
            <a:off x="6334125" y="2787253"/>
            <a:ext cx="5219700" cy="34379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owned</a:t>
            </a:r>
            <a:pPr indent="0" marL="0"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dbt models + Snowflake ingestion — whole pipeline, hard deadline. Done = finance signs.</a:t>
            </a:r>
            <a:endParaRPr lang="en-US" sz="96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330005"/>
            <a:ext cx="5581650" cy="2185095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638175" y="4505474"/>
            <a:ext cx="5219700" cy="1421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— ACTION </a:t>
            </a:r>
            <a:pPr indent="0" marL="0">
              <a:buNone/>
            </a:pPr>
            <a:r>
              <a:rPr lang="en-US" sz="675" b="1" spc="135" kern="0" dirty="0">
                <a:solidFill>
                  <a:srgbClr val="3A3A3C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≤2M — RAMP + SCOPE</a:t>
            </a:r>
            <a:endParaRPr lang="en-US" sz="750" dirty="0"/>
          </a:p>
        </p:txBody>
      </p:sp>
      <p:sp>
        <p:nvSpPr>
          <p:cNvPr id="35" name="Text 20"/>
          <p:cNvSpPr txBox="1"/>
          <p:nvPr/>
        </p:nvSpPr>
        <p:spPr>
          <a:xfrm>
            <a:off x="638175" y="4733330"/>
            <a:ext cx="5219700" cy="69711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spent 3 days</a:t>
            </a:r>
            <a:pPr indent="0" marL="0"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reading docs, rebuilt one existing pipeline. </a:t>
            </a:r>
            <a:pPr indent="0" marL="0">
              <a:buNone/>
            </a:pPr>
            <a:r>
              <a:rPr lang="en-US" sz="96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booked daily office hrs 2 weeks</a:t>
            </a:r>
            <a:pPr indent="0" marL="0"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analytics eng. </a:t>
            </a:r>
            <a:pPr indent="0" marL="0">
              <a:buNone/>
            </a:pPr>
            <a:r>
              <a:rPr lang="en-US" sz="96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scoped aggressively:</a:t>
            </a:r>
            <a:pPr indent="0" marL="0"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 models not 10, tests every model day 1 because didn't trust own output. </a:t>
            </a:r>
            <a:pPr indent="0" marL="0">
              <a:buNone/>
            </a:pPr>
            <a:r>
              <a:rPr lang="en-US" sz="96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paired 1h /2d with finance</a:t>
            </a:r>
            <a:pPr indent="0" marL="0">
              <a:buNone/>
            </a:pPr>
            <a:r>
              <a:rPr lang="en-US" sz="96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validate definitions, not vacuum.</a:t>
            </a:r>
            <a:endParaRPr lang="en-US" sz="96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53150" y="4330005"/>
            <a:ext cx="5581650" cy="2185095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6334125" y="4505474"/>
            <a:ext cx="5219700" cy="1421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50" b="1" spc="135" kern="0" dirty="0">
                <a:solidFill>
                  <a:srgbClr val="FFFFFF">
                    <a:alpha val="5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 — RESULT + CHANGE </a:t>
            </a:r>
            <a:pPr indent="0" marL="0">
              <a:buNone/>
            </a:pPr>
            <a:r>
              <a:rPr lang="en-US" sz="675" b="1" spc="135" kern="0" dirty="0">
                <a:solidFill>
                  <a:srgbClr val="FFFFFF"/>
                </a:solidFill>
                <a:highlight>
                  <a:srgbClr val="2A2A2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≤30S</a:t>
            </a:r>
            <a:endParaRPr lang="en-US" sz="750" dirty="0"/>
          </a:p>
        </p:txBody>
      </p:sp>
      <p:sp>
        <p:nvSpPr>
          <p:cNvPr id="38" name="Text 22"/>
          <p:cNvSpPr txBox="1"/>
          <p:nvPr/>
        </p:nvSpPr>
        <p:spPr>
          <a:xfrm>
            <a:off x="6334125" y="4733330"/>
            <a:ext cx="5219700" cy="52045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FFFFF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on time, finance sign-off, became template for next 2 pipelines.</a:t>
            </a:r>
            <a:pPr indent="0" marL="0">
              <a:buNone/>
            </a:pPr>
            <a:r>
              <a:rPr lang="en-US" sz="960" dirty="0">
                <a:solidFill>
                  <a:srgbClr val="FFFFF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I'd change: 30-min kickoff doc upfront — spent day re-litigating definitions that quick convo would've resolved.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52425"/>
            <a:ext cx="609778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65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5 — LEARNING AGILITY · GO REWRITE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2925"/>
            <a:ext cx="6097786" cy="58281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Bef>
                <a:spcPts val="450"/>
              </a:spcBef>
              <a:buNone/>
            </a:pPr>
            <a:r>
              <a:rPr lang="en-US" sz="2550" b="1" spc="-102" kern="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Go </a:t>
            </a:r>
            <a:pPr indent="0" marL="0">
              <a:buNone/>
            </a:pPr>
            <a:r>
              <a:rPr lang="en-US" sz="2550" b="1" spc="-102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Rebuilt Databricks Integration</a:t>
            </a:r>
            <a:endParaRPr lang="en-US" sz="2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9086"/>
            <a:ext cx="6097786" cy="703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0075" y="1382911"/>
            <a:ext cx="5812036" cy="45541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Prompt:</a:t>
            </a:r>
            <a:pPr indent="0" marL="0">
              <a:buNone/>
            </a:pPr>
            <a:r>
              <a:rPr lang="en-US" sz="82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 new tool quickly &amp; deliver</a:t>
            </a:r>
            <a:endParaRPr lang="en-US" sz="825" dirty="0"/>
          </a:p>
          <a:p>
            <a:pPr algn="l" indent="0" marL="0">
              <a:lnSpc>
                <a:spcPts val="1196"/>
              </a:lnSpc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when:</a:t>
            </a:r>
            <a:pPr indent="0" marL="0">
              <a:buNone/>
            </a:pPr>
            <a:r>
              <a:rPr lang="en-US" sz="82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polyglot, backend service, cost reduction. Real: Python tangled scripts → Go service, 4-week hard deadline.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95500"/>
            <a:ext cx="3001268" cy="8871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9125" y="2247900"/>
            <a:ext cx="2677418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122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675" dirty="0"/>
          </a:p>
        </p:txBody>
      </p:sp>
      <p:sp>
        <p:nvSpPr>
          <p:cNvPr id="8" name="Text 4"/>
          <p:cNvSpPr txBox="1"/>
          <p:nvPr/>
        </p:nvSpPr>
        <p:spPr>
          <a:xfrm>
            <a:off x="619125" y="2424113"/>
            <a:ext cx="2677418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spc="-54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1/10th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19125" y="2709863"/>
            <a:ext cx="2677418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450"/>
              </a:spcBef>
              <a:buNone/>
            </a:pPr>
            <a:r>
              <a:rPr lang="en-US" sz="788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Python service — static binary</a:t>
            </a:r>
            <a:endParaRPr lang="en-US" sz="788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718" y="2095500"/>
            <a:ext cx="3001268" cy="8871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15643" y="2247900"/>
            <a:ext cx="2677418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122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675" dirty="0"/>
          </a:p>
        </p:txBody>
      </p:sp>
      <p:sp>
        <p:nvSpPr>
          <p:cNvPr id="12" name="Text 7"/>
          <p:cNvSpPr txBox="1"/>
          <p:nvPr/>
        </p:nvSpPr>
        <p:spPr>
          <a:xfrm>
            <a:off x="3715643" y="2424113"/>
            <a:ext cx="2677418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spc="-54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–40%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715643" y="2709863"/>
            <a:ext cx="2677418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450"/>
              </a:spcBef>
              <a:buNone/>
            </a:pPr>
            <a:r>
              <a:rPr lang="en-US" sz="788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job-run cost via conn reuse + cancel zombies</a:t>
            </a:r>
            <a:endParaRPr lang="en-US" sz="788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7914"/>
            <a:ext cx="3001268" cy="8871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19125" y="3230314"/>
            <a:ext cx="2677418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122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P95</a:t>
            </a:r>
            <a:endParaRPr lang="en-US" sz="675" dirty="0"/>
          </a:p>
        </p:txBody>
      </p:sp>
      <p:sp>
        <p:nvSpPr>
          <p:cNvPr id="16" name="Text 10"/>
          <p:cNvSpPr txBox="1"/>
          <p:nvPr/>
        </p:nvSpPr>
        <p:spPr>
          <a:xfrm>
            <a:off x="619125" y="3406527"/>
            <a:ext cx="2677418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spc="-54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3s → 300ms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619125" y="3692277"/>
            <a:ext cx="2677418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450"/>
              </a:spcBef>
              <a:buNone/>
            </a:pPr>
            <a:r>
              <a:rPr lang="en-US" sz="788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http.Client, no TLS handshake per poll</a:t>
            </a:r>
            <a:endParaRPr lang="en-US" sz="788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3718" y="3077914"/>
            <a:ext cx="3001268" cy="88716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715643" y="3230314"/>
            <a:ext cx="2677418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122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</a:t>
            </a:r>
            <a:endParaRPr lang="en-US" sz="675" dirty="0"/>
          </a:p>
        </p:txBody>
      </p:sp>
      <p:sp>
        <p:nvSpPr>
          <p:cNvPr id="20" name="Text 13"/>
          <p:cNvSpPr txBox="1"/>
          <p:nvPr/>
        </p:nvSpPr>
        <p:spPr>
          <a:xfrm>
            <a:off x="3715643" y="3406527"/>
            <a:ext cx="2677418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spc="-54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teams / 1mo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3715643" y="3692277"/>
            <a:ext cx="2677418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450"/>
              </a:spcBef>
              <a:buNone/>
            </a:pPr>
            <a:r>
              <a:rPr lang="en-US" sz="788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API to trigger Databricks</a:t>
            </a:r>
            <a:endParaRPr lang="en-US" sz="788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17479"/>
            <a:ext cx="6097786" cy="736997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4241304"/>
            <a:ext cx="342900" cy="3429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36848" y="4343698"/>
            <a:ext cx="196602" cy="2309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825" dirty="0"/>
          </a:p>
        </p:txBody>
      </p:sp>
      <p:sp>
        <p:nvSpPr>
          <p:cNvPr id="25" name="Text 16"/>
          <p:cNvSpPr txBox="1"/>
          <p:nvPr/>
        </p:nvSpPr>
        <p:spPr>
          <a:xfrm>
            <a:off x="1057275" y="4241304"/>
            <a:ext cx="5354836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SITUATION — ≤30S</a:t>
            </a:r>
            <a:endParaRPr lang="en-US" sz="750" dirty="0"/>
          </a:p>
        </p:txBody>
      </p:sp>
      <p:sp>
        <p:nvSpPr>
          <p:cNvPr id="26" name="Text 17"/>
          <p:cNvSpPr txBox="1"/>
          <p:nvPr/>
        </p:nvSpPr>
        <p:spPr>
          <a:xfrm>
            <a:off x="1057275" y="4403229"/>
            <a:ext cx="5354836" cy="32742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7"/>
              </a:lnSpc>
              <a:buNone/>
            </a:pPr>
            <a:r>
              <a:rPr lang="en-US" sz="915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service triggering Databricks jobs: slow, expensive, tangle of scripts, no owner. </a:t>
            </a:r>
            <a:pPr indent="0" marL="0">
              <a:buNone/>
            </a:pPr>
            <a:r>
              <a:rPr lang="en-US" sz="91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written Go before</a:t>
            </a:r>
            <a:pPr indent="0" marL="0">
              <a:buNone/>
            </a:pPr>
            <a:r>
              <a:rPr lang="en-US" sz="915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Python+Java only.</a:t>
            </a:r>
            <a:endParaRPr lang="en-US" sz="915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949726"/>
            <a:ext cx="6097786" cy="736997"/>
          </a:xfrm>
          <a:prstGeom prst="rect">
            <a:avLst/>
          </a:prstGeom>
        </p:spPr>
      </p:pic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" y="5073551"/>
            <a:ext cx="342900" cy="34290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35955" y="5175945"/>
            <a:ext cx="197495" cy="2309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825" dirty="0"/>
          </a:p>
        </p:txBody>
      </p:sp>
      <p:sp>
        <p:nvSpPr>
          <p:cNvPr id="30" name="Text 19"/>
          <p:cNvSpPr txBox="1"/>
          <p:nvPr/>
        </p:nvSpPr>
        <p:spPr>
          <a:xfrm>
            <a:off x="1057275" y="5073551"/>
            <a:ext cx="5354836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— ≤30S</a:t>
            </a:r>
            <a:endParaRPr lang="en-US" sz="750" dirty="0"/>
          </a:p>
        </p:txBody>
      </p:sp>
      <p:sp>
        <p:nvSpPr>
          <p:cNvPr id="31" name="Text 20"/>
          <p:cNvSpPr txBox="1"/>
          <p:nvPr/>
        </p:nvSpPr>
        <p:spPr>
          <a:xfrm>
            <a:off x="1057275" y="5235476"/>
            <a:ext cx="5354836" cy="32742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7"/>
              </a:lnSpc>
              <a:buNone/>
            </a:pPr>
            <a:r>
              <a:rPr lang="en-US" sz="915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Volunteered: rewrite in Go — tiny service, clean REST API, thin SDK wrapper. Production-ready 4wks, zero-downtime replace, cut cost.</a:t>
            </a:r>
            <a:endParaRPr lang="en-US" sz="915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5486" y="361950"/>
            <a:ext cx="4989314" cy="1579364"/>
          </a:xfrm>
          <a:prstGeom prst="rect">
            <a:avLst/>
          </a:prstGeom>
        </p:spPr>
      </p:pic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8361" y="485775"/>
            <a:ext cx="342900" cy="34290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7019479" y="588169"/>
            <a:ext cx="211782" cy="2405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825" dirty="0"/>
          </a:p>
        </p:txBody>
      </p:sp>
      <p:sp>
        <p:nvSpPr>
          <p:cNvPr id="35" name="Text 22"/>
          <p:cNvSpPr txBox="1"/>
          <p:nvPr/>
        </p:nvSpPr>
        <p:spPr>
          <a:xfrm>
            <a:off x="7345561" y="485775"/>
            <a:ext cx="4246364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spc="135" kern="0" dirty="0">
                <a:solidFill>
                  <a:srgbClr val="FFFFFF">
                    <a:alpha val="5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 — ≤2M — 20% OF GO THAT SHIPS</a:t>
            </a:r>
            <a:endParaRPr lang="en-US" sz="750" dirty="0"/>
          </a:p>
        </p:txBody>
      </p:sp>
      <p:sp>
        <p:nvSpPr>
          <p:cNvPr id="36" name="Text 23"/>
          <p:cNvSpPr txBox="1"/>
          <p:nvPr/>
        </p:nvSpPr>
        <p:spPr>
          <a:xfrm>
            <a:off x="7345561" y="647700"/>
            <a:ext cx="4246364" cy="116978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7"/>
              </a:lnSpc>
              <a:buNone/>
            </a:pPr>
            <a:r>
              <a:rPr lang="en-US" sz="915" b="1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Week1:</a:t>
            </a:r>
            <a:pPr indent="0" marL="0">
              <a:buNone/>
            </a:pPr>
            <a:r>
              <a:rPr lang="en-US" sz="915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Tour of Go + Databricks REST docs. Picked 4 endpoints only (</a:t>
            </a:r>
            <a:pPr indent="0" marL="0">
              <a:buNone/>
            </a:pPr>
            <a:r>
              <a:rPr lang="en-US" sz="750" dirty="0">
                <a:solidFill>
                  <a:srgbClr val="FFFFFF">
                    <a:alpha val="84000"/>
                  </a:srgbClr>
                </a:solidFill>
                <a:highlight>
                  <a:srgbClr val="F5F5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run-now, get, list, cancel</a:t>
            </a:r>
            <a:pPr indent="0" marL="0">
              <a:buNone/>
            </a:pPr>
            <a:r>
              <a:rPr lang="en-US" sz="915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built CLI with curl first. </a:t>
            </a:r>
            <a:pPr indent="0" marL="0">
              <a:buNone/>
            </a:pPr>
            <a:r>
              <a:rPr lang="en-US" sz="915" b="1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Week2:</a:t>
            </a:r>
            <a:pPr indent="0" marL="0">
              <a:buNone/>
            </a:pPr>
            <a:r>
              <a:rPr lang="en-US" sz="915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slice submit→poll→return using </a:t>
            </a:r>
            <a:pPr indent="0" marL="0">
              <a:buNone/>
            </a:pPr>
            <a:r>
              <a:rPr lang="en-US" sz="750" dirty="0">
                <a:solidFill>
                  <a:srgbClr val="FFFFFF">
                    <a:alpha val="84000"/>
                  </a:srgbClr>
                </a:solidFill>
                <a:highlight>
                  <a:srgbClr val="F5F5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net/http</a:t>
            </a:r>
            <a:pPr indent="0" marL="0">
              <a:buNone/>
            </a:pPr>
            <a:r>
              <a:rPr lang="en-US" sz="915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buNone/>
            </a:pPr>
            <a:r>
              <a:rPr lang="en-US" sz="750" dirty="0">
                <a:solidFill>
                  <a:srgbClr val="FFFFFF">
                    <a:alpha val="84000"/>
                  </a:srgbClr>
                </a:solidFill>
                <a:highlight>
                  <a:srgbClr val="F5F5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context.Context</a:t>
            </a:r>
            <a:pPr indent="0" marL="0">
              <a:buNone/>
            </a:pPr>
            <a:r>
              <a:rPr lang="en-US" sz="915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everywhere for cancel, thin client with retries + backoff + shared </a:t>
            </a:r>
            <a:pPr indent="0" marL="0">
              <a:buNone/>
            </a:pPr>
            <a:r>
              <a:rPr lang="en-US" sz="750" dirty="0">
                <a:solidFill>
                  <a:srgbClr val="FFFFFF">
                    <a:alpha val="84000"/>
                  </a:srgbClr>
                </a:solidFill>
                <a:highlight>
                  <a:srgbClr val="F5F5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http.Client</a:t>
            </a:r>
            <a:pPr indent="0" marL="0">
              <a:buNone/>
            </a:pPr>
            <a:r>
              <a:rPr lang="en-US" sz="915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2×1h pairing with senior Go eng saved week. Scope: no auth refactor, no multi-cloud — drop-in + </a:t>
            </a:r>
            <a:pPr indent="0" marL="0">
              <a:buNone/>
            </a:pPr>
            <a:r>
              <a:rPr lang="en-US" sz="750" dirty="0">
                <a:solidFill>
                  <a:srgbClr val="FFFFFF">
                    <a:alpha val="84000"/>
                  </a:srgbClr>
                </a:solidFill>
                <a:highlight>
                  <a:srgbClr val="F5F5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/healthz</a:t>
            </a:r>
            <a:pPr indent="0" marL="0">
              <a:buNone/>
            </a:pPr>
            <a:r>
              <a:rPr lang="en-US" sz="915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pPr indent="0" marL="0">
              <a:buNone/>
            </a:pPr>
            <a:r>
              <a:rPr lang="en-US" sz="915" b="1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Week3:</a:t>
            </a:r>
            <a:pPr indent="0" marL="0">
              <a:buNone/>
            </a:pPr>
            <a:r>
              <a:rPr lang="en-US" sz="915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JSON logs + Prometheus metrics. </a:t>
            </a:r>
            <a:pPr indent="0" marL="0">
              <a:buNone/>
            </a:pPr>
            <a:r>
              <a:rPr lang="en-US" sz="915" b="1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Week4:</a:t>
            </a:r>
            <a:pPr indent="0" marL="0">
              <a:buNone/>
            </a:pPr>
            <a:r>
              <a:rPr lang="en-US" sz="915" dirty="0">
                <a:solidFill>
                  <a:srgbClr val="FFFFFF">
                    <a:alpha val="8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shadow-mode behind Python, then cutover.</a:t>
            </a:r>
            <a:endParaRPr lang="en-US" sz="915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5486" y="2036564"/>
            <a:ext cx="4989314" cy="905470"/>
          </a:xfrm>
          <a:prstGeom prst="rect">
            <a:avLst/>
          </a:prstGeom>
        </p:spPr>
      </p:pic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88361" y="2160389"/>
            <a:ext cx="342900" cy="342900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7024985" y="2262783"/>
            <a:ext cx="206276" cy="24050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825" dirty="0"/>
          </a:p>
        </p:txBody>
      </p:sp>
      <p:sp>
        <p:nvSpPr>
          <p:cNvPr id="40" name="Text 25"/>
          <p:cNvSpPr txBox="1"/>
          <p:nvPr/>
        </p:nvSpPr>
        <p:spPr>
          <a:xfrm>
            <a:off x="7345561" y="2160389"/>
            <a:ext cx="4246364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 — ≤30S + CHANGE</a:t>
            </a:r>
            <a:endParaRPr lang="en-US" sz="750" dirty="0"/>
          </a:p>
        </p:txBody>
      </p:sp>
      <p:sp>
        <p:nvSpPr>
          <p:cNvPr id="41" name="Text 26"/>
          <p:cNvSpPr txBox="1"/>
          <p:nvPr/>
        </p:nvSpPr>
        <p:spPr>
          <a:xfrm>
            <a:off x="7345561" y="2322314"/>
            <a:ext cx="4246364" cy="4958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7"/>
              </a:lnSpc>
              <a:buNone/>
            </a:pPr>
            <a:r>
              <a:rPr lang="en-US" sz="915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 on time, 1/10th mem, –40% cost, p95 3s→300ms, 3 teams adopted in month.</a:t>
            </a:r>
            <a:pPr indent="0" marL="0">
              <a:buNone/>
            </a:pPr>
            <a:r>
              <a:rPr lang="en-US" sz="915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Change: shadow-mode week2 not week4 — burned weekend on polling bug caught day3 in integration.</a:t>
            </a:r>
            <a:endParaRPr lang="en-US" sz="915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5486" y="3075384"/>
            <a:ext cx="4989314" cy="2057400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6945511" y="3256359"/>
            <a:ext cx="4589264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spc="135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I LEARNED GO FAST — VISIBLE KEYS</a:t>
            </a:r>
            <a:endParaRPr lang="en-US" sz="75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5511" y="3484959"/>
            <a:ext cx="209550" cy="209550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7029748" y="3527822"/>
            <a:ext cx="125313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50" dirty="0"/>
          </a:p>
        </p:txBody>
      </p:sp>
      <p:sp>
        <p:nvSpPr>
          <p:cNvPr id="46" name="Text 29"/>
          <p:cNvSpPr txBox="1"/>
          <p:nvPr/>
        </p:nvSpPr>
        <p:spPr>
          <a:xfrm>
            <a:off x="8061424" y="3494484"/>
            <a:ext cx="3473351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that ships:</a:t>
            </a:r>
            <a:pPr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structs, interfaces, goroutines, channels, context, net/http. CLI before service.</a:t>
            </a:r>
            <a:endParaRPr lang="en-US" sz="900" dirty="0"/>
          </a:p>
        </p:txBody>
      </p:sp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5511" y="3904059"/>
            <a:ext cx="209550" cy="209550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7020223" y="3946922"/>
            <a:ext cx="134838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50" dirty="0"/>
          </a:p>
        </p:txBody>
      </p:sp>
      <p:sp>
        <p:nvSpPr>
          <p:cNvPr id="49" name="Text 31"/>
          <p:cNvSpPr txBox="1"/>
          <p:nvPr/>
        </p:nvSpPr>
        <p:spPr>
          <a:xfrm>
            <a:off x="7905452" y="3913584"/>
            <a:ext cx="3629323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Stdlib first:</a:t>
            </a:r>
            <a:pPr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heavy framework = fewer surprises. Context cancel kills zombie jobs.</a:t>
            </a:r>
            <a:endParaRPr lang="en-US" sz="90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5511" y="4323159"/>
            <a:ext cx="209550" cy="209550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7019479" y="4366022"/>
            <a:ext cx="135582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50" dirty="0"/>
          </a:p>
        </p:txBody>
      </p:sp>
      <p:sp>
        <p:nvSpPr>
          <p:cNvPr id="52" name="Text 33"/>
          <p:cNvSpPr txBox="1"/>
          <p:nvPr/>
        </p:nvSpPr>
        <p:spPr>
          <a:xfrm>
            <a:off x="8244632" y="4332684"/>
            <a:ext cx="2521000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leverage:</a:t>
            </a:r>
            <a:pPr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2×1h reviews on concurrency + error handling.</a:t>
            </a:r>
            <a:endParaRPr lang="en-US" sz="900" dirty="0"/>
          </a:p>
        </p:txBody>
      </p:sp>
      <p:pic>
        <p:nvPicPr>
          <p:cNvPr id="5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45511" y="4608909"/>
            <a:ext cx="209550" cy="209550"/>
          </a:xfrm>
          <a:prstGeom prst="rect">
            <a:avLst/>
          </a:prstGeom>
        </p:spPr>
      </p:pic>
      <p:sp>
        <p:nvSpPr>
          <p:cNvPr id="54" name="Text 34"/>
          <p:cNvSpPr txBox="1"/>
          <p:nvPr/>
        </p:nvSpPr>
        <p:spPr>
          <a:xfrm>
            <a:off x="7017990" y="4651772"/>
            <a:ext cx="137071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50" dirty="0"/>
          </a:p>
        </p:txBody>
      </p:sp>
      <p:sp>
        <p:nvSpPr>
          <p:cNvPr id="55" name="Text 35"/>
          <p:cNvSpPr txBox="1"/>
          <p:nvPr/>
        </p:nvSpPr>
        <p:spPr>
          <a:xfrm>
            <a:off x="8114407" y="4618434"/>
            <a:ext cx="3420368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 day 1:</a:t>
            </a:r>
            <a:pPr indent="0" marL="0">
              <a:buNone/>
            </a:pPr>
            <a:r>
              <a:rPr lang="en-US" sz="9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metrics show where money goes. Shadow early catches what unit tests don't.</a:t>
            </a:r>
            <a:endParaRPr lang="en-US" sz="900" dirty="0"/>
          </a:p>
        </p:txBody>
      </p:sp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45486" y="5266134"/>
            <a:ext cx="4989314" cy="842963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6926461" y="5428059"/>
            <a:ext cx="4627364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600"/>
              </a:spcAft>
              <a:buNone/>
            </a:pPr>
            <a:r>
              <a:rPr lang="en-US" sz="750" b="1" spc="135" kern="0" dirty="0">
                <a:solidFill>
                  <a:srgbClr val="0071E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GO FOR THIS?</a:t>
            </a:r>
            <a:endParaRPr lang="en-US" sz="750" dirty="0"/>
          </a:p>
        </p:txBody>
      </p:sp>
      <p:sp>
        <p:nvSpPr>
          <p:cNvPr id="58" name="Text 37"/>
          <p:cNvSpPr txBox="1"/>
          <p:nvPr/>
        </p:nvSpPr>
        <p:spPr>
          <a:xfrm>
            <a:off x="6926461" y="5628084"/>
            <a:ext cx="4627364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static binary, great stdlib for HTTP, low mem, fast startup — perfect control-plane service orchestrating Databricks. Buy-in via shadow-mode numbers, not rewrite pitch.</a:t>
            </a:r>
            <a:endParaRPr lang="en-US" sz="86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266700"/>
            <a:ext cx="11353800" cy="79548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9100" y="524024"/>
            <a:ext cx="4168080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spc="149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 STORIES — WHEN YOU NEED SCALE</a:t>
            </a:r>
            <a:endParaRPr lang="en-US" sz="675" dirty="0"/>
          </a:p>
        </p:txBody>
      </p:sp>
      <p:sp>
        <p:nvSpPr>
          <p:cNvPr id="4" name="Text 1"/>
          <p:cNvSpPr txBox="1"/>
          <p:nvPr/>
        </p:nvSpPr>
        <p:spPr>
          <a:xfrm>
            <a:off x="419100" y="681186"/>
            <a:ext cx="416808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spcBef>
                <a:spcPts val="300"/>
              </a:spcBef>
              <a:buNone/>
            </a:pPr>
            <a:r>
              <a:rPr lang="en-US" sz="2250" b="1" spc="-90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Unified Platform at Lazada · 5 → 1</a:t>
            </a:r>
            <a:endParaRPr lang="en-US" sz="2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0" y="266700"/>
            <a:ext cx="3810000" cy="67166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086725" y="582662"/>
            <a:ext cx="3562350" cy="2699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788" b="1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when platform-lead / 10+ engineers.</a:t>
            </a:r>
            <a:pPr indent="0" marL="0">
              <a:buNone/>
            </a:pPr>
            <a:r>
              <a:rPr lang="en-US" sz="788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Same STAR but scale proof. Small-scope = Story 1 recon (12%→0.3%). Large-scope = this variant.</a:t>
            </a:r>
            <a:endParaRPr lang="en-US" sz="788" dirty="0"/>
          </a:p>
        </p:txBody>
      </p:sp>
      <p:sp>
        <p:nvSpPr>
          <p:cNvPr id="7" name="Shape 3"/>
          <p:cNvSpPr/>
          <p:nvPr/>
        </p:nvSpPr>
        <p:spPr>
          <a:xfrm>
            <a:off x="419100" y="1181100"/>
            <a:ext cx="6448425" cy="1238250"/>
          </a:xfrm>
          <a:prstGeom prst="roundRect">
            <a:avLst>
              <a:gd name="adj" fmla="val 13846"/>
            </a:avLst>
          </a:prstGeom>
          <a:solidFill>
            <a:srgbClr val="111113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90550" y="1319361"/>
            <a:ext cx="2997250" cy="1047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b="1" spc="108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6 — LED END-TO-END AT SCALE</a:t>
            </a:r>
            <a:endParaRPr lang="en-US" sz="600" dirty="0"/>
          </a:p>
        </p:txBody>
      </p:sp>
      <p:sp>
        <p:nvSpPr>
          <p:cNvPr id="9" name="Text 5"/>
          <p:cNvSpPr txBox="1"/>
          <p:nvPr/>
        </p:nvSpPr>
        <p:spPr>
          <a:xfrm>
            <a:off x="590550" y="1462236"/>
            <a:ext cx="299725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buNone/>
            </a:pPr>
            <a:r>
              <a:rPr lang="en-US" sz="1350" b="1" spc="-4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Real-time + Campaign Data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709886"/>
            <a:ext cx="794593" cy="20478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7225" y="1757511"/>
            <a:ext cx="661243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Schema registry</a:t>
            </a:r>
            <a:endParaRPr lang="en-US" sz="67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243" y="1709886"/>
            <a:ext cx="909786" cy="20478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89918" y="1757511"/>
            <a:ext cx="776436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Producer contracts</a:t>
            </a:r>
            <a:endParaRPr lang="en-US" sz="675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130" y="1709886"/>
            <a:ext cx="742801" cy="20478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2437805" y="1757511"/>
            <a:ext cx="609451" cy="1190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Streaming-first</a:t>
            </a:r>
            <a:endParaRPr lang="en-US" sz="675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100" y="1309836"/>
            <a:ext cx="2997250" cy="214313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3702100" y="1319361"/>
            <a:ext cx="102066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freshness</a:t>
            </a:r>
            <a:endParaRPr lang="en-US" sz="825" dirty="0"/>
          </a:p>
        </p:txBody>
      </p:sp>
      <p:sp>
        <p:nvSpPr>
          <p:cNvPr id="18" name="Text 10"/>
          <p:cNvSpPr txBox="1"/>
          <p:nvPr/>
        </p:nvSpPr>
        <p:spPr>
          <a:xfrm>
            <a:off x="6147048" y="1319361"/>
            <a:ext cx="55230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24h → 60s</a:t>
            </a:r>
            <a:endParaRPr lang="en-US" sz="825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2100" y="1581299"/>
            <a:ext cx="2997250" cy="214313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3702100" y="1590824"/>
            <a:ext cx="83150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breach</a:t>
            </a:r>
            <a:endParaRPr lang="en-US" sz="825" dirty="0"/>
          </a:p>
        </p:txBody>
      </p:sp>
      <p:sp>
        <p:nvSpPr>
          <p:cNvPr id="21" name="Text 12"/>
          <p:cNvSpPr txBox="1"/>
          <p:nvPr/>
        </p:nvSpPr>
        <p:spPr>
          <a:xfrm>
            <a:off x="6178897" y="1590824"/>
            <a:ext cx="52045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6h → &lt;2m</a:t>
            </a:r>
            <a:endParaRPr lang="en-US" sz="825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2100" y="1852761"/>
            <a:ext cx="2997250" cy="214313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3702100" y="1862286"/>
            <a:ext cx="51524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Attribution</a:t>
            </a:r>
            <a:endParaRPr lang="en-US" sz="825" dirty="0"/>
          </a:p>
        </p:txBody>
      </p:sp>
      <p:sp>
        <p:nvSpPr>
          <p:cNvPr id="24" name="Text 14"/>
          <p:cNvSpPr txBox="1"/>
          <p:nvPr/>
        </p:nvSpPr>
        <p:spPr>
          <a:xfrm>
            <a:off x="5974407" y="1862286"/>
            <a:ext cx="72494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1w → 1h query</a:t>
            </a:r>
            <a:endParaRPr lang="en-US" sz="825" dirty="0"/>
          </a:p>
        </p:txBody>
      </p:sp>
      <p:sp>
        <p:nvSpPr>
          <p:cNvPr id="25" name="Text 15"/>
          <p:cNvSpPr txBox="1"/>
          <p:nvPr/>
        </p:nvSpPr>
        <p:spPr>
          <a:xfrm>
            <a:off x="3702100" y="2133749"/>
            <a:ext cx="41329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stacks</a:t>
            </a:r>
            <a:endParaRPr lang="en-US" sz="825" dirty="0"/>
          </a:p>
        </p:txBody>
      </p:sp>
      <p:sp>
        <p:nvSpPr>
          <p:cNvPr id="26" name="Text 16"/>
          <p:cNvSpPr txBox="1"/>
          <p:nvPr/>
        </p:nvSpPr>
        <p:spPr>
          <a:xfrm>
            <a:off x="6125766" y="2133749"/>
            <a:ext cx="57358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1 in 4 mo</a:t>
            </a:r>
            <a:endParaRPr lang="en-US" sz="825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2509986"/>
            <a:ext cx="3182987" cy="620464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42925" y="2614761"/>
            <a:ext cx="2935337" cy="10284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spc="108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 — SCATTERED</a:t>
            </a:r>
            <a:endParaRPr lang="en-US" sz="675" dirty="0"/>
          </a:p>
        </p:txBody>
      </p:sp>
      <p:sp>
        <p:nvSpPr>
          <p:cNvPr id="29" name="Text 18"/>
          <p:cNvSpPr txBox="1"/>
          <p:nvPr/>
        </p:nvSpPr>
        <p:spPr>
          <a:xfrm>
            <a:off x="542925" y="2755702"/>
            <a:ext cx="2935337" cy="2699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stacks</a:t>
            </a:r>
            <a:pPr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(orders, inventory, campaigns, last-mile, marketing). Campaign 24h delay, last-mile 6h+, join = 1 week ad-hoc.</a:t>
            </a:r>
            <a:endParaRPr lang="en-US" sz="788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7812" y="2509986"/>
            <a:ext cx="3182987" cy="620464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3811637" y="2614761"/>
            <a:ext cx="2935337" cy="10284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spc="108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 — TECH LEAD</a:t>
            </a:r>
            <a:endParaRPr lang="en-US" sz="675" dirty="0"/>
          </a:p>
        </p:txBody>
      </p:sp>
      <p:sp>
        <p:nvSpPr>
          <p:cNvPr id="32" name="Text 20"/>
          <p:cNvSpPr txBox="1"/>
          <p:nvPr/>
        </p:nvSpPr>
        <p:spPr>
          <a:xfrm>
            <a:off x="3811637" y="2755702"/>
            <a:ext cx="2935337" cy="2699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arch, governance, migration across 5, rollout 10+ eng. Done = one ingestion, contracts write-time, single API.</a:t>
            </a:r>
            <a:endParaRPr lang="en-US" sz="788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3216176"/>
            <a:ext cx="3182987" cy="755452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542925" y="3320951"/>
            <a:ext cx="2935337" cy="10284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spc="108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— ENFORCEMENT TRADE-OFF</a:t>
            </a:r>
            <a:endParaRPr lang="en-US" sz="675" dirty="0"/>
          </a:p>
        </p:txBody>
      </p:sp>
      <p:sp>
        <p:nvSpPr>
          <p:cNvPr id="35" name="Text 22"/>
          <p:cNvSpPr txBox="1"/>
          <p:nvPr/>
        </p:nvSpPr>
        <p:spPr>
          <a:xfrm>
            <a:off x="542925" y="3461891"/>
            <a:ext cx="2935337" cy="4049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registry + </a:t>
            </a:r>
            <a:pPr indent="0" marL="0">
              <a:buNone/>
            </a:pPr>
            <a:r>
              <a:rPr lang="en-US" sz="788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 at write-time</a:t>
            </a:r>
            <a:pPr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1-week grace. RFC + 3 incidents cost. Streaming Kafka for real-time, batch for finance. Sat week each with hardest teams.</a:t>
            </a:r>
            <a:endParaRPr lang="en-US" sz="788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87812" y="3216176"/>
            <a:ext cx="3182987" cy="755452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3811637" y="3320951"/>
            <a:ext cx="2935337" cy="10284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spc="108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 + CHANGE</a:t>
            </a:r>
            <a:endParaRPr lang="en-US" sz="675" dirty="0"/>
          </a:p>
        </p:txBody>
      </p:sp>
      <p:sp>
        <p:nvSpPr>
          <p:cNvPr id="38" name="Text 24"/>
          <p:cNvSpPr txBox="1"/>
          <p:nvPr/>
        </p:nvSpPr>
        <p:spPr>
          <a:xfrm>
            <a:off x="3811637" y="3461891"/>
            <a:ext cx="2935337" cy="4049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60s campaign, &lt;2m SLA, 5→1, 10+ migrated.</a:t>
            </a:r>
            <a:pPr indent="0" marL="0">
              <a:buNone/>
            </a:pPr>
            <a:r>
              <a:rPr lang="en-US" sz="788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Change: shadow registry month earlier — 2 producers built during design retrofit.</a:t>
            </a:r>
            <a:endParaRPr lang="en-US" sz="788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4066877"/>
            <a:ext cx="6451699" cy="932111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542925" y="4171652"/>
            <a:ext cx="6204049" cy="10284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b="1" spc="122" kern="0" dirty="0">
                <a:solidFill>
                  <a:srgbClr val="6E6E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PHASED — 3 PHASES 4 MONTHS</a:t>
            </a:r>
            <a:endParaRPr lang="en-US" sz="675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925" y="4331643"/>
            <a:ext cx="552450" cy="149423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609600" y="4350693"/>
            <a:ext cx="418951" cy="1113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675" dirty="0"/>
          </a:p>
        </p:txBody>
      </p:sp>
      <p:sp>
        <p:nvSpPr>
          <p:cNvPr id="43" name="Text 27"/>
          <p:cNvSpPr txBox="1"/>
          <p:nvPr/>
        </p:nvSpPr>
        <p:spPr>
          <a:xfrm>
            <a:off x="1171575" y="4331643"/>
            <a:ext cx="5575399" cy="1494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+ contracts shadow — observability only.</a:t>
            </a:r>
            <a:endParaRPr lang="en-US" sz="788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2925" y="4538216"/>
            <a:ext cx="552450" cy="149423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609600" y="4557266"/>
            <a:ext cx="419100" cy="1113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675" dirty="0"/>
          </a:p>
        </p:txBody>
      </p:sp>
      <p:sp>
        <p:nvSpPr>
          <p:cNvPr id="46" name="Text 29"/>
          <p:cNvSpPr txBox="1"/>
          <p:nvPr/>
        </p:nvSpPr>
        <p:spPr>
          <a:xfrm>
            <a:off x="1171575" y="4538216"/>
            <a:ext cx="5575399" cy="1494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+ campaign live, dual-writes for rollback.</a:t>
            </a:r>
            <a:endParaRPr lang="en-US" sz="788" dirty="0"/>
          </a:p>
        </p:txBody>
      </p:sp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2925" y="4744789"/>
            <a:ext cx="552450" cy="149423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609600" y="4763839"/>
            <a:ext cx="418951" cy="1113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675" dirty="0"/>
          </a:p>
        </p:txBody>
      </p:sp>
      <p:sp>
        <p:nvSpPr>
          <p:cNvPr id="49" name="Text 31"/>
          <p:cNvSpPr txBox="1"/>
          <p:nvPr/>
        </p:nvSpPr>
        <p:spPr>
          <a:xfrm>
            <a:off x="1171575" y="4744789"/>
            <a:ext cx="5575399" cy="1494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Orders, inventory, marketing, deprecate 5 legacy.</a:t>
            </a:r>
            <a:endParaRPr lang="en-US" sz="788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04149" y="1176486"/>
            <a:ext cx="4768751" cy="1850678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7147024" y="1300311"/>
            <a:ext cx="4483001" cy="10284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600"/>
              </a:spcAft>
              <a:buNone/>
            </a:pPr>
            <a:r>
              <a:rPr lang="en-US" sz="675" b="1" spc="122" kern="0" dirty="0">
                <a:solidFill>
                  <a:srgbClr val="0071E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STORY 7 &amp; 8 — SAME FRAMEWORK, ALTERNATE SAMPLES</a:t>
            </a:r>
            <a:endParaRPr lang="en-US" sz="675" dirty="0"/>
          </a:p>
        </p:txBody>
      </p:sp>
      <p:pic>
        <p:nvPicPr>
          <p:cNvPr id="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47024" y="1479352"/>
            <a:ext cx="4483001" cy="423863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7261324" y="1488877"/>
            <a:ext cx="436870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"/>
              </a:spcAft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7 = Disagreement (hard deadline)</a:t>
            </a:r>
            <a:endParaRPr lang="en-US" sz="825" dirty="0"/>
          </a:p>
        </p:txBody>
      </p:sp>
      <p:sp>
        <p:nvSpPr>
          <p:cNvPr id="54" name="Text 34"/>
          <p:cNvSpPr txBox="1"/>
          <p:nvPr/>
        </p:nvSpPr>
        <p:spPr>
          <a:xfrm>
            <a:off x="7261324" y="1646039"/>
            <a:ext cx="4368701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Key: “Which deadline matters — contract or cutover?” Phased still hits contract team-by-team. Rollback = config flip.</a:t>
            </a:r>
            <a:endParaRPr lang="en-US" sz="750" dirty="0"/>
          </a:p>
        </p:txBody>
      </p:sp>
      <p:pic>
        <p:nvPicPr>
          <p:cNvPr id="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7024" y="1979414"/>
            <a:ext cx="4483001" cy="423863"/>
          </a:xfrm>
          <a:prstGeom prst="rect">
            <a:avLst/>
          </a:prstGeom>
        </p:spPr>
      </p:pic>
      <p:sp>
        <p:nvSpPr>
          <p:cNvPr id="56" name="Text 35"/>
          <p:cNvSpPr txBox="1"/>
          <p:nvPr/>
        </p:nvSpPr>
        <p:spPr>
          <a:xfrm>
            <a:off x="7261324" y="1988939"/>
            <a:ext cx="436870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"/>
              </a:spcAft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8 = Process (framework scratch)</a:t>
            </a:r>
            <a:endParaRPr lang="en-US" sz="825" dirty="0"/>
          </a:p>
        </p:txBody>
      </p:sp>
      <p:sp>
        <p:nvSpPr>
          <p:cNvPr id="57" name="Text 36"/>
          <p:cNvSpPr txBox="1"/>
          <p:nvPr/>
        </p:nvSpPr>
        <p:spPr>
          <a:xfrm>
            <a:off x="7261324" y="2146102"/>
            <a:ext cx="4368701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Key: “I didn't pitch framework — migrated 2 real, showed numbers, teams came to me. Pull, not push.”</a:t>
            </a:r>
            <a:endParaRPr lang="en-US" sz="750" dirty="0"/>
          </a:p>
        </p:txBody>
      </p:sp>
      <p:pic>
        <p:nvPicPr>
          <p:cNvPr id="5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47024" y="2479477"/>
            <a:ext cx="4483001" cy="423863"/>
          </a:xfrm>
          <a:prstGeom prst="rect">
            <a:avLst/>
          </a:prstGeom>
        </p:spPr>
      </p:pic>
      <p:sp>
        <p:nvSpPr>
          <p:cNvPr id="59" name="Text 37"/>
          <p:cNvSpPr txBox="1"/>
          <p:nvPr/>
        </p:nvSpPr>
        <p:spPr>
          <a:xfrm>
            <a:off x="7261324" y="2489002"/>
            <a:ext cx="436870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"/>
              </a:spcAft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to use which</a:t>
            </a:r>
            <a:endParaRPr lang="en-US" sz="825" dirty="0"/>
          </a:p>
        </p:txBody>
      </p:sp>
      <p:sp>
        <p:nvSpPr>
          <p:cNvPr id="60" name="Text 38"/>
          <p:cNvSpPr txBox="1"/>
          <p:nvPr/>
        </p:nvSpPr>
        <p:spPr>
          <a:xfrm>
            <a:off x="7261324" y="2646164"/>
            <a:ext cx="4368701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ownership → Story 1 (12%→0.3%). Platform-lead → this Lazada variant. Same STAR timing.</a:t>
            </a:r>
            <a:endParaRPr lang="en-US" sz="750" dirty="0"/>
          </a:p>
        </p:txBody>
      </p:sp>
      <p:pic>
        <p:nvPicPr>
          <p:cNvPr id="6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04149" y="3122414"/>
            <a:ext cx="4768751" cy="1593503"/>
          </a:xfrm>
          <a:prstGeom prst="rect">
            <a:avLst/>
          </a:prstGeom>
        </p:spPr>
      </p:pic>
      <p:sp>
        <p:nvSpPr>
          <p:cNvPr id="62" name="Text 39"/>
          <p:cNvSpPr txBox="1"/>
          <p:nvPr/>
        </p:nvSpPr>
        <p:spPr>
          <a:xfrm>
            <a:off x="7147024" y="3246239"/>
            <a:ext cx="4483001" cy="10284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spcAft>
                <a:spcPts val="600"/>
              </a:spcAft>
              <a:buNone/>
            </a:pPr>
            <a:r>
              <a:rPr lang="en-US" sz="675" b="1" spc="122" kern="0" dirty="0">
                <a:solidFill>
                  <a:srgbClr val="0071E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PROBING — IF ASKED DEEPER</a:t>
            </a:r>
            <a:endParaRPr lang="en-US" sz="675" dirty="0"/>
          </a:p>
        </p:txBody>
      </p:sp>
      <p:pic>
        <p:nvPicPr>
          <p:cNvPr id="6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47024" y="3425279"/>
            <a:ext cx="4483001" cy="295275"/>
          </a:xfrm>
          <a:prstGeom prst="rect">
            <a:avLst/>
          </a:prstGeom>
        </p:spPr>
      </p:pic>
      <p:sp>
        <p:nvSpPr>
          <p:cNvPr id="64" name="Text 40"/>
          <p:cNvSpPr txBox="1"/>
          <p:nvPr/>
        </p:nvSpPr>
        <p:spPr>
          <a:xfrm>
            <a:off x="7261324" y="3434804"/>
            <a:ext cx="436870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"/>
              </a:spcAft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contracts not registry?</a:t>
            </a:r>
            <a:endParaRPr lang="en-US" sz="825" dirty="0"/>
          </a:p>
        </p:txBody>
      </p:sp>
      <p:sp>
        <p:nvSpPr>
          <p:cNvPr id="65" name="Text 41"/>
          <p:cNvSpPr txBox="1"/>
          <p:nvPr/>
        </p:nvSpPr>
        <p:spPr>
          <a:xfrm>
            <a:off x="7261324" y="3591967"/>
            <a:ext cx="4368701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Registry = docs. Contract = enforcement. Drift back in sprint without it. Grace made it land.</a:t>
            </a:r>
            <a:endParaRPr lang="en-US" sz="750" dirty="0"/>
          </a:p>
        </p:txBody>
      </p:sp>
      <p:pic>
        <p:nvPicPr>
          <p:cNvPr id="6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47024" y="3796754"/>
            <a:ext cx="4483001" cy="423863"/>
          </a:xfrm>
          <a:prstGeom prst="rect">
            <a:avLst/>
          </a:prstGeom>
        </p:spPr>
      </p:pic>
      <p:sp>
        <p:nvSpPr>
          <p:cNvPr id="67" name="Text 42"/>
          <p:cNvSpPr txBox="1"/>
          <p:nvPr/>
        </p:nvSpPr>
        <p:spPr>
          <a:xfrm>
            <a:off x="7261324" y="3806279"/>
            <a:ext cx="436870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"/>
              </a:spcAft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pushback?</a:t>
            </a:r>
            <a:endParaRPr lang="en-US" sz="825" dirty="0"/>
          </a:p>
        </p:txBody>
      </p:sp>
      <p:sp>
        <p:nvSpPr>
          <p:cNvPr id="68" name="Text 43"/>
          <p:cNvSpPr txBox="1"/>
          <p:nvPr/>
        </p:nvSpPr>
        <p:spPr>
          <a:xfrm>
            <a:off x="7261324" y="3963442"/>
            <a:ext cx="4368701" cy="257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RFC with 3 incidents + week-per-analysis cost + shadow pilot on my pipeline first. Data &gt; opinion.</a:t>
            </a:r>
            <a:endParaRPr lang="en-US" sz="750" dirty="0"/>
          </a:p>
        </p:txBody>
      </p:sp>
      <p:pic>
        <p:nvPicPr>
          <p:cNvPr id="6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47024" y="4296817"/>
            <a:ext cx="4483001" cy="295275"/>
          </a:xfrm>
          <a:prstGeom prst="rect">
            <a:avLst/>
          </a:prstGeom>
        </p:spPr>
      </p:pic>
      <p:sp>
        <p:nvSpPr>
          <p:cNvPr id="70" name="Text 44"/>
          <p:cNvSpPr txBox="1"/>
          <p:nvPr/>
        </p:nvSpPr>
        <p:spPr>
          <a:xfrm>
            <a:off x="7261324" y="4306342"/>
            <a:ext cx="436870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"/>
              </a:spcAft>
              <a:buNone/>
            </a:pPr>
            <a:r>
              <a:rPr lang="en-US" sz="82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vs batch?</a:t>
            </a:r>
            <a:endParaRPr lang="en-US" sz="825" dirty="0"/>
          </a:p>
        </p:txBody>
      </p:sp>
      <p:sp>
        <p:nvSpPr>
          <p:cNvPr id="71" name="Text 45"/>
          <p:cNvSpPr txBox="1"/>
          <p:nvPr/>
        </p:nvSpPr>
        <p:spPr>
          <a:xfrm>
            <a:off x="7261324" y="4463504"/>
            <a:ext cx="4368701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consumer: sub-min → streaming, nightly → batch. Not one size.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1000"/>
            <a:ext cx="11277600" cy="10468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390525"/>
            <a:ext cx="247620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65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// UNIVERSAL RULES</a:t>
            </a:r>
            <a:endParaRPr lang="en-US" sz="7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81025"/>
            <a:ext cx="2476202" cy="66585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spcBef>
                <a:spcPts val="450"/>
              </a:spcBef>
              <a:buNone/>
            </a:pPr>
            <a:r>
              <a:rPr lang="en-US" sz="2850" b="1" spc="-114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Universal Rules</a:t>
            </a:r>
            <a:endParaRPr lang="en-US" sz="28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2850" b="1" spc="-114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 Every Story</a:t>
            </a:r>
            <a:endParaRPr lang="en-US" sz="2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577453"/>
            <a:ext cx="3429000" cy="66942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448675" y="691753"/>
            <a:ext cx="3143250" cy="45035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 rule:</a:t>
            </a:r>
            <a:pPr indent="0" marL="0">
              <a:buNone/>
            </a:pPr>
            <a:r>
              <a:rPr lang="en-US" sz="863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simple, visible, no clutter — same as your slides. Measurable + reflective + I not we. Every story ends with what you'd change.</a:t>
            </a:r>
            <a:endParaRPr lang="en-US" sz="86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599307"/>
            <a:ext cx="247650" cy="24765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4093" y="1654076"/>
            <a:ext cx="138857" cy="1928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838200" y="1665536"/>
            <a:ext cx="845046" cy="1151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825" b="1" spc="149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TO DO</a:t>
            </a:r>
            <a:endParaRPr lang="en-US" sz="82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61257"/>
            <a:ext cx="5562600" cy="657374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104132"/>
            <a:ext cx="266700" cy="2667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36997" y="2161282"/>
            <a:ext cx="148828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1000125" y="2113657"/>
            <a:ext cx="4723507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with I, follow with specifics</a:t>
            </a:r>
            <a:endParaRPr lang="en-US" sz="975" dirty="0"/>
          </a:p>
        </p:txBody>
      </p:sp>
      <p:sp>
        <p:nvSpPr>
          <p:cNvPr id="14" name="Text 7"/>
          <p:cNvSpPr txBox="1"/>
          <p:nvPr/>
        </p:nvSpPr>
        <p:spPr>
          <a:xfrm>
            <a:off x="1000125" y="2327970"/>
            <a:ext cx="4723507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88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 designed schema” not “we worked on it.” Name trade-off, name scope, name decision.</a:t>
            </a:r>
            <a:endParaRPr lang="en-US" sz="885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13881"/>
            <a:ext cx="5562600" cy="657374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2856756"/>
            <a:ext cx="266700" cy="26670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681038" y="2913906"/>
            <a:ext cx="195263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</a:t>
            </a:r>
            <a:endParaRPr lang="en-US" sz="900" dirty="0"/>
          </a:p>
        </p:txBody>
      </p:sp>
      <p:sp>
        <p:nvSpPr>
          <p:cNvPr id="18" name="Text 9"/>
          <p:cNvSpPr txBox="1"/>
          <p:nvPr/>
        </p:nvSpPr>
        <p:spPr>
          <a:xfrm>
            <a:off x="1000125" y="2866281"/>
            <a:ext cx="4217789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≤5 min, target 3:00–4:30</a:t>
            </a:r>
            <a:endParaRPr lang="en-US" sz="975" dirty="0"/>
          </a:p>
        </p:txBody>
      </p:sp>
      <p:sp>
        <p:nvSpPr>
          <p:cNvPr id="19" name="Text 10"/>
          <p:cNvSpPr txBox="1"/>
          <p:nvPr/>
        </p:nvSpPr>
        <p:spPr>
          <a:xfrm>
            <a:off x="1000125" y="3080593"/>
            <a:ext cx="4217789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88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4–5 questions in 30 min. Overrun costs volume. Time it aloud, record on phone.</a:t>
            </a:r>
            <a:endParaRPr lang="en-US" sz="885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466505"/>
            <a:ext cx="5562600" cy="814685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3609380"/>
            <a:ext cx="266700" cy="2667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96218" y="3666530"/>
            <a:ext cx="180082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900" dirty="0"/>
          </a:p>
        </p:txBody>
      </p:sp>
      <p:sp>
        <p:nvSpPr>
          <p:cNvPr id="23" name="Text 12"/>
          <p:cNvSpPr txBox="1"/>
          <p:nvPr/>
        </p:nvSpPr>
        <p:spPr>
          <a:xfrm>
            <a:off x="1000125" y="3618905"/>
            <a:ext cx="485775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outcome: %, $, hrs, latency</a:t>
            </a:r>
            <a:endParaRPr lang="en-US" sz="975" dirty="0"/>
          </a:p>
        </p:txBody>
      </p:sp>
      <p:sp>
        <p:nvSpPr>
          <p:cNvPr id="24" name="Text 13"/>
          <p:cNvSpPr txBox="1"/>
          <p:nvPr/>
        </p:nvSpPr>
        <p:spPr>
          <a:xfrm>
            <a:off x="1000125" y="3833217"/>
            <a:ext cx="4857750" cy="30509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88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12%→0.3%, 2wk→2d, 70%↓ pages, p95 3s→300ms. If can't quantify, say how you'd measure now.</a:t>
            </a:r>
            <a:endParaRPr lang="en-US" sz="885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376440"/>
            <a:ext cx="5562600" cy="657374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4519315"/>
            <a:ext cx="266700" cy="266700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707975" y="4576465"/>
            <a:ext cx="16832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↻</a:t>
            </a:r>
            <a:endParaRPr lang="en-US" sz="900" dirty="0"/>
          </a:p>
        </p:txBody>
      </p:sp>
      <p:sp>
        <p:nvSpPr>
          <p:cNvPr id="28" name="Text 15"/>
          <p:cNvSpPr txBox="1"/>
          <p:nvPr/>
        </p:nvSpPr>
        <p:spPr>
          <a:xfrm>
            <a:off x="1000125" y="4528840"/>
            <a:ext cx="3905845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with what you'd change — growth signal</a:t>
            </a:r>
            <a:endParaRPr lang="en-US" sz="975" dirty="0"/>
          </a:p>
        </p:txBody>
      </p:sp>
      <p:sp>
        <p:nvSpPr>
          <p:cNvPr id="29" name="Text 16"/>
          <p:cNvSpPr txBox="1"/>
          <p:nvPr/>
        </p:nvSpPr>
        <p:spPr>
          <a:xfrm>
            <a:off x="1000125" y="4743152"/>
            <a:ext cx="3905845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88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Rehearse closing line until natural, not rehearsed. Reflection = ownership.</a:t>
            </a:r>
            <a:endParaRPr lang="en-US" sz="885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599307"/>
            <a:ext cx="247650" cy="247650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6315224" y="1654076"/>
            <a:ext cx="133201" cy="1833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C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825" dirty="0"/>
          </a:p>
        </p:txBody>
      </p:sp>
      <p:sp>
        <p:nvSpPr>
          <p:cNvPr id="32" name="Text 18"/>
          <p:cNvSpPr txBox="1"/>
          <p:nvPr/>
        </p:nvSpPr>
        <p:spPr>
          <a:xfrm>
            <a:off x="6553200" y="1665536"/>
            <a:ext cx="1066800" cy="1151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825" b="1" spc="149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TO AVOID</a:t>
            </a:r>
            <a:endParaRPr lang="en-US" sz="825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1961257"/>
            <a:ext cx="5562600" cy="657374"/>
          </a:xfrm>
          <a:prstGeom prst="rect">
            <a:avLst/>
          </a:prstGeom>
        </p:spPr>
      </p:pic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4125" y="2104132"/>
            <a:ext cx="266700" cy="266700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6396038" y="2161282"/>
            <a:ext cx="195263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</a:t>
            </a:r>
            <a:endParaRPr lang="en-US" sz="900" dirty="0"/>
          </a:p>
        </p:txBody>
      </p:sp>
      <p:sp>
        <p:nvSpPr>
          <p:cNvPr id="36" name="Text 20"/>
          <p:cNvSpPr txBox="1"/>
          <p:nvPr/>
        </p:nvSpPr>
        <p:spPr>
          <a:xfrm>
            <a:off x="6715125" y="2113657"/>
            <a:ext cx="4040684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heroes vs villains — trade-offs</a:t>
            </a:r>
            <a:endParaRPr lang="en-US" sz="975" dirty="0"/>
          </a:p>
        </p:txBody>
      </p:sp>
      <p:sp>
        <p:nvSpPr>
          <p:cNvPr id="37" name="Text 21"/>
          <p:cNvSpPr txBox="1"/>
          <p:nvPr/>
        </p:nvSpPr>
        <p:spPr>
          <a:xfrm>
            <a:off x="6715125" y="2327970"/>
            <a:ext cx="4040684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88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conflict as engineering trade-off, not personalities. Learning &gt; blame.</a:t>
            </a:r>
            <a:endParaRPr lang="en-US" sz="885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2713881"/>
            <a:ext cx="5562600" cy="657374"/>
          </a:xfrm>
          <a:prstGeom prst="rect">
            <a:avLst/>
          </a:prstGeom>
        </p:spPr>
      </p:pic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4125" y="2856756"/>
            <a:ext cx="266700" cy="266700"/>
          </a:xfrm>
          <a:prstGeom prst="rect">
            <a:avLst/>
          </a:prstGeom>
        </p:spPr>
      </p:pic>
      <p:sp>
        <p:nvSpPr>
          <p:cNvPr id="40" name="Text 22"/>
          <p:cNvSpPr txBox="1"/>
          <p:nvPr/>
        </p:nvSpPr>
        <p:spPr>
          <a:xfrm>
            <a:off x="6432947" y="2913906"/>
            <a:ext cx="158353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◑</a:t>
            </a:r>
            <a:endParaRPr lang="en-US" sz="900" dirty="0"/>
          </a:p>
        </p:txBody>
      </p:sp>
      <p:sp>
        <p:nvSpPr>
          <p:cNvPr id="41" name="Text 23"/>
          <p:cNvSpPr txBox="1"/>
          <p:nvPr/>
        </p:nvSpPr>
        <p:spPr>
          <a:xfrm>
            <a:off x="6715125" y="2866281"/>
            <a:ext cx="4235053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prep fails — rehearse aloud</a:t>
            </a:r>
            <a:endParaRPr lang="en-US" sz="975" dirty="0"/>
          </a:p>
        </p:txBody>
      </p:sp>
      <p:sp>
        <p:nvSpPr>
          <p:cNvPr id="42" name="Text 24"/>
          <p:cNvSpPr txBox="1"/>
          <p:nvPr/>
        </p:nvSpPr>
        <p:spPr>
          <a:xfrm>
            <a:off x="6715125" y="3080593"/>
            <a:ext cx="4235053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88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Record, listen for we vs I and filler. Mumbles hide in silent prep, not timed aloud.</a:t>
            </a:r>
            <a:endParaRPr lang="en-US" sz="885" dirty="0"/>
          </a:p>
        </p:txBody>
      </p:sp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72200" y="3466505"/>
            <a:ext cx="5562600" cy="657374"/>
          </a:xfrm>
          <a:prstGeom prst="rect">
            <a:avLst/>
          </a:prstGeom>
        </p:spPr>
      </p:pic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4125" y="3609380"/>
            <a:ext cx="266700" cy="266700"/>
          </a:xfrm>
          <a:prstGeom prst="rect">
            <a:avLst/>
          </a:prstGeom>
        </p:spPr>
      </p:pic>
      <p:sp>
        <p:nvSpPr>
          <p:cNvPr id="45" name="Text 25"/>
          <p:cNvSpPr txBox="1"/>
          <p:nvPr/>
        </p:nvSpPr>
        <p:spPr>
          <a:xfrm>
            <a:off x="6438156" y="3666530"/>
            <a:ext cx="153144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900" dirty="0"/>
          </a:p>
        </p:txBody>
      </p:sp>
      <p:sp>
        <p:nvSpPr>
          <p:cNvPr id="46" name="Text 26"/>
          <p:cNvSpPr txBox="1"/>
          <p:nvPr/>
        </p:nvSpPr>
        <p:spPr>
          <a:xfrm>
            <a:off x="6715125" y="3618905"/>
            <a:ext cx="4563368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drill-down: “What if manager said no?”</a:t>
            </a:r>
            <a:endParaRPr lang="en-US" sz="975" dirty="0"/>
          </a:p>
        </p:txBody>
      </p:sp>
      <p:sp>
        <p:nvSpPr>
          <p:cNvPr id="47" name="Text 27"/>
          <p:cNvSpPr txBox="1"/>
          <p:nvPr/>
        </p:nvSpPr>
        <p:spPr>
          <a:xfrm>
            <a:off x="6715125" y="3833217"/>
            <a:ext cx="4563368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88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Follow-ups are where ownership is scored. Have partner ask hard follow-up per story.</a:t>
            </a:r>
            <a:endParaRPr lang="en-US" sz="885" dirty="0"/>
          </a:p>
        </p:txBody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4219129"/>
            <a:ext cx="5562600" cy="814685"/>
          </a:xfrm>
          <a:prstGeom prst="rect">
            <a:avLst/>
          </a:prstGeom>
        </p:spPr>
      </p:pic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34125" y="4362004"/>
            <a:ext cx="266700" cy="266700"/>
          </a:xfrm>
          <a:prstGeom prst="rect">
            <a:avLst/>
          </a:prstGeom>
        </p:spPr>
      </p:pic>
      <p:sp>
        <p:nvSpPr>
          <p:cNvPr id="50" name="Text 28"/>
          <p:cNvSpPr txBox="1"/>
          <p:nvPr/>
        </p:nvSpPr>
        <p:spPr>
          <a:xfrm>
            <a:off x="6422975" y="4419154"/>
            <a:ext cx="16832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◰</a:t>
            </a:r>
            <a:endParaRPr lang="en-US" sz="900" dirty="0"/>
          </a:p>
        </p:txBody>
      </p:sp>
      <p:sp>
        <p:nvSpPr>
          <p:cNvPr id="51" name="Text 29"/>
          <p:cNvSpPr txBox="1"/>
          <p:nvPr/>
        </p:nvSpPr>
        <p:spPr>
          <a:xfrm>
            <a:off x="6715125" y="4371529"/>
            <a:ext cx="485775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narrative: S=business, T=your DoD</a:t>
            </a:r>
            <a:endParaRPr lang="en-US" sz="975" dirty="0"/>
          </a:p>
        </p:txBody>
      </p:sp>
      <p:sp>
        <p:nvSpPr>
          <p:cNvPr id="52" name="Text 30"/>
          <p:cNvSpPr txBox="1"/>
          <p:nvPr/>
        </p:nvSpPr>
        <p:spPr>
          <a:xfrm>
            <a:off x="6715125" y="4585841"/>
            <a:ext cx="4857750" cy="30509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885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S=business + stakeholders, T=your definition of done, A=milestones+trade-off+comms, R=measurable+reflective.</a:t>
            </a:r>
            <a:endParaRPr lang="en-US" sz="885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5886450"/>
            <a:ext cx="11277600" cy="590550"/>
          </a:xfrm>
          <a:prstGeom prst="rect">
            <a:avLst/>
          </a:prstGeom>
        </p:spPr>
      </p:pic>
      <p:sp>
        <p:nvSpPr>
          <p:cNvPr id="54" name="Text 31"/>
          <p:cNvSpPr txBox="1"/>
          <p:nvPr/>
        </p:nvSpPr>
        <p:spPr>
          <a:xfrm>
            <a:off x="619125" y="6019800"/>
            <a:ext cx="7812584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111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formula: Situation = business problem + why mattered. Task = your scope + done. Action = I milestones. Result = numbers + change.</a:t>
            </a:r>
            <a:endParaRPr lang="en-US" sz="900" dirty="0"/>
          </a:p>
        </p:txBody>
      </p:sp>
      <p:sp>
        <p:nvSpPr>
          <p:cNvPr id="55" name="Text 32"/>
          <p:cNvSpPr txBox="1"/>
          <p:nvPr/>
        </p:nvSpPr>
        <p:spPr>
          <a:xfrm>
            <a:off x="8431709" y="6041231"/>
            <a:ext cx="3141166" cy="2905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keys = what interviewer scores, not slides you show</a:t>
            </a:r>
            <a:endParaRPr lang="en-US" sz="7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90525"/>
            <a:ext cx="112776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165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// PRACTICE PROTOCOL — SHIP IT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23875"/>
            <a:ext cx="11277600" cy="3790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126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 The Narrative. </a:t>
            </a:r>
            <a:pPr indent="0" marL="0">
              <a:buNone/>
            </a:pPr>
            <a:r>
              <a:rPr lang="en-US" sz="3150" b="1" spc="-126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It.</a:t>
            </a:r>
            <a:endParaRPr lang="en-US" sz="3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090"/>
            <a:ext cx="1860649" cy="2381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2925" y="1017240"/>
            <a:ext cx="168919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E6E7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Story 1: Led End-to-End (12%→0.3%)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49" y="960090"/>
            <a:ext cx="2153692" cy="23812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517874" y="1017240"/>
            <a:ext cx="198224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E6E7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Story 2: Disagreed Phased (5w 0 downtime)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141" y="960090"/>
            <a:ext cx="1549896" cy="23812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85866" y="1017240"/>
            <a:ext cx="137844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E6E7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Story 3: Framework (2wk→2d)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337" y="960090"/>
            <a:ext cx="1628626" cy="23812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450062" y="1017240"/>
            <a:ext cx="145717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E6E7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Story 4: Learned dbt+Snowflake</a:t>
            </a:r>
            <a:endParaRPr lang="en-US" sz="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263" y="960090"/>
            <a:ext cx="2217688" cy="23812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192988" y="1017240"/>
            <a:ext cx="204623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E6E73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Story 5: Learned Go (1/10th mem, –40% cost)</a:t>
            </a:r>
            <a:endParaRPr lang="en-US" sz="7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26815"/>
            <a:ext cx="3670250" cy="1334839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1607790"/>
            <a:ext cx="266700" cy="26670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723751" y="1672084"/>
            <a:ext cx="200174" cy="2024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25" dirty="0"/>
          </a:p>
        </p:txBody>
      </p:sp>
      <p:sp>
        <p:nvSpPr>
          <p:cNvPr id="17" name="Text 8"/>
          <p:cNvSpPr txBox="1"/>
          <p:nvPr/>
        </p:nvSpPr>
        <p:spPr>
          <a:xfrm>
            <a:off x="657225" y="1988790"/>
            <a:ext cx="327020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spc="-21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Tailor to your real history</a:t>
            </a:r>
            <a:endParaRPr lang="en-US" sz="1050" dirty="0"/>
          </a:p>
        </p:txBody>
      </p:sp>
      <p:sp>
        <p:nvSpPr>
          <p:cNvPr id="18" name="Text 9"/>
          <p:cNvSpPr txBox="1"/>
          <p:nvPr/>
        </p:nvSpPr>
        <p:spPr>
          <a:xfrm>
            <a:off x="657225" y="2272605"/>
            <a:ext cx="3270200" cy="3080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samples with your GitHub. Real schema, real DAGs, real numbers. No fabrication — they probe.</a:t>
            </a:r>
            <a:endParaRPr lang="en-US" sz="863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0800" y="1426815"/>
            <a:ext cx="3670250" cy="1334839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0825" y="1607790"/>
            <a:ext cx="266700" cy="2667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4517827" y="1672084"/>
            <a:ext cx="209699" cy="2024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25" dirty="0"/>
          </a:p>
        </p:txBody>
      </p:sp>
      <p:sp>
        <p:nvSpPr>
          <p:cNvPr id="22" name="Text 11"/>
          <p:cNvSpPr txBox="1"/>
          <p:nvPr/>
        </p:nvSpPr>
        <p:spPr>
          <a:xfrm>
            <a:off x="4460825" y="1988790"/>
            <a:ext cx="327020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spc="-21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 aloud: 3:00–4:30</a:t>
            </a:r>
            <a:endParaRPr lang="en-US" sz="1050" dirty="0"/>
          </a:p>
        </p:txBody>
      </p:sp>
      <p:sp>
        <p:nvSpPr>
          <p:cNvPr id="23" name="Text 12"/>
          <p:cNvSpPr txBox="1"/>
          <p:nvPr/>
        </p:nvSpPr>
        <p:spPr>
          <a:xfrm>
            <a:off x="4460825" y="2272605"/>
            <a:ext cx="3270200" cy="3080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5:00. Record on phone. Overrun costs you question volume. Aim 3:30 sweet spot.</a:t>
            </a:r>
            <a:endParaRPr lang="en-US" sz="863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4401" y="1426815"/>
            <a:ext cx="3670399" cy="1334839"/>
          </a:xfrm>
          <a:prstGeom prst="rect">
            <a:avLst/>
          </a:prstGeom>
        </p:spPr>
      </p:pic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4426" y="1607790"/>
            <a:ext cx="266700" cy="266700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8320534" y="1672084"/>
            <a:ext cx="210592" cy="2024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25" dirty="0"/>
          </a:p>
        </p:txBody>
      </p:sp>
      <p:sp>
        <p:nvSpPr>
          <p:cNvPr id="27" name="Text 14"/>
          <p:cNvSpPr txBox="1"/>
          <p:nvPr/>
        </p:nvSpPr>
        <p:spPr>
          <a:xfrm>
            <a:off x="8264426" y="1988790"/>
            <a:ext cx="3270349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spc="-21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Listen for we vs I</a:t>
            </a:r>
            <a:endParaRPr lang="en-US" sz="1050" dirty="0"/>
          </a:p>
        </p:txBody>
      </p:sp>
      <p:sp>
        <p:nvSpPr>
          <p:cNvPr id="28" name="Text 15"/>
          <p:cNvSpPr txBox="1"/>
          <p:nvPr/>
        </p:nvSpPr>
        <p:spPr>
          <a:xfrm>
            <a:off x="8264426" y="2272605"/>
            <a:ext cx="3270349" cy="3080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“we did” without your part. Rewrite to “I designed / I drove / I wrote / I profiled 12 tables”.</a:t>
            </a:r>
            <a:endParaRPr lang="en-US" sz="863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895005"/>
            <a:ext cx="3670250" cy="1334839"/>
          </a:xfrm>
          <a:prstGeom prst="rect">
            <a:avLst/>
          </a:prstGeom>
        </p:spPr>
      </p:pic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3075980"/>
            <a:ext cx="266700" cy="266700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710803" y="3140273"/>
            <a:ext cx="213122" cy="2024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25" dirty="0"/>
          </a:p>
        </p:txBody>
      </p:sp>
      <p:sp>
        <p:nvSpPr>
          <p:cNvPr id="32" name="Text 17"/>
          <p:cNvSpPr txBox="1"/>
          <p:nvPr/>
        </p:nvSpPr>
        <p:spPr>
          <a:xfrm>
            <a:off x="657225" y="3456980"/>
            <a:ext cx="327020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spc="-21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Drill 1 follow-up per story</a:t>
            </a:r>
            <a:endParaRPr lang="en-US" sz="1050" dirty="0"/>
          </a:p>
        </p:txBody>
      </p:sp>
      <p:sp>
        <p:nvSpPr>
          <p:cNvPr id="33" name="Text 18"/>
          <p:cNvSpPr txBox="1"/>
          <p:nvPr/>
        </p:nvSpPr>
        <p:spPr>
          <a:xfrm>
            <a:off x="657225" y="3740795"/>
            <a:ext cx="3270200" cy="3080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“What if manager said no?” “Why framework not template?” Follow-ups = where ownership is scored.</a:t>
            </a:r>
            <a:endParaRPr lang="en-US" sz="863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0800" y="2895005"/>
            <a:ext cx="3670250" cy="1334839"/>
          </a:xfrm>
          <a:prstGeom prst="rect">
            <a:avLst/>
          </a:prstGeom>
        </p:spPr>
      </p:pic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60825" y="3075980"/>
            <a:ext cx="266700" cy="26670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4516934" y="3140273"/>
            <a:ext cx="210592" cy="2024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25" dirty="0"/>
          </a:p>
        </p:txBody>
      </p:sp>
      <p:sp>
        <p:nvSpPr>
          <p:cNvPr id="37" name="Text 20"/>
          <p:cNvSpPr txBox="1"/>
          <p:nvPr/>
        </p:nvSpPr>
        <p:spPr>
          <a:xfrm>
            <a:off x="4460825" y="3456980"/>
            <a:ext cx="327020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spc="-21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Rehearse closing line</a:t>
            </a:r>
            <a:endParaRPr lang="en-US" sz="1050" dirty="0"/>
          </a:p>
        </p:txBody>
      </p:sp>
      <p:sp>
        <p:nvSpPr>
          <p:cNvPr id="38" name="Text 21"/>
          <p:cNvSpPr txBox="1"/>
          <p:nvPr/>
        </p:nvSpPr>
        <p:spPr>
          <a:xfrm>
            <a:off x="4460825" y="3740795"/>
            <a:ext cx="3270200" cy="3080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“One thing I'd change…” until natural, not rehearsed. Growth signal. Natural &gt; perfect.</a:t>
            </a:r>
            <a:endParaRPr lang="en-US" sz="863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4401" y="2895005"/>
            <a:ext cx="3670399" cy="1334839"/>
          </a:xfrm>
          <a:prstGeom prst="rect">
            <a:avLst/>
          </a:prstGeom>
        </p:spPr>
      </p:pic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4426" y="3075980"/>
            <a:ext cx="266700" cy="266700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8320980" y="3140273"/>
            <a:ext cx="210145" cy="2024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825" dirty="0"/>
          </a:p>
        </p:txBody>
      </p:sp>
      <p:sp>
        <p:nvSpPr>
          <p:cNvPr id="42" name="Text 23"/>
          <p:cNvSpPr txBox="1"/>
          <p:nvPr/>
        </p:nvSpPr>
        <p:spPr>
          <a:xfrm>
            <a:off x="8264426" y="3456980"/>
            <a:ext cx="3270349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spc="-21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Day before: 4 stories back-to-back</a:t>
            </a:r>
            <a:endParaRPr lang="en-US" sz="1050" dirty="0"/>
          </a:p>
        </p:txBody>
      </p:sp>
      <p:sp>
        <p:nvSpPr>
          <p:cNvPr id="43" name="Text 24"/>
          <p:cNvSpPr txBox="1"/>
          <p:nvPr/>
        </p:nvSpPr>
        <p:spPr>
          <a:xfrm>
            <a:off x="8264426" y="3740795"/>
            <a:ext cx="3270349" cy="3080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20 min total. No notes. Final rep. Then stop — over-rehearsal kills presence.</a:t>
            </a:r>
            <a:endParaRPr lang="en-US" sz="863" dirty="0"/>
          </a:p>
        </p:txBody>
      </p:sp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5886450"/>
            <a:ext cx="11277600" cy="590550"/>
          </a:xfrm>
          <a:prstGeom prst="rect">
            <a:avLst/>
          </a:prstGeom>
        </p:spPr>
      </p:pic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7225" y="6029325"/>
            <a:ext cx="304800" cy="304800"/>
          </a:xfrm>
          <a:prstGeom prst="rect">
            <a:avLst/>
          </a:prstGeom>
        </p:spPr>
      </p:pic>
      <p:sp>
        <p:nvSpPr>
          <p:cNvPr id="46" name="Text 25"/>
          <p:cNvSpPr txBox="1"/>
          <p:nvPr/>
        </p:nvSpPr>
        <p:spPr>
          <a:xfrm>
            <a:off x="767209" y="6098381"/>
            <a:ext cx="185291" cy="2262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975" dirty="0"/>
          </a:p>
        </p:txBody>
      </p:sp>
      <p:sp>
        <p:nvSpPr>
          <p:cNvPr id="47" name="Text 26"/>
          <p:cNvSpPr txBox="1"/>
          <p:nvPr/>
        </p:nvSpPr>
        <p:spPr>
          <a:xfrm>
            <a:off x="1076325" y="6098381"/>
            <a:ext cx="6080968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111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Apple rule: simple, visible, no clutter — same as your slides. S = business + stakeholders, not tech first.</a:t>
            </a:r>
            <a:endParaRPr lang="en-US" sz="975" dirty="0"/>
          </a:p>
        </p:txBody>
      </p:sp>
      <p:sp>
        <p:nvSpPr>
          <p:cNvPr id="48" name="Text 27"/>
          <p:cNvSpPr txBox="1"/>
          <p:nvPr/>
        </p:nvSpPr>
        <p:spPr>
          <a:xfrm>
            <a:off x="9293275" y="6057900"/>
            <a:ext cx="22415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750" spc="105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5-MINUTE CAP MATTERS. GOING OVER</a:t>
            </a:r>
            <a:endParaRPr lang="en-US" sz="750" dirty="0"/>
          </a:p>
          <a:p>
            <a:pPr algn="r" indent="0" marL="0">
              <a:lnSpc>
                <a:spcPts val="1050"/>
              </a:lnSpc>
              <a:buNone/>
            </a:pPr>
            <a:r>
              <a:rPr lang="en-US" sz="750" spc="105" kern="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COSTS YOU QUESTION VOLUME.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Behavioral-(Ownership)-Round-—-Story-Bank</dc:title>
  <dc:subject>PptxGenJS Presentation</dc:subject>
  <dc:creator>PptxGenJS</dc:creator>
  <cp:lastModifiedBy>PptxGenJS</cp:lastModifiedBy>
  <cp:revision>1</cp:revision>
  <dcterms:created xsi:type="dcterms:W3CDTF">2026-10-11T07:20:37Z</dcterms:created>
  <dcterms:modified xsi:type="dcterms:W3CDTF">2026-10-11T07:20:37Z</dcterms:modified>
</cp:coreProperties>
</file>