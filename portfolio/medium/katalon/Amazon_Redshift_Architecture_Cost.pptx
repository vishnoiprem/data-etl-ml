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B2FC48-A32F-C13D-0BD2-4A440015FC04}" v="10" dt="2026-10-04T08:59:16.9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course around one question: where does Redshift spend resources during query execution, and which lever changes that resource boundary?
[Sources]
- https://docs.aws.amazon.com/redshift/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sequence to prevent memorizing isolated features.
[Sources]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pricing documents both deployment options. Keep architecture, monitoring, and forecasting assumptions separate.
[Sources]
- https://aws.amazon.com/redshift/pricing/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saying the leader is always a single failure point or that no processing happens there; teach its coordination role.
[Sources]
- https://docs.aws.amazon.com/redshift/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each step to a diagnostic: queue time, scan volume, redistribution, skew, spill, or leader-side finalization.
[Sources]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pricing describes RA3 managed storage as local SSD plus S3-backed durable storage and independent growth. Avoid hard-coded break-even thresholds without a workload model.
[Sources]
- https://aws.amazon.com/redshift/pricing/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currently describes managed-storage node families and recommends sizing based on processing needs. The user’s exact break-even point requires regional pricing and workload tests.
[Sources]
- https://aws.amazon.com/redshift/pricing/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documents that concurrency scaling is enabled for WLM queues and sends eligible read and supported write operations to added capacity. Charges apply while concurrency-scaling clusters actively run queries, subject to credits described by AWS pricing.
[Sources]
- https://docs.aws.amazon.com/redshift/latest/dg/concurrency-scaling.html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Concurrency scaling addresses queue pressure. Persistent demand may justify resizing or workload redesign. AWS says each active cluster earns up to daily free credits, but pricing and accumulation conditions should be checked for the account and Region.
[Sources]
- https://aws.amazon.com/redshift/features/concurrency-scaling/
- https://docs.aws.amazon.com/redshift/latest/dg/concurrency-scaling.html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WLM to protect BI from long ETL, but avoid obsolete manual configuration examples as universal best practice. Start with Automatic WLM and add rules based on observed contention.
[Sources]
- https://docs.aws.amazon.com/redshift/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suggestion: define workload classes by SLO and resource behavior, then verify queue wait, execution time, and aborted/hopped queries.
[Sources]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Spectrum as query-in-place over S3 data lake tables. Avoid fixed price claims in the slide; pricing varies and must be checked for the Region.
[Sources]
- https://docs.aws.amazon.com/redshift/
-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architecture decision framework, not an AWS guarantee. Verify with measured scan bytes, latency, and total operating cost.
[Sources]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AUTO table optimization as the baseline and use system evidence before forcing keys. Avoid claiming that a single DISTKEY always halves cluster size.
[Sources]
- https://docs.aws.amazon.com/redshift/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query and table system views appropriate to the current Redshift version. This slide provides the diagnostic mental model rather than hard-coding legacy STL-only workflows.
[Sources]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teaching frequent manual vacuum as a universal schedule. Current Redshift automates portions of maintenance; manual action should respond to evidence.
[Sources]
- https://docs.aws.amazon.com/redshift/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pricing explicitly points to pause/resume, elastic resize, resize scheduling, on-demand, and reserved options for provisioned deployments.
[Sources]
- https://aws.amazon.com/redshift/pricing/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current system views and CloudWatch/console metrics appropriate to the deployment model. The method is deliberately metric-first.
[Sources]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 example designed for the user’s demand forecasting and enterprise analytics context.
[Sources]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Corrections synthesized from current AWS documentation and pricing.
[Sources]
- https://docs.aws.amazon.com/redshift/
- https://aws.amazon.com/redshift/pricing/
- https://docs.aws.amazon.com/redshift/latest/dg/concurrency-scaling.html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include one metric and one tradeoff in every answer.
[Sources]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principle that cost and performance are both consequences of where work occurs.
[Sources]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
    <p:bg>
      <p:bgPr>
        <a:solidFill>
          <a:srgbClr val="F5F5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FF9900"/>
          </a:solidFill>
          <a:ln w="12700">
            <a:solidFill>
              <a:srgbClr val="FF9900"/>
            </a:solidFill>
            <a:prstDash val="solid"/>
          </a:ln>
        </p:spPr>
      </p:sp>
      <p:sp>
        <p:nvSpPr>
          <p:cNvPr id="3" name="Text 1"/>
          <p:cNvSpPr/>
          <p:nvPr/>
        </p:nvSpPr>
        <p:spPr>
          <a:xfrm>
            <a:off x="502920" y="155448"/>
            <a:ext cx="4572000" cy="201168"/>
          </a:xfrm>
          <a:prstGeom prst="rect">
            <a:avLst/>
          </a:prstGeom>
          <a:noFill/>
          <a:ln/>
        </p:spPr>
        <p:txBody>
          <a:bodyPr wrap="square" lIns="0" tIns="0" rIns="0" bIns="0" rtlCol="0" anchor="ctr"/>
          <a:lstStyle/>
          <a:p>
            <a:pPr marL="0" indent="0">
              <a:buNone/>
            </a:pPr>
            <a:r>
              <a:rPr lang="en-US" sz="800" b="1" kern="0" spc="140" dirty="0">
                <a:solidFill>
                  <a:srgbClr val="6E6E73"/>
                </a:solidFill>
              </a:rPr>
              <a:t>AMAZON REDSHIFT MASTERCLASS</a:t>
            </a:r>
            <a:endParaRPr lang="en-US" sz="800" dirty="0"/>
          </a:p>
        </p:txBody>
      </p:sp>
      <p:sp>
        <p:nvSpPr>
          <p:cNvPr id="4" name="Text 2"/>
          <p:cNvSpPr/>
          <p:nvPr/>
        </p:nvSpPr>
        <p:spPr>
          <a:xfrm>
            <a:off x="9784080" y="155448"/>
            <a:ext cx="1828800" cy="201168"/>
          </a:xfrm>
          <a:prstGeom prst="rect">
            <a:avLst/>
          </a:prstGeom>
          <a:noFill/>
          <a:ln/>
        </p:spPr>
        <p:txBody>
          <a:bodyPr wrap="square" lIns="0" tIns="0" rIns="0" bIns="0" rtlCol="0" anchor="ctr"/>
          <a:lstStyle/>
          <a:p>
            <a:pPr marL="0" indent="0" algn="r">
              <a:buNone/>
            </a:pPr>
            <a:r>
              <a:rPr lang="en-US" sz="800" dirty="0">
                <a:solidFill>
                  <a:srgbClr val="86868B"/>
                </a:solidFill>
              </a:rPr>
              <a:t>Prem Vishnoi</a:t>
            </a:r>
            <a:endParaRPr lang="en-US" sz="8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505"/>
        </a:solidFill>
        <a:effectLst/>
      </p:bgPr>
    </p:bg>
    <p:spTree>
      <p:nvGrpSpPr>
        <p:cNvPr id="1" name=""/>
        <p:cNvGrpSpPr/>
        <p:nvPr/>
      </p:nvGrpSpPr>
      <p:grpSpPr>
        <a:xfrm>
          <a:off x="0" y="0"/>
          <a:ext cx="1" cy="1"/>
          <a:chOff x="0" y="0"/>
          <a:chExt cx="1" cy="1"/>
        </a:xfrm>
      </p:grpSpPr>
      <p:pic>
        <p:nvPicPr>
          <p:cNvPr id="2" name="Image 0" descr="/mnt/data/redshift_work/generated_image_B1C67D9260AE_01.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w="12700">
            <a:solidFill>
              <a:srgbClr val="000000">
                <a:alpha val="0"/>
              </a:srgbClr>
            </a:solidFill>
            <a:prstDash val="solid"/>
          </a:ln>
        </p:spPr>
      </p:sp>
      <p:sp>
        <p:nvSpPr>
          <p:cNvPr id="4" name="Text 1"/>
          <p:cNvSpPr/>
          <p:nvPr/>
        </p:nvSpPr>
        <p:spPr>
          <a:xfrm>
            <a:off x="685800" y="640080"/>
            <a:ext cx="4572000" cy="274320"/>
          </a:xfrm>
          <a:prstGeom prst="rect">
            <a:avLst/>
          </a:prstGeom>
          <a:noFill/>
          <a:ln/>
        </p:spPr>
        <p:txBody>
          <a:bodyPr wrap="square" lIns="0" tIns="0" rIns="0" bIns="0" rtlCol="0" anchor="ctr"/>
          <a:lstStyle/>
          <a:p>
            <a:pPr marL="0" indent="0">
              <a:buNone/>
            </a:pPr>
            <a:r>
              <a:rPr lang="en-US" sz="1200" b="1" kern="0" spc="250" dirty="0">
                <a:solidFill>
                  <a:srgbClr val="FFB45B"/>
                </a:solidFill>
              </a:rPr>
              <a:t>AMAZON REDSHIFT</a:t>
            </a:r>
            <a:endParaRPr lang="en-US" sz="1200" dirty="0"/>
          </a:p>
        </p:txBody>
      </p:sp>
      <p:sp>
        <p:nvSpPr>
          <p:cNvPr id="5" name="Text 2"/>
          <p:cNvSpPr/>
          <p:nvPr/>
        </p:nvSpPr>
        <p:spPr>
          <a:xfrm>
            <a:off x="685800" y="1143000"/>
            <a:ext cx="6858000" cy="1463040"/>
          </a:xfrm>
          <a:prstGeom prst="rect">
            <a:avLst/>
          </a:prstGeom>
          <a:noFill/>
          <a:ln/>
        </p:spPr>
        <p:txBody>
          <a:bodyPr wrap="square" lIns="0" tIns="0" rIns="0" bIns="0" rtlCol="0" anchor="ctr"/>
          <a:lstStyle/>
          <a:p>
            <a:pPr marL="0" indent="0">
              <a:buNone/>
            </a:pPr>
            <a:r>
              <a:rPr lang="en-US" sz="3800" b="1" dirty="0">
                <a:solidFill>
                  <a:srgbClr val="FFFFFF"/>
                </a:solidFill>
              </a:rPr>
              <a:t>Architecture. Performance.</a:t>
            </a:r>
            <a:endParaRPr lang="en-US" sz="3800" dirty="0"/>
          </a:p>
          <a:p>
            <a:r>
              <a:rPr lang="en-US" sz="3800" b="1" dirty="0">
                <a:solidFill>
                  <a:srgbClr val="FFFFFF"/>
                </a:solidFill>
              </a:rPr>
              <a:t>Cost by design Redshift.</a:t>
            </a:r>
            <a:endParaRPr lang="en-US" sz="3800" dirty="0"/>
          </a:p>
        </p:txBody>
      </p:sp>
      <p:sp>
        <p:nvSpPr>
          <p:cNvPr id="6" name="Text 3"/>
          <p:cNvSpPr/>
          <p:nvPr/>
        </p:nvSpPr>
        <p:spPr>
          <a:xfrm>
            <a:off x="731520" y="2926080"/>
            <a:ext cx="6217920" cy="640080"/>
          </a:xfrm>
          <a:prstGeom prst="rect">
            <a:avLst/>
          </a:prstGeom>
          <a:noFill/>
          <a:ln/>
        </p:spPr>
        <p:txBody>
          <a:bodyPr wrap="square" lIns="0" tIns="0" rIns="0" bIns="0" rtlCol="0" anchor="ctr"/>
          <a:lstStyle/>
          <a:p>
            <a:pPr marL="0" indent="0">
              <a:buNone/>
            </a:pPr>
            <a:r>
              <a:rPr lang="en-US" sz="1700" dirty="0">
                <a:solidFill>
                  <a:srgbClr val="E5E5EA"/>
                </a:solidFill>
              </a:rPr>
              <a:t>From leader-node planning to RA3, WLM, concurrency scaling, and Spectrum</a:t>
            </a:r>
            <a:endParaRPr lang="en-US" sz="1700" dirty="0"/>
          </a:p>
        </p:txBody>
      </p:sp>
      <p:sp>
        <p:nvSpPr>
          <p:cNvPr id="7" name="Text 4"/>
          <p:cNvSpPr/>
          <p:nvPr/>
        </p:nvSpPr>
        <p:spPr>
          <a:xfrm>
            <a:off x="731520" y="5989320"/>
            <a:ext cx="4114800" cy="274320"/>
          </a:xfrm>
          <a:prstGeom prst="rect">
            <a:avLst/>
          </a:prstGeom>
          <a:noFill/>
          <a:ln/>
        </p:spPr>
        <p:txBody>
          <a:bodyPr wrap="square" lIns="0" tIns="0" rIns="0" bIns="0" rtlCol="0" anchor="ctr"/>
          <a:lstStyle/>
          <a:p>
            <a:pPr marL="0" indent="0">
              <a:buNone/>
            </a:pPr>
            <a:r>
              <a:rPr lang="en-US" sz="1100" dirty="0">
                <a:solidFill>
                  <a:srgbClr val="D1D1D6"/>
                </a:solidFill>
              </a:rPr>
              <a:t>  Prem Vishnoi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LEARNING PATH</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Install the system mental model</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Architecture first, then economics and diagnosis.</a:t>
            </a:r>
            <a:endParaRPr lang="en-US" sz="1400" dirty="0"/>
          </a:p>
        </p:txBody>
      </p:sp>
      <p:sp>
        <p:nvSpPr>
          <p:cNvPr id="5" name="Shape 3"/>
          <p:cNvSpPr/>
          <p:nvPr/>
        </p:nvSpPr>
        <p:spPr>
          <a:xfrm>
            <a:off x="640080" y="1874520"/>
            <a:ext cx="338328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50392" y="2093976"/>
            <a:ext cx="137160" cy="137160"/>
          </a:xfrm>
          <a:prstGeom prst="ellipse">
            <a:avLst/>
          </a:prstGeom>
          <a:solidFill>
            <a:srgbClr val="FF9900"/>
          </a:solidFill>
          <a:ln w="12700">
            <a:solidFill>
              <a:srgbClr val="FF9900"/>
            </a:solidFill>
            <a:prstDash val="solid"/>
          </a:ln>
        </p:spPr>
      </p:sp>
      <p:sp>
        <p:nvSpPr>
          <p:cNvPr id="7" name="Text 5"/>
          <p:cNvSpPr/>
          <p:nvPr/>
        </p:nvSpPr>
        <p:spPr>
          <a:xfrm>
            <a:off x="1097280" y="202996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1  Provisioned vs Serverless</a:t>
            </a:r>
            <a:endParaRPr lang="en-US" sz="1400" dirty="0"/>
          </a:p>
        </p:txBody>
      </p:sp>
      <p:sp>
        <p:nvSpPr>
          <p:cNvPr id="8" name="Text 6"/>
          <p:cNvSpPr/>
          <p:nvPr/>
        </p:nvSpPr>
        <p:spPr>
          <a:xfrm>
            <a:off x="868680" y="2468880"/>
            <a:ext cx="292608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How work is executed</a:t>
            </a:r>
            <a:endParaRPr lang="en-US" sz="1150" dirty="0"/>
          </a:p>
        </p:txBody>
      </p:sp>
      <p:sp>
        <p:nvSpPr>
          <p:cNvPr id="9" name="Shape 7"/>
          <p:cNvSpPr/>
          <p:nvPr/>
        </p:nvSpPr>
        <p:spPr>
          <a:xfrm>
            <a:off x="4434840" y="1874520"/>
            <a:ext cx="338328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4645152" y="2093976"/>
            <a:ext cx="137160" cy="137160"/>
          </a:xfrm>
          <a:prstGeom prst="ellipse">
            <a:avLst/>
          </a:prstGeom>
          <a:solidFill>
            <a:srgbClr val="FF9900"/>
          </a:solidFill>
          <a:ln w="12700">
            <a:solidFill>
              <a:srgbClr val="FF9900"/>
            </a:solidFill>
            <a:prstDash val="solid"/>
          </a:ln>
        </p:spPr>
      </p:sp>
      <p:sp>
        <p:nvSpPr>
          <p:cNvPr id="11" name="Text 9"/>
          <p:cNvSpPr/>
          <p:nvPr/>
        </p:nvSpPr>
        <p:spPr>
          <a:xfrm>
            <a:off x="4892040" y="202996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2  Leader, nodes, slices</a:t>
            </a:r>
            <a:endParaRPr lang="en-US" sz="1400" dirty="0"/>
          </a:p>
        </p:txBody>
      </p:sp>
      <p:sp>
        <p:nvSpPr>
          <p:cNvPr id="12" name="Text 10"/>
          <p:cNvSpPr/>
          <p:nvPr/>
        </p:nvSpPr>
        <p:spPr>
          <a:xfrm>
            <a:off x="4663440" y="2468880"/>
            <a:ext cx="292608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How work is executed</a:t>
            </a:r>
            <a:endParaRPr lang="en-US" sz="1150" dirty="0"/>
          </a:p>
        </p:txBody>
      </p:sp>
      <p:sp>
        <p:nvSpPr>
          <p:cNvPr id="13" name="Shape 11"/>
          <p:cNvSpPr/>
          <p:nvPr/>
        </p:nvSpPr>
        <p:spPr>
          <a:xfrm>
            <a:off x="8229600" y="1874520"/>
            <a:ext cx="338328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439912" y="2093976"/>
            <a:ext cx="137160" cy="137160"/>
          </a:xfrm>
          <a:prstGeom prst="ellipse">
            <a:avLst/>
          </a:prstGeom>
          <a:solidFill>
            <a:srgbClr val="FF9900"/>
          </a:solidFill>
          <a:ln w="12700">
            <a:solidFill>
              <a:srgbClr val="FF9900"/>
            </a:solidFill>
            <a:prstDash val="solid"/>
          </a:ln>
        </p:spPr>
      </p:sp>
      <p:sp>
        <p:nvSpPr>
          <p:cNvPr id="15" name="Text 13"/>
          <p:cNvSpPr/>
          <p:nvPr/>
        </p:nvSpPr>
        <p:spPr>
          <a:xfrm>
            <a:off x="8686800" y="202996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3  Query execution</a:t>
            </a:r>
            <a:endParaRPr lang="en-US" sz="1400" dirty="0"/>
          </a:p>
        </p:txBody>
      </p:sp>
      <p:sp>
        <p:nvSpPr>
          <p:cNvPr id="16" name="Text 14"/>
          <p:cNvSpPr/>
          <p:nvPr/>
        </p:nvSpPr>
        <p:spPr>
          <a:xfrm>
            <a:off x="8458200" y="2468880"/>
            <a:ext cx="292608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How work is executed</a:t>
            </a:r>
            <a:endParaRPr lang="en-US" sz="1150" dirty="0"/>
          </a:p>
        </p:txBody>
      </p:sp>
      <p:sp>
        <p:nvSpPr>
          <p:cNvPr id="17" name="Shape 15"/>
          <p:cNvSpPr/>
          <p:nvPr/>
        </p:nvSpPr>
        <p:spPr>
          <a:xfrm>
            <a:off x="640080" y="3429000"/>
            <a:ext cx="338328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8" name="Shape 16"/>
          <p:cNvSpPr/>
          <p:nvPr/>
        </p:nvSpPr>
        <p:spPr>
          <a:xfrm>
            <a:off x="850392" y="3648456"/>
            <a:ext cx="137160" cy="137160"/>
          </a:xfrm>
          <a:prstGeom prst="ellipse">
            <a:avLst/>
          </a:prstGeom>
          <a:solidFill>
            <a:srgbClr val="146EB4"/>
          </a:solidFill>
          <a:ln w="12700">
            <a:solidFill>
              <a:srgbClr val="146EB4"/>
            </a:solidFill>
            <a:prstDash val="solid"/>
          </a:ln>
        </p:spPr>
      </p:sp>
      <p:sp>
        <p:nvSpPr>
          <p:cNvPr id="19" name="Text 17"/>
          <p:cNvSpPr/>
          <p:nvPr/>
        </p:nvSpPr>
        <p:spPr>
          <a:xfrm>
            <a:off x="1097280" y="358444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4  RA3 managed storage</a:t>
            </a:r>
            <a:endParaRPr lang="en-US" sz="1400" dirty="0"/>
          </a:p>
        </p:txBody>
      </p:sp>
      <p:sp>
        <p:nvSpPr>
          <p:cNvPr id="20" name="Text 18"/>
          <p:cNvSpPr/>
          <p:nvPr/>
        </p:nvSpPr>
        <p:spPr>
          <a:xfrm>
            <a:off x="868680" y="4023360"/>
            <a:ext cx="292608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How cost is controlled</a:t>
            </a:r>
            <a:endParaRPr lang="en-US" sz="1150" dirty="0"/>
          </a:p>
        </p:txBody>
      </p:sp>
      <p:sp>
        <p:nvSpPr>
          <p:cNvPr id="21" name="Shape 19"/>
          <p:cNvSpPr/>
          <p:nvPr/>
        </p:nvSpPr>
        <p:spPr>
          <a:xfrm>
            <a:off x="4434840" y="3429000"/>
            <a:ext cx="338328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22" name="Shape 20"/>
          <p:cNvSpPr/>
          <p:nvPr/>
        </p:nvSpPr>
        <p:spPr>
          <a:xfrm>
            <a:off x="4645152" y="3648456"/>
            <a:ext cx="137160" cy="137160"/>
          </a:xfrm>
          <a:prstGeom prst="ellipse">
            <a:avLst/>
          </a:prstGeom>
          <a:solidFill>
            <a:srgbClr val="146EB4"/>
          </a:solidFill>
          <a:ln w="12700">
            <a:solidFill>
              <a:srgbClr val="146EB4"/>
            </a:solidFill>
            <a:prstDash val="solid"/>
          </a:ln>
        </p:spPr>
      </p:sp>
      <p:sp>
        <p:nvSpPr>
          <p:cNvPr id="23" name="Text 21"/>
          <p:cNvSpPr/>
          <p:nvPr/>
        </p:nvSpPr>
        <p:spPr>
          <a:xfrm>
            <a:off x="4892040" y="358444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5  WLM + concurrency</a:t>
            </a:r>
            <a:endParaRPr lang="en-US" sz="1400" dirty="0"/>
          </a:p>
        </p:txBody>
      </p:sp>
      <p:sp>
        <p:nvSpPr>
          <p:cNvPr id="24" name="Text 22"/>
          <p:cNvSpPr/>
          <p:nvPr/>
        </p:nvSpPr>
        <p:spPr>
          <a:xfrm>
            <a:off x="4663440" y="4023360"/>
            <a:ext cx="292608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How cost is controlled</a:t>
            </a:r>
            <a:endParaRPr lang="en-US" sz="1150" dirty="0"/>
          </a:p>
        </p:txBody>
      </p:sp>
      <p:sp>
        <p:nvSpPr>
          <p:cNvPr id="25" name="Shape 23"/>
          <p:cNvSpPr/>
          <p:nvPr/>
        </p:nvSpPr>
        <p:spPr>
          <a:xfrm>
            <a:off x="8229600" y="3429000"/>
            <a:ext cx="338328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26" name="Shape 24"/>
          <p:cNvSpPr/>
          <p:nvPr/>
        </p:nvSpPr>
        <p:spPr>
          <a:xfrm>
            <a:off x="8439912" y="3648456"/>
            <a:ext cx="137160" cy="137160"/>
          </a:xfrm>
          <a:prstGeom prst="ellipse">
            <a:avLst/>
          </a:prstGeom>
          <a:solidFill>
            <a:srgbClr val="146EB4"/>
          </a:solidFill>
          <a:ln w="12700">
            <a:solidFill>
              <a:srgbClr val="146EB4"/>
            </a:solidFill>
            <a:prstDash val="solid"/>
          </a:ln>
        </p:spPr>
      </p:sp>
      <p:sp>
        <p:nvSpPr>
          <p:cNvPr id="27" name="Text 25"/>
          <p:cNvSpPr/>
          <p:nvPr/>
        </p:nvSpPr>
        <p:spPr>
          <a:xfrm>
            <a:off x="8686800" y="358444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6  Spectrum + table design</a:t>
            </a:r>
            <a:endParaRPr lang="en-US" sz="1400" dirty="0"/>
          </a:p>
        </p:txBody>
      </p:sp>
      <p:sp>
        <p:nvSpPr>
          <p:cNvPr id="28" name="Text 26"/>
          <p:cNvSpPr/>
          <p:nvPr/>
        </p:nvSpPr>
        <p:spPr>
          <a:xfrm>
            <a:off x="8458200" y="4023360"/>
            <a:ext cx="292608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How cost is controlled</a:t>
            </a:r>
            <a:endParaRPr lang="en-US" sz="1150" dirty="0"/>
          </a:p>
        </p:txBody>
      </p:sp>
      <p:sp>
        <p:nvSpPr>
          <p:cNvPr id="29" name="Text 27"/>
          <p:cNvSpPr/>
          <p:nvPr/>
        </p:nvSpPr>
        <p:spPr>
          <a:xfrm>
            <a:off x="594360" y="6263640"/>
            <a:ext cx="10881360" cy="228600"/>
          </a:xfrm>
          <a:prstGeom prst="rect">
            <a:avLst/>
          </a:prstGeom>
          <a:noFill/>
          <a:ln/>
        </p:spPr>
        <p:txBody>
          <a:bodyPr wrap="square" lIns="0" tIns="0" rIns="0" bIns="0" rtlCol="0" anchor="ctr"/>
          <a:lstStyle/>
          <a:p>
            <a:pPr marL="0" indent="0" algn="ctr">
              <a:buNone/>
            </a:pPr>
            <a:r>
              <a:rPr lang="en-US" sz="1000" i="1" dirty="0">
                <a:solidFill>
                  <a:srgbClr val="6E6E73"/>
                </a:solidFill>
              </a:rPr>
              <a:t>Every cost lever maps to compute time, capacity, storage, or bytes scanned.</a:t>
            </a:r>
            <a:endParaRPr lang="en-US" sz="1000" dirty="0"/>
          </a:p>
        </p:txBody>
      </p:sp>
      <p:sp>
        <p:nvSpPr>
          <p:cNvPr id="30"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DEPLOYMENT MODEL</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Provisioned and Serverless are different economic contracts</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Choose the operating model before tuning individual queries.</a:t>
            </a:r>
            <a:endParaRPr lang="en-US" sz="1400" dirty="0"/>
          </a:p>
        </p:txBody>
      </p:sp>
      <p:sp>
        <p:nvSpPr>
          <p:cNvPr id="5" name="Shape 3"/>
          <p:cNvSpPr/>
          <p:nvPr/>
        </p:nvSpPr>
        <p:spPr>
          <a:xfrm>
            <a:off x="685800" y="1828800"/>
            <a:ext cx="516636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96112" y="2048256"/>
            <a:ext cx="137160" cy="137160"/>
          </a:xfrm>
          <a:prstGeom prst="ellipse">
            <a:avLst/>
          </a:prstGeom>
          <a:solidFill>
            <a:srgbClr val="FF9900"/>
          </a:solidFill>
          <a:ln w="12700">
            <a:solidFill>
              <a:srgbClr val="FF9900"/>
            </a:solidFill>
            <a:prstDash val="solid"/>
          </a:ln>
        </p:spPr>
      </p:sp>
      <p:sp>
        <p:nvSpPr>
          <p:cNvPr id="7" name="Text 5"/>
          <p:cNvSpPr/>
          <p:nvPr/>
        </p:nvSpPr>
        <p:spPr>
          <a:xfrm>
            <a:off x="1143000" y="198424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Provisioned</a:t>
            </a:r>
            <a:endParaRPr lang="en-US" sz="1400" dirty="0"/>
          </a:p>
        </p:txBody>
      </p:sp>
      <p:sp>
        <p:nvSpPr>
          <p:cNvPr id="8" name="Text 6"/>
          <p:cNvSpPr/>
          <p:nvPr/>
        </p:nvSpPr>
        <p:spPr>
          <a:xfrm>
            <a:off x="914400" y="2423160"/>
            <a:ext cx="470916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Choose cluster capacity and node configuration. Pay for provisioned compute; pause, resize, schedule, or reserve according to demand.</a:t>
            </a:r>
            <a:endParaRPr lang="en-US" sz="1150" dirty="0"/>
          </a:p>
        </p:txBody>
      </p:sp>
      <p:sp>
        <p:nvSpPr>
          <p:cNvPr id="9" name="Shape 7"/>
          <p:cNvSpPr/>
          <p:nvPr/>
        </p:nvSpPr>
        <p:spPr>
          <a:xfrm>
            <a:off x="6355080" y="1828800"/>
            <a:ext cx="516636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6565392" y="2048256"/>
            <a:ext cx="137160" cy="137160"/>
          </a:xfrm>
          <a:prstGeom prst="ellipse">
            <a:avLst/>
          </a:prstGeom>
          <a:solidFill>
            <a:srgbClr val="146EB4"/>
          </a:solidFill>
          <a:ln w="12700">
            <a:solidFill>
              <a:srgbClr val="146EB4"/>
            </a:solidFill>
            <a:prstDash val="solid"/>
          </a:ln>
        </p:spPr>
      </p:sp>
      <p:sp>
        <p:nvSpPr>
          <p:cNvPr id="11" name="Text 9"/>
          <p:cNvSpPr/>
          <p:nvPr/>
        </p:nvSpPr>
        <p:spPr>
          <a:xfrm>
            <a:off x="6812280" y="198424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Serverless</a:t>
            </a:r>
            <a:endParaRPr lang="en-US" sz="1400" dirty="0"/>
          </a:p>
        </p:txBody>
      </p:sp>
      <p:sp>
        <p:nvSpPr>
          <p:cNvPr id="12" name="Text 10"/>
          <p:cNvSpPr/>
          <p:nvPr/>
        </p:nvSpPr>
        <p:spPr>
          <a:xfrm>
            <a:off x="6583680" y="2423160"/>
            <a:ext cx="470916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Capacity is managed for the workload. Compute consumption is metered in the serverless model and idle compute is not charged.</a:t>
            </a:r>
            <a:endParaRPr lang="en-US" sz="1150" dirty="0"/>
          </a:p>
        </p:txBody>
      </p:sp>
      <p:sp>
        <p:nvSpPr>
          <p:cNvPr id="13" name="Text 11"/>
          <p:cNvSpPr/>
          <p:nvPr/>
        </p:nvSpPr>
        <p:spPr>
          <a:xfrm>
            <a:off x="1828800" y="5074920"/>
            <a:ext cx="8503920" cy="411480"/>
          </a:xfrm>
          <a:prstGeom prst="rect">
            <a:avLst/>
          </a:prstGeom>
          <a:noFill/>
          <a:ln/>
        </p:spPr>
        <p:txBody>
          <a:bodyPr wrap="square" lIns="0" tIns="0" rIns="0" bIns="0" rtlCol="0" anchor="ctr"/>
          <a:lstStyle/>
          <a:p>
            <a:pPr marL="0" indent="0" algn="ctr">
              <a:buNone/>
            </a:pPr>
            <a:r>
              <a:rPr lang="en-US" sz="2200" b="1" dirty="0">
                <a:solidFill>
                  <a:srgbClr val="1D1D1F"/>
                </a:solidFill>
              </a:rPr>
              <a:t>Do not mix node-hour and RPU economics in one forecast.</a:t>
            </a:r>
            <a:endParaRPr lang="en-US" sz="22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ARCHITECTURE</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Coordinator plans; compute nodes execute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Slices are the parallel execution units inside provisioned compute.</a:t>
            </a:r>
            <a:endParaRPr lang="en-US" sz="1400" dirty="0"/>
          </a:p>
        </p:txBody>
      </p:sp>
      <p:pic>
        <p:nvPicPr>
          <p:cNvPr id="5" name="Image 0" descr="/mnt/data/redshift_work/generated_image_B1C67D9260AE_01.png"/>
          <p:cNvPicPr>
            <a:picLocks noChangeAspect="1"/>
          </p:cNvPicPr>
          <p:nvPr/>
        </p:nvPicPr>
        <p:blipFill>
          <a:blip r:embed="rId3"/>
          <a:srcRect l="8865" r="8865"/>
          <a:stretch/>
        </p:blipFill>
        <p:spPr>
          <a:xfrm>
            <a:off x="6309360" y="1783080"/>
            <a:ext cx="5303520" cy="4297680"/>
          </a:xfrm>
          <a:prstGeom prst="rect">
            <a:avLst/>
          </a:prstGeom>
        </p:spPr>
      </p:pic>
      <p:sp>
        <p:nvSpPr>
          <p:cNvPr id="6" name="Shape 3"/>
          <p:cNvSpPr/>
          <p:nvPr/>
        </p:nvSpPr>
        <p:spPr>
          <a:xfrm>
            <a:off x="640080" y="1828800"/>
            <a:ext cx="5074920" cy="1097280"/>
          </a:xfrm>
          <a:prstGeom prst="roundRect">
            <a:avLst>
              <a:gd name="adj" fmla="val 8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7" name="Shape 4"/>
          <p:cNvSpPr/>
          <p:nvPr/>
        </p:nvSpPr>
        <p:spPr>
          <a:xfrm>
            <a:off x="850392" y="2048256"/>
            <a:ext cx="137160" cy="137160"/>
          </a:xfrm>
          <a:prstGeom prst="ellipse">
            <a:avLst/>
          </a:prstGeom>
          <a:solidFill>
            <a:srgbClr val="FF9900"/>
          </a:solidFill>
          <a:ln w="12700">
            <a:solidFill>
              <a:srgbClr val="FF9900"/>
            </a:solidFill>
            <a:prstDash val="solid"/>
          </a:ln>
        </p:spPr>
      </p:sp>
      <p:sp>
        <p:nvSpPr>
          <p:cNvPr id="8" name="Text 5"/>
          <p:cNvSpPr/>
          <p:nvPr/>
        </p:nvSpPr>
        <p:spPr>
          <a:xfrm>
            <a:off x="1097280" y="1984248"/>
            <a:ext cx="4416552" cy="292608"/>
          </a:xfrm>
          <a:prstGeom prst="rect">
            <a:avLst/>
          </a:prstGeom>
          <a:noFill/>
          <a:ln/>
        </p:spPr>
        <p:txBody>
          <a:bodyPr wrap="square" lIns="0" tIns="0" rIns="0" bIns="0" rtlCol="0" anchor="ctr"/>
          <a:lstStyle/>
          <a:p>
            <a:pPr marL="0" indent="0">
              <a:buNone/>
            </a:pPr>
            <a:r>
              <a:rPr lang="en-US" sz="1400" b="1" dirty="0">
                <a:solidFill>
                  <a:srgbClr val="1D1D1F"/>
                </a:solidFill>
              </a:rPr>
              <a:t>Leader node</a:t>
            </a:r>
            <a:endParaRPr lang="en-US" sz="1400" dirty="0"/>
          </a:p>
        </p:txBody>
      </p:sp>
      <p:sp>
        <p:nvSpPr>
          <p:cNvPr id="9" name="Text 6"/>
          <p:cNvSpPr/>
          <p:nvPr/>
        </p:nvSpPr>
        <p:spPr>
          <a:xfrm>
            <a:off x="868680" y="2423160"/>
            <a:ext cx="4617720" cy="347472"/>
          </a:xfrm>
          <a:prstGeom prst="rect">
            <a:avLst/>
          </a:prstGeom>
          <a:noFill/>
          <a:ln/>
        </p:spPr>
        <p:txBody>
          <a:bodyPr wrap="square" lIns="0" tIns="0" rIns="0" bIns="0" rtlCol="0" anchor="ctr">
            <a:normAutofit/>
          </a:bodyPr>
          <a:lstStyle/>
          <a:p>
            <a:pPr marL="0" indent="0">
              <a:buNone/>
            </a:pPr>
            <a:r>
              <a:rPr lang="en-US" sz="1150" dirty="0">
                <a:solidFill>
                  <a:srgbClr val="6E6E73"/>
                </a:solidFill>
              </a:rPr>
              <a:t>Parses SQL, optimizes plans, coordinates execution, and returns results.</a:t>
            </a:r>
            <a:endParaRPr lang="en-US" sz="1150" dirty="0"/>
          </a:p>
        </p:txBody>
      </p:sp>
      <p:sp>
        <p:nvSpPr>
          <p:cNvPr id="10" name="Shape 7"/>
          <p:cNvSpPr/>
          <p:nvPr/>
        </p:nvSpPr>
        <p:spPr>
          <a:xfrm>
            <a:off x="640080" y="3154680"/>
            <a:ext cx="5074920" cy="1097280"/>
          </a:xfrm>
          <a:prstGeom prst="roundRect">
            <a:avLst>
              <a:gd name="adj" fmla="val 8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1" name="Shape 8"/>
          <p:cNvSpPr/>
          <p:nvPr/>
        </p:nvSpPr>
        <p:spPr>
          <a:xfrm>
            <a:off x="850392" y="3374136"/>
            <a:ext cx="137160" cy="137160"/>
          </a:xfrm>
          <a:prstGeom prst="ellipse">
            <a:avLst/>
          </a:prstGeom>
          <a:solidFill>
            <a:srgbClr val="146EB4"/>
          </a:solidFill>
          <a:ln w="12700">
            <a:solidFill>
              <a:srgbClr val="146EB4"/>
            </a:solidFill>
            <a:prstDash val="solid"/>
          </a:ln>
        </p:spPr>
      </p:sp>
      <p:sp>
        <p:nvSpPr>
          <p:cNvPr id="12" name="Text 9"/>
          <p:cNvSpPr/>
          <p:nvPr/>
        </p:nvSpPr>
        <p:spPr>
          <a:xfrm>
            <a:off x="1097280" y="3310128"/>
            <a:ext cx="4416552" cy="292608"/>
          </a:xfrm>
          <a:prstGeom prst="rect">
            <a:avLst/>
          </a:prstGeom>
          <a:noFill/>
          <a:ln/>
        </p:spPr>
        <p:txBody>
          <a:bodyPr wrap="square" lIns="0" tIns="0" rIns="0" bIns="0" rtlCol="0" anchor="ctr"/>
          <a:lstStyle/>
          <a:p>
            <a:pPr marL="0" indent="0">
              <a:buNone/>
            </a:pPr>
            <a:r>
              <a:rPr lang="en-US" sz="1400" b="1" dirty="0">
                <a:solidFill>
                  <a:srgbClr val="1D1D1F"/>
                </a:solidFill>
              </a:rPr>
              <a:t>Compute nodes and slices</a:t>
            </a:r>
            <a:endParaRPr lang="en-US" sz="1400" dirty="0"/>
          </a:p>
        </p:txBody>
      </p:sp>
      <p:sp>
        <p:nvSpPr>
          <p:cNvPr id="13" name="Text 10"/>
          <p:cNvSpPr/>
          <p:nvPr/>
        </p:nvSpPr>
        <p:spPr>
          <a:xfrm>
            <a:off x="868680" y="3749040"/>
            <a:ext cx="4617720" cy="347472"/>
          </a:xfrm>
          <a:prstGeom prst="rect">
            <a:avLst/>
          </a:prstGeom>
          <a:noFill/>
          <a:ln/>
        </p:spPr>
        <p:txBody>
          <a:bodyPr wrap="square" lIns="0" tIns="0" rIns="0" bIns="0" rtlCol="0" anchor="ctr">
            <a:normAutofit/>
          </a:bodyPr>
          <a:lstStyle/>
          <a:p>
            <a:pPr marL="0" indent="0">
              <a:buNone/>
            </a:pPr>
            <a:r>
              <a:rPr lang="en-US" sz="1150" dirty="0">
                <a:solidFill>
                  <a:srgbClr val="6E6E73"/>
                </a:solidFill>
              </a:rPr>
              <a:t>Scan, join, aggregate, sort, redistribute, and materialize intermediate work.</a:t>
            </a:r>
            <a:endParaRPr lang="en-US" sz="1150" dirty="0"/>
          </a:p>
        </p:txBody>
      </p:sp>
      <p:sp>
        <p:nvSpPr>
          <p:cNvPr id="14" name="Shape 11"/>
          <p:cNvSpPr/>
          <p:nvPr/>
        </p:nvSpPr>
        <p:spPr>
          <a:xfrm>
            <a:off x="640080" y="4480560"/>
            <a:ext cx="5074920" cy="1097280"/>
          </a:xfrm>
          <a:prstGeom prst="roundRect">
            <a:avLst>
              <a:gd name="adj" fmla="val 8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5" name="Shape 12"/>
          <p:cNvSpPr/>
          <p:nvPr/>
        </p:nvSpPr>
        <p:spPr>
          <a:xfrm>
            <a:off x="850392" y="4700016"/>
            <a:ext cx="137160" cy="137160"/>
          </a:xfrm>
          <a:prstGeom prst="ellipse">
            <a:avLst/>
          </a:prstGeom>
          <a:solidFill>
            <a:srgbClr val="30D158"/>
          </a:solidFill>
          <a:ln w="12700">
            <a:solidFill>
              <a:srgbClr val="30D158"/>
            </a:solidFill>
            <a:prstDash val="solid"/>
          </a:ln>
        </p:spPr>
      </p:sp>
      <p:sp>
        <p:nvSpPr>
          <p:cNvPr id="16" name="Text 13"/>
          <p:cNvSpPr/>
          <p:nvPr/>
        </p:nvSpPr>
        <p:spPr>
          <a:xfrm>
            <a:off x="1097280" y="4636008"/>
            <a:ext cx="4416552" cy="292608"/>
          </a:xfrm>
          <a:prstGeom prst="rect">
            <a:avLst/>
          </a:prstGeom>
          <a:noFill/>
          <a:ln/>
        </p:spPr>
        <p:txBody>
          <a:bodyPr wrap="square" lIns="0" tIns="0" rIns="0" bIns="0" rtlCol="0" anchor="ctr"/>
          <a:lstStyle/>
          <a:p>
            <a:pPr marL="0" indent="0">
              <a:buNone/>
            </a:pPr>
            <a:r>
              <a:rPr lang="en-US" sz="1400" b="1" dirty="0">
                <a:solidFill>
                  <a:srgbClr val="1D1D1F"/>
                </a:solidFill>
              </a:rPr>
              <a:t>Managed storage</a:t>
            </a:r>
            <a:endParaRPr lang="en-US" sz="1400" dirty="0"/>
          </a:p>
        </p:txBody>
      </p:sp>
      <p:sp>
        <p:nvSpPr>
          <p:cNvPr id="17" name="Text 14"/>
          <p:cNvSpPr/>
          <p:nvPr/>
        </p:nvSpPr>
        <p:spPr>
          <a:xfrm>
            <a:off x="868680" y="5074920"/>
            <a:ext cx="4617720" cy="347472"/>
          </a:xfrm>
          <a:prstGeom prst="rect">
            <a:avLst/>
          </a:prstGeom>
          <a:noFill/>
          <a:ln/>
        </p:spPr>
        <p:txBody>
          <a:bodyPr wrap="square" lIns="0" tIns="0" rIns="0" bIns="0" rtlCol="0" anchor="ctr">
            <a:normAutofit/>
          </a:bodyPr>
          <a:lstStyle/>
          <a:p>
            <a:pPr marL="0" indent="0">
              <a:buNone/>
            </a:pPr>
            <a:r>
              <a:rPr lang="en-US" sz="1150" dirty="0">
                <a:solidFill>
                  <a:srgbClr val="6E6E73"/>
                </a:solidFill>
              </a:rPr>
              <a:t>Durable storage is decoupled from compute for managed-storage node families.</a:t>
            </a:r>
            <a:endParaRPr lang="en-US" sz="11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QUERY FLOW</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Eight steps from SQL to result</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Cost appears where work waits, scans, moves, spills, and executes.</a:t>
            </a:r>
            <a:endParaRPr lang="en-US" sz="1400" dirty="0"/>
          </a:p>
        </p:txBody>
      </p:sp>
      <p:sp>
        <p:nvSpPr>
          <p:cNvPr id="5" name="Shape 3"/>
          <p:cNvSpPr/>
          <p:nvPr/>
        </p:nvSpPr>
        <p:spPr>
          <a:xfrm>
            <a:off x="685800" y="1719072"/>
            <a:ext cx="457200" cy="347472"/>
          </a:xfrm>
          <a:prstGeom prst="roundRect">
            <a:avLst>
              <a:gd name="adj" fmla="val 47368"/>
            </a:avLst>
          </a:prstGeom>
          <a:solidFill>
            <a:srgbClr val="FF9900"/>
          </a:solidFill>
          <a:ln w="12700">
            <a:solidFill>
              <a:srgbClr val="FF9900"/>
            </a:solidFill>
            <a:prstDash val="solid"/>
          </a:ln>
        </p:spPr>
      </p:sp>
      <p:sp>
        <p:nvSpPr>
          <p:cNvPr id="6" name="Text 4"/>
          <p:cNvSpPr/>
          <p:nvPr/>
        </p:nvSpPr>
        <p:spPr>
          <a:xfrm>
            <a:off x="685800" y="1773936"/>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7" name="Text 5"/>
          <p:cNvSpPr/>
          <p:nvPr/>
        </p:nvSpPr>
        <p:spPr>
          <a:xfrm>
            <a:off x="1417320" y="1737360"/>
            <a:ext cx="2560320" cy="274320"/>
          </a:xfrm>
          <a:prstGeom prst="rect">
            <a:avLst/>
          </a:prstGeom>
          <a:noFill/>
          <a:ln/>
        </p:spPr>
        <p:txBody>
          <a:bodyPr wrap="square" lIns="0" tIns="0" rIns="0" bIns="0" rtlCol="0" anchor="ctr"/>
          <a:lstStyle/>
          <a:p>
            <a:pPr marL="0" indent="0">
              <a:buNone/>
            </a:pPr>
            <a:r>
              <a:rPr lang="en-US" sz="1500" b="1" dirty="0">
                <a:solidFill>
                  <a:srgbClr val="1D1D1F"/>
                </a:solidFill>
              </a:rPr>
              <a:t>Client submits</a:t>
            </a:r>
            <a:endParaRPr lang="en-US" sz="1500" dirty="0"/>
          </a:p>
        </p:txBody>
      </p:sp>
      <p:sp>
        <p:nvSpPr>
          <p:cNvPr id="8" name="Text 6"/>
          <p:cNvSpPr/>
          <p:nvPr/>
        </p:nvSpPr>
        <p:spPr>
          <a:xfrm>
            <a:off x="3794760" y="1737360"/>
            <a:ext cx="7315200" cy="274320"/>
          </a:xfrm>
          <a:prstGeom prst="rect">
            <a:avLst/>
          </a:prstGeom>
          <a:noFill/>
          <a:ln/>
        </p:spPr>
        <p:txBody>
          <a:bodyPr wrap="square" lIns="0" tIns="0" rIns="0" bIns="0" rtlCol="0" anchor="ctr"/>
          <a:lstStyle/>
          <a:p>
            <a:pPr marL="0" indent="0">
              <a:buNone/>
            </a:pPr>
            <a:r>
              <a:rPr lang="en-US" sz="1250" dirty="0">
                <a:solidFill>
                  <a:srgbClr val="6E6E73"/>
                </a:solidFill>
              </a:rPr>
              <a:t>JDBC/ODBC/Data API</a:t>
            </a:r>
            <a:endParaRPr lang="en-US" sz="1250" dirty="0"/>
          </a:p>
        </p:txBody>
      </p:sp>
      <p:sp>
        <p:nvSpPr>
          <p:cNvPr id="9" name="Shape 7"/>
          <p:cNvSpPr/>
          <p:nvPr/>
        </p:nvSpPr>
        <p:spPr>
          <a:xfrm>
            <a:off x="685800" y="2258568"/>
            <a:ext cx="457200" cy="347472"/>
          </a:xfrm>
          <a:prstGeom prst="roundRect">
            <a:avLst>
              <a:gd name="adj" fmla="val 47368"/>
            </a:avLst>
          </a:prstGeom>
          <a:solidFill>
            <a:srgbClr val="FF9900"/>
          </a:solidFill>
          <a:ln w="12700">
            <a:solidFill>
              <a:srgbClr val="FF9900"/>
            </a:solidFill>
            <a:prstDash val="solid"/>
          </a:ln>
        </p:spPr>
      </p:sp>
      <p:sp>
        <p:nvSpPr>
          <p:cNvPr id="10" name="Text 8"/>
          <p:cNvSpPr/>
          <p:nvPr/>
        </p:nvSpPr>
        <p:spPr>
          <a:xfrm>
            <a:off x="685800" y="2313432"/>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1" name="Text 9"/>
          <p:cNvSpPr/>
          <p:nvPr/>
        </p:nvSpPr>
        <p:spPr>
          <a:xfrm>
            <a:off x="1417320" y="2276856"/>
            <a:ext cx="2560320" cy="274320"/>
          </a:xfrm>
          <a:prstGeom prst="rect">
            <a:avLst/>
          </a:prstGeom>
          <a:noFill/>
          <a:ln/>
        </p:spPr>
        <p:txBody>
          <a:bodyPr wrap="square" lIns="0" tIns="0" rIns="0" bIns="0" rtlCol="0" anchor="ctr"/>
          <a:lstStyle/>
          <a:p>
            <a:pPr marL="0" indent="0">
              <a:buNone/>
            </a:pPr>
            <a:r>
              <a:rPr lang="en-US" sz="1500" b="1" dirty="0">
                <a:solidFill>
                  <a:srgbClr val="1D1D1F"/>
                </a:solidFill>
              </a:rPr>
              <a:t>Parse + rewrite</a:t>
            </a:r>
            <a:endParaRPr lang="en-US" sz="1500" dirty="0"/>
          </a:p>
        </p:txBody>
      </p:sp>
      <p:sp>
        <p:nvSpPr>
          <p:cNvPr id="12" name="Text 10"/>
          <p:cNvSpPr/>
          <p:nvPr/>
        </p:nvSpPr>
        <p:spPr>
          <a:xfrm>
            <a:off x="3794760" y="2276856"/>
            <a:ext cx="7315200" cy="274320"/>
          </a:xfrm>
          <a:prstGeom prst="rect">
            <a:avLst/>
          </a:prstGeom>
          <a:noFill/>
          <a:ln/>
        </p:spPr>
        <p:txBody>
          <a:bodyPr wrap="square" lIns="0" tIns="0" rIns="0" bIns="0" rtlCol="0" anchor="ctr"/>
          <a:lstStyle/>
          <a:p>
            <a:pPr marL="0" indent="0">
              <a:buNone/>
            </a:pPr>
            <a:r>
              <a:rPr lang="en-US" sz="1250" dirty="0">
                <a:solidFill>
                  <a:srgbClr val="6E6E73"/>
                </a:solidFill>
              </a:rPr>
              <a:t>Resolve objects and semantics</a:t>
            </a:r>
            <a:endParaRPr lang="en-US" sz="1250" dirty="0"/>
          </a:p>
        </p:txBody>
      </p:sp>
      <p:sp>
        <p:nvSpPr>
          <p:cNvPr id="13" name="Shape 11"/>
          <p:cNvSpPr/>
          <p:nvPr/>
        </p:nvSpPr>
        <p:spPr>
          <a:xfrm>
            <a:off x="685800" y="2798064"/>
            <a:ext cx="457200" cy="347472"/>
          </a:xfrm>
          <a:prstGeom prst="roundRect">
            <a:avLst>
              <a:gd name="adj" fmla="val 47368"/>
            </a:avLst>
          </a:prstGeom>
          <a:solidFill>
            <a:srgbClr val="FF9900"/>
          </a:solidFill>
          <a:ln w="12700">
            <a:solidFill>
              <a:srgbClr val="FF9900"/>
            </a:solidFill>
            <a:prstDash val="solid"/>
          </a:ln>
        </p:spPr>
      </p:sp>
      <p:sp>
        <p:nvSpPr>
          <p:cNvPr id="14" name="Text 12"/>
          <p:cNvSpPr/>
          <p:nvPr/>
        </p:nvSpPr>
        <p:spPr>
          <a:xfrm>
            <a:off x="685800" y="2852928"/>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5" name="Text 13"/>
          <p:cNvSpPr/>
          <p:nvPr/>
        </p:nvSpPr>
        <p:spPr>
          <a:xfrm>
            <a:off x="1417320" y="2816352"/>
            <a:ext cx="2560320" cy="274320"/>
          </a:xfrm>
          <a:prstGeom prst="rect">
            <a:avLst/>
          </a:prstGeom>
          <a:noFill/>
          <a:ln/>
        </p:spPr>
        <p:txBody>
          <a:bodyPr wrap="square" lIns="0" tIns="0" rIns="0" bIns="0" rtlCol="0" anchor="ctr"/>
          <a:lstStyle/>
          <a:p>
            <a:pPr marL="0" indent="0">
              <a:buNone/>
            </a:pPr>
            <a:r>
              <a:rPr lang="en-US" sz="1500" b="1" dirty="0">
                <a:solidFill>
                  <a:srgbClr val="1D1D1F"/>
                </a:solidFill>
              </a:rPr>
              <a:t>Optimize plan</a:t>
            </a:r>
            <a:endParaRPr lang="en-US" sz="1500" dirty="0"/>
          </a:p>
        </p:txBody>
      </p:sp>
      <p:sp>
        <p:nvSpPr>
          <p:cNvPr id="16" name="Text 14"/>
          <p:cNvSpPr/>
          <p:nvPr/>
        </p:nvSpPr>
        <p:spPr>
          <a:xfrm>
            <a:off x="3794760" y="2816352"/>
            <a:ext cx="7315200" cy="274320"/>
          </a:xfrm>
          <a:prstGeom prst="rect">
            <a:avLst/>
          </a:prstGeom>
          <a:noFill/>
          <a:ln/>
        </p:spPr>
        <p:txBody>
          <a:bodyPr wrap="square" lIns="0" tIns="0" rIns="0" bIns="0" rtlCol="0" anchor="ctr"/>
          <a:lstStyle/>
          <a:p>
            <a:pPr marL="0" indent="0">
              <a:buNone/>
            </a:pPr>
            <a:r>
              <a:rPr lang="en-US" sz="1250" dirty="0">
                <a:solidFill>
                  <a:srgbClr val="6E6E73"/>
                </a:solidFill>
              </a:rPr>
              <a:t>Choose distribution and join strategies</a:t>
            </a:r>
            <a:endParaRPr lang="en-US" sz="1250" dirty="0"/>
          </a:p>
        </p:txBody>
      </p:sp>
      <p:sp>
        <p:nvSpPr>
          <p:cNvPr id="17" name="Shape 15"/>
          <p:cNvSpPr/>
          <p:nvPr/>
        </p:nvSpPr>
        <p:spPr>
          <a:xfrm>
            <a:off x="685800" y="3337560"/>
            <a:ext cx="457200" cy="347472"/>
          </a:xfrm>
          <a:prstGeom prst="roundRect">
            <a:avLst>
              <a:gd name="adj" fmla="val 47368"/>
            </a:avLst>
          </a:prstGeom>
          <a:solidFill>
            <a:srgbClr val="FF9900"/>
          </a:solidFill>
          <a:ln w="12700">
            <a:solidFill>
              <a:srgbClr val="FF9900"/>
            </a:solidFill>
            <a:prstDash val="solid"/>
          </a:ln>
        </p:spPr>
      </p:sp>
      <p:sp>
        <p:nvSpPr>
          <p:cNvPr id="18" name="Text 16"/>
          <p:cNvSpPr/>
          <p:nvPr/>
        </p:nvSpPr>
        <p:spPr>
          <a:xfrm>
            <a:off x="685800" y="3392424"/>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19" name="Text 17"/>
          <p:cNvSpPr/>
          <p:nvPr/>
        </p:nvSpPr>
        <p:spPr>
          <a:xfrm>
            <a:off x="1417320" y="3355848"/>
            <a:ext cx="2560320" cy="274320"/>
          </a:xfrm>
          <a:prstGeom prst="rect">
            <a:avLst/>
          </a:prstGeom>
          <a:noFill/>
          <a:ln/>
        </p:spPr>
        <p:txBody>
          <a:bodyPr wrap="square" lIns="0" tIns="0" rIns="0" bIns="0" rtlCol="0" anchor="ctr"/>
          <a:lstStyle/>
          <a:p>
            <a:pPr marL="0" indent="0">
              <a:buNone/>
            </a:pPr>
            <a:r>
              <a:rPr lang="en-US" sz="1500" b="1" dirty="0">
                <a:solidFill>
                  <a:srgbClr val="1D1D1F"/>
                </a:solidFill>
              </a:rPr>
              <a:t>WLM admits</a:t>
            </a:r>
            <a:endParaRPr lang="en-US" sz="1500" dirty="0"/>
          </a:p>
        </p:txBody>
      </p:sp>
      <p:sp>
        <p:nvSpPr>
          <p:cNvPr id="20" name="Text 18"/>
          <p:cNvSpPr/>
          <p:nvPr/>
        </p:nvSpPr>
        <p:spPr>
          <a:xfrm>
            <a:off x="3794760" y="3355848"/>
            <a:ext cx="7315200" cy="274320"/>
          </a:xfrm>
          <a:prstGeom prst="rect">
            <a:avLst/>
          </a:prstGeom>
          <a:noFill/>
          <a:ln/>
        </p:spPr>
        <p:txBody>
          <a:bodyPr wrap="square" lIns="0" tIns="0" rIns="0" bIns="0" rtlCol="0" anchor="ctr"/>
          <a:lstStyle/>
          <a:p>
            <a:pPr marL="0" indent="0">
              <a:buNone/>
            </a:pPr>
            <a:r>
              <a:rPr lang="en-US" sz="1250" dirty="0">
                <a:solidFill>
                  <a:srgbClr val="6E6E73"/>
                </a:solidFill>
              </a:rPr>
              <a:t>Queue, priority, memory</a:t>
            </a:r>
            <a:endParaRPr lang="en-US" sz="1250" dirty="0"/>
          </a:p>
        </p:txBody>
      </p:sp>
      <p:sp>
        <p:nvSpPr>
          <p:cNvPr id="21" name="Shape 19"/>
          <p:cNvSpPr/>
          <p:nvPr/>
        </p:nvSpPr>
        <p:spPr>
          <a:xfrm>
            <a:off x="685800" y="3877056"/>
            <a:ext cx="457200" cy="347472"/>
          </a:xfrm>
          <a:prstGeom prst="roundRect">
            <a:avLst>
              <a:gd name="adj" fmla="val 47368"/>
            </a:avLst>
          </a:prstGeom>
          <a:solidFill>
            <a:srgbClr val="146EB4"/>
          </a:solidFill>
          <a:ln w="12700">
            <a:solidFill>
              <a:srgbClr val="146EB4"/>
            </a:solidFill>
            <a:prstDash val="solid"/>
          </a:ln>
        </p:spPr>
      </p:sp>
      <p:sp>
        <p:nvSpPr>
          <p:cNvPr id="22" name="Text 20"/>
          <p:cNvSpPr/>
          <p:nvPr/>
        </p:nvSpPr>
        <p:spPr>
          <a:xfrm>
            <a:off x="685800" y="3931920"/>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3" name="Text 21"/>
          <p:cNvSpPr/>
          <p:nvPr/>
        </p:nvSpPr>
        <p:spPr>
          <a:xfrm>
            <a:off x="1417320" y="3895344"/>
            <a:ext cx="2560320" cy="274320"/>
          </a:xfrm>
          <a:prstGeom prst="rect">
            <a:avLst/>
          </a:prstGeom>
          <a:noFill/>
          <a:ln/>
        </p:spPr>
        <p:txBody>
          <a:bodyPr wrap="square" lIns="0" tIns="0" rIns="0" bIns="0" rtlCol="0" anchor="ctr"/>
          <a:lstStyle/>
          <a:p>
            <a:pPr marL="0" indent="0">
              <a:buNone/>
            </a:pPr>
            <a:r>
              <a:rPr lang="en-US" sz="1500" b="1" dirty="0">
                <a:solidFill>
                  <a:srgbClr val="1D1D1F"/>
                </a:solidFill>
              </a:rPr>
              <a:t>Segments dispatched</a:t>
            </a:r>
            <a:endParaRPr lang="en-US" sz="1500" dirty="0"/>
          </a:p>
        </p:txBody>
      </p:sp>
      <p:sp>
        <p:nvSpPr>
          <p:cNvPr id="24" name="Text 22"/>
          <p:cNvSpPr/>
          <p:nvPr/>
        </p:nvSpPr>
        <p:spPr>
          <a:xfrm>
            <a:off x="3794760" y="3895344"/>
            <a:ext cx="7315200" cy="274320"/>
          </a:xfrm>
          <a:prstGeom prst="rect">
            <a:avLst/>
          </a:prstGeom>
          <a:noFill/>
          <a:ln/>
        </p:spPr>
        <p:txBody>
          <a:bodyPr wrap="square" lIns="0" tIns="0" rIns="0" bIns="0" rtlCol="0" anchor="ctr"/>
          <a:lstStyle/>
          <a:p>
            <a:pPr marL="0" indent="0">
              <a:buNone/>
            </a:pPr>
            <a:r>
              <a:rPr lang="en-US" sz="1250" dirty="0">
                <a:solidFill>
                  <a:srgbClr val="6E6E73"/>
                </a:solidFill>
              </a:rPr>
              <a:t>Compiled work to nodes</a:t>
            </a:r>
            <a:endParaRPr lang="en-US" sz="1250" dirty="0"/>
          </a:p>
        </p:txBody>
      </p:sp>
      <p:sp>
        <p:nvSpPr>
          <p:cNvPr id="25" name="Shape 23"/>
          <p:cNvSpPr/>
          <p:nvPr/>
        </p:nvSpPr>
        <p:spPr>
          <a:xfrm>
            <a:off x="685800" y="4416552"/>
            <a:ext cx="457200" cy="347472"/>
          </a:xfrm>
          <a:prstGeom prst="roundRect">
            <a:avLst>
              <a:gd name="adj" fmla="val 47368"/>
            </a:avLst>
          </a:prstGeom>
          <a:solidFill>
            <a:srgbClr val="146EB4"/>
          </a:solidFill>
          <a:ln w="12700">
            <a:solidFill>
              <a:srgbClr val="146EB4"/>
            </a:solidFill>
            <a:prstDash val="solid"/>
          </a:ln>
        </p:spPr>
      </p:sp>
      <p:sp>
        <p:nvSpPr>
          <p:cNvPr id="26" name="Text 24"/>
          <p:cNvSpPr/>
          <p:nvPr/>
        </p:nvSpPr>
        <p:spPr>
          <a:xfrm>
            <a:off x="685800" y="4471416"/>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6</a:t>
            </a:r>
            <a:endParaRPr lang="en-US" sz="1000" dirty="0"/>
          </a:p>
        </p:txBody>
      </p:sp>
      <p:sp>
        <p:nvSpPr>
          <p:cNvPr id="27" name="Text 25"/>
          <p:cNvSpPr/>
          <p:nvPr/>
        </p:nvSpPr>
        <p:spPr>
          <a:xfrm>
            <a:off x="1417320" y="4434840"/>
            <a:ext cx="2560320" cy="274320"/>
          </a:xfrm>
          <a:prstGeom prst="rect">
            <a:avLst/>
          </a:prstGeom>
          <a:noFill/>
          <a:ln/>
        </p:spPr>
        <p:txBody>
          <a:bodyPr wrap="square" lIns="0" tIns="0" rIns="0" bIns="0" rtlCol="0" anchor="ctr"/>
          <a:lstStyle/>
          <a:p>
            <a:pPr marL="0" indent="0">
              <a:buNone/>
            </a:pPr>
            <a:r>
              <a:rPr lang="en-US" sz="1500" b="1" dirty="0">
                <a:solidFill>
                  <a:srgbClr val="1D1D1F"/>
                </a:solidFill>
              </a:rPr>
              <a:t>Slices scan + join</a:t>
            </a:r>
            <a:endParaRPr lang="en-US" sz="1500" dirty="0"/>
          </a:p>
        </p:txBody>
      </p:sp>
      <p:sp>
        <p:nvSpPr>
          <p:cNvPr id="28" name="Text 26"/>
          <p:cNvSpPr/>
          <p:nvPr/>
        </p:nvSpPr>
        <p:spPr>
          <a:xfrm>
            <a:off x="3794760" y="4434840"/>
            <a:ext cx="7315200" cy="274320"/>
          </a:xfrm>
          <a:prstGeom prst="rect">
            <a:avLst/>
          </a:prstGeom>
          <a:noFill/>
          <a:ln/>
        </p:spPr>
        <p:txBody>
          <a:bodyPr wrap="square" lIns="0" tIns="0" rIns="0" bIns="0" rtlCol="0" anchor="ctr"/>
          <a:lstStyle/>
          <a:p>
            <a:pPr marL="0" indent="0">
              <a:buNone/>
            </a:pPr>
            <a:r>
              <a:rPr lang="en-US" sz="1250" dirty="0">
                <a:solidFill>
                  <a:srgbClr val="6E6E73"/>
                </a:solidFill>
              </a:rPr>
              <a:t>Parallel execution and redistribution</a:t>
            </a:r>
            <a:endParaRPr lang="en-US" sz="1250" dirty="0"/>
          </a:p>
        </p:txBody>
      </p:sp>
      <p:sp>
        <p:nvSpPr>
          <p:cNvPr id="29" name="Shape 27"/>
          <p:cNvSpPr/>
          <p:nvPr/>
        </p:nvSpPr>
        <p:spPr>
          <a:xfrm>
            <a:off x="685800" y="4956048"/>
            <a:ext cx="457200" cy="347472"/>
          </a:xfrm>
          <a:prstGeom prst="roundRect">
            <a:avLst>
              <a:gd name="adj" fmla="val 47368"/>
            </a:avLst>
          </a:prstGeom>
          <a:solidFill>
            <a:srgbClr val="146EB4"/>
          </a:solidFill>
          <a:ln w="12700">
            <a:solidFill>
              <a:srgbClr val="146EB4"/>
            </a:solidFill>
            <a:prstDash val="solid"/>
          </a:ln>
        </p:spPr>
      </p:sp>
      <p:sp>
        <p:nvSpPr>
          <p:cNvPr id="30" name="Text 28"/>
          <p:cNvSpPr/>
          <p:nvPr/>
        </p:nvSpPr>
        <p:spPr>
          <a:xfrm>
            <a:off x="685800" y="5010912"/>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7</a:t>
            </a:r>
            <a:endParaRPr lang="en-US" sz="1000" dirty="0"/>
          </a:p>
        </p:txBody>
      </p:sp>
      <p:sp>
        <p:nvSpPr>
          <p:cNvPr id="31" name="Text 29"/>
          <p:cNvSpPr/>
          <p:nvPr/>
        </p:nvSpPr>
        <p:spPr>
          <a:xfrm>
            <a:off x="1417320" y="4974336"/>
            <a:ext cx="2560320" cy="274320"/>
          </a:xfrm>
          <a:prstGeom prst="rect">
            <a:avLst/>
          </a:prstGeom>
          <a:noFill/>
          <a:ln/>
        </p:spPr>
        <p:txBody>
          <a:bodyPr wrap="square" lIns="0" tIns="0" rIns="0" bIns="0" rtlCol="0" anchor="ctr"/>
          <a:lstStyle/>
          <a:p>
            <a:pPr marL="0" indent="0">
              <a:buNone/>
            </a:pPr>
            <a:r>
              <a:rPr lang="en-US" sz="1500" b="1" dirty="0">
                <a:solidFill>
                  <a:srgbClr val="1D1D1F"/>
                </a:solidFill>
              </a:rPr>
              <a:t>Leader combines</a:t>
            </a:r>
            <a:endParaRPr lang="en-US" sz="1500" dirty="0"/>
          </a:p>
        </p:txBody>
      </p:sp>
      <p:sp>
        <p:nvSpPr>
          <p:cNvPr id="32" name="Text 30"/>
          <p:cNvSpPr/>
          <p:nvPr/>
        </p:nvSpPr>
        <p:spPr>
          <a:xfrm>
            <a:off x="3794760" y="4974336"/>
            <a:ext cx="7315200" cy="274320"/>
          </a:xfrm>
          <a:prstGeom prst="rect">
            <a:avLst/>
          </a:prstGeom>
          <a:noFill/>
          <a:ln/>
        </p:spPr>
        <p:txBody>
          <a:bodyPr wrap="square" lIns="0" tIns="0" rIns="0" bIns="0" rtlCol="0" anchor="ctr"/>
          <a:lstStyle/>
          <a:p>
            <a:pPr marL="0" indent="0">
              <a:buNone/>
            </a:pPr>
            <a:r>
              <a:rPr lang="en-US" sz="1250" dirty="0">
                <a:solidFill>
                  <a:srgbClr val="6E6E73"/>
                </a:solidFill>
              </a:rPr>
              <a:t>Final aggregation/formatting</a:t>
            </a:r>
            <a:endParaRPr lang="en-US" sz="1250" dirty="0"/>
          </a:p>
        </p:txBody>
      </p:sp>
      <p:sp>
        <p:nvSpPr>
          <p:cNvPr id="33" name="Shape 31"/>
          <p:cNvSpPr/>
          <p:nvPr/>
        </p:nvSpPr>
        <p:spPr>
          <a:xfrm>
            <a:off x="685800" y="5495544"/>
            <a:ext cx="457200" cy="347472"/>
          </a:xfrm>
          <a:prstGeom prst="roundRect">
            <a:avLst>
              <a:gd name="adj" fmla="val 47368"/>
            </a:avLst>
          </a:prstGeom>
          <a:solidFill>
            <a:srgbClr val="146EB4"/>
          </a:solidFill>
          <a:ln w="12700">
            <a:solidFill>
              <a:srgbClr val="146EB4"/>
            </a:solidFill>
            <a:prstDash val="solid"/>
          </a:ln>
        </p:spPr>
      </p:sp>
      <p:sp>
        <p:nvSpPr>
          <p:cNvPr id="34" name="Text 32"/>
          <p:cNvSpPr/>
          <p:nvPr/>
        </p:nvSpPr>
        <p:spPr>
          <a:xfrm>
            <a:off x="685800" y="5550408"/>
            <a:ext cx="457200" cy="182880"/>
          </a:xfrm>
          <a:prstGeom prst="rect">
            <a:avLst/>
          </a:prstGeom>
          <a:noFill/>
          <a:ln/>
        </p:spPr>
        <p:txBody>
          <a:bodyPr wrap="square" lIns="0" tIns="0" rIns="0" bIns="0" rtlCol="0" anchor="ctr"/>
          <a:lstStyle/>
          <a:p>
            <a:pPr marL="0" indent="0" algn="ctr">
              <a:buNone/>
            </a:pPr>
            <a:r>
              <a:rPr lang="en-US" sz="1000" b="1" dirty="0">
                <a:solidFill>
                  <a:srgbClr val="FFFFFF"/>
                </a:solidFill>
              </a:rPr>
              <a:t>8</a:t>
            </a:r>
            <a:endParaRPr lang="en-US" sz="1000" dirty="0"/>
          </a:p>
        </p:txBody>
      </p:sp>
      <p:sp>
        <p:nvSpPr>
          <p:cNvPr id="35" name="Text 33"/>
          <p:cNvSpPr/>
          <p:nvPr/>
        </p:nvSpPr>
        <p:spPr>
          <a:xfrm>
            <a:off x="1417320" y="5513832"/>
            <a:ext cx="2560320" cy="274320"/>
          </a:xfrm>
          <a:prstGeom prst="rect">
            <a:avLst/>
          </a:prstGeom>
          <a:noFill/>
          <a:ln/>
        </p:spPr>
        <p:txBody>
          <a:bodyPr wrap="square" lIns="0" tIns="0" rIns="0" bIns="0" rtlCol="0" anchor="ctr"/>
          <a:lstStyle/>
          <a:p>
            <a:pPr marL="0" indent="0">
              <a:buNone/>
            </a:pPr>
            <a:r>
              <a:rPr lang="en-US" sz="1500" b="1" dirty="0">
                <a:solidFill>
                  <a:srgbClr val="1D1D1F"/>
                </a:solidFill>
              </a:rPr>
              <a:t>Result returned</a:t>
            </a:r>
            <a:endParaRPr lang="en-US" sz="1500" dirty="0"/>
          </a:p>
        </p:txBody>
      </p:sp>
      <p:sp>
        <p:nvSpPr>
          <p:cNvPr id="36" name="Text 34"/>
          <p:cNvSpPr/>
          <p:nvPr/>
        </p:nvSpPr>
        <p:spPr>
          <a:xfrm>
            <a:off x="3794760" y="5513832"/>
            <a:ext cx="7315200" cy="274320"/>
          </a:xfrm>
          <a:prstGeom prst="rect">
            <a:avLst/>
          </a:prstGeom>
          <a:noFill/>
          <a:ln/>
        </p:spPr>
        <p:txBody>
          <a:bodyPr wrap="square" lIns="0" tIns="0" rIns="0" bIns="0" rtlCol="0" anchor="ctr"/>
          <a:lstStyle/>
          <a:p>
            <a:pPr marL="0" indent="0">
              <a:buNone/>
            </a:pPr>
            <a:r>
              <a:rPr lang="en-US" sz="1250" dirty="0">
                <a:solidFill>
                  <a:srgbClr val="6E6E73"/>
                </a:solidFill>
              </a:rPr>
              <a:t>Client receives rows</a:t>
            </a:r>
            <a:endParaRPr lang="en-US" sz="1250" dirty="0"/>
          </a:p>
        </p:txBody>
      </p:sp>
      <p:sp>
        <p:nvSpPr>
          <p:cNvPr id="37"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LEVER 1</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RA3 separates compute sizing from managed storage growth</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Size compute for workload performance, not simply for stored bytes.</a:t>
            </a:r>
            <a:endParaRPr lang="en-US" sz="1400" dirty="0"/>
          </a:p>
        </p:txBody>
      </p:sp>
      <p:sp>
        <p:nvSpPr>
          <p:cNvPr id="5" name="Shape 3"/>
          <p:cNvSpPr/>
          <p:nvPr/>
        </p:nvSpPr>
        <p:spPr>
          <a:xfrm>
            <a:off x="68580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96112" y="2048256"/>
            <a:ext cx="137160" cy="137160"/>
          </a:xfrm>
          <a:prstGeom prst="ellipse">
            <a:avLst/>
          </a:prstGeom>
          <a:solidFill>
            <a:srgbClr val="30D158"/>
          </a:solidFill>
          <a:ln w="12700">
            <a:solidFill>
              <a:srgbClr val="30D158"/>
            </a:solidFill>
            <a:prstDash val="solid"/>
          </a:ln>
        </p:spPr>
      </p:sp>
      <p:sp>
        <p:nvSpPr>
          <p:cNvPr id="7" name="Text 5"/>
          <p:cNvSpPr/>
          <p:nvPr/>
        </p:nvSpPr>
        <p:spPr>
          <a:xfrm>
            <a:off x="114300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Managed storage</a:t>
            </a:r>
            <a:endParaRPr lang="en-US" sz="1400" dirty="0"/>
          </a:p>
        </p:txBody>
      </p:sp>
      <p:sp>
        <p:nvSpPr>
          <p:cNvPr id="8" name="Text 6"/>
          <p:cNvSpPr/>
          <p:nvPr/>
        </p:nvSpPr>
        <p:spPr>
          <a:xfrm>
            <a:off x="91440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Durable data uses Redshift Managed Storage, with local SSD used for high-performance access.</a:t>
            </a:r>
            <a:endParaRPr lang="en-US" sz="1150" dirty="0"/>
          </a:p>
        </p:txBody>
      </p:sp>
      <p:sp>
        <p:nvSpPr>
          <p:cNvPr id="9" name="Shape 7"/>
          <p:cNvSpPr/>
          <p:nvPr/>
        </p:nvSpPr>
        <p:spPr>
          <a:xfrm>
            <a:off x="438912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4599432" y="2048256"/>
            <a:ext cx="137160" cy="137160"/>
          </a:xfrm>
          <a:prstGeom prst="ellipse">
            <a:avLst/>
          </a:prstGeom>
          <a:solidFill>
            <a:srgbClr val="FF9900"/>
          </a:solidFill>
          <a:ln w="12700">
            <a:solidFill>
              <a:srgbClr val="FF9900"/>
            </a:solidFill>
            <a:prstDash val="solid"/>
          </a:ln>
        </p:spPr>
      </p:sp>
      <p:sp>
        <p:nvSpPr>
          <p:cNvPr id="11" name="Text 9"/>
          <p:cNvSpPr/>
          <p:nvPr/>
        </p:nvSpPr>
        <p:spPr>
          <a:xfrm>
            <a:off x="484632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Compute choice</a:t>
            </a:r>
            <a:endParaRPr lang="en-US" sz="1400" dirty="0"/>
          </a:p>
        </p:txBody>
      </p:sp>
      <p:sp>
        <p:nvSpPr>
          <p:cNvPr id="12" name="Text 10"/>
          <p:cNvSpPr/>
          <p:nvPr/>
        </p:nvSpPr>
        <p:spPr>
          <a:xfrm>
            <a:off x="461772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Choose node count and type for processing demand and concurrency.</a:t>
            </a:r>
            <a:endParaRPr lang="en-US" sz="1150" dirty="0"/>
          </a:p>
        </p:txBody>
      </p:sp>
      <p:sp>
        <p:nvSpPr>
          <p:cNvPr id="13" name="Shape 11"/>
          <p:cNvSpPr/>
          <p:nvPr/>
        </p:nvSpPr>
        <p:spPr>
          <a:xfrm>
            <a:off x="813816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348472" y="2048256"/>
            <a:ext cx="137160" cy="137160"/>
          </a:xfrm>
          <a:prstGeom prst="ellipse">
            <a:avLst/>
          </a:prstGeom>
          <a:solidFill>
            <a:srgbClr val="146EB4"/>
          </a:solidFill>
          <a:ln w="12700">
            <a:solidFill>
              <a:srgbClr val="146EB4"/>
            </a:solidFill>
            <a:prstDash val="solid"/>
          </a:ln>
        </p:spPr>
      </p:sp>
      <p:sp>
        <p:nvSpPr>
          <p:cNvPr id="15" name="Text 13"/>
          <p:cNvSpPr/>
          <p:nvPr/>
        </p:nvSpPr>
        <p:spPr>
          <a:xfrm>
            <a:off x="859536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Economic effect</a:t>
            </a:r>
            <a:endParaRPr lang="en-US" sz="1400" dirty="0"/>
          </a:p>
        </p:txBody>
      </p:sp>
      <p:sp>
        <p:nvSpPr>
          <p:cNvPr id="16" name="Text 14"/>
          <p:cNvSpPr/>
          <p:nvPr/>
        </p:nvSpPr>
        <p:spPr>
          <a:xfrm>
            <a:off x="836676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Avoid adding compute solely because storage grows; storage and compute are priced independently.</a:t>
            </a:r>
            <a:endParaRPr lang="en-US" sz="1150" dirty="0"/>
          </a:p>
        </p:txBody>
      </p:sp>
      <p:sp>
        <p:nvSpPr>
          <p:cNvPr id="17" name="Text 15"/>
          <p:cNvSpPr/>
          <p:nvPr/>
        </p:nvSpPr>
        <p:spPr>
          <a:xfrm>
            <a:off x="594360" y="6263640"/>
            <a:ext cx="10881360" cy="228600"/>
          </a:xfrm>
          <a:prstGeom prst="rect">
            <a:avLst/>
          </a:prstGeom>
          <a:noFill/>
          <a:ln/>
        </p:spPr>
        <p:txBody>
          <a:bodyPr wrap="square" lIns="0" tIns="0" rIns="0" bIns="0" rtlCol="0" anchor="ctr"/>
          <a:lstStyle/>
          <a:p>
            <a:pPr marL="0" indent="0" algn="ctr">
              <a:buNone/>
            </a:pPr>
            <a:r>
              <a:rPr lang="en-US" sz="1000" i="1" dirty="0">
                <a:solidFill>
                  <a:srgbClr val="6E6E73"/>
                </a:solidFill>
              </a:rPr>
              <a:t>Cold-cache effects are a performance consideration, not a reason to ignore workload measurement.</a:t>
            </a:r>
            <a:endParaRPr lang="en-US" sz="10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RA3 DECISION</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When managed storage creates value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Use evidence, not “RA3 always wins.”</a:t>
            </a:r>
            <a:endParaRPr lang="en-US" sz="1400" dirty="0"/>
          </a:p>
        </p:txBody>
      </p:sp>
      <p:sp>
        <p:nvSpPr>
          <p:cNvPr id="5" name="Shape 3"/>
          <p:cNvSpPr/>
          <p:nvPr/>
        </p:nvSpPr>
        <p:spPr>
          <a:xfrm>
            <a:off x="685800" y="1828800"/>
            <a:ext cx="3383280" cy="2834640"/>
          </a:xfrm>
          <a:prstGeom prst="roundRect">
            <a:avLst>
              <a:gd name="adj" fmla="val 3226"/>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96112" y="2048256"/>
            <a:ext cx="137160" cy="137160"/>
          </a:xfrm>
          <a:prstGeom prst="ellipse">
            <a:avLst/>
          </a:prstGeom>
          <a:solidFill>
            <a:srgbClr val="30D158"/>
          </a:solidFill>
          <a:ln w="12700">
            <a:solidFill>
              <a:srgbClr val="30D158"/>
            </a:solidFill>
            <a:prstDash val="solid"/>
          </a:ln>
        </p:spPr>
      </p:sp>
      <p:sp>
        <p:nvSpPr>
          <p:cNvPr id="7" name="Text 5"/>
          <p:cNvSpPr/>
          <p:nvPr/>
        </p:nvSpPr>
        <p:spPr>
          <a:xfrm>
            <a:off x="1143000" y="198424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Strong fit</a:t>
            </a:r>
            <a:endParaRPr lang="en-US" sz="1400" dirty="0"/>
          </a:p>
        </p:txBody>
      </p:sp>
      <p:sp>
        <p:nvSpPr>
          <p:cNvPr id="8" name="Text 6"/>
          <p:cNvSpPr/>
          <p:nvPr/>
        </p:nvSpPr>
        <p:spPr>
          <a:xfrm>
            <a:off x="914400" y="2423160"/>
            <a:ext cx="2926080" cy="2084832"/>
          </a:xfrm>
          <a:prstGeom prst="rect">
            <a:avLst/>
          </a:prstGeom>
          <a:noFill/>
          <a:ln/>
        </p:spPr>
        <p:txBody>
          <a:bodyPr wrap="square" lIns="0" tIns="0" rIns="0" bIns="0" rtlCol="0" anchor="ctr">
            <a:normAutofit/>
          </a:bodyPr>
          <a:lstStyle/>
          <a:p>
            <a:pPr marL="0" indent="0">
              <a:buNone/>
            </a:pPr>
            <a:r>
              <a:rPr lang="en-US" sz="1150" dirty="0">
                <a:solidFill>
                  <a:srgbClr val="6E6E73"/>
                </a:solidFill>
              </a:rPr>
              <a:t>Growing data, variable compute, mixed hot/cold access, independent resize needs.</a:t>
            </a:r>
            <a:endParaRPr lang="en-US" sz="1150" dirty="0"/>
          </a:p>
        </p:txBody>
      </p:sp>
      <p:sp>
        <p:nvSpPr>
          <p:cNvPr id="9" name="Shape 7"/>
          <p:cNvSpPr/>
          <p:nvPr/>
        </p:nvSpPr>
        <p:spPr>
          <a:xfrm>
            <a:off x="4480560" y="1828800"/>
            <a:ext cx="3383280" cy="2834640"/>
          </a:xfrm>
          <a:prstGeom prst="roundRect">
            <a:avLst>
              <a:gd name="adj" fmla="val 3226"/>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4690872" y="2048256"/>
            <a:ext cx="137160" cy="137160"/>
          </a:xfrm>
          <a:prstGeom prst="ellipse">
            <a:avLst/>
          </a:prstGeom>
          <a:solidFill>
            <a:srgbClr val="FF9900"/>
          </a:solidFill>
          <a:ln w="12700">
            <a:solidFill>
              <a:srgbClr val="FF9900"/>
            </a:solidFill>
            <a:prstDash val="solid"/>
          </a:ln>
        </p:spPr>
      </p:sp>
      <p:sp>
        <p:nvSpPr>
          <p:cNvPr id="11" name="Text 9"/>
          <p:cNvSpPr/>
          <p:nvPr/>
        </p:nvSpPr>
        <p:spPr>
          <a:xfrm>
            <a:off x="4937760" y="198424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Measure carefully</a:t>
            </a:r>
            <a:endParaRPr lang="en-US" sz="1400" dirty="0"/>
          </a:p>
        </p:txBody>
      </p:sp>
      <p:sp>
        <p:nvSpPr>
          <p:cNvPr id="12" name="Text 10"/>
          <p:cNvSpPr/>
          <p:nvPr/>
        </p:nvSpPr>
        <p:spPr>
          <a:xfrm>
            <a:off x="4709160" y="2423160"/>
            <a:ext cx="2926080" cy="2084832"/>
          </a:xfrm>
          <a:prstGeom prst="rect">
            <a:avLst/>
          </a:prstGeom>
          <a:noFill/>
          <a:ln/>
        </p:spPr>
        <p:txBody>
          <a:bodyPr wrap="square" lIns="0" tIns="0" rIns="0" bIns="0" rtlCol="0" anchor="ctr">
            <a:normAutofit/>
          </a:bodyPr>
          <a:lstStyle/>
          <a:p>
            <a:pPr marL="0" indent="0">
              <a:buNone/>
            </a:pPr>
            <a:r>
              <a:rPr lang="en-US" sz="1150" dirty="0">
                <a:solidFill>
                  <a:srgbClr val="6E6E73"/>
                </a:solidFill>
              </a:rPr>
              <a:t>Small hot working set, predictable steady load, or migration with cache-sensitive SLAs.</a:t>
            </a:r>
            <a:endParaRPr lang="en-US" sz="1150" dirty="0"/>
          </a:p>
        </p:txBody>
      </p:sp>
      <p:sp>
        <p:nvSpPr>
          <p:cNvPr id="13" name="Shape 11"/>
          <p:cNvSpPr/>
          <p:nvPr/>
        </p:nvSpPr>
        <p:spPr>
          <a:xfrm>
            <a:off x="8275320" y="1828800"/>
            <a:ext cx="3383280" cy="2834640"/>
          </a:xfrm>
          <a:prstGeom prst="roundRect">
            <a:avLst>
              <a:gd name="adj" fmla="val 3226"/>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485632" y="2048256"/>
            <a:ext cx="137160" cy="137160"/>
          </a:xfrm>
          <a:prstGeom prst="ellipse">
            <a:avLst/>
          </a:prstGeom>
          <a:solidFill>
            <a:srgbClr val="146EB4"/>
          </a:solidFill>
          <a:ln w="12700">
            <a:solidFill>
              <a:srgbClr val="146EB4"/>
            </a:solidFill>
            <a:prstDash val="solid"/>
          </a:ln>
        </p:spPr>
      </p:sp>
      <p:sp>
        <p:nvSpPr>
          <p:cNvPr id="15" name="Text 13"/>
          <p:cNvSpPr/>
          <p:nvPr/>
        </p:nvSpPr>
        <p:spPr>
          <a:xfrm>
            <a:off x="8732520" y="1984248"/>
            <a:ext cx="2724912" cy="292608"/>
          </a:xfrm>
          <a:prstGeom prst="rect">
            <a:avLst/>
          </a:prstGeom>
          <a:noFill/>
          <a:ln/>
        </p:spPr>
        <p:txBody>
          <a:bodyPr wrap="square" lIns="0" tIns="0" rIns="0" bIns="0" rtlCol="0" anchor="ctr"/>
          <a:lstStyle/>
          <a:p>
            <a:pPr marL="0" indent="0">
              <a:buNone/>
            </a:pPr>
            <a:r>
              <a:rPr lang="en-US" sz="1400" b="1" dirty="0">
                <a:solidFill>
                  <a:srgbClr val="1D1D1F"/>
                </a:solidFill>
              </a:rPr>
              <a:t>Validate</a:t>
            </a:r>
            <a:endParaRPr lang="en-US" sz="1400" dirty="0"/>
          </a:p>
        </p:txBody>
      </p:sp>
      <p:sp>
        <p:nvSpPr>
          <p:cNvPr id="16" name="Text 14"/>
          <p:cNvSpPr/>
          <p:nvPr/>
        </p:nvSpPr>
        <p:spPr>
          <a:xfrm>
            <a:off x="8503920" y="2423160"/>
            <a:ext cx="2926080" cy="2084832"/>
          </a:xfrm>
          <a:prstGeom prst="rect">
            <a:avLst/>
          </a:prstGeom>
          <a:noFill/>
          <a:ln/>
        </p:spPr>
        <p:txBody>
          <a:bodyPr wrap="square" lIns="0" tIns="0" rIns="0" bIns="0" rtlCol="0" anchor="ctr">
            <a:normAutofit/>
          </a:bodyPr>
          <a:lstStyle/>
          <a:p>
            <a:pPr marL="0" indent="0">
              <a:buNone/>
            </a:pPr>
            <a:r>
              <a:rPr lang="en-US" sz="1150" dirty="0">
                <a:solidFill>
                  <a:srgbClr val="6E6E73"/>
                </a:solidFill>
              </a:rPr>
              <a:t>Scan volume, cache behavior, node utilization, storage growth, and resize schedule.</a:t>
            </a:r>
            <a:endParaRPr lang="en-US" sz="11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LEVER 2</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Concurrency scaling absorbs eligible queue pressure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Extra cluster capacity is temporary and WLM-controlled.</a:t>
            </a:r>
            <a:endParaRPr lang="en-US" sz="1400" dirty="0"/>
          </a:p>
        </p:txBody>
      </p:sp>
      <p:pic>
        <p:nvPicPr>
          <p:cNvPr id="5" name="Image 0" descr="/mnt/data/redshift_work/generated_image_B1C67D9260AE_02.png"/>
          <p:cNvPicPr>
            <a:picLocks noChangeAspect="1"/>
          </p:cNvPicPr>
          <p:nvPr/>
        </p:nvPicPr>
        <p:blipFill>
          <a:blip r:embed="rId3"/>
          <a:srcRect t="21031" b="21031"/>
          <a:stretch/>
        </p:blipFill>
        <p:spPr>
          <a:xfrm>
            <a:off x="0" y="1783080"/>
            <a:ext cx="12191695" cy="4709160"/>
          </a:xfrm>
          <a:prstGeom prst="rect">
            <a:avLst/>
          </a:prstGeom>
        </p:spPr>
      </p:pic>
      <p:sp>
        <p:nvSpPr>
          <p:cNvPr id="6" name="Shape 3"/>
          <p:cNvSpPr/>
          <p:nvPr/>
        </p:nvSpPr>
        <p:spPr>
          <a:xfrm>
            <a:off x="731520" y="5212080"/>
            <a:ext cx="10698480" cy="685800"/>
          </a:xfrm>
          <a:prstGeom prst="roundRect">
            <a:avLst>
              <a:gd name="adj" fmla="val 13333"/>
            </a:avLst>
          </a:prstGeom>
          <a:solidFill>
            <a:srgbClr val="000000">
              <a:alpha val="85000"/>
            </a:srgbClr>
          </a:solidFill>
          <a:ln w="12700">
            <a:solidFill>
              <a:srgbClr val="FFFFFF">
                <a:alpha val="0"/>
              </a:srgbClr>
            </a:solidFill>
            <a:prstDash val="solid"/>
          </a:ln>
        </p:spPr>
      </p:sp>
      <p:sp>
        <p:nvSpPr>
          <p:cNvPr id="7" name="Text 4"/>
          <p:cNvSpPr/>
          <p:nvPr/>
        </p:nvSpPr>
        <p:spPr>
          <a:xfrm>
            <a:off x="960120" y="5431536"/>
            <a:ext cx="10241280" cy="256032"/>
          </a:xfrm>
          <a:prstGeom prst="rect">
            <a:avLst/>
          </a:prstGeom>
          <a:noFill/>
          <a:ln/>
        </p:spPr>
        <p:txBody>
          <a:bodyPr wrap="square" lIns="0" tIns="0" rIns="0" bIns="0" rtlCol="0" anchor="ctr"/>
          <a:lstStyle/>
          <a:p>
            <a:pPr marL="0" indent="0" algn="ctr">
              <a:buNone/>
            </a:pPr>
            <a:r>
              <a:rPr lang="en-US" sz="1700" b="1" dirty="0">
                <a:solidFill>
                  <a:srgbClr val="FFFFFF"/>
                </a:solidFill>
              </a:rPr>
              <a:t>Eligible queries leave the WLM queue for transient concurrency-scaling capacity.</a:t>
            </a:r>
            <a:endParaRPr lang="en-US" sz="17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CONCURRENCY ECONOMICS</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Burst elasticity versus steady overprovisioning</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First ask whether the pressure is spiky or persistent.</a:t>
            </a:r>
            <a:endParaRPr lang="en-US" sz="1400" dirty="0"/>
          </a:p>
        </p:txBody>
      </p:sp>
      <p:sp>
        <p:nvSpPr>
          <p:cNvPr id="5" name="Shape 3"/>
          <p:cNvSpPr/>
          <p:nvPr/>
        </p:nvSpPr>
        <p:spPr>
          <a:xfrm>
            <a:off x="68580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96112" y="2048256"/>
            <a:ext cx="137160" cy="137160"/>
          </a:xfrm>
          <a:prstGeom prst="ellipse">
            <a:avLst/>
          </a:prstGeom>
          <a:solidFill>
            <a:srgbClr val="30D158"/>
          </a:solidFill>
          <a:ln w="12700">
            <a:solidFill>
              <a:srgbClr val="30D158"/>
            </a:solidFill>
            <a:prstDash val="solid"/>
          </a:ln>
        </p:spPr>
      </p:sp>
      <p:sp>
        <p:nvSpPr>
          <p:cNvPr id="7" name="Text 5"/>
          <p:cNvSpPr/>
          <p:nvPr/>
        </p:nvSpPr>
        <p:spPr>
          <a:xfrm>
            <a:off x="114300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Use it</a:t>
            </a:r>
            <a:endParaRPr lang="en-US" sz="1400" dirty="0"/>
          </a:p>
        </p:txBody>
      </p:sp>
      <p:sp>
        <p:nvSpPr>
          <p:cNvPr id="8" name="Text 6"/>
          <p:cNvSpPr/>
          <p:nvPr/>
        </p:nvSpPr>
        <p:spPr>
          <a:xfrm>
            <a:off x="91440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Short-lived concurrency bursts, dashboard peaks, eligible ETL contention, unpredictable arrival.</a:t>
            </a:r>
            <a:endParaRPr lang="en-US" sz="1150" dirty="0"/>
          </a:p>
        </p:txBody>
      </p:sp>
      <p:sp>
        <p:nvSpPr>
          <p:cNvPr id="9" name="Shape 7"/>
          <p:cNvSpPr/>
          <p:nvPr/>
        </p:nvSpPr>
        <p:spPr>
          <a:xfrm>
            <a:off x="438912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4599432" y="2048256"/>
            <a:ext cx="137160" cy="137160"/>
          </a:xfrm>
          <a:prstGeom prst="ellipse">
            <a:avLst/>
          </a:prstGeom>
          <a:solidFill>
            <a:srgbClr val="E71510"/>
          </a:solidFill>
          <a:ln w="12700">
            <a:solidFill>
              <a:srgbClr val="E71510"/>
            </a:solidFill>
            <a:prstDash val="solid"/>
          </a:ln>
        </p:spPr>
      </p:sp>
      <p:sp>
        <p:nvSpPr>
          <p:cNvPr id="11" name="Text 9"/>
          <p:cNvSpPr/>
          <p:nvPr/>
        </p:nvSpPr>
        <p:spPr>
          <a:xfrm>
            <a:off x="484632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Do not assume</a:t>
            </a:r>
            <a:endParaRPr lang="en-US" sz="1400" dirty="0"/>
          </a:p>
        </p:txBody>
      </p:sp>
      <p:sp>
        <p:nvSpPr>
          <p:cNvPr id="12" name="Text 10"/>
          <p:cNvSpPr/>
          <p:nvPr/>
        </p:nvSpPr>
        <p:spPr>
          <a:xfrm>
            <a:off x="461772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One slow query becomes fast, every statement is eligible, or extra capacity is always free.</a:t>
            </a:r>
            <a:endParaRPr lang="en-US" sz="1150" dirty="0"/>
          </a:p>
        </p:txBody>
      </p:sp>
      <p:sp>
        <p:nvSpPr>
          <p:cNvPr id="13" name="Shape 11"/>
          <p:cNvSpPr/>
          <p:nvPr/>
        </p:nvSpPr>
        <p:spPr>
          <a:xfrm>
            <a:off x="813816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348472" y="2048256"/>
            <a:ext cx="137160" cy="137160"/>
          </a:xfrm>
          <a:prstGeom prst="ellipse">
            <a:avLst/>
          </a:prstGeom>
          <a:solidFill>
            <a:srgbClr val="146EB4"/>
          </a:solidFill>
          <a:ln w="12700">
            <a:solidFill>
              <a:srgbClr val="146EB4"/>
            </a:solidFill>
            <a:prstDash val="solid"/>
          </a:ln>
        </p:spPr>
      </p:sp>
      <p:sp>
        <p:nvSpPr>
          <p:cNvPr id="15" name="Text 13"/>
          <p:cNvSpPr/>
          <p:nvPr/>
        </p:nvSpPr>
        <p:spPr>
          <a:xfrm>
            <a:off x="859536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Measure</a:t>
            </a:r>
            <a:endParaRPr lang="en-US" sz="1400" dirty="0"/>
          </a:p>
        </p:txBody>
      </p:sp>
      <p:sp>
        <p:nvSpPr>
          <p:cNvPr id="16" name="Text 14"/>
          <p:cNvSpPr/>
          <p:nvPr/>
        </p:nvSpPr>
        <p:spPr>
          <a:xfrm>
            <a:off x="836676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Queue time, eligible versus ineligible queries, scaling seconds, credit usage, and SLA improvement.</a:t>
            </a:r>
            <a:endParaRPr lang="en-US" sz="11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LEVER 3</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WLM is admission control for shared compute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Priority, routing, and query monitoring protect business service levels.</a:t>
            </a:r>
            <a:endParaRPr lang="en-US" sz="1400" dirty="0"/>
          </a:p>
        </p:txBody>
      </p:sp>
      <p:pic>
        <p:nvPicPr>
          <p:cNvPr id="5" name="Image 0" descr="/mnt/data/redshift_work/generated_image_B1C67D9260AE_03.png"/>
          <p:cNvPicPr>
            <a:picLocks noChangeAspect="1"/>
          </p:cNvPicPr>
          <p:nvPr/>
        </p:nvPicPr>
        <p:blipFill>
          <a:blip r:embed="rId3"/>
          <a:srcRect l="8865" r="8865"/>
          <a:stretch/>
        </p:blipFill>
        <p:spPr>
          <a:xfrm>
            <a:off x="6309360" y="1783080"/>
            <a:ext cx="5303520" cy="4297680"/>
          </a:xfrm>
          <a:prstGeom prst="rect">
            <a:avLst/>
          </a:prstGeom>
        </p:spPr>
      </p:pic>
      <p:sp>
        <p:nvSpPr>
          <p:cNvPr id="6" name="Shape 3"/>
          <p:cNvSpPr/>
          <p:nvPr/>
        </p:nvSpPr>
        <p:spPr>
          <a:xfrm>
            <a:off x="640080" y="1828800"/>
            <a:ext cx="5074920" cy="1097280"/>
          </a:xfrm>
          <a:prstGeom prst="roundRect">
            <a:avLst>
              <a:gd name="adj" fmla="val 8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7" name="Shape 4"/>
          <p:cNvSpPr/>
          <p:nvPr/>
        </p:nvSpPr>
        <p:spPr>
          <a:xfrm>
            <a:off x="850392" y="2048256"/>
            <a:ext cx="137160" cy="137160"/>
          </a:xfrm>
          <a:prstGeom prst="ellipse">
            <a:avLst/>
          </a:prstGeom>
          <a:solidFill>
            <a:srgbClr val="146EB4"/>
          </a:solidFill>
          <a:ln w="12700">
            <a:solidFill>
              <a:srgbClr val="146EB4"/>
            </a:solidFill>
            <a:prstDash val="solid"/>
          </a:ln>
        </p:spPr>
      </p:sp>
      <p:sp>
        <p:nvSpPr>
          <p:cNvPr id="8" name="Text 5"/>
          <p:cNvSpPr/>
          <p:nvPr/>
        </p:nvSpPr>
        <p:spPr>
          <a:xfrm>
            <a:off x="1097280" y="1984248"/>
            <a:ext cx="4416552" cy="292608"/>
          </a:xfrm>
          <a:prstGeom prst="rect">
            <a:avLst/>
          </a:prstGeom>
          <a:noFill/>
          <a:ln/>
        </p:spPr>
        <p:txBody>
          <a:bodyPr wrap="square" lIns="0" tIns="0" rIns="0" bIns="0" rtlCol="0" anchor="ctr"/>
          <a:lstStyle/>
          <a:p>
            <a:pPr marL="0" indent="0">
              <a:buNone/>
            </a:pPr>
            <a:r>
              <a:rPr lang="en-US" sz="1400" b="1" dirty="0">
                <a:solidFill>
                  <a:srgbClr val="1D1D1F"/>
                </a:solidFill>
              </a:rPr>
              <a:t>Automatic WLM</a:t>
            </a:r>
            <a:endParaRPr lang="en-US" sz="1400" dirty="0"/>
          </a:p>
        </p:txBody>
      </p:sp>
      <p:sp>
        <p:nvSpPr>
          <p:cNvPr id="9" name="Text 6"/>
          <p:cNvSpPr/>
          <p:nvPr/>
        </p:nvSpPr>
        <p:spPr>
          <a:xfrm>
            <a:off x="868680" y="2423160"/>
            <a:ext cx="4617720" cy="347472"/>
          </a:xfrm>
          <a:prstGeom prst="rect">
            <a:avLst/>
          </a:prstGeom>
          <a:noFill/>
          <a:ln/>
        </p:spPr>
        <p:txBody>
          <a:bodyPr wrap="square" lIns="0" tIns="0" rIns="0" bIns="0" rtlCol="0" anchor="ctr">
            <a:normAutofit/>
          </a:bodyPr>
          <a:lstStyle/>
          <a:p>
            <a:pPr marL="0" indent="0">
              <a:buNone/>
            </a:pPr>
            <a:r>
              <a:rPr lang="en-US" sz="1150" dirty="0">
                <a:solidFill>
                  <a:srgbClr val="6E6E73"/>
                </a:solidFill>
              </a:rPr>
              <a:t>Redshift manages concurrency and memory using workload signals and priorities.</a:t>
            </a:r>
            <a:endParaRPr lang="en-US" sz="1150" dirty="0"/>
          </a:p>
        </p:txBody>
      </p:sp>
      <p:sp>
        <p:nvSpPr>
          <p:cNvPr id="10" name="Shape 7"/>
          <p:cNvSpPr/>
          <p:nvPr/>
        </p:nvSpPr>
        <p:spPr>
          <a:xfrm>
            <a:off x="640080" y="3154680"/>
            <a:ext cx="5074920" cy="1097280"/>
          </a:xfrm>
          <a:prstGeom prst="roundRect">
            <a:avLst>
              <a:gd name="adj" fmla="val 8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1" name="Shape 8"/>
          <p:cNvSpPr/>
          <p:nvPr/>
        </p:nvSpPr>
        <p:spPr>
          <a:xfrm>
            <a:off x="850392" y="3374136"/>
            <a:ext cx="137160" cy="137160"/>
          </a:xfrm>
          <a:prstGeom prst="ellipse">
            <a:avLst/>
          </a:prstGeom>
          <a:solidFill>
            <a:srgbClr val="FF9900"/>
          </a:solidFill>
          <a:ln w="12700">
            <a:solidFill>
              <a:srgbClr val="FF9900"/>
            </a:solidFill>
            <a:prstDash val="solid"/>
          </a:ln>
        </p:spPr>
      </p:sp>
      <p:sp>
        <p:nvSpPr>
          <p:cNvPr id="12" name="Text 9"/>
          <p:cNvSpPr/>
          <p:nvPr/>
        </p:nvSpPr>
        <p:spPr>
          <a:xfrm>
            <a:off x="1097280" y="3310128"/>
            <a:ext cx="4416552" cy="292608"/>
          </a:xfrm>
          <a:prstGeom prst="rect">
            <a:avLst/>
          </a:prstGeom>
          <a:noFill/>
          <a:ln/>
        </p:spPr>
        <p:txBody>
          <a:bodyPr wrap="square" lIns="0" tIns="0" rIns="0" bIns="0" rtlCol="0" anchor="ctr"/>
          <a:lstStyle/>
          <a:p>
            <a:pPr marL="0" indent="0">
              <a:buNone/>
            </a:pPr>
            <a:r>
              <a:rPr lang="en-US" sz="1400" b="1" dirty="0">
                <a:solidFill>
                  <a:srgbClr val="1D1D1F"/>
                </a:solidFill>
              </a:rPr>
              <a:t>Queue routing</a:t>
            </a:r>
            <a:endParaRPr lang="en-US" sz="1400" dirty="0"/>
          </a:p>
        </p:txBody>
      </p:sp>
      <p:sp>
        <p:nvSpPr>
          <p:cNvPr id="13" name="Text 10"/>
          <p:cNvSpPr/>
          <p:nvPr/>
        </p:nvSpPr>
        <p:spPr>
          <a:xfrm>
            <a:off x="868680" y="3749040"/>
            <a:ext cx="4617720" cy="347472"/>
          </a:xfrm>
          <a:prstGeom prst="rect">
            <a:avLst/>
          </a:prstGeom>
          <a:noFill/>
          <a:ln/>
        </p:spPr>
        <p:txBody>
          <a:bodyPr wrap="square" lIns="0" tIns="0" rIns="0" bIns="0" rtlCol="0" anchor="ctr">
            <a:normAutofit/>
          </a:bodyPr>
          <a:lstStyle/>
          <a:p>
            <a:pPr marL="0" indent="0">
              <a:buNone/>
            </a:pPr>
            <a:r>
              <a:rPr lang="en-US" sz="1150" dirty="0">
                <a:solidFill>
                  <a:srgbClr val="6E6E73"/>
                </a:solidFill>
              </a:rPr>
              <a:t>User groups, query groups, and rules can separate workload classes.</a:t>
            </a:r>
            <a:endParaRPr lang="en-US" sz="1150" dirty="0"/>
          </a:p>
        </p:txBody>
      </p:sp>
      <p:sp>
        <p:nvSpPr>
          <p:cNvPr id="14" name="Shape 11"/>
          <p:cNvSpPr/>
          <p:nvPr/>
        </p:nvSpPr>
        <p:spPr>
          <a:xfrm>
            <a:off x="640080" y="4480560"/>
            <a:ext cx="5074920" cy="1097280"/>
          </a:xfrm>
          <a:prstGeom prst="roundRect">
            <a:avLst>
              <a:gd name="adj" fmla="val 8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5" name="Shape 12"/>
          <p:cNvSpPr/>
          <p:nvPr/>
        </p:nvSpPr>
        <p:spPr>
          <a:xfrm>
            <a:off x="850392" y="4700016"/>
            <a:ext cx="137160" cy="137160"/>
          </a:xfrm>
          <a:prstGeom prst="ellipse">
            <a:avLst/>
          </a:prstGeom>
          <a:solidFill>
            <a:srgbClr val="E71510"/>
          </a:solidFill>
          <a:ln w="12700">
            <a:solidFill>
              <a:srgbClr val="E71510"/>
            </a:solidFill>
            <a:prstDash val="solid"/>
          </a:ln>
        </p:spPr>
      </p:sp>
      <p:sp>
        <p:nvSpPr>
          <p:cNvPr id="16" name="Text 13"/>
          <p:cNvSpPr/>
          <p:nvPr/>
        </p:nvSpPr>
        <p:spPr>
          <a:xfrm>
            <a:off x="1097280" y="4636008"/>
            <a:ext cx="4416552" cy="292608"/>
          </a:xfrm>
          <a:prstGeom prst="rect">
            <a:avLst/>
          </a:prstGeom>
          <a:noFill/>
          <a:ln/>
        </p:spPr>
        <p:txBody>
          <a:bodyPr wrap="square" lIns="0" tIns="0" rIns="0" bIns="0" rtlCol="0" anchor="ctr"/>
          <a:lstStyle/>
          <a:p>
            <a:pPr marL="0" indent="0">
              <a:buNone/>
            </a:pPr>
            <a:r>
              <a:rPr lang="en-US" sz="1400" b="1" dirty="0">
                <a:solidFill>
                  <a:srgbClr val="1D1D1F"/>
                </a:solidFill>
              </a:rPr>
              <a:t>Query monitoring rules</a:t>
            </a:r>
            <a:endParaRPr lang="en-US" sz="1400" dirty="0"/>
          </a:p>
        </p:txBody>
      </p:sp>
      <p:sp>
        <p:nvSpPr>
          <p:cNvPr id="17" name="Text 14"/>
          <p:cNvSpPr/>
          <p:nvPr/>
        </p:nvSpPr>
        <p:spPr>
          <a:xfrm>
            <a:off x="868680" y="5074920"/>
            <a:ext cx="4617720" cy="347472"/>
          </a:xfrm>
          <a:prstGeom prst="rect">
            <a:avLst/>
          </a:prstGeom>
          <a:noFill/>
          <a:ln/>
        </p:spPr>
        <p:txBody>
          <a:bodyPr wrap="square" lIns="0" tIns="0" rIns="0" bIns="0" rtlCol="0" anchor="ctr">
            <a:normAutofit/>
          </a:bodyPr>
          <a:lstStyle/>
          <a:p>
            <a:pPr marL="0" indent="0">
              <a:buNone/>
            </a:pPr>
            <a:r>
              <a:rPr lang="en-US" sz="1150" dirty="0">
                <a:solidFill>
                  <a:srgbClr val="6E6E73"/>
                </a:solidFill>
              </a:rPr>
              <a:t>Log, hop, or abort problematic queries based on measurable conditions.</a:t>
            </a:r>
            <a:endParaRPr lang="en-US" sz="11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WLM DESIGN</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Route by business SLA, not team politics</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The queue model should reflect latency, throughput, and failure tolerance.</a:t>
            </a:r>
            <a:endParaRPr lang="en-US" sz="1400" dirty="0"/>
          </a:p>
        </p:txBody>
      </p:sp>
      <p:sp>
        <p:nvSpPr>
          <p:cNvPr id="5" name="Shape 3"/>
          <p:cNvSpPr/>
          <p:nvPr/>
        </p:nvSpPr>
        <p:spPr>
          <a:xfrm>
            <a:off x="640080" y="178308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50392" y="2002536"/>
            <a:ext cx="137160" cy="137160"/>
          </a:xfrm>
          <a:prstGeom prst="ellipse">
            <a:avLst/>
          </a:prstGeom>
          <a:solidFill>
            <a:srgbClr val="146EB4"/>
          </a:solidFill>
          <a:ln w="12700">
            <a:solidFill>
              <a:srgbClr val="146EB4"/>
            </a:solidFill>
            <a:prstDash val="solid"/>
          </a:ln>
        </p:spPr>
      </p:sp>
      <p:sp>
        <p:nvSpPr>
          <p:cNvPr id="7" name="Text 5"/>
          <p:cNvSpPr/>
          <p:nvPr/>
        </p:nvSpPr>
        <p:spPr>
          <a:xfrm>
            <a:off x="1097280" y="193852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BI</a:t>
            </a:r>
            <a:endParaRPr lang="en-US" sz="1400" dirty="0"/>
          </a:p>
        </p:txBody>
      </p:sp>
      <p:sp>
        <p:nvSpPr>
          <p:cNvPr id="8" name="Text 6"/>
          <p:cNvSpPr/>
          <p:nvPr/>
        </p:nvSpPr>
        <p:spPr>
          <a:xfrm>
            <a:off x="868680" y="237744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Short latency target; predictable dashboard experience.</a:t>
            </a:r>
            <a:endParaRPr lang="en-US" sz="1150" dirty="0"/>
          </a:p>
        </p:txBody>
      </p:sp>
      <p:sp>
        <p:nvSpPr>
          <p:cNvPr id="9" name="Shape 7"/>
          <p:cNvSpPr/>
          <p:nvPr/>
        </p:nvSpPr>
        <p:spPr>
          <a:xfrm>
            <a:off x="6263640" y="178308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6473952" y="2002536"/>
            <a:ext cx="137160" cy="137160"/>
          </a:xfrm>
          <a:prstGeom prst="ellipse">
            <a:avLst/>
          </a:prstGeom>
          <a:solidFill>
            <a:srgbClr val="FF9900"/>
          </a:solidFill>
          <a:ln w="12700">
            <a:solidFill>
              <a:srgbClr val="FF9900"/>
            </a:solidFill>
            <a:prstDash val="solid"/>
          </a:ln>
        </p:spPr>
      </p:sp>
      <p:sp>
        <p:nvSpPr>
          <p:cNvPr id="11" name="Text 9"/>
          <p:cNvSpPr/>
          <p:nvPr/>
        </p:nvSpPr>
        <p:spPr>
          <a:xfrm>
            <a:off x="6720840" y="193852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ETL</a:t>
            </a:r>
            <a:endParaRPr lang="en-US" sz="1400" dirty="0"/>
          </a:p>
        </p:txBody>
      </p:sp>
      <p:sp>
        <p:nvSpPr>
          <p:cNvPr id="12" name="Text 10"/>
          <p:cNvSpPr/>
          <p:nvPr/>
        </p:nvSpPr>
        <p:spPr>
          <a:xfrm>
            <a:off x="6492240" y="237744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Throughput-oriented; controlled impact on interactive work.</a:t>
            </a:r>
            <a:endParaRPr lang="en-US" sz="1150" dirty="0"/>
          </a:p>
        </p:txBody>
      </p:sp>
      <p:sp>
        <p:nvSpPr>
          <p:cNvPr id="13" name="Shape 11"/>
          <p:cNvSpPr/>
          <p:nvPr/>
        </p:nvSpPr>
        <p:spPr>
          <a:xfrm>
            <a:off x="640080" y="374904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50392" y="3968496"/>
            <a:ext cx="137160" cy="137160"/>
          </a:xfrm>
          <a:prstGeom prst="ellipse">
            <a:avLst/>
          </a:prstGeom>
          <a:solidFill>
            <a:srgbClr val="AF52DE"/>
          </a:solidFill>
          <a:ln w="12700">
            <a:solidFill>
              <a:srgbClr val="AF52DE"/>
            </a:solidFill>
            <a:prstDash val="solid"/>
          </a:ln>
        </p:spPr>
      </p:sp>
      <p:sp>
        <p:nvSpPr>
          <p:cNvPr id="15" name="Text 13"/>
          <p:cNvSpPr/>
          <p:nvPr/>
        </p:nvSpPr>
        <p:spPr>
          <a:xfrm>
            <a:off x="1097280" y="390448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Data science</a:t>
            </a:r>
            <a:endParaRPr lang="en-US" sz="1400" dirty="0"/>
          </a:p>
        </p:txBody>
      </p:sp>
      <p:sp>
        <p:nvSpPr>
          <p:cNvPr id="16" name="Text 14"/>
          <p:cNvSpPr/>
          <p:nvPr/>
        </p:nvSpPr>
        <p:spPr>
          <a:xfrm>
            <a:off x="868680" y="434340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Variable scans; bounded priority and monitoring rules.</a:t>
            </a:r>
            <a:endParaRPr lang="en-US" sz="1150" dirty="0"/>
          </a:p>
        </p:txBody>
      </p:sp>
      <p:sp>
        <p:nvSpPr>
          <p:cNvPr id="17" name="Shape 15"/>
          <p:cNvSpPr/>
          <p:nvPr/>
        </p:nvSpPr>
        <p:spPr>
          <a:xfrm>
            <a:off x="6263640" y="374904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8" name="Shape 16"/>
          <p:cNvSpPr/>
          <p:nvPr/>
        </p:nvSpPr>
        <p:spPr>
          <a:xfrm>
            <a:off x="6473952" y="3968496"/>
            <a:ext cx="137160" cy="137160"/>
          </a:xfrm>
          <a:prstGeom prst="ellipse">
            <a:avLst/>
          </a:prstGeom>
          <a:solidFill>
            <a:srgbClr val="30D158"/>
          </a:solidFill>
          <a:ln w="12700">
            <a:solidFill>
              <a:srgbClr val="30D158"/>
            </a:solidFill>
            <a:prstDash val="solid"/>
          </a:ln>
        </p:spPr>
      </p:sp>
      <p:sp>
        <p:nvSpPr>
          <p:cNvPr id="19" name="Text 17"/>
          <p:cNvSpPr/>
          <p:nvPr/>
        </p:nvSpPr>
        <p:spPr>
          <a:xfrm>
            <a:off x="6720840" y="390448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Admin</a:t>
            </a:r>
            <a:endParaRPr lang="en-US" sz="1400" dirty="0"/>
          </a:p>
        </p:txBody>
      </p:sp>
      <p:sp>
        <p:nvSpPr>
          <p:cNvPr id="20" name="Text 18"/>
          <p:cNvSpPr/>
          <p:nvPr/>
        </p:nvSpPr>
        <p:spPr>
          <a:xfrm>
            <a:off x="6492240" y="434340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Small, protected operational path for maintenance.</a:t>
            </a:r>
            <a:endParaRPr lang="en-US" sz="1150" dirty="0"/>
          </a:p>
        </p:txBody>
      </p:sp>
      <p:sp>
        <p:nvSpPr>
          <p:cNvPr id="21" name="Text 19"/>
          <p:cNvSpPr/>
          <p:nvPr/>
        </p:nvSpPr>
        <p:spPr>
          <a:xfrm>
            <a:off x="594360" y="6263640"/>
            <a:ext cx="10881360" cy="228600"/>
          </a:xfrm>
          <a:prstGeom prst="rect">
            <a:avLst/>
          </a:prstGeom>
          <a:noFill/>
          <a:ln/>
        </p:spPr>
        <p:txBody>
          <a:bodyPr wrap="square" lIns="0" tIns="0" rIns="0" bIns="0" rtlCol="0" anchor="ctr"/>
          <a:lstStyle/>
          <a:p>
            <a:pPr marL="0" indent="0" algn="ctr">
              <a:buNone/>
            </a:pPr>
            <a:r>
              <a:rPr lang="en-US" sz="1000" i="1" dirty="0">
                <a:solidFill>
                  <a:srgbClr val="6E6E73"/>
                </a:solidFill>
              </a:rPr>
              <a:t>A queue cannot fix skew, bad joins, or excessive scans.</a:t>
            </a:r>
            <a:endParaRPr lang="en-US" sz="10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LEVER 4</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Spectrum queries S3 without loading every byte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The dominant cost question is how much data is scanned.</a:t>
            </a:r>
            <a:endParaRPr lang="en-US" sz="1400" dirty="0"/>
          </a:p>
        </p:txBody>
      </p:sp>
      <p:pic>
        <p:nvPicPr>
          <p:cNvPr id="5" name="Image 0" descr="/mnt/data/redshift_work/generated_image_B1C67D9260AE_04.png"/>
          <p:cNvPicPr>
            <a:picLocks noChangeAspect="1"/>
          </p:cNvPicPr>
          <p:nvPr/>
        </p:nvPicPr>
        <p:blipFill>
          <a:blip r:embed="rId3"/>
          <a:srcRect t="21031" b="21031"/>
          <a:stretch/>
        </p:blipFill>
        <p:spPr>
          <a:xfrm>
            <a:off x="0" y="1783080"/>
            <a:ext cx="12191695" cy="4709160"/>
          </a:xfrm>
          <a:prstGeom prst="rect">
            <a:avLst/>
          </a:prstGeom>
        </p:spPr>
      </p:pic>
      <p:sp>
        <p:nvSpPr>
          <p:cNvPr id="6" name="Shape 3"/>
          <p:cNvSpPr/>
          <p:nvPr/>
        </p:nvSpPr>
        <p:spPr>
          <a:xfrm>
            <a:off x="685800" y="5212080"/>
            <a:ext cx="10835640" cy="685800"/>
          </a:xfrm>
          <a:prstGeom prst="roundRect">
            <a:avLst>
              <a:gd name="adj" fmla="val 13333"/>
            </a:avLst>
          </a:prstGeom>
          <a:solidFill>
            <a:srgbClr val="000000">
              <a:alpha val="88000"/>
            </a:srgbClr>
          </a:solidFill>
          <a:ln w="12700">
            <a:solidFill>
              <a:srgbClr val="FFFFFF">
                <a:alpha val="0"/>
              </a:srgbClr>
            </a:solidFill>
            <a:prstDash val="solid"/>
          </a:ln>
        </p:spPr>
      </p:sp>
      <p:sp>
        <p:nvSpPr>
          <p:cNvPr id="7" name="Text 4"/>
          <p:cNvSpPr/>
          <p:nvPr/>
        </p:nvSpPr>
        <p:spPr>
          <a:xfrm>
            <a:off x="914400" y="5431536"/>
            <a:ext cx="10378440" cy="256032"/>
          </a:xfrm>
          <a:prstGeom prst="rect">
            <a:avLst/>
          </a:prstGeom>
          <a:noFill/>
          <a:ln/>
        </p:spPr>
        <p:txBody>
          <a:bodyPr wrap="square" lIns="0" tIns="0" rIns="0" bIns="0" rtlCol="0" anchor="ctr"/>
          <a:lstStyle/>
          <a:p>
            <a:pPr marL="0" indent="0" algn="ctr">
              <a:buNone/>
            </a:pPr>
            <a:r>
              <a:rPr lang="en-US" sz="1700" b="1" dirty="0">
                <a:solidFill>
                  <a:srgbClr val="FFFFFF"/>
                </a:solidFill>
              </a:rPr>
              <a:t>Columnar formats + partition pruning + selective projection reduce external scan work.</a:t>
            </a:r>
            <a:endParaRPr lang="en-US" sz="17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SPECTRUM DESIGN</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Cold versus hot is a workload decision</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Frequency, latency, join intensity, and scan selectivity determine placement.</a:t>
            </a:r>
            <a:endParaRPr lang="en-US" sz="1400" dirty="0"/>
          </a:p>
        </p:txBody>
      </p:sp>
      <p:sp>
        <p:nvSpPr>
          <p:cNvPr id="5" name="Shape 3"/>
          <p:cNvSpPr/>
          <p:nvPr/>
        </p:nvSpPr>
        <p:spPr>
          <a:xfrm>
            <a:off x="68580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96112" y="2048256"/>
            <a:ext cx="137160" cy="137160"/>
          </a:xfrm>
          <a:prstGeom prst="ellipse">
            <a:avLst/>
          </a:prstGeom>
          <a:solidFill>
            <a:srgbClr val="30D158"/>
          </a:solidFill>
          <a:ln w="12700">
            <a:solidFill>
              <a:srgbClr val="30D158"/>
            </a:solidFill>
            <a:prstDash val="solid"/>
          </a:ln>
        </p:spPr>
      </p:sp>
      <p:sp>
        <p:nvSpPr>
          <p:cNvPr id="7" name="Text 5"/>
          <p:cNvSpPr/>
          <p:nvPr/>
        </p:nvSpPr>
        <p:spPr>
          <a:xfrm>
            <a:off x="114300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Keep external</a:t>
            </a:r>
            <a:endParaRPr lang="en-US" sz="1400" dirty="0"/>
          </a:p>
        </p:txBody>
      </p:sp>
      <p:sp>
        <p:nvSpPr>
          <p:cNvPr id="8" name="Text 6"/>
          <p:cNvSpPr/>
          <p:nvPr/>
        </p:nvSpPr>
        <p:spPr>
          <a:xfrm>
            <a:off x="91440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Rare access, archival history, broad lake sharing, schema-on-read exploration.</a:t>
            </a:r>
            <a:endParaRPr lang="en-US" sz="1150" dirty="0"/>
          </a:p>
        </p:txBody>
      </p:sp>
      <p:sp>
        <p:nvSpPr>
          <p:cNvPr id="9" name="Shape 7"/>
          <p:cNvSpPr/>
          <p:nvPr/>
        </p:nvSpPr>
        <p:spPr>
          <a:xfrm>
            <a:off x="438912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4599432" y="2048256"/>
            <a:ext cx="137160" cy="137160"/>
          </a:xfrm>
          <a:prstGeom prst="ellipse">
            <a:avLst/>
          </a:prstGeom>
          <a:solidFill>
            <a:srgbClr val="FF9900"/>
          </a:solidFill>
          <a:ln w="12700">
            <a:solidFill>
              <a:srgbClr val="FF9900"/>
            </a:solidFill>
            <a:prstDash val="solid"/>
          </a:ln>
        </p:spPr>
      </p:sp>
      <p:sp>
        <p:nvSpPr>
          <p:cNvPr id="11" name="Text 9"/>
          <p:cNvSpPr/>
          <p:nvPr/>
        </p:nvSpPr>
        <p:spPr>
          <a:xfrm>
            <a:off x="484632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Load into Redshift</a:t>
            </a:r>
            <a:endParaRPr lang="en-US" sz="1400" dirty="0"/>
          </a:p>
        </p:txBody>
      </p:sp>
      <p:sp>
        <p:nvSpPr>
          <p:cNvPr id="12" name="Text 10"/>
          <p:cNvSpPr/>
          <p:nvPr/>
        </p:nvSpPr>
        <p:spPr>
          <a:xfrm>
            <a:off x="461772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Frequent joins, repeatable low-latency analytics, workload-critical dimensions and facts.</a:t>
            </a:r>
            <a:endParaRPr lang="en-US" sz="1150" dirty="0"/>
          </a:p>
        </p:txBody>
      </p:sp>
      <p:sp>
        <p:nvSpPr>
          <p:cNvPr id="13" name="Shape 11"/>
          <p:cNvSpPr/>
          <p:nvPr/>
        </p:nvSpPr>
        <p:spPr>
          <a:xfrm>
            <a:off x="813816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348472" y="2048256"/>
            <a:ext cx="137160" cy="137160"/>
          </a:xfrm>
          <a:prstGeom prst="ellipse">
            <a:avLst/>
          </a:prstGeom>
          <a:solidFill>
            <a:srgbClr val="146EB4"/>
          </a:solidFill>
          <a:ln w="12700">
            <a:solidFill>
              <a:srgbClr val="146EB4"/>
            </a:solidFill>
            <a:prstDash val="solid"/>
          </a:ln>
        </p:spPr>
      </p:sp>
      <p:sp>
        <p:nvSpPr>
          <p:cNvPr id="15" name="Text 13"/>
          <p:cNvSpPr/>
          <p:nvPr/>
        </p:nvSpPr>
        <p:spPr>
          <a:xfrm>
            <a:off x="859536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Optimize external</a:t>
            </a:r>
            <a:endParaRPr lang="en-US" sz="1400" dirty="0"/>
          </a:p>
        </p:txBody>
      </p:sp>
      <p:sp>
        <p:nvSpPr>
          <p:cNvPr id="16" name="Text 14"/>
          <p:cNvSpPr/>
          <p:nvPr/>
        </p:nvSpPr>
        <p:spPr>
          <a:xfrm>
            <a:off x="836676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Parquet/ORC, partitioning, compression, column projection, predicate pushdown.</a:t>
            </a:r>
            <a:endParaRPr lang="en-US" sz="11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TABLE DESIGN</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Distribution, sort, and encoding shape every query</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AUTO is the starting point; intervene when evidence shows a stable improvement.</a:t>
            </a:r>
            <a:endParaRPr lang="en-US" sz="1400" dirty="0"/>
          </a:p>
        </p:txBody>
      </p:sp>
      <p:sp>
        <p:nvSpPr>
          <p:cNvPr id="5" name="Shape 3"/>
          <p:cNvSpPr/>
          <p:nvPr/>
        </p:nvSpPr>
        <p:spPr>
          <a:xfrm>
            <a:off x="64008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50392" y="2048256"/>
            <a:ext cx="137160" cy="137160"/>
          </a:xfrm>
          <a:prstGeom prst="ellipse">
            <a:avLst/>
          </a:prstGeom>
          <a:solidFill>
            <a:srgbClr val="FF9900"/>
          </a:solidFill>
          <a:ln w="12700">
            <a:solidFill>
              <a:srgbClr val="FF9900"/>
            </a:solidFill>
            <a:prstDash val="solid"/>
          </a:ln>
        </p:spPr>
      </p:sp>
      <p:sp>
        <p:nvSpPr>
          <p:cNvPr id="7" name="Text 5"/>
          <p:cNvSpPr/>
          <p:nvPr/>
        </p:nvSpPr>
        <p:spPr>
          <a:xfrm>
            <a:off x="109728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Distribution</a:t>
            </a:r>
            <a:endParaRPr lang="en-US" sz="1400" dirty="0"/>
          </a:p>
        </p:txBody>
      </p:sp>
      <p:sp>
        <p:nvSpPr>
          <p:cNvPr id="8" name="Text 6"/>
          <p:cNvSpPr/>
          <p:nvPr/>
        </p:nvSpPr>
        <p:spPr>
          <a:xfrm>
            <a:off x="86868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Reduce redistribution for joins while avoiding skew across slices.</a:t>
            </a:r>
            <a:endParaRPr lang="en-US" sz="1150" dirty="0"/>
          </a:p>
        </p:txBody>
      </p:sp>
      <p:sp>
        <p:nvSpPr>
          <p:cNvPr id="9" name="Shape 7"/>
          <p:cNvSpPr/>
          <p:nvPr/>
        </p:nvSpPr>
        <p:spPr>
          <a:xfrm>
            <a:off x="438912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4599432" y="2048256"/>
            <a:ext cx="137160" cy="137160"/>
          </a:xfrm>
          <a:prstGeom prst="ellipse">
            <a:avLst/>
          </a:prstGeom>
          <a:solidFill>
            <a:srgbClr val="146EB4"/>
          </a:solidFill>
          <a:ln w="12700">
            <a:solidFill>
              <a:srgbClr val="146EB4"/>
            </a:solidFill>
            <a:prstDash val="solid"/>
          </a:ln>
        </p:spPr>
      </p:sp>
      <p:sp>
        <p:nvSpPr>
          <p:cNvPr id="11" name="Text 9"/>
          <p:cNvSpPr/>
          <p:nvPr/>
        </p:nvSpPr>
        <p:spPr>
          <a:xfrm>
            <a:off x="484632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Sort</a:t>
            </a:r>
            <a:endParaRPr lang="en-US" sz="1400" dirty="0"/>
          </a:p>
        </p:txBody>
      </p:sp>
      <p:sp>
        <p:nvSpPr>
          <p:cNvPr id="12" name="Text 10"/>
          <p:cNvSpPr/>
          <p:nvPr/>
        </p:nvSpPr>
        <p:spPr>
          <a:xfrm>
            <a:off x="461772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Enable block elimination for common filters and useful ordering.</a:t>
            </a:r>
            <a:endParaRPr lang="en-US" sz="1150" dirty="0"/>
          </a:p>
        </p:txBody>
      </p:sp>
      <p:sp>
        <p:nvSpPr>
          <p:cNvPr id="13" name="Shape 11"/>
          <p:cNvSpPr/>
          <p:nvPr/>
        </p:nvSpPr>
        <p:spPr>
          <a:xfrm>
            <a:off x="813816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348472" y="2048256"/>
            <a:ext cx="137160" cy="137160"/>
          </a:xfrm>
          <a:prstGeom prst="ellipse">
            <a:avLst/>
          </a:prstGeom>
          <a:solidFill>
            <a:srgbClr val="30D158"/>
          </a:solidFill>
          <a:ln w="12700">
            <a:solidFill>
              <a:srgbClr val="30D158"/>
            </a:solidFill>
            <a:prstDash val="solid"/>
          </a:ln>
        </p:spPr>
      </p:sp>
      <p:sp>
        <p:nvSpPr>
          <p:cNvPr id="15" name="Text 13"/>
          <p:cNvSpPr/>
          <p:nvPr/>
        </p:nvSpPr>
        <p:spPr>
          <a:xfrm>
            <a:off x="859536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Encoding</a:t>
            </a:r>
            <a:endParaRPr lang="en-US" sz="1400" dirty="0"/>
          </a:p>
        </p:txBody>
      </p:sp>
      <p:sp>
        <p:nvSpPr>
          <p:cNvPr id="16" name="Text 14"/>
          <p:cNvSpPr/>
          <p:nvPr/>
        </p:nvSpPr>
        <p:spPr>
          <a:xfrm>
            <a:off x="836676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Reduce storage and I/O with column-appropriate compression.</a:t>
            </a:r>
            <a:endParaRPr lang="en-US" sz="1150" dirty="0"/>
          </a:p>
        </p:txBody>
      </p:sp>
      <p:sp>
        <p:nvSpPr>
          <p:cNvPr id="17" name="Text 15"/>
          <p:cNvSpPr/>
          <p:nvPr/>
        </p:nvSpPr>
        <p:spPr>
          <a:xfrm>
            <a:off x="594360" y="6263640"/>
            <a:ext cx="10881360" cy="228600"/>
          </a:xfrm>
          <a:prstGeom prst="rect">
            <a:avLst/>
          </a:prstGeom>
          <a:noFill/>
          <a:ln/>
        </p:spPr>
        <p:txBody>
          <a:bodyPr wrap="square" lIns="0" tIns="0" rIns="0" bIns="0" rtlCol="0" anchor="ctr"/>
          <a:lstStyle/>
          <a:p>
            <a:pPr marL="0" indent="0" algn="ctr">
              <a:buNone/>
            </a:pPr>
            <a:r>
              <a:rPr lang="en-US" sz="1000" i="1" dirty="0">
                <a:solidFill>
                  <a:srgbClr val="6E6E73"/>
                </a:solidFill>
              </a:rPr>
              <a:t>One hot key can erase the benefit of parallelism.</a:t>
            </a:r>
            <a:endParaRPr lang="en-US" sz="10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SKEW DIAGNOSIS</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Parallel systems finish at the speed of the slowest slice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Uneven data or work produces idle capacity and a long tail.</a:t>
            </a:r>
            <a:endParaRPr lang="en-US" sz="1400" dirty="0"/>
          </a:p>
        </p:txBody>
      </p:sp>
      <p:sp>
        <p:nvSpPr>
          <p:cNvPr id="5" name="Shape 3"/>
          <p:cNvSpPr/>
          <p:nvPr/>
        </p:nvSpPr>
        <p:spPr>
          <a:xfrm>
            <a:off x="640080" y="178308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50392" y="2002536"/>
            <a:ext cx="137160" cy="137160"/>
          </a:xfrm>
          <a:prstGeom prst="ellipse">
            <a:avLst/>
          </a:prstGeom>
          <a:solidFill>
            <a:srgbClr val="30D158"/>
          </a:solidFill>
          <a:ln w="12700">
            <a:solidFill>
              <a:srgbClr val="30D158"/>
            </a:solidFill>
            <a:prstDash val="solid"/>
          </a:ln>
        </p:spPr>
      </p:sp>
      <p:sp>
        <p:nvSpPr>
          <p:cNvPr id="7" name="Text 5"/>
          <p:cNvSpPr/>
          <p:nvPr/>
        </p:nvSpPr>
        <p:spPr>
          <a:xfrm>
            <a:off x="1097280" y="193852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Balanced</a:t>
            </a:r>
            <a:endParaRPr lang="en-US" sz="1400" dirty="0"/>
          </a:p>
        </p:txBody>
      </p:sp>
      <p:sp>
        <p:nvSpPr>
          <p:cNvPr id="8" name="Text 6"/>
          <p:cNvSpPr/>
          <p:nvPr/>
        </p:nvSpPr>
        <p:spPr>
          <a:xfrm>
            <a:off x="868680" y="237744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Rows and work spread reasonably across slices.</a:t>
            </a:r>
            <a:endParaRPr lang="en-US" sz="1150" dirty="0"/>
          </a:p>
        </p:txBody>
      </p:sp>
      <p:sp>
        <p:nvSpPr>
          <p:cNvPr id="9" name="Shape 7"/>
          <p:cNvSpPr/>
          <p:nvPr/>
        </p:nvSpPr>
        <p:spPr>
          <a:xfrm>
            <a:off x="6263640" y="178308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6473952" y="2002536"/>
            <a:ext cx="137160" cy="137160"/>
          </a:xfrm>
          <a:prstGeom prst="ellipse">
            <a:avLst/>
          </a:prstGeom>
          <a:solidFill>
            <a:srgbClr val="E71510"/>
          </a:solidFill>
          <a:ln w="12700">
            <a:solidFill>
              <a:srgbClr val="E71510"/>
            </a:solidFill>
            <a:prstDash val="solid"/>
          </a:ln>
        </p:spPr>
      </p:sp>
      <p:sp>
        <p:nvSpPr>
          <p:cNvPr id="11" name="Text 9"/>
          <p:cNvSpPr/>
          <p:nvPr/>
        </p:nvSpPr>
        <p:spPr>
          <a:xfrm>
            <a:off x="6720840" y="193852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Data skew</a:t>
            </a:r>
            <a:endParaRPr lang="en-US" sz="1400" dirty="0"/>
          </a:p>
        </p:txBody>
      </p:sp>
      <p:sp>
        <p:nvSpPr>
          <p:cNvPr id="12" name="Text 10"/>
          <p:cNvSpPr/>
          <p:nvPr/>
        </p:nvSpPr>
        <p:spPr>
          <a:xfrm>
            <a:off x="6492240" y="237744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One distribution value concentrates rows.</a:t>
            </a:r>
            <a:endParaRPr lang="en-US" sz="1150" dirty="0"/>
          </a:p>
        </p:txBody>
      </p:sp>
      <p:sp>
        <p:nvSpPr>
          <p:cNvPr id="13" name="Shape 11"/>
          <p:cNvSpPr/>
          <p:nvPr/>
        </p:nvSpPr>
        <p:spPr>
          <a:xfrm>
            <a:off x="640080" y="374904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50392" y="3968496"/>
            <a:ext cx="137160" cy="137160"/>
          </a:xfrm>
          <a:prstGeom prst="ellipse">
            <a:avLst/>
          </a:prstGeom>
          <a:solidFill>
            <a:srgbClr val="FF9900"/>
          </a:solidFill>
          <a:ln w="12700">
            <a:solidFill>
              <a:srgbClr val="FF9900"/>
            </a:solidFill>
            <a:prstDash val="solid"/>
          </a:ln>
        </p:spPr>
      </p:sp>
      <p:sp>
        <p:nvSpPr>
          <p:cNvPr id="15" name="Text 13"/>
          <p:cNvSpPr/>
          <p:nvPr/>
        </p:nvSpPr>
        <p:spPr>
          <a:xfrm>
            <a:off x="1097280" y="390448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Join skew</a:t>
            </a:r>
            <a:endParaRPr lang="en-US" sz="1400" dirty="0"/>
          </a:p>
        </p:txBody>
      </p:sp>
      <p:sp>
        <p:nvSpPr>
          <p:cNvPr id="16" name="Text 14"/>
          <p:cNvSpPr/>
          <p:nvPr/>
        </p:nvSpPr>
        <p:spPr>
          <a:xfrm>
            <a:off x="868680" y="434340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A filter creates imbalance even if the base table looks balanced.</a:t>
            </a:r>
            <a:endParaRPr lang="en-US" sz="1150" dirty="0"/>
          </a:p>
        </p:txBody>
      </p:sp>
      <p:sp>
        <p:nvSpPr>
          <p:cNvPr id="17" name="Shape 15"/>
          <p:cNvSpPr/>
          <p:nvPr/>
        </p:nvSpPr>
        <p:spPr>
          <a:xfrm>
            <a:off x="6263640" y="374904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8" name="Shape 16"/>
          <p:cNvSpPr/>
          <p:nvPr/>
        </p:nvSpPr>
        <p:spPr>
          <a:xfrm>
            <a:off x="6473952" y="3968496"/>
            <a:ext cx="137160" cy="137160"/>
          </a:xfrm>
          <a:prstGeom prst="ellipse">
            <a:avLst/>
          </a:prstGeom>
          <a:solidFill>
            <a:srgbClr val="146EB4"/>
          </a:solidFill>
          <a:ln w="12700">
            <a:solidFill>
              <a:srgbClr val="146EB4"/>
            </a:solidFill>
            <a:prstDash val="solid"/>
          </a:ln>
        </p:spPr>
      </p:sp>
      <p:sp>
        <p:nvSpPr>
          <p:cNvPr id="19" name="Text 17"/>
          <p:cNvSpPr/>
          <p:nvPr/>
        </p:nvSpPr>
        <p:spPr>
          <a:xfrm>
            <a:off x="6720840" y="390448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Fix</a:t>
            </a:r>
            <a:endParaRPr lang="en-US" sz="1400" dirty="0"/>
          </a:p>
        </p:txBody>
      </p:sp>
      <p:sp>
        <p:nvSpPr>
          <p:cNvPr id="20" name="Text 18"/>
          <p:cNvSpPr/>
          <p:nvPr/>
        </p:nvSpPr>
        <p:spPr>
          <a:xfrm>
            <a:off x="6492240" y="434340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Change distribution strategy, pre-aggregate, salt carefully, or redesign joins.</a:t>
            </a:r>
            <a:endParaRPr lang="en-US" sz="11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MAINTENANCE</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Automatic features reduce toil, not accountability</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Watch statistics, sort quality, deleted rows, and table evolution.</a:t>
            </a:r>
            <a:endParaRPr lang="en-US" sz="1400" dirty="0"/>
          </a:p>
        </p:txBody>
      </p:sp>
      <p:sp>
        <p:nvSpPr>
          <p:cNvPr id="5" name="Shape 3"/>
          <p:cNvSpPr/>
          <p:nvPr/>
        </p:nvSpPr>
        <p:spPr>
          <a:xfrm>
            <a:off x="64008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50392" y="2048256"/>
            <a:ext cx="137160" cy="137160"/>
          </a:xfrm>
          <a:prstGeom prst="ellipse">
            <a:avLst/>
          </a:prstGeom>
          <a:solidFill>
            <a:srgbClr val="146EB4"/>
          </a:solidFill>
          <a:ln w="12700">
            <a:solidFill>
              <a:srgbClr val="146EB4"/>
            </a:solidFill>
            <a:prstDash val="solid"/>
          </a:ln>
        </p:spPr>
      </p:sp>
      <p:sp>
        <p:nvSpPr>
          <p:cNvPr id="7" name="Text 5"/>
          <p:cNvSpPr/>
          <p:nvPr/>
        </p:nvSpPr>
        <p:spPr>
          <a:xfrm>
            <a:off x="109728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ANALYZE</a:t>
            </a:r>
            <a:endParaRPr lang="en-US" sz="1400" dirty="0"/>
          </a:p>
        </p:txBody>
      </p:sp>
      <p:sp>
        <p:nvSpPr>
          <p:cNvPr id="8" name="Text 6"/>
          <p:cNvSpPr/>
          <p:nvPr/>
        </p:nvSpPr>
        <p:spPr>
          <a:xfrm>
            <a:off x="86868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Accurate statistics help the optimizer estimate cardinality and choose plans.</a:t>
            </a:r>
            <a:endParaRPr lang="en-US" sz="1150" dirty="0"/>
          </a:p>
        </p:txBody>
      </p:sp>
      <p:sp>
        <p:nvSpPr>
          <p:cNvPr id="9" name="Shape 7"/>
          <p:cNvSpPr/>
          <p:nvPr/>
        </p:nvSpPr>
        <p:spPr>
          <a:xfrm>
            <a:off x="438912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4599432" y="2048256"/>
            <a:ext cx="137160" cy="137160"/>
          </a:xfrm>
          <a:prstGeom prst="ellipse">
            <a:avLst/>
          </a:prstGeom>
          <a:solidFill>
            <a:srgbClr val="FF9900"/>
          </a:solidFill>
          <a:ln w="12700">
            <a:solidFill>
              <a:srgbClr val="FF9900"/>
            </a:solidFill>
            <a:prstDash val="solid"/>
          </a:ln>
        </p:spPr>
      </p:sp>
      <p:sp>
        <p:nvSpPr>
          <p:cNvPr id="11" name="Text 9"/>
          <p:cNvSpPr/>
          <p:nvPr/>
        </p:nvSpPr>
        <p:spPr>
          <a:xfrm>
            <a:off x="484632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VACUUM</a:t>
            </a:r>
            <a:endParaRPr lang="en-US" sz="1400" dirty="0"/>
          </a:p>
        </p:txBody>
      </p:sp>
      <p:sp>
        <p:nvSpPr>
          <p:cNvPr id="12" name="Text 10"/>
          <p:cNvSpPr/>
          <p:nvPr/>
        </p:nvSpPr>
        <p:spPr>
          <a:xfrm>
            <a:off x="461772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Relevant after mutation when sort order or deleted-row cleanup requires intervention.</a:t>
            </a:r>
            <a:endParaRPr lang="en-US" sz="1150" dirty="0"/>
          </a:p>
        </p:txBody>
      </p:sp>
      <p:sp>
        <p:nvSpPr>
          <p:cNvPr id="13" name="Shape 11"/>
          <p:cNvSpPr/>
          <p:nvPr/>
        </p:nvSpPr>
        <p:spPr>
          <a:xfrm>
            <a:off x="8138160" y="1828800"/>
            <a:ext cx="3429000" cy="2743200"/>
          </a:xfrm>
          <a:prstGeom prst="roundRect">
            <a:avLst>
              <a:gd name="adj" fmla="val 3333"/>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348472" y="2048256"/>
            <a:ext cx="137160" cy="137160"/>
          </a:xfrm>
          <a:prstGeom prst="ellipse">
            <a:avLst/>
          </a:prstGeom>
          <a:solidFill>
            <a:srgbClr val="30D158"/>
          </a:solidFill>
          <a:ln w="12700">
            <a:solidFill>
              <a:srgbClr val="30D158"/>
            </a:solidFill>
            <a:prstDash val="solid"/>
          </a:ln>
        </p:spPr>
      </p:sp>
      <p:sp>
        <p:nvSpPr>
          <p:cNvPr id="15" name="Text 13"/>
          <p:cNvSpPr/>
          <p:nvPr/>
        </p:nvSpPr>
        <p:spPr>
          <a:xfrm>
            <a:off x="8595360" y="1984248"/>
            <a:ext cx="2770632" cy="292608"/>
          </a:xfrm>
          <a:prstGeom prst="rect">
            <a:avLst/>
          </a:prstGeom>
          <a:noFill/>
          <a:ln/>
        </p:spPr>
        <p:txBody>
          <a:bodyPr wrap="square" lIns="0" tIns="0" rIns="0" bIns="0" rtlCol="0" anchor="ctr"/>
          <a:lstStyle/>
          <a:p>
            <a:pPr marL="0" indent="0">
              <a:buNone/>
            </a:pPr>
            <a:r>
              <a:rPr lang="en-US" sz="1400" b="1" dirty="0">
                <a:solidFill>
                  <a:srgbClr val="1D1D1F"/>
                </a:solidFill>
              </a:rPr>
              <a:t>Automation</a:t>
            </a:r>
            <a:endParaRPr lang="en-US" sz="1400" dirty="0"/>
          </a:p>
        </p:txBody>
      </p:sp>
      <p:sp>
        <p:nvSpPr>
          <p:cNvPr id="16" name="Text 14"/>
          <p:cNvSpPr/>
          <p:nvPr/>
        </p:nvSpPr>
        <p:spPr>
          <a:xfrm>
            <a:off x="8366760" y="2423160"/>
            <a:ext cx="2971800" cy="1993392"/>
          </a:xfrm>
          <a:prstGeom prst="rect">
            <a:avLst/>
          </a:prstGeom>
          <a:noFill/>
          <a:ln/>
        </p:spPr>
        <p:txBody>
          <a:bodyPr wrap="square" lIns="0" tIns="0" rIns="0" bIns="0" rtlCol="0" anchor="ctr">
            <a:normAutofit/>
          </a:bodyPr>
          <a:lstStyle/>
          <a:p>
            <a:pPr marL="0" indent="0">
              <a:buNone/>
            </a:pPr>
            <a:r>
              <a:rPr lang="en-US" sz="1150" dirty="0">
                <a:solidFill>
                  <a:srgbClr val="6E6E73"/>
                </a:solidFill>
              </a:rPr>
              <a:t>Redshift can automate maintenance, but teams should monitor whether workload goals are met.</a:t>
            </a:r>
            <a:endParaRPr lang="en-US" sz="11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CAPACITY CONTROLS</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Pause, resize, schedule, reserve, or go serverless</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Match commitment and elasticity to the demand curve.</a:t>
            </a:r>
            <a:endParaRPr lang="en-US" sz="1400" dirty="0"/>
          </a:p>
        </p:txBody>
      </p:sp>
      <p:sp>
        <p:nvSpPr>
          <p:cNvPr id="5" name="Shape 3"/>
          <p:cNvSpPr/>
          <p:nvPr/>
        </p:nvSpPr>
        <p:spPr>
          <a:xfrm>
            <a:off x="640080" y="178308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50392" y="2002536"/>
            <a:ext cx="137160" cy="137160"/>
          </a:xfrm>
          <a:prstGeom prst="ellipse">
            <a:avLst/>
          </a:prstGeom>
          <a:solidFill>
            <a:srgbClr val="FF9900"/>
          </a:solidFill>
          <a:ln w="12700">
            <a:solidFill>
              <a:srgbClr val="FF9900"/>
            </a:solidFill>
            <a:prstDash val="solid"/>
          </a:ln>
        </p:spPr>
      </p:sp>
      <p:sp>
        <p:nvSpPr>
          <p:cNvPr id="7" name="Text 5"/>
          <p:cNvSpPr/>
          <p:nvPr/>
        </p:nvSpPr>
        <p:spPr>
          <a:xfrm>
            <a:off x="1097280" y="193852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Pause / resume</a:t>
            </a:r>
            <a:endParaRPr lang="en-US" sz="1400" dirty="0"/>
          </a:p>
        </p:txBody>
      </p:sp>
      <p:sp>
        <p:nvSpPr>
          <p:cNvPr id="8" name="Text 6"/>
          <p:cNvSpPr/>
          <p:nvPr/>
        </p:nvSpPr>
        <p:spPr>
          <a:xfrm>
            <a:off x="868680" y="237744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Remove provisioned compute charges during predictable idle windows; storage persists.</a:t>
            </a:r>
            <a:endParaRPr lang="en-US" sz="1150" dirty="0"/>
          </a:p>
        </p:txBody>
      </p:sp>
      <p:sp>
        <p:nvSpPr>
          <p:cNvPr id="9" name="Shape 7"/>
          <p:cNvSpPr/>
          <p:nvPr/>
        </p:nvSpPr>
        <p:spPr>
          <a:xfrm>
            <a:off x="6263640" y="178308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6473952" y="2002536"/>
            <a:ext cx="137160" cy="137160"/>
          </a:xfrm>
          <a:prstGeom prst="ellipse">
            <a:avLst/>
          </a:prstGeom>
          <a:solidFill>
            <a:srgbClr val="146EB4"/>
          </a:solidFill>
          <a:ln w="12700">
            <a:solidFill>
              <a:srgbClr val="146EB4"/>
            </a:solidFill>
            <a:prstDash val="solid"/>
          </a:ln>
        </p:spPr>
      </p:sp>
      <p:sp>
        <p:nvSpPr>
          <p:cNvPr id="11" name="Text 9"/>
          <p:cNvSpPr/>
          <p:nvPr/>
        </p:nvSpPr>
        <p:spPr>
          <a:xfrm>
            <a:off x="6720840" y="193852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Elastic resize</a:t>
            </a:r>
            <a:endParaRPr lang="en-US" sz="1400" dirty="0"/>
          </a:p>
        </p:txBody>
      </p:sp>
      <p:sp>
        <p:nvSpPr>
          <p:cNvPr id="12" name="Text 10"/>
          <p:cNvSpPr/>
          <p:nvPr/>
        </p:nvSpPr>
        <p:spPr>
          <a:xfrm>
            <a:off x="6492240" y="237744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Adjust steady capacity for known demand changes.</a:t>
            </a:r>
            <a:endParaRPr lang="en-US" sz="1150" dirty="0"/>
          </a:p>
        </p:txBody>
      </p:sp>
      <p:sp>
        <p:nvSpPr>
          <p:cNvPr id="13" name="Shape 11"/>
          <p:cNvSpPr/>
          <p:nvPr/>
        </p:nvSpPr>
        <p:spPr>
          <a:xfrm>
            <a:off x="640080" y="374904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50392" y="3968496"/>
            <a:ext cx="137160" cy="137160"/>
          </a:xfrm>
          <a:prstGeom prst="ellipse">
            <a:avLst/>
          </a:prstGeom>
          <a:solidFill>
            <a:srgbClr val="30D158"/>
          </a:solidFill>
          <a:ln w="12700">
            <a:solidFill>
              <a:srgbClr val="30D158"/>
            </a:solidFill>
            <a:prstDash val="solid"/>
          </a:ln>
        </p:spPr>
      </p:sp>
      <p:sp>
        <p:nvSpPr>
          <p:cNvPr id="15" name="Text 13"/>
          <p:cNvSpPr/>
          <p:nvPr/>
        </p:nvSpPr>
        <p:spPr>
          <a:xfrm>
            <a:off x="1097280" y="390448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Reserved capacity</a:t>
            </a:r>
            <a:endParaRPr lang="en-US" sz="1400" dirty="0"/>
          </a:p>
        </p:txBody>
      </p:sp>
      <p:sp>
        <p:nvSpPr>
          <p:cNvPr id="16" name="Text 14"/>
          <p:cNvSpPr/>
          <p:nvPr/>
        </p:nvSpPr>
        <p:spPr>
          <a:xfrm>
            <a:off x="868680" y="434340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Exchange commitment for lower unit economics when demand is stable.</a:t>
            </a:r>
            <a:endParaRPr lang="en-US" sz="1150" dirty="0"/>
          </a:p>
        </p:txBody>
      </p:sp>
      <p:sp>
        <p:nvSpPr>
          <p:cNvPr id="17" name="Shape 15"/>
          <p:cNvSpPr/>
          <p:nvPr/>
        </p:nvSpPr>
        <p:spPr>
          <a:xfrm>
            <a:off x="6263640" y="3749040"/>
            <a:ext cx="5166360" cy="1554480"/>
          </a:xfrm>
          <a:prstGeom prst="roundRect">
            <a:avLst>
              <a:gd name="adj" fmla="val 588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8" name="Shape 16"/>
          <p:cNvSpPr/>
          <p:nvPr/>
        </p:nvSpPr>
        <p:spPr>
          <a:xfrm>
            <a:off x="6473952" y="3968496"/>
            <a:ext cx="137160" cy="137160"/>
          </a:xfrm>
          <a:prstGeom prst="ellipse">
            <a:avLst/>
          </a:prstGeom>
          <a:solidFill>
            <a:srgbClr val="AF52DE"/>
          </a:solidFill>
          <a:ln w="12700">
            <a:solidFill>
              <a:srgbClr val="AF52DE"/>
            </a:solidFill>
            <a:prstDash val="solid"/>
          </a:ln>
        </p:spPr>
      </p:sp>
      <p:sp>
        <p:nvSpPr>
          <p:cNvPr id="19" name="Text 17"/>
          <p:cNvSpPr/>
          <p:nvPr/>
        </p:nvSpPr>
        <p:spPr>
          <a:xfrm>
            <a:off x="6720840" y="3904488"/>
            <a:ext cx="4507992" cy="292608"/>
          </a:xfrm>
          <a:prstGeom prst="rect">
            <a:avLst/>
          </a:prstGeom>
          <a:noFill/>
          <a:ln/>
        </p:spPr>
        <p:txBody>
          <a:bodyPr wrap="square" lIns="0" tIns="0" rIns="0" bIns="0" rtlCol="0" anchor="ctr"/>
          <a:lstStyle/>
          <a:p>
            <a:pPr marL="0" indent="0">
              <a:buNone/>
            </a:pPr>
            <a:r>
              <a:rPr lang="en-US" sz="1400" b="1" dirty="0">
                <a:solidFill>
                  <a:srgbClr val="1D1D1F"/>
                </a:solidFill>
              </a:rPr>
              <a:t>Serverless</a:t>
            </a:r>
            <a:endParaRPr lang="en-US" sz="1400" dirty="0"/>
          </a:p>
        </p:txBody>
      </p:sp>
      <p:sp>
        <p:nvSpPr>
          <p:cNvPr id="20" name="Text 18"/>
          <p:cNvSpPr/>
          <p:nvPr/>
        </p:nvSpPr>
        <p:spPr>
          <a:xfrm>
            <a:off x="6492240" y="4343400"/>
            <a:ext cx="4709160" cy="804672"/>
          </a:xfrm>
          <a:prstGeom prst="rect">
            <a:avLst/>
          </a:prstGeom>
          <a:noFill/>
          <a:ln/>
        </p:spPr>
        <p:txBody>
          <a:bodyPr wrap="square" lIns="0" tIns="0" rIns="0" bIns="0" rtlCol="0" anchor="ctr">
            <a:normAutofit/>
          </a:bodyPr>
          <a:lstStyle/>
          <a:p>
            <a:pPr marL="0" indent="0">
              <a:buNone/>
            </a:pPr>
            <a:r>
              <a:rPr lang="en-US" sz="1150" dirty="0">
                <a:solidFill>
                  <a:srgbClr val="6E6E73"/>
                </a:solidFill>
              </a:rPr>
              <a:t>Use managed capacity for intermittent or operationally simple workloads.</a:t>
            </a:r>
            <a:endParaRPr lang="en-US" sz="115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COST TRIAGE</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Diagnose the meter before changing the architecture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A slow query and an expensive platform are related, but not identical.</a:t>
            </a:r>
            <a:endParaRPr lang="en-US" sz="1400" dirty="0"/>
          </a:p>
        </p:txBody>
      </p:sp>
      <p:sp>
        <p:nvSpPr>
          <p:cNvPr id="5" name="Shape 3"/>
          <p:cNvSpPr/>
          <p:nvPr/>
        </p:nvSpPr>
        <p:spPr>
          <a:xfrm>
            <a:off x="685800" y="1737360"/>
            <a:ext cx="475488" cy="347472"/>
          </a:xfrm>
          <a:prstGeom prst="roundRect">
            <a:avLst>
              <a:gd name="adj" fmla="val 47368"/>
            </a:avLst>
          </a:prstGeom>
          <a:solidFill>
            <a:srgbClr val="FF9900"/>
          </a:solidFill>
          <a:ln w="12700">
            <a:solidFill>
              <a:srgbClr val="FF9900"/>
            </a:solidFill>
            <a:prstDash val="solid"/>
          </a:ln>
        </p:spPr>
      </p:sp>
      <p:sp>
        <p:nvSpPr>
          <p:cNvPr id="6" name="Text 4"/>
          <p:cNvSpPr/>
          <p:nvPr/>
        </p:nvSpPr>
        <p:spPr>
          <a:xfrm>
            <a:off x="685800" y="1792224"/>
            <a:ext cx="475488" cy="182880"/>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7" name="Text 5"/>
          <p:cNvSpPr/>
          <p:nvPr/>
        </p:nvSpPr>
        <p:spPr>
          <a:xfrm>
            <a:off x="1371600" y="1755648"/>
            <a:ext cx="1234440" cy="274320"/>
          </a:xfrm>
          <a:prstGeom prst="rect">
            <a:avLst/>
          </a:prstGeom>
          <a:noFill/>
          <a:ln/>
        </p:spPr>
        <p:txBody>
          <a:bodyPr wrap="square" lIns="0" tIns="0" rIns="0" bIns="0" rtlCol="0" anchor="ctr"/>
          <a:lstStyle/>
          <a:p>
            <a:pPr marL="0" indent="0">
              <a:buNone/>
            </a:pPr>
            <a:r>
              <a:rPr lang="en-US" sz="1500" b="1" dirty="0">
                <a:solidFill>
                  <a:srgbClr val="1D1D1F"/>
                </a:solidFill>
              </a:rPr>
              <a:t>Meter</a:t>
            </a:r>
            <a:endParaRPr lang="en-US" sz="1500" dirty="0"/>
          </a:p>
        </p:txBody>
      </p:sp>
      <p:sp>
        <p:nvSpPr>
          <p:cNvPr id="8" name="Text 6"/>
          <p:cNvSpPr/>
          <p:nvPr/>
        </p:nvSpPr>
        <p:spPr>
          <a:xfrm>
            <a:off x="2697480" y="1755648"/>
            <a:ext cx="8595360" cy="292608"/>
          </a:xfrm>
          <a:prstGeom prst="rect">
            <a:avLst/>
          </a:prstGeom>
          <a:noFill/>
          <a:ln/>
        </p:spPr>
        <p:txBody>
          <a:bodyPr wrap="square" lIns="0" tIns="0" rIns="0" bIns="0" rtlCol="0" anchor="ctr"/>
          <a:lstStyle/>
          <a:p>
            <a:pPr marL="0" indent="0">
              <a:buNone/>
            </a:pPr>
            <a:r>
              <a:rPr lang="en-US" sz="1230" dirty="0">
                <a:solidFill>
                  <a:srgbClr val="6E6E73"/>
                </a:solidFill>
              </a:rPr>
              <a:t>Provisioned node time, serverless RPUs, managed storage, external scan, scaling, transfer.</a:t>
            </a:r>
            <a:endParaRPr lang="en-US" sz="1230" dirty="0"/>
          </a:p>
        </p:txBody>
      </p:sp>
      <p:sp>
        <p:nvSpPr>
          <p:cNvPr id="9" name="Shape 7"/>
          <p:cNvSpPr/>
          <p:nvPr/>
        </p:nvSpPr>
        <p:spPr>
          <a:xfrm>
            <a:off x="685800" y="2450592"/>
            <a:ext cx="475488" cy="347472"/>
          </a:xfrm>
          <a:prstGeom prst="roundRect">
            <a:avLst>
              <a:gd name="adj" fmla="val 47368"/>
            </a:avLst>
          </a:prstGeom>
          <a:solidFill>
            <a:srgbClr val="FF9900"/>
          </a:solidFill>
          <a:ln w="12700">
            <a:solidFill>
              <a:srgbClr val="FF9900"/>
            </a:solidFill>
            <a:prstDash val="solid"/>
          </a:ln>
        </p:spPr>
      </p:sp>
      <p:sp>
        <p:nvSpPr>
          <p:cNvPr id="10" name="Text 8"/>
          <p:cNvSpPr/>
          <p:nvPr/>
        </p:nvSpPr>
        <p:spPr>
          <a:xfrm>
            <a:off x="685800" y="2505456"/>
            <a:ext cx="475488" cy="182880"/>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1" name="Text 9"/>
          <p:cNvSpPr/>
          <p:nvPr/>
        </p:nvSpPr>
        <p:spPr>
          <a:xfrm>
            <a:off x="1371600" y="2468880"/>
            <a:ext cx="1234440" cy="274320"/>
          </a:xfrm>
          <a:prstGeom prst="rect">
            <a:avLst/>
          </a:prstGeom>
          <a:noFill/>
          <a:ln/>
        </p:spPr>
        <p:txBody>
          <a:bodyPr wrap="square" lIns="0" tIns="0" rIns="0" bIns="0" rtlCol="0" anchor="ctr"/>
          <a:lstStyle/>
          <a:p>
            <a:pPr marL="0" indent="0">
              <a:buNone/>
            </a:pPr>
            <a:r>
              <a:rPr lang="en-US" sz="1500" b="1" dirty="0">
                <a:solidFill>
                  <a:srgbClr val="1D1D1F"/>
                </a:solidFill>
              </a:rPr>
              <a:t>Workload</a:t>
            </a:r>
            <a:endParaRPr lang="en-US" sz="1500" dirty="0"/>
          </a:p>
        </p:txBody>
      </p:sp>
      <p:sp>
        <p:nvSpPr>
          <p:cNvPr id="12" name="Text 10"/>
          <p:cNvSpPr/>
          <p:nvPr/>
        </p:nvSpPr>
        <p:spPr>
          <a:xfrm>
            <a:off x="2697480" y="2468880"/>
            <a:ext cx="8595360" cy="292608"/>
          </a:xfrm>
          <a:prstGeom prst="rect">
            <a:avLst/>
          </a:prstGeom>
          <a:noFill/>
          <a:ln/>
        </p:spPr>
        <p:txBody>
          <a:bodyPr wrap="square" lIns="0" tIns="0" rIns="0" bIns="0" rtlCol="0" anchor="ctr"/>
          <a:lstStyle/>
          <a:p>
            <a:pPr marL="0" indent="0">
              <a:buNone/>
            </a:pPr>
            <a:r>
              <a:rPr lang="en-US" sz="1230" dirty="0">
                <a:solidFill>
                  <a:srgbClr val="6E6E73"/>
                </a:solidFill>
              </a:rPr>
              <a:t>Which application, queue, user, or schedule changed?</a:t>
            </a:r>
            <a:endParaRPr lang="en-US" sz="1230" dirty="0"/>
          </a:p>
        </p:txBody>
      </p:sp>
      <p:sp>
        <p:nvSpPr>
          <p:cNvPr id="13" name="Shape 11"/>
          <p:cNvSpPr/>
          <p:nvPr/>
        </p:nvSpPr>
        <p:spPr>
          <a:xfrm>
            <a:off x="685800" y="3163824"/>
            <a:ext cx="475488" cy="347472"/>
          </a:xfrm>
          <a:prstGeom prst="roundRect">
            <a:avLst>
              <a:gd name="adj" fmla="val 47368"/>
            </a:avLst>
          </a:prstGeom>
          <a:solidFill>
            <a:srgbClr val="146EB4"/>
          </a:solidFill>
          <a:ln w="12700">
            <a:solidFill>
              <a:srgbClr val="146EB4"/>
            </a:solidFill>
            <a:prstDash val="solid"/>
          </a:ln>
        </p:spPr>
      </p:sp>
      <p:sp>
        <p:nvSpPr>
          <p:cNvPr id="14" name="Text 12"/>
          <p:cNvSpPr/>
          <p:nvPr/>
        </p:nvSpPr>
        <p:spPr>
          <a:xfrm>
            <a:off x="685800" y="3218688"/>
            <a:ext cx="475488" cy="182880"/>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15" name="Text 13"/>
          <p:cNvSpPr/>
          <p:nvPr/>
        </p:nvSpPr>
        <p:spPr>
          <a:xfrm>
            <a:off x="1371600" y="3182112"/>
            <a:ext cx="1234440" cy="274320"/>
          </a:xfrm>
          <a:prstGeom prst="rect">
            <a:avLst/>
          </a:prstGeom>
          <a:noFill/>
          <a:ln/>
        </p:spPr>
        <p:txBody>
          <a:bodyPr wrap="square" lIns="0" tIns="0" rIns="0" bIns="0" rtlCol="0" anchor="ctr"/>
          <a:lstStyle/>
          <a:p>
            <a:pPr marL="0" indent="0">
              <a:buNone/>
            </a:pPr>
            <a:r>
              <a:rPr lang="en-US" sz="1500" b="1" dirty="0">
                <a:solidFill>
                  <a:srgbClr val="1D1D1F"/>
                </a:solidFill>
              </a:rPr>
              <a:t>Wait vs run</a:t>
            </a:r>
            <a:endParaRPr lang="en-US" sz="1500" dirty="0"/>
          </a:p>
        </p:txBody>
      </p:sp>
      <p:sp>
        <p:nvSpPr>
          <p:cNvPr id="16" name="Text 14"/>
          <p:cNvSpPr/>
          <p:nvPr/>
        </p:nvSpPr>
        <p:spPr>
          <a:xfrm>
            <a:off x="2697480" y="3182112"/>
            <a:ext cx="8595360" cy="292608"/>
          </a:xfrm>
          <a:prstGeom prst="rect">
            <a:avLst/>
          </a:prstGeom>
          <a:noFill/>
          <a:ln/>
        </p:spPr>
        <p:txBody>
          <a:bodyPr wrap="square" lIns="0" tIns="0" rIns="0" bIns="0" rtlCol="0" anchor="ctr"/>
          <a:lstStyle/>
          <a:p>
            <a:pPr marL="0" indent="0">
              <a:buNone/>
            </a:pPr>
            <a:r>
              <a:rPr lang="en-US" sz="1230" dirty="0">
                <a:solidFill>
                  <a:srgbClr val="6E6E73"/>
                </a:solidFill>
              </a:rPr>
              <a:t>Queue-time problem or execution-time problem?</a:t>
            </a:r>
            <a:endParaRPr lang="en-US" sz="1230" dirty="0"/>
          </a:p>
        </p:txBody>
      </p:sp>
      <p:sp>
        <p:nvSpPr>
          <p:cNvPr id="17" name="Shape 15"/>
          <p:cNvSpPr/>
          <p:nvPr/>
        </p:nvSpPr>
        <p:spPr>
          <a:xfrm>
            <a:off x="685800" y="3877056"/>
            <a:ext cx="475488" cy="347472"/>
          </a:xfrm>
          <a:prstGeom prst="roundRect">
            <a:avLst>
              <a:gd name="adj" fmla="val 47368"/>
            </a:avLst>
          </a:prstGeom>
          <a:solidFill>
            <a:srgbClr val="146EB4"/>
          </a:solidFill>
          <a:ln w="12700">
            <a:solidFill>
              <a:srgbClr val="146EB4"/>
            </a:solidFill>
            <a:prstDash val="solid"/>
          </a:ln>
        </p:spPr>
      </p:sp>
      <p:sp>
        <p:nvSpPr>
          <p:cNvPr id="18" name="Text 16"/>
          <p:cNvSpPr/>
          <p:nvPr/>
        </p:nvSpPr>
        <p:spPr>
          <a:xfrm>
            <a:off x="685800" y="3931920"/>
            <a:ext cx="475488" cy="182880"/>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19" name="Text 17"/>
          <p:cNvSpPr/>
          <p:nvPr/>
        </p:nvSpPr>
        <p:spPr>
          <a:xfrm>
            <a:off x="1371600" y="3895344"/>
            <a:ext cx="1234440" cy="274320"/>
          </a:xfrm>
          <a:prstGeom prst="rect">
            <a:avLst/>
          </a:prstGeom>
          <a:noFill/>
          <a:ln/>
        </p:spPr>
        <p:txBody>
          <a:bodyPr wrap="square" lIns="0" tIns="0" rIns="0" bIns="0" rtlCol="0" anchor="ctr"/>
          <a:lstStyle/>
          <a:p>
            <a:pPr marL="0" indent="0">
              <a:buNone/>
            </a:pPr>
            <a:r>
              <a:rPr lang="en-US" sz="1500" b="1" dirty="0">
                <a:solidFill>
                  <a:srgbClr val="1D1D1F"/>
                </a:solidFill>
              </a:rPr>
              <a:t>Plan</a:t>
            </a:r>
            <a:endParaRPr lang="en-US" sz="1500" dirty="0"/>
          </a:p>
        </p:txBody>
      </p:sp>
      <p:sp>
        <p:nvSpPr>
          <p:cNvPr id="20" name="Text 18"/>
          <p:cNvSpPr/>
          <p:nvPr/>
        </p:nvSpPr>
        <p:spPr>
          <a:xfrm>
            <a:off x="2697480" y="3895344"/>
            <a:ext cx="8595360" cy="292608"/>
          </a:xfrm>
          <a:prstGeom prst="rect">
            <a:avLst/>
          </a:prstGeom>
          <a:noFill/>
          <a:ln/>
        </p:spPr>
        <p:txBody>
          <a:bodyPr wrap="square" lIns="0" tIns="0" rIns="0" bIns="0" rtlCol="0" anchor="ctr"/>
          <a:lstStyle/>
          <a:p>
            <a:pPr marL="0" indent="0">
              <a:buNone/>
            </a:pPr>
            <a:r>
              <a:rPr lang="en-US" sz="1230" dirty="0">
                <a:solidFill>
                  <a:srgbClr val="6E6E73"/>
                </a:solidFill>
              </a:rPr>
              <a:t>Scan, redistribute, skew, spill, external bytes, cache behavior.</a:t>
            </a:r>
            <a:endParaRPr lang="en-US" sz="1230" dirty="0"/>
          </a:p>
        </p:txBody>
      </p:sp>
      <p:sp>
        <p:nvSpPr>
          <p:cNvPr id="21" name="Shape 19"/>
          <p:cNvSpPr/>
          <p:nvPr/>
        </p:nvSpPr>
        <p:spPr>
          <a:xfrm>
            <a:off x="685800" y="4590288"/>
            <a:ext cx="475488" cy="347472"/>
          </a:xfrm>
          <a:prstGeom prst="roundRect">
            <a:avLst>
              <a:gd name="adj" fmla="val 47368"/>
            </a:avLst>
          </a:prstGeom>
          <a:solidFill>
            <a:srgbClr val="30D158"/>
          </a:solidFill>
          <a:ln w="12700">
            <a:solidFill>
              <a:srgbClr val="30D158"/>
            </a:solidFill>
            <a:prstDash val="solid"/>
          </a:ln>
        </p:spPr>
      </p:sp>
      <p:sp>
        <p:nvSpPr>
          <p:cNvPr id="22" name="Text 20"/>
          <p:cNvSpPr/>
          <p:nvPr/>
        </p:nvSpPr>
        <p:spPr>
          <a:xfrm>
            <a:off x="685800" y="4645152"/>
            <a:ext cx="475488" cy="182880"/>
          </a:xfrm>
          <a:prstGeom prst="rect">
            <a:avLst/>
          </a:prstGeom>
          <a:noFill/>
          <a:ln/>
        </p:spPr>
        <p:txBody>
          <a:bodyPr wrap="square" lIns="0" tIns="0" rIns="0" bIns="0" rtlCol="0" anchor="ctr"/>
          <a:lstStyle/>
          <a:p>
            <a:pPr marL="0" indent="0" algn="ctr">
              <a:buNone/>
            </a:pPr>
            <a:r>
              <a:rPr lang="en-US" sz="1000" b="1" dirty="0">
                <a:solidFill>
                  <a:srgbClr val="FFFFFF"/>
                </a:solidFill>
              </a:rPr>
              <a:t>5</a:t>
            </a:r>
            <a:endParaRPr lang="en-US" sz="1000" dirty="0"/>
          </a:p>
        </p:txBody>
      </p:sp>
      <p:sp>
        <p:nvSpPr>
          <p:cNvPr id="23" name="Text 21"/>
          <p:cNvSpPr/>
          <p:nvPr/>
        </p:nvSpPr>
        <p:spPr>
          <a:xfrm>
            <a:off x="1371600" y="4608576"/>
            <a:ext cx="1234440" cy="274320"/>
          </a:xfrm>
          <a:prstGeom prst="rect">
            <a:avLst/>
          </a:prstGeom>
          <a:noFill/>
          <a:ln/>
        </p:spPr>
        <p:txBody>
          <a:bodyPr wrap="square" lIns="0" tIns="0" rIns="0" bIns="0" rtlCol="0" anchor="ctr"/>
          <a:lstStyle/>
          <a:p>
            <a:pPr marL="0" indent="0">
              <a:buNone/>
            </a:pPr>
            <a:r>
              <a:rPr lang="en-US" sz="1500" b="1" dirty="0">
                <a:solidFill>
                  <a:srgbClr val="1D1D1F"/>
                </a:solidFill>
              </a:rPr>
              <a:t>Lever</a:t>
            </a:r>
            <a:endParaRPr lang="en-US" sz="1500" dirty="0"/>
          </a:p>
        </p:txBody>
      </p:sp>
      <p:sp>
        <p:nvSpPr>
          <p:cNvPr id="24" name="Text 22"/>
          <p:cNvSpPr/>
          <p:nvPr/>
        </p:nvSpPr>
        <p:spPr>
          <a:xfrm>
            <a:off x="2697480" y="4608576"/>
            <a:ext cx="8595360" cy="292608"/>
          </a:xfrm>
          <a:prstGeom prst="rect">
            <a:avLst/>
          </a:prstGeom>
          <a:noFill/>
          <a:ln/>
        </p:spPr>
        <p:txBody>
          <a:bodyPr wrap="square" lIns="0" tIns="0" rIns="0" bIns="0" rtlCol="0" anchor="ctr"/>
          <a:lstStyle/>
          <a:p>
            <a:pPr marL="0" indent="0">
              <a:buNone/>
            </a:pPr>
            <a:r>
              <a:rPr lang="en-US" sz="1230" dirty="0">
                <a:solidFill>
                  <a:srgbClr val="6E6E73"/>
                </a:solidFill>
              </a:rPr>
              <a:t>Resize, WLM, scaling, Spectrum design, table design, pause, commitment.</a:t>
            </a:r>
            <a:endParaRPr lang="en-US" sz="1230" dirty="0"/>
          </a:p>
        </p:txBody>
      </p:sp>
      <p:sp>
        <p:nvSpPr>
          <p:cNvPr id="25" name="Shape 23"/>
          <p:cNvSpPr/>
          <p:nvPr/>
        </p:nvSpPr>
        <p:spPr>
          <a:xfrm>
            <a:off x="685800" y="5303520"/>
            <a:ext cx="475488" cy="347472"/>
          </a:xfrm>
          <a:prstGeom prst="roundRect">
            <a:avLst>
              <a:gd name="adj" fmla="val 47368"/>
            </a:avLst>
          </a:prstGeom>
          <a:solidFill>
            <a:srgbClr val="30D158"/>
          </a:solidFill>
          <a:ln w="12700">
            <a:solidFill>
              <a:srgbClr val="30D158"/>
            </a:solidFill>
            <a:prstDash val="solid"/>
          </a:ln>
        </p:spPr>
      </p:sp>
      <p:sp>
        <p:nvSpPr>
          <p:cNvPr id="26" name="Text 24"/>
          <p:cNvSpPr/>
          <p:nvPr/>
        </p:nvSpPr>
        <p:spPr>
          <a:xfrm>
            <a:off x="685800" y="5358384"/>
            <a:ext cx="475488" cy="182880"/>
          </a:xfrm>
          <a:prstGeom prst="rect">
            <a:avLst/>
          </a:prstGeom>
          <a:noFill/>
          <a:ln/>
        </p:spPr>
        <p:txBody>
          <a:bodyPr wrap="square" lIns="0" tIns="0" rIns="0" bIns="0" rtlCol="0" anchor="ctr"/>
          <a:lstStyle/>
          <a:p>
            <a:pPr marL="0" indent="0" algn="ctr">
              <a:buNone/>
            </a:pPr>
            <a:r>
              <a:rPr lang="en-US" sz="1000" b="1" dirty="0">
                <a:solidFill>
                  <a:srgbClr val="FFFFFF"/>
                </a:solidFill>
              </a:rPr>
              <a:t>6</a:t>
            </a:r>
            <a:endParaRPr lang="en-US" sz="1000" dirty="0"/>
          </a:p>
        </p:txBody>
      </p:sp>
      <p:sp>
        <p:nvSpPr>
          <p:cNvPr id="27" name="Text 25"/>
          <p:cNvSpPr/>
          <p:nvPr/>
        </p:nvSpPr>
        <p:spPr>
          <a:xfrm>
            <a:off x="1371600" y="5321808"/>
            <a:ext cx="1234440" cy="274320"/>
          </a:xfrm>
          <a:prstGeom prst="rect">
            <a:avLst/>
          </a:prstGeom>
          <a:noFill/>
          <a:ln/>
        </p:spPr>
        <p:txBody>
          <a:bodyPr wrap="square" lIns="0" tIns="0" rIns="0" bIns="0" rtlCol="0" anchor="ctr"/>
          <a:lstStyle/>
          <a:p>
            <a:pPr marL="0" indent="0">
              <a:buNone/>
            </a:pPr>
            <a:r>
              <a:rPr lang="en-US" sz="1500" b="1" dirty="0">
                <a:solidFill>
                  <a:srgbClr val="1D1D1F"/>
                </a:solidFill>
              </a:rPr>
              <a:t>Verify</a:t>
            </a:r>
            <a:endParaRPr lang="en-US" sz="1500" dirty="0"/>
          </a:p>
        </p:txBody>
      </p:sp>
      <p:sp>
        <p:nvSpPr>
          <p:cNvPr id="28" name="Text 26"/>
          <p:cNvSpPr/>
          <p:nvPr/>
        </p:nvSpPr>
        <p:spPr>
          <a:xfrm>
            <a:off x="2697480" y="5321808"/>
            <a:ext cx="8595360" cy="292608"/>
          </a:xfrm>
          <a:prstGeom prst="rect">
            <a:avLst/>
          </a:prstGeom>
          <a:noFill/>
          <a:ln/>
        </p:spPr>
        <p:txBody>
          <a:bodyPr wrap="square" lIns="0" tIns="0" rIns="0" bIns="0" rtlCol="0" anchor="ctr"/>
          <a:lstStyle/>
          <a:p>
            <a:pPr marL="0" indent="0">
              <a:buNone/>
            </a:pPr>
            <a:r>
              <a:rPr lang="en-US" sz="1230" dirty="0">
                <a:solidFill>
                  <a:srgbClr val="6E6E73"/>
                </a:solidFill>
              </a:rPr>
              <a:t>Cost, p95 latency, throughput, freshness, and reliability.</a:t>
            </a:r>
            <a:endParaRPr lang="en-US" sz="1230" dirty="0"/>
          </a:p>
        </p:txBody>
      </p:sp>
      <p:sp>
        <p:nvSpPr>
          <p:cNvPr id="29"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RETAIL ARCHITECTURE</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Separate workload classes and data temperature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A practical design for forecasting, BI, and long history.</a:t>
            </a:r>
            <a:endParaRPr lang="en-US" sz="1400" dirty="0"/>
          </a:p>
        </p:txBody>
      </p:sp>
      <p:sp>
        <p:nvSpPr>
          <p:cNvPr id="5" name="Shape 3"/>
          <p:cNvSpPr/>
          <p:nvPr/>
        </p:nvSpPr>
        <p:spPr>
          <a:xfrm>
            <a:off x="640080" y="1828800"/>
            <a:ext cx="2560320" cy="2468880"/>
          </a:xfrm>
          <a:prstGeom prst="roundRect">
            <a:avLst>
              <a:gd name="adj" fmla="val 3704"/>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50392" y="2048256"/>
            <a:ext cx="137160" cy="137160"/>
          </a:xfrm>
          <a:prstGeom prst="ellipse">
            <a:avLst/>
          </a:prstGeom>
          <a:solidFill>
            <a:srgbClr val="FF9900"/>
          </a:solidFill>
          <a:ln w="12700">
            <a:solidFill>
              <a:srgbClr val="FF9900"/>
            </a:solidFill>
            <a:prstDash val="solid"/>
          </a:ln>
        </p:spPr>
      </p:sp>
      <p:sp>
        <p:nvSpPr>
          <p:cNvPr id="7" name="Text 5"/>
          <p:cNvSpPr/>
          <p:nvPr/>
        </p:nvSpPr>
        <p:spPr>
          <a:xfrm>
            <a:off x="1097280" y="1984248"/>
            <a:ext cx="1901952" cy="292608"/>
          </a:xfrm>
          <a:prstGeom prst="rect">
            <a:avLst/>
          </a:prstGeom>
          <a:noFill/>
          <a:ln/>
        </p:spPr>
        <p:txBody>
          <a:bodyPr wrap="square" lIns="0" tIns="0" rIns="0" bIns="0" rtlCol="0" anchor="ctr"/>
          <a:lstStyle/>
          <a:p>
            <a:pPr marL="0" indent="0">
              <a:buNone/>
            </a:pPr>
            <a:r>
              <a:rPr lang="en-US" sz="1400" b="1" dirty="0">
                <a:solidFill>
                  <a:srgbClr val="1D1D1F"/>
                </a:solidFill>
              </a:rPr>
              <a:t>Hot sales facts</a:t>
            </a:r>
            <a:endParaRPr lang="en-US" sz="1400" dirty="0"/>
          </a:p>
        </p:txBody>
      </p:sp>
      <p:sp>
        <p:nvSpPr>
          <p:cNvPr id="8" name="Text 6"/>
          <p:cNvSpPr/>
          <p:nvPr/>
        </p:nvSpPr>
        <p:spPr>
          <a:xfrm>
            <a:off x="868680" y="2423160"/>
            <a:ext cx="2103120" cy="1719072"/>
          </a:xfrm>
          <a:prstGeom prst="rect">
            <a:avLst/>
          </a:prstGeom>
          <a:noFill/>
          <a:ln/>
        </p:spPr>
        <p:txBody>
          <a:bodyPr wrap="square" lIns="0" tIns="0" rIns="0" bIns="0" rtlCol="0" anchor="ctr">
            <a:normAutofit/>
          </a:bodyPr>
          <a:lstStyle/>
          <a:p>
            <a:pPr marL="0" indent="0">
              <a:buNone/>
            </a:pPr>
            <a:r>
              <a:rPr lang="en-US" sz="1150" dirty="0">
                <a:solidFill>
                  <a:srgbClr val="6E6E73"/>
                </a:solidFill>
              </a:rPr>
              <a:t>Managed storage</a:t>
            </a:r>
            <a:endParaRPr lang="en-US" sz="1150" dirty="0"/>
          </a:p>
          <a:p>
            <a:pPr marL="0" indent="0">
              <a:buNone/>
            </a:pPr>
            <a:r>
              <a:rPr lang="en-US" sz="1150" dirty="0">
                <a:solidFill>
                  <a:srgbClr val="6E6E73"/>
                </a:solidFill>
              </a:rPr>
              <a:t>optimized distribution</a:t>
            </a:r>
            <a:endParaRPr lang="en-US" sz="1150" dirty="0"/>
          </a:p>
          <a:p>
            <a:pPr marL="0" indent="0">
              <a:buNone/>
            </a:pPr>
            <a:r>
              <a:rPr lang="en-US" sz="1150" dirty="0">
                <a:solidFill>
                  <a:srgbClr val="6E6E73"/>
                </a:solidFill>
              </a:rPr>
              <a:t>date-oriented pruning</a:t>
            </a:r>
            <a:endParaRPr lang="en-US" sz="1150" dirty="0"/>
          </a:p>
        </p:txBody>
      </p:sp>
      <p:sp>
        <p:nvSpPr>
          <p:cNvPr id="9" name="Shape 7"/>
          <p:cNvSpPr/>
          <p:nvPr/>
        </p:nvSpPr>
        <p:spPr>
          <a:xfrm>
            <a:off x="3429000" y="1828800"/>
            <a:ext cx="2560320" cy="2468880"/>
          </a:xfrm>
          <a:prstGeom prst="roundRect">
            <a:avLst>
              <a:gd name="adj" fmla="val 3704"/>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3639312" y="2048256"/>
            <a:ext cx="137160" cy="137160"/>
          </a:xfrm>
          <a:prstGeom prst="ellipse">
            <a:avLst/>
          </a:prstGeom>
          <a:solidFill>
            <a:srgbClr val="146EB4"/>
          </a:solidFill>
          <a:ln w="12700">
            <a:solidFill>
              <a:srgbClr val="146EB4"/>
            </a:solidFill>
            <a:prstDash val="solid"/>
          </a:ln>
        </p:spPr>
      </p:sp>
      <p:sp>
        <p:nvSpPr>
          <p:cNvPr id="11" name="Text 9"/>
          <p:cNvSpPr/>
          <p:nvPr/>
        </p:nvSpPr>
        <p:spPr>
          <a:xfrm>
            <a:off x="3886200" y="1984248"/>
            <a:ext cx="1901952" cy="292608"/>
          </a:xfrm>
          <a:prstGeom prst="rect">
            <a:avLst/>
          </a:prstGeom>
          <a:noFill/>
          <a:ln/>
        </p:spPr>
        <p:txBody>
          <a:bodyPr wrap="square" lIns="0" tIns="0" rIns="0" bIns="0" rtlCol="0" anchor="ctr"/>
          <a:lstStyle/>
          <a:p>
            <a:pPr marL="0" indent="0">
              <a:buNone/>
            </a:pPr>
            <a:r>
              <a:rPr lang="en-US" sz="1400" b="1" dirty="0">
                <a:solidFill>
                  <a:srgbClr val="1D1D1F"/>
                </a:solidFill>
              </a:rPr>
              <a:t>BI dashboards</a:t>
            </a:r>
            <a:endParaRPr lang="en-US" sz="1400" dirty="0"/>
          </a:p>
        </p:txBody>
      </p:sp>
      <p:sp>
        <p:nvSpPr>
          <p:cNvPr id="12" name="Text 10"/>
          <p:cNvSpPr/>
          <p:nvPr/>
        </p:nvSpPr>
        <p:spPr>
          <a:xfrm>
            <a:off x="3657600" y="2423160"/>
            <a:ext cx="2103120" cy="1719072"/>
          </a:xfrm>
          <a:prstGeom prst="rect">
            <a:avLst/>
          </a:prstGeom>
          <a:noFill/>
          <a:ln/>
        </p:spPr>
        <p:txBody>
          <a:bodyPr wrap="square" lIns="0" tIns="0" rIns="0" bIns="0" rtlCol="0" anchor="ctr">
            <a:normAutofit/>
          </a:bodyPr>
          <a:lstStyle/>
          <a:p>
            <a:pPr marL="0" indent="0">
              <a:buNone/>
            </a:pPr>
            <a:r>
              <a:rPr lang="en-US" sz="1150" dirty="0">
                <a:solidFill>
                  <a:srgbClr val="6E6E73"/>
                </a:solidFill>
              </a:rPr>
              <a:t>Automatic WLM</a:t>
            </a:r>
            <a:endParaRPr lang="en-US" sz="1150" dirty="0"/>
          </a:p>
          <a:p>
            <a:pPr marL="0" indent="0">
              <a:buNone/>
            </a:pPr>
            <a:r>
              <a:rPr lang="en-US" sz="1150" dirty="0">
                <a:solidFill>
                  <a:srgbClr val="6E6E73"/>
                </a:solidFill>
              </a:rPr>
              <a:t>priority</a:t>
            </a:r>
            <a:endParaRPr lang="en-US" sz="1150" dirty="0"/>
          </a:p>
          <a:p>
            <a:pPr marL="0" indent="0">
              <a:buNone/>
            </a:pPr>
            <a:r>
              <a:rPr lang="en-US" sz="1150" dirty="0">
                <a:solidFill>
                  <a:srgbClr val="6E6E73"/>
                </a:solidFill>
              </a:rPr>
              <a:t>concurrency scaling</a:t>
            </a:r>
            <a:endParaRPr lang="en-US" sz="1150" dirty="0"/>
          </a:p>
        </p:txBody>
      </p:sp>
      <p:sp>
        <p:nvSpPr>
          <p:cNvPr id="13" name="Shape 11"/>
          <p:cNvSpPr/>
          <p:nvPr/>
        </p:nvSpPr>
        <p:spPr>
          <a:xfrm>
            <a:off x="6217920" y="1828800"/>
            <a:ext cx="2560320" cy="2468880"/>
          </a:xfrm>
          <a:prstGeom prst="roundRect">
            <a:avLst>
              <a:gd name="adj" fmla="val 3704"/>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6428232" y="2048256"/>
            <a:ext cx="137160" cy="137160"/>
          </a:xfrm>
          <a:prstGeom prst="ellipse">
            <a:avLst/>
          </a:prstGeom>
          <a:solidFill>
            <a:srgbClr val="AF52DE"/>
          </a:solidFill>
          <a:ln w="12700">
            <a:solidFill>
              <a:srgbClr val="AF52DE"/>
            </a:solidFill>
            <a:prstDash val="solid"/>
          </a:ln>
        </p:spPr>
      </p:sp>
      <p:sp>
        <p:nvSpPr>
          <p:cNvPr id="15" name="Text 13"/>
          <p:cNvSpPr/>
          <p:nvPr/>
        </p:nvSpPr>
        <p:spPr>
          <a:xfrm>
            <a:off x="6675120" y="1984248"/>
            <a:ext cx="1901952" cy="292608"/>
          </a:xfrm>
          <a:prstGeom prst="rect">
            <a:avLst/>
          </a:prstGeom>
          <a:noFill/>
          <a:ln/>
        </p:spPr>
        <p:txBody>
          <a:bodyPr wrap="square" lIns="0" tIns="0" rIns="0" bIns="0" rtlCol="0" anchor="ctr"/>
          <a:lstStyle/>
          <a:p>
            <a:pPr marL="0" indent="0">
              <a:buNone/>
            </a:pPr>
            <a:r>
              <a:rPr lang="en-US" sz="1400" b="1" dirty="0">
                <a:solidFill>
                  <a:srgbClr val="1D1D1F"/>
                </a:solidFill>
              </a:rPr>
              <a:t>Forecast ETL</a:t>
            </a:r>
            <a:endParaRPr lang="en-US" sz="1400" dirty="0"/>
          </a:p>
        </p:txBody>
      </p:sp>
      <p:sp>
        <p:nvSpPr>
          <p:cNvPr id="16" name="Text 14"/>
          <p:cNvSpPr/>
          <p:nvPr/>
        </p:nvSpPr>
        <p:spPr>
          <a:xfrm>
            <a:off x="6446520" y="2423160"/>
            <a:ext cx="2103120" cy="1719072"/>
          </a:xfrm>
          <a:prstGeom prst="rect">
            <a:avLst/>
          </a:prstGeom>
          <a:noFill/>
          <a:ln/>
        </p:spPr>
        <p:txBody>
          <a:bodyPr wrap="square" lIns="0" tIns="0" rIns="0" bIns="0" rtlCol="0" anchor="ctr">
            <a:normAutofit/>
          </a:bodyPr>
          <a:lstStyle/>
          <a:p>
            <a:pPr marL="0" indent="0">
              <a:buNone/>
            </a:pPr>
            <a:r>
              <a:rPr lang="en-US" sz="1150" dirty="0">
                <a:solidFill>
                  <a:srgbClr val="6E6E73"/>
                </a:solidFill>
              </a:rPr>
              <a:t>Scheduled capacity</a:t>
            </a:r>
            <a:endParaRPr lang="en-US" sz="1150" dirty="0"/>
          </a:p>
          <a:p>
            <a:pPr marL="0" indent="0">
              <a:buNone/>
            </a:pPr>
            <a:r>
              <a:rPr lang="en-US" sz="1150" dirty="0">
                <a:solidFill>
                  <a:srgbClr val="6E6E73"/>
                </a:solidFill>
              </a:rPr>
              <a:t>query monitoring</a:t>
            </a:r>
            <a:endParaRPr lang="en-US" sz="1150" dirty="0"/>
          </a:p>
          <a:p>
            <a:pPr marL="0" indent="0">
              <a:buNone/>
            </a:pPr>
            <a:r>
              <a:rPr lang="en-US" sz="1150" dirty="0">
                <a:solidFill>
                  <a:srgbClr val="6E6E73"/>
                </a:solidFill>
              </a:rPr>
              <a:t>materialized outputs</a:t>
            </a:r>
            <a:endParaRPr lang="en-US" sz="1150" dirty="0"/>
          </a:p>
        </p:txBody>
      </p:sp>
      <p:sp>
        <p:nvSpPr>
          <p:cNvPr id="17" name="Shape 15"/>
          <p:cNvSpPr/>
          <p:nvPr/>
        </p:nvSpPr>
        <p:spPr>
          <a:xfrm>
            <a:off x="9006840" y="1828800"/>
            <a:ext cx="2560320" cy="2468880"/>
          </a:xfrm>
          <a:prstGeom prst="roundRect">
            <a:avLst>
              <a:gd name="adj" fmla="val 3704"/>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8" name="Shape 16"/>
          <p:cNvSpPr/>
          <p:nvPr/>
        </p:nvSpPr>
        <p:spPr>
          <a:xfrm>
            <a:off x="9217152" y="2048256"/>
            <a:ext cx="137160" cy="137160"/>
          </a:xfrm>
          <a:prstGeom prst="ellipse">
            <a:avLst/>
          </a:prstGeom>
          <a:solidFill>
            <a:srgbClr val="30D158"/>
          </a:solidFill>
          <a:ln w="12700">
            <a:solidFill>
              <a:srgbClr val="30D158"/>
            </a:solidFill>
            <a:prstDash val="solid"/>
          </a:ln>
        </p:spPr>
      </p:sp>
      <p:sp>
        <p:nvSpPr>
          <p:cNvPr id="19" name="Text 17"/>
          <p:cNvSpPr/>
          <p:nvPr/>
        </p:nvSpPr>
        <p:spPr>
          <a:xfrm>
            <a:off x="9464040" y="1984248"/>
            <a:ext cx="1901952" cy="292608"/>
          </a:xfrm>
          <a:prstGeom prst="rect">
            <a:avLst/>
          </a:prstGeom>
          <a:noFill/>
          <a:ln/>
        </p:spPr>
        <p:txBody>
          <a:bodyPr wrap="square" lIns="0" tIns="0" rIns="0" bIns="0" rtlCol="0" anchor="ctr"/>
          <a:lstStyle/>
          <a:p>
            <a:pPr marL="0" indent="0">
              <a:buNone/>
            </a:pPr>
            <a:r>
              <a:rPr lang="en-US" sz="1400" b="1" dirty="0">
                <a:solidFill>
                  <a:srgbClr val="1D1D1F"/>
                </a:solidFill>
              </a:rPr>
              <a:t>Long history</a:t>
            </a:r>
            <a:endParaRPr lang="en-US" sz="1400" dirty="0"/>
          </a:p>
        </p:txBody>
      </p:sp>
      <p:sp>
        <p:nvSpPr>
          <p:cNvPr id="20" name="Text 18"/>
          <p:cNvSpPr/>
          <p:nvPr/>
        </p:nvSpPr>
        <p:spPr>
          <a:xfrm>
            <a:off x="9235440" y="2423160"/>
            <a:ext cx="2103120" cy="1719072"/>
          </a:xfrm>
          <a:prstGeom prst="rect">
            <a:avLst/>
          </a:prstGeom>
          <a:noFill/>
          <a:ln/>
        </p:spPr>
        <p:txBody>
          <a:bodyPr wrap="square" lIns="0" tIns="0" rIns="0" bIns="0" rtlCol="0" anchor="ctr">
            <a:normAutofit/>
          </a:bodyPr>
          <a:lstStyle/>
          <a:p>
            <a:pPr marL="0" indent="0">
              <a:buNone/>
            </a:pPr>
            <a:r>
              <a:rPr lang="en-US" sz="1150" dirty="0">
                <a:solidFill>
                  <a:srgbClr val="6E6E73"/>
                </a:solidFill>
              </a:rPr>
              <a:t>S3 + Spectrum</a:t>
            </a:r>
            <a:endParaRPr lang="en-US" sz="1150" dirty="0"/>
          </a:p>
          <a:p>
            <a:pPr marL="0" indent="0">
              <a:buNone/>
            </a:pPr>
            <a:r>
              <a:rPr lang="en-US" sz="1150" dirty="0">
                <a:solidFill>
                  <a:srgbClr val="6E6E73"/>
                </a:solidFill>
              </a:rPr>
              <a:t>columnar format</a:t>
            </a:r>
            <a:endParaRPr lang="en-US" sz="1150" dirty="0"/>
          </a:p>
          <a:p>
            <a:pPr marL="0" indent="0">
              <a:buNone/>
            </a:pPr>
            <a:r>
              <a:rPr lang="en-US" sz="1150" dirty="0">
                <a:solidFill>
                  <a:srgbClr val="6E6E73"/>
                </a:solidFill>
              </a:rPr>
              <a:t>partition pruning</a:t>
            </a:r>
            <a:endParaRPr lang="en-US" sz="1150" dirty="0"/>
          </a:p>
        </p:txBody>
      </p:sp>
      <p:sp>
        <p:nvSpPr>
          <p:cNvPr id="21" name="Text 19"/>
          <p:cNvSpPr/>
          <p:nvPr/>
        </p:nvSpPr>
        <p:spPr>
          <a:xfrm>
            <a:off x="1371600" y="4937760"/>
            <a:ext cx="9418320" cy="438912"/>
          </a:xfrm>
          <a:prstGeom prst="rect">
            <a:avLst/>
          </a:prstGeom>
          <a:noFill/>
          <a:ln/>
        </p:spPr>
        <p:txBody>
          <a:bodyPr wrap="square" lIns="0" tIns="0" rIns="0" bIns="0" rtlCol="0" anchor="ctr"/>
          <a:lstStyle/>
          <a:p>
            <a:pPr marL="0" indent="0" algn="ctr">
              <a:buNone/>
            </a:pPr>
            <a:r>
              <a:rPr lang="en-US" sz="2300" b="1" dirty="0">
                <a:solidFill>
                  <a:srgbClr val="1D1D1F"/>
                </a:solidFill>
              </a:rPr>
              <a:t>Optimize the whole service: freshness + latency + throughput + cost.</a:t>
            </a:r>
            <a:endParaRPr lang="en-US" sz="23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CORRECTIONS</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Important fixes to the source notes</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Technical precision matters in teaching and interviews.</a:t>
            </a:r>
            <a:endParaRPr lang="en-US" sz="1400" dirty="0"/>
          </a:p>
        </p:txBody>
      </p:sp>
      <p:sp>
        <p:nvSpPr>
          <p:cNvPr id="5" name="Shape 3"/>
          <p:cNvSpPr/>
          <p:nvPr/>
        </p:nvSpPr>
        <p:spPr>
          <a:xfrm>
            <a:off x="594360" y="1673352"/>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04672" y="1892808"/>
            <a:ext cx="137160" cy="137160"/>
          </a:xfrm>
          <a:prstGeom prst="ellipse">
            <a:avLst/>
          </a:prstGeom>
          <a:solidFill>
            <a:srgbClr val="FF9900"/>
          </a:solidFill>
          <a:ln w="12700">
            <a:solidFill>
              <a:srgbClr val="FF9900"/>
            </a:solidFill>
            <a:prstDash val="solid"/>
          </a:ln>
        </p:spPr>
      </p:sp>
      <p:sp>
        <p:nvSpPr>
          <p:cNvPr id="7" name="Text 5"/>
          <p:cNvSpPr/>
          <p:nvPr/>
        </p:nvSpPr>
        <p:spPr>
          <a:xfrm>
            <a:off x="1051560" y="1828800"/>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No CREATE CLUSTER SQL</a:t>
            </a:r>
            <a:endParaRPr lang="en-US" sz="1400" dirty="0"/>
          </a:p>
        </p:txBody>
      </p:sp>
      <p:sp>
        <p:nvSpPr>
          <p:cNvPr id="8" name="Text 6"/>
          <p:cNvSpPr/>
          <p:nvPr/>
        </p:nvSpPr>
        <p:spPr>
          <a:xfrm>
            <a:off x="822960" y="2267712"/>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Provisioned cluster lifecycle uses AWS console, CLI, SDK, or APIs, not Redshift SQL.</a:t>
            </a:r>
            <a:endParaRPr lang="en-US" sz="1150" dirty="0"/>
          </a:p>
        </p:txBody>
      </p:sp>
      <p:sp>
        <p:nvSpPr>
          <p:cNvPr id="9" name="Shape 7"/>
          <p:cNvSpPr/>
          <p:nvPr/>
        </p:nvSpPr>
        <p:spPr>
          <a:xfrm>
            <a:off x="6263640" y="1673352"/>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6473952" y="1892808"/>
            <a:ext cx="137160" cy="137160"/>
          </a:xfrm>
          <a:prstGeom prst="ellipse">
            <a:avLst/>
          </a:prstGeom>
          <a:solidFill>
            <a:srgbClr val="E71510"/>
          </a:solidFill>
          <a:ln w="12700">
            <a:solidFill>
              <a:srgbClr val="E71510"/>
            </a:solidFill>
            <a:prstDash val="solid"/>
          </a:ln>
        </p:spPr>
      </p:sp>
      <p:sp>
        <p:nvSpPr>
          <p:cNvPr id="11" name="Text 9"/>
          <p:cNvSpPr/>
          <p:nvPr/>
        </p:nvSpPr>
        <p:spPr>
          <a:xfrm>
            <a:off x="6720840" y="1828800"/>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No ALTER WEDENS</a:t>
            </a:r>
            <a:endParaRPr lang="en-US" sz="1400" dirty="0"/>
          </a:p>
        </p:txBody>
      </p:sp>
      <p:sp>
        <p:nvSpPr>
          <p:cNvPr id="12" name="Text 10"/>
          <p:cNvSpPr/>
          <p:nvPr/>
        </p:nvSpPr>
        <p:spPr>
          <a:xfrm>
            <a:off x="6492240" y="2267712"/>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Concurrency scaling is configured through WLM queues and Redshift management settings.</a:t>
            </a:r>
            <a:endParaRPr lang="en-US" sz="1150" dirty="0"/>
          </a:p>
        </p:txBody>
      </p:sp>
      <p:sp>
        <p:nvSpPr>
          <p:cNvPr id="13" name="Shape 11"/>
          <p:cNvSpPr/>
          <p:nvPr/>
        </p:nvSpPr>
        <p:spPr>
          <a:xfrm>
            <a:off x="594360" y="3154680"/>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04672" y="3374136"/>
            <a:ext cx="137160" cy="137160"/>
          </a:xfrm>
          <a:prstGeom prst="ellipse">
            <a:avLst/>
          </a:prstGeom>
          <a:solidFill>
            <a:srgbClr val="FF9900"/>
          </a:solidFill>
          <a:ln w="12700">
            <a:solidFill>
              <a:srgbClr val="FF9900"/>
            </a:solidFill>
            <a:prstDash val="solid"/>
          </a:ln>
        </p:spPr>
      </p:sp>
      <p:sp>
        <p:nvSpPr>
          <p:cNvPr id="15" name="Text 13"/>
          <p:cNvSpPr/>
          <p:nvPr/>
        </p:nvSpPr>
        <p:spPr>
          <a:xfrm>
            <a:off x="1051560" y="3310128"/>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No fixed 24-hour cache claim</a:t>
            </a:r>
            <a:endParaRPr lang="en-US" sz="1400" dirty="0"/>
          </a:p>
        </p:txBody>
      </p:sp>
      <p:sp>
        <p:nvSpPr>
          <p:cNvPr id="16" name="Text 14"/>
          <p:cNvSpPr/>
          <p:nvPr/>
        </p:nvSpPr>
        <p:spPr>
          <a:xfrm>
            <a:off x="822960" y="3749040"/>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Teach result reuse behavior without asserting a universal duration from unsupported notes.</a:t>
            </a:r>
            <a:endParaRPr lang="en-US" sz="1150" dirty="0"/>
          </a:p>
        </p:txBody>
      </p:sp>
      <p:sp>
        <p:nvSpPr>
          <p:cNvPr id="17" name="Shape 15"/>
          <p:cNvSpPr/>
          <p:nvPr/>
        </p:nvSpPr>
        <p:spPr>
          <a:xfrm>
            <a:off x="6263640" y="3154680"/>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8" name="Shape 16"/>
          <p:cNvSpPr/>
          <p:nvPr/>
        </p:nvSpPr>
        <p:spPr>
          <a:xfrm>
            <a:off x="6473952" y="3374136"/>
            <a:ext cx="137160" cy="137160"/>
          </a:xfrm>
          <a:prstGeom prst="ellipse">
            <a:avLst/>
          </a:prstGeom>
          <a:solidFill>
            <a:srgbClr val="E71510"/>
          </a:solidFill>
          <a:ln w="12700">
            <a:solidFill>
              <a:srgbClr val="E71510"/>
            </a:solidFill>
            <a:prstDash val="solid"/>
          </a:ln>
        </p:spPr>
      </p:sp>
      <p:sp>
        <p:nvSpPr>
          <p:cNvPr id="19" name="Text 17"/>
          <p:cNvSpPr/>
          <p:nvPr/>
        </p:nvSpPr>
        <p:spPr>
          <a:xfrm>
            <a:off x="6720840" y="3310128"/>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No fixed Spectrum price</a:t>
            </a:r>
            <a:endParaRPr lang="en-US" sz="1400" dirty="0"/>
          </a:p>
        </p:txBody>
      </p:sp>
      <p:sp>
        <p:nvSpPr>
          <p:cNvPr id="20" name="Text 18"/>
          <p:cNvSpPr/>
          <p:nvPr/>
        </p:nvSpPr>
        <p:spPr>
          <a:xfrm>
            <a:off x="6492240" y="3749040"/>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Use current regional pricing rather than embedding a stale dollar value.</a:t>
            </a:r>
            <a:endParaRPr lang="en-US" sz="1150" dirty="0"/>
          </a:p>
        </p:txBody>
      </p:sp>
      <p:sp>
        <p:nvSpPr>
          <p:cNvPr id="21" name="Shape 19"/>
          <p:cNvSpPr/>
          <p:nvPr/>
        </p:nvSpPr>
        <p:spPr>
          <a:xfrm>
            <a:off x="594360" y="4636008"/>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22" name="Shape 20"/>
          <p:cNvSpPr/>
          <p:nvPr/>
        </p:nvSpPr>
        <p:spPr>
          <a:xfrm>
            <a:off x="804672" y="4855464"/>
            <a:ext cx="137160" cy="137160"/>
          </a:xfrm>
          <a:prstGeom prst="ellipse">
            <a:avLst/>
          </a:prstGeom>
          <a:solidFill>
            <a:srgbClr val="FF9900"/>
          </a:solidFill>
          <a:ln w="12700">
            <a:solidFill>
              <a:srgbClr val="FF9900"/>
            </a:solidFill>
            <a:prstDash val="solid"/>
          </a:ln>
        </p:spPr>
      </p:sp>
      <p:sp>
        <p:nvSpPr>
          <p:cNvPr id="23" name="Text 21"/>
          <p:cNvSpPr/>
          <p:nvPr/>
        </p:nvSpPr>
        <p:spPr>
          <a:xfrm>
            <a:off x="1051560" y="4791456"/>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No universal RA3 threshold</a:t>
            </a:r>
            <a:endParaRPr lang="en-US" sz="1400" dirty="0"/>
          </a:p>
        </p:txBody>
      </p:sp>
      <p:sp>
        <p:nvSpPr>
          <p:cNvPr id="24" name="Text 22"/>
          <p:cNvSpPr/>
          <p:nvPr/>
        </p:nvSpPr>
        <p:spPr>
          <a:xfrm>
            <a:off x="822960" y="5230368"/>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Model price-performance with actual data, region, cache, and SLA.</a:t>
            </a:r>
            <a:endParaRPr lang="en-US" sz="1150" dirty="0"/>
          </a:p>
        </p:txBody>
      </p:sp>
      <p:sp>
        <p:nvSpPr>
          <p:cNvPr id="25" name="Shape 23"/>
          <p:cNvSpPr/>
          <p:nvPr/>
        </p:nvSpPr>
        <p:spPr>
          <a:xfrm>
            <a:off x="6263640" y="4636008"/>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26" name="Shape 24"/>
          <p:cNvSpPr/>
          <p:nvPr/>
        </p:nvSpPr>
        <p:spPr>
          <a:xfrm>
            <a:off x="6473952" y="4855464"/>
            <a:ext cx="137160" cy="137160"/>
          </a:xfrm>
          <a:prstGeom prst="ellipse">
            <a:avLst/>
          </a:prstGeom>
          <a:solidFill>
            <a:srgbClr val="E71510"/>
          </a:solidFill>
          <a:ln w="12700">
            <a:solidFill>
              <a:srgbClr val="E71510"/>
            </a:solidFill>
            <a:prstDash val="solid"/>
          </a:ln>
        </p:spPr>
      </p:sp>
      <p:sp>
        <p:nvSpPr>
          <p:cNvPr id="27" name="Text 25"/>
          <p:cNvSpPr/>
          <p:nvPr/>
        </p:nvSpPr>
        <p:spPr>
          <a:xfrm>
            <a:off x="6720840" y="4791456"/>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DS2 is legacy context</a:t>
            </a:r>
            <a:endParaRPr lang="en-US" sz="1400" dirty="0"/>
          </a:p>
        </p:txBody>
      </p:sp>
      <p:sp>
        <p:nvSpPr>
          <p:cNvPr id="28" name="Text 26"/>
          <p:cNvSpPr/>
          <p:nvPr/>
        </p:nvSpPr>
        <p:spPr>
          <a:xfrm>
            <a:off x="6492240" y="5230368"/>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Focus current designs on supported, current deployment choices.</a:t>
            </a:r>
            <a:endParaRPr lang="en-US" sz="1150" dirty="0"/>
          </a:p>
        </p:txBody>
      </p:sp>
      <p:sp>
        <p:nvSpPr>
          <p:cNvPr id="29"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INTERVIEW ANSWERS</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State symptom → evidence → lever → tradeoff</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Senior answers never jump directly to “resize.”</a:t>
            </a:r>
            <a:endParaRPr lang="en-US" sz="1400" dirty="0"/>
          </a:p>
        </p:txBody>
      </p:sp>
      <p:sp>
        <p:nvSpPr>
          <p:cNvPr id="5" name="Shape 3"/>
          <p:cNvSpPr/>
          <p:nvPr/>
        </p:nvSpPr>
        <p:spPr>
          <a:xfrm>
            <a:off x="594360" y="1673352"/>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6" name="Shape 4"/>
          <p:cNvSpPr/>
          <p:nvPr/>
        </p:nvSpPr>
        <p:spPr>
          <a:xfrm>
            <a:off x="804672" y="1892808"/>
            <a:ext cx="137160" cy="137160"/>
          </a:xfrm>
          <a:prstGeom prst="ellipse">
            <a:avLst/>
          </a:prstGeom>
          <a:solidFill>
            <a:srgbClr val="FF9900"/>
          </a:solidFill>
          <a:ln w="12700">
            <a:solidFill>
              <a:srgbClr val="FF9900"/>
            </a:solidFill>
            <a:prstDash val="solid"/>
          </a:ln>
        </p:spPr>
      </p:sp>
      <p:sp>
        <p:nvSpPr>
          <p:cNvPr id="7" name="Text 5"/>
          <p:cNvSpPr/>
          <p:nvPr/>
        </p:nvSpPr>
        <p:spPr>
          <a:xfrm>
            <a:off x="1051560" y="1828800"/>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Why slow?</a:t>
            </a:r>
            <a:endParaRPr lang="en-US" sz="1400" dirty="0"/>
          </a:p>
        </p:txBody>
      </p:sp>
      <p:sp>
        <p:nvSpPr>
          <p:cNvPr id="8" name="Text 6"/>
          <p:cNvSpPr/>
          <p:nvPr/>
        </p:nvSpPr>
        <p:spPr>
          <a:xfrm>
            <a:off x="822960" y="2267712"/>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Separate queue wait from execution; then inspect scans, movement, skew, spill, and statistics.</a:t>
            </a:r>
            <a:endParaRPr lang="en-US" sz="1150" dirty="0"/>
          </a:p>
        </p:txBody>
      </p:sp>
      <p:sp>
        <p:nvSpPr>
          <p:cNvPr id="9" name="Shape 7"/>
          <p:cNvSpPr/>
          <p:nvPr/>
        </p:nvSpPr>
        <p:spPr>
          <a:xfrm>
            <a:off x="6263640" y="1673352"/>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0" name="Shape 8"/>
          <p:cNvSpPr/>
          <p:nvPr/>
        </p:nvSpPr>
        <p:spPr>
          <a:xfrm>
            <a:off x="6473952" y="1892808"/>
            <a:ext cx="137160" cy="137160"/>
          </a:xfrm>
          <a:prstGeom prst="ellipse">
            <a:avLst/>
          </a:prstGeom>
          <a:solidFill>
            <a:srgbClr val="146EB4"/>
          </a:solidFill>
          <a:ln w="12700">
            <a:solidFill>
              <a:srgbClr val="146EB4"/>
            </a:solidFill>
            <a:prstDash val="solid"/>
          </a:ln>
        </p:spPr>
      </p:sp>
      <p:sp>
        <p:nvSpPr>
          <p:cNvPr id="11" name="Text 9"/>
          <p:cNvSpPr/>
          <p:nvPr/>
        </p:nvSpPr>
        <p:spPr>
          <a:xfrm>
            <a:off x="6720840" y="1828800"/>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RA3 value?</a:t>
            </a:r>
            <a:endParaRPr lang="en-US" sz="1400" dirty="0"/>
          </a:p>
        </p:txBody>
      </p:sp>
      <p:sp>
        <p:nvSpPr>
          <p:cNvPr id="12" name="Text 10"/>
          <p:cNvSpPr/>
          <p:nvPr/>
        </p:nvSpPr>
        <p:spPr>
          <a:xfrm>
            <a:off x="6492240" y="2267712"/>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Managed storage grows independently while compute is sized for processing.</a:t>
            </a:r>
            <a:endParaRPr lang="en-US" sz="1150" dirty="0"/>
          </a:p>
        </p:txBody>
      </p:sp>
      <p:sp>
        <p:nvSpPr>
          <p:cNvPr id="13" name="Shape 11"/>
          <p:cNvSpPr/>
          <p:nvPr/>
        </p:nvSpPr>
        <p:spPr>
          <a:xfrm>
            <a:off x="594360" y="3154680"/>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4" name="Shape 12"/>
          <p:cNvSpPr/>
          <p:nvPr/>
        </p:nvSpPr>
        <p:spPr>
          <a:xfrm>
            <a:off x="804672" y="3374136"/>
            <a:ext cx="137160" cy="137160"/>
          </a:xfrm>
          <a:prstGeom prst="ellipse">
            <a:avLst/>
          </a:prstGeom>
          <a:solidFill>
            <a:srgbClr val="FF9900"/>
          </a:solidFill>
          <a:ln w="12700">
            <a:solidFill>
              <a:srgbClr val="FF9900"/>
            </a:solidFill>
            <a:prstDash val="solid"/>
          </a:ln>
        </p:spPr>
      </p:sp>
      <p:sp>
        <p:nvSpPr>
          <p:cNvPr id="15" name="Text 13"/>
          <p:cNvSpPr/>
          <p:nvPr/>
        </p:nvSpPr>
        <p:spPr>
          <a:xfrm>
            <a:off x="1051560" y="3310128"/>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Concurrency scaling?</a:t>
            </a:r>
            <a:endParaRPr lang="en-US" sz="1400" dirty="0"/>
          </a:p>
        </p:txBody>
      </p:sp>
      <p:sp>
        <p:nvSpPr>
          <p:cNvPr id="16" name="Text 14"/>
          <p:cNvSpPr/>
          <p:nvPr/>
        </p:nvSpPr>
        <p:spPr>
          <a:xfrm>
            <a:off x="822960" y="3749040"/>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Temporary capacity for eligible WLM-queued demand; measure usage and eligibility.</a:t>
            </a:r>
            <a:endParaRPr lang="en-US" sz="1150" dirty="0"/>
          </a:p>
        </p:txBody>
      </p:sp>
      <p:sp>
        <p:nvSpPr>
          <p:cNvPr id="17" name="Shape 15"/>
          <p:cNvSpPr/>
          <p:nvPr/>
        </p:nvSpPr>
        <p:spPr>
          <a:xfrm>
            <a:off x="6263640" y="3154680"/>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18" name="Shape 16"/>
          <p:cNvSpPr/>
          <p:nvPr/>
        </p:nvSpPr>
        <p:spPr>
          <a:xfrm>
            <a:off x="6473952" y="3374136"/>
            <a:ext cx="137160" cy="137160"/>
          </a:xfrm>
          <a:prstGeom prst="ellipse">
            <a:avLst/>
          </a:prstGeom>
          <a:solidFill>
            <a:srgbClr val="146EB4"/>
          </a:solidFill>
          <a:ln w="12700">
            <a:solidFill>
              <a:srgbClr val="146EB4"/>
            </a:solidFill>
            <a:prstDash val="solid"/>
          </a:ln>
        </p:spPr>
      </p:sp>
      <p:sp>
        <p:nvSpPr>
          <p:cNvPr id="19" name="Text 17"/>
          <p:cNvSpPr/>
          <p:nvPr/>
        </p:nvSpPr>
        <p:spPr>
          <a:xfrm>
            <a:off x="6720840" y="3310128"/>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Spectrum or load?</a:t>
            </a:r>
            <a:endParaRPr lang="en-US" sz="1400" dirty="0"/>
          </a:p>
        </p:txBody>
      </p:sp>
      <p:sp>
        <p:nvSpPr>
          <p:cNvPr id="20" name="Text 18"/>
          <p:cNvSpPr/>
          <p:nvPr/>
        </p:nvSpPr>
        <p:spPr>
          <a:xfrm>
            <a:off x="6492240" y="3749040"/>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External for selective/rare lake access; load for frequent low-latency joins.</a:t>
            </a:r>
            <a:endParaRPr lang="en-US" sz="1150" dirty="0"/>
          </a:p>
        </p:txBody>
      </p:sp>
      <p:sp>
        <p:nvSpPr>
          <p:cNvPr id="21" name="Shape 19"/>
          <p:cNvSpPr/>
          <p:nvPr/>
        </p:nvSpPr>
        <p:spPr>
          <a:xfrm>
            <a:off x="594360" y="4636008"/>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22" name="Shape 20"/>
          <p:cNvSpPr/>
          <p:nvPr/>
        </p:nvSpPr>
        <p:spPr>
          <a:xfrm>
            <a:off x="804672" y="4855464"/>
            <a:ext cx="137160" cy="137160"/>
          </a:xfrm>
          <a:prstGeom prst="ellipse">
            <a:avLst/>
          </a:prstGeom>
          <a:solidFill>
            <a:srgbClr val="FF9900"/>
          </a:solidFill>
          <a:ln w="12700">
            <a:solidFill>
              <a:srgbClr val="FF9900"/>
            </a:solidFill>
            <a:prstDash val="solid"/>
          </a:ln>
        </p:spPr>
      </p:sp>
      <p:sp>
        <p:nvSpPr>
          <p:cNvPr id="23" name="Text 21"/>
          <p:cNvSpPr/>
          <p:nvPr/>
        </p:nvSpPr>
        <p:spPr>
          <a:xfrm>
            <a:off x="1051560" y="4791456"/>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WLM value?</a:t>
            </a:r>
            <a:endParaRPr lang="en-US" sz="1400" dirty="0"/>
          </a:p>
        </p:txBody>
      </p:sp>
      <p:sp>
        <p:nvSpPr>
          <p:cNvPr id="24" name="Text 22"/>
          <p:cNvSpPr/>
          <p:nvPr/>
        </p:nvSpPr>
        <p:spPr>
          <a:xfrm>
            <a:off x="822960" y="5230368"/>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Admission control and service-level protection, not query-plan repair.</a:t>
            </a:r>
            <a:endParaRPr lang="en-US" sz="1150" dirty="0"/>
          </a:p>
        </p:txBody>
      </p:sp>
      <p:sp>
        <p:nvSpPr>
          <p:cNvPr id="25" name="Shape 23"/>
          <p:cNvSpPr/>
          <p:nvPr/>
        </p:nvSpPr>
        <p:spPr>
          <a:xfrm>
            <a:off x="6263640" y="4636008"/>
            <a:ext cx="5303520" cy="1188720"/>
          </a:xfrm>
          <a:prstGeom prst="roundRect">
            <a:avLst>
              <a:gd name="adj" fmla="val 7692"/>
            </a:avLst>
          </a:prstGeom>
          <a:solidFill>
            <a:srgbClr val="FFFFFF"/>
          </a:solidFill>
          <a:ln w="12700">
            <a:solidFill>
              <a:srgbClr val="E5E5EA"/>
            </a:solidFill>
            <a:prstDash val="solid"/>
          </a:ln>
          <a:effectLst>
            <a:outerShdw blurRad="13970" dist="12700" dir="2700000" algn="bl" rotWithShape="0">
              <a:srgbClr val="000000">
                <a:alpha val="10000"/>
              </a:srgbClr>
            </a:outerShdw>
          </a:effectLst>
        </p:spPr>
      </p:sp>
      <p:sp>
        <p:nvSpPr>
          <p:cNvPr id="26" name="Shape 24"/>
          <p:cNvSpPr/>
          <p:nvPr/>
        </p:nvSpPr>
        <p:spPr>
          <a:xfrm>
            <a:off x="6473952" y="4855464"/>
            <a:ext cx="137160" cy="137160"/>
          </a:xfrm>
          <a:prstGeom prst="ellipse">
            <a:avLst/>
          </a:prstGeom>
          <a:solidFill>
            <a:srgbClr val="146EB4"/>
          </a:solidFill>
          <a:ln w="12700">
            <a:solidFill>
              <a:srgbClr val="146EB4"/>
            </a:solidFill>
            <a:prstDash val="solid"/>
          </a:ln>
        </p:spPr>
      </p:sp>
      <p:sp>
        <p:nvSpPr>
          <p:cNvPr id="27" name="Text 25"/>
          <p:cNvSpPr/>
          <p:nvPr/>
        </p:nvSpPr>
        <p:spPr>
          <a:xfrm>
            <a:off x="6720840" y="4791456"/>
            <a:ext cx="4645152" cy="292608"/>
          </a:xfrm>
          <a:prstGeom prst="rect">
            <a:avLst/>
          </a:prstGeom>
          <a:noFill/>
          <a:ln/>
        </p:spPr>
        <p:txBody>
          <a:bodyPr wrap="square" lIns="0" tIns="0" rIns="0" bIns="0" rtlCol="0" anchor="ctr"/>
          <a:lstStyle/>
          <a:p>
            <a:pPr marL="0" indent="0">
              <a:buNone/>
            </a:pPr>
            <a:r>
              <a:rPr lang="en-US" sz="1400" b="1" dirty="0">
                <a:solidFill>
                  <a:srgbClr val="1D1D1F"/>
                </a:solidFill>
              </a:rPr>
              <a:t>Serverless or provisioned?</a:t>
            </a:r>
            <a:endParaRPr lang="en-US" sz="1400" dirty="0"/>
          </a:p>
        </p:txBody>
      </p:sp>
      <p:sp>
        <p:nvSpPr>
          <p:cNvPr id="28" name="Text 26"/>
          <p:cNvSpPr/>
          <p:nvPr/>
        </p:nvSpPr>
        <p:spPr>
          <a:xfrm>
            <a:off x="6492240" y="5230368"/>
            <a:ext cx="4846320" cy="438912"/>
          </a:xfrm>
          <a:prstGeom prst="rect">
            <a:avLst/>
          </a:prstGeom>
          <a:noFill/>
          <a:ln/>
        </p:spPr>
        <p:txBody>
          <a:bodyPr wrap="square" lIns="0" tIns="0" rIns="0" bIns="0" rtlCol="0" anchor="ctr">
            <a:normAutofit/>
          </a:bodyPr>
          <a:lstStyle/>
          <a:p>
            <a:pPr marL="0" indent="0">
              <a:buNone/>
            </a:pPr>
            <a:r>
              <a:rPr lang="en-US" sz="1150" dirty="0">
                <a:solidFill>
                  <a:srgbClr val="6E6E73"/>
                </a:solidFill>
              </a:rPr>
              <a:t>Choose based on demand shape, control, commitment, and operating model.</a:t>
            </a:r>
            <a:endParaRPr lang="en-US" sz="1150" dirty="0"/>
          </a:p>
        </p:txBody>
      </p:sp>
      <p:sp>
        <p:nvSpPr>
          <p:cNvPr id="29"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1" cy="1"/>
          <a:chOff x="0" y="0"/>
          <a:chExt cx="1" cy="1"/>
        </a:xfrm>
      </p:grpSpPr>
      <p:sp>
        <p:nvSpPr>
          <p:cNvPr id="2" name="Text 0"/>
          <p:cNvSpPr/>
          <p:nvPr/>
        </p:nvSpPr>
        <p:spPr>
          <a:xfrm>
            <a:off x="594360" y="475488"/>
            <a:ext cx="4572000" cy="201168"/>
          </a:xfrm>
          <a:prstGeom prst="rect">
            <a:avLst/>
          </a:prstGeom>
          <a:noFill/>
          <a:ln/>
        </p:spPr>
        <p:txBody>
          <a:bodyPr wrap="square" lIns="0" tIns="0" rIns="0" bIns="0" rtlCol="0" anchor="ctr"/>
          <a:lstStyle/>
          <a:p>
            <a:pPr marL="0" indent="0">
              <a:buNone/>
            </a:pPr>
            <a:r>
              <a:rPr lang="en-US" sz="1000" b="1" kern="0" spc="150" dirty="0">
                <a:solidFill>
                  <a:srgbClr val="FF9900"/>
                </a:solidFill>
              </a:rPr>
              <a:t>FINAL MEMORY MAP</a:t>
            </a:r>
            <a:endParaRPr lang="en-US" sz="1000" dirty="0"/>
          </a:p>
        </p:txBody>
      </p:sp>
      <p:sp>
        <p:nvSpPr>
          <p:cNvPr id="3" name="Text 1"/>
          <p:cNvSpPr/>
          <p:nvPr/>
        </p:nvSpPr>
        <p:spPr>
          <a:xfrm>
            <a:off x="594360" y="786384"/>
            <a:ext cx="10972800" cy="530352"/>
          </a:xfrm>
          <a:prstGeom prst="rect">
            <a:avLst/>
          </a:prstGeom>
          <a:noFill/>
          <a:ln/>
        </p:spPr>
        <p:txBody>
          <a:bodyPr wrap="square" lIns="0" tIns="0" rIns="0" bIns="0" rtlCol="0" anchor="ctr"/>
          <a:lstStyle/>
          <a:p>
            <a:pPr marL="0" indent="0">
              <a:buNone/>
            </a:pPr>
            <a:r>
              <a:rPr lang="en-US" sz="2800" b="1" dirty="0">
                <a:solidFill>
                  <a:srgbClr val="1D1D1F"/>
                </a:solidFill>
              </a:rPr>
              <a:t>Five questions before spending more</a:t>
            </a:r>
            <a:endParaRPr lang="en-US" sz="2800" dirty="0"/>
          </a:p>
        </p:txBody>
      </p:sp>
      <p:sp>
        <p:nvSpPr>
          <p:cNvPr id="4" name="Text 2"/>
          <p:cNvSpPr/>
          <p:nvPr/>
        </p:nvSpPr>
        <p:spPr>
          <a:xfrm>
            <a:off x="612648" y="1389888"/>
            <a:ext cx="10789920" cy="274320"/>
          </a:xfrm>
          <a:prstGeom prst="rect">
            <a:avLst/>
          </a:prstGeom>
          <a:noFill/>
          <a:ln/>
        </p:spPr>
        <p:txBody>
          <a:bodyPr wrap="square" lIns="0" tIns="0" rIns="0" bIns="0" rtlCol="0" anchor="ctr"/>
          <a:lstStyle/>
          <a:p>
            <a:pPr marL="0" indent="0">
              <a:buNone/>
            </a:pPr>
            <a:r>
              <a:rPr lang="en-US" sz="1400" dirty="0">
                <a:solidFill>
                  <a:srgbClr val="6E6E73"/>
                </a:solidFill>
              </a:rPr>
              <a:t>Use this sequence in design and incident reviews.</a:t>
            </a:r>
            <a:endParaRPr lang="en-US" sz="1400" dirty="0"/>
          </a:p>
        </p:txBody>
      </p:sp>
      <p:sp>
        <p:nvSpPr>
          <p:cNvPr id="5" name="Shape 3"/>
          <p:cNvSpPr/>
          <p:nvPr/>
        </p:nvSpPr>
        <p:spPr>
          <a:xfrm>
            <a:off x="713232" y="1783080"/>
            <a:ext cx="1234440" cy="347472"/>
          </a:xfrm>
          <a:prstGeom prst="roundRect">
            <a:avLst>
              <a:gd name="adj" fmla="val 47368"/>
            </a:avLst>
          </a:prstGeom>
          <a:solidFill>
            <a:srgbClr val="FF9900"/>
          </a:solidFill>
          <a:ln w="12700">
            <a:solidFill>
              <a:srgbClr val="FF9900"/>
            </a:solidFill>
            <a:prstDash val="solid"/>
          </a:ln>
        </p:spPr>
      </p:sp>
      <p:sp>
        <p:nvSpPr>
          <p:cNvPr id="6" name="Text 4"/>
          <p:cNvSpPr/>
          <p:nvPr/>
        </p:nvSpPr>
        <p:spPr>
          <a:xfrm>
            <a:off x="713232" y="1837944"/>
            <a:ext cx="1234440" cy="182880"/>
          </a:xfrm>
          <a:prstGeom prst="rect">
            <a:avLst/>
          </a:prstGeom>
          <a:noFill/>
          <a:ln/>
        </p:spPr>
        <p:txBody>
          <a:bodyPr wrap="square" lIns="0" tIns="0" rIns="0" bIns="0" rtlCol="0" anchor="ctr"/>
          <a:lstStyle/>
          <a:p>
            <a:pPr marL="0" indent="0" algn="ctr">
              <a:buNone/>
            </a:pPr>
            <a:r>
              <a:rPr lang="en-US" sz="1000" b="1" dirty="0">
                <a:solidFill>
                  <a:srgbClr val="FFFFFF"/>
                </a:solidFill>
              </a:rPr>
              <a:t>WAIT</a:t>
            </a:r>
            <a:endParaRPr lang="en-US" sz="1000" dirty="0"/>
          </a:p>
        </p:txBody>
      </p:sp>
      <p:sp>
        <p:nvSpPr>
          <p:cNvPr id="7" name="Text 5"/>
          <p:cNvSpPr/>
          <p:nvPr/>
        </p:nvSpPr>
        <p:spPr>
          <a:xfrm>
            <a:off x="2240280" y="1792224"/>
            <a:ext cx="8778240" cy="301752"/>
          </a:xfrm>
          <a:prstGeom prst="rect">
            <a:avLst/>
          </a:prstGeom>
          <a:noFill/>
          <a:ln/>
        </p:spPr>
        <p:txBody>
          <a:bodyPr wrap="square" lIns="0" tIns="0" rIns="0" bIns="0" rtlCol="0" anchor="ctr"/>
          <a:lstStyle/>
          <a:p>
            <a:pPr marL="0" indent="0">
              <a:buNone/>
            </a:pPr>
            <a:r>
              <a:rPr lang="en-US" sz="1900" b="1" dirty="0">
                <a:solidFill>
                  <a:srgbClr val="1D1D1F"/>
                </a:solidFill>
              </a:rPr>
              <a:t>Is the query queued or executing?</a:t>
            </a:r>
            <a:endParaRPr lang="en-US" sz="1900" dirty="0"/>
          </a:p>
        </p:txBody>
      </p:sp>
      <p:sp>
        <p:nvSpPr>
          <p:cNvPr id="8" name="Shape 6"/>
          <p:cNvSpPr/>
          <p:nvPr/>
        </p:nvSpPr>
        <p:spPr>
          <a:xfrm>
            <a:off x="713232" y="2606040"/>
            <a:ext cx="1234440" cy="347472"/>
          </a:xfrm>
          <a:prstGeom prst="roundRect">
            <a:avLst>
              <a:gd name="adj" fmla="val 47368"/>
            </a:avLst>
          </a:prstGeom>
          <a:solidFill>
            <a:srgbClr val="146EB4"/>
          </a:solidFill>
          <a:ln w="12700">
            <a:solidFill>
              <a:srgbClr val="146EB4"/>
            </a:solidFill>
            <a:prstDash val="solid"/>
          </a:ln>
        </p:spPr>
      </p:sp>
      <p:sp>
        <p:nvSpPr>
          <p:cNvPr id="9" name="Text 7"/>
          <p:cNvSpPr/>
          <p:nvPr/>
        </p:nvSpPr>
        <p:spPr>
          <a:xfrm>
            <a:off x="713232" y="2660904"/>
            <a:ext cx="1234440" cy="182880"/>
          </a:xfrm>
          <a:prstGeom prst="rect">
            <a:avLst/>
          </a:prstGeom>
          <a:noFill/>
          <a:ln/>
        </p:spPr>
        <p:txBody>
          <a:bodyPr wrap="square" lIns="0" tIns="0" rIns="0" bIns="0" rtlCol="0" anchor="ctr"/>
          <a:lstStyle/>
          <a:p>
            <a:pPr marL="0" indent="0" algn="ctr">
              <a:buNone/>
            </a:pPr>
            <a:r>
              <a:rPr lang="en-US" sz="1000" b="1" dirty="0">
                <a:solidFill>
                  <a:srgbClr val="FFFFFF"/>
                </a:solidFill>
              </a:rPr>
              <a:t>WORK</a:t>
            </a:r>
            <a:endParaRPr lang="en-US" sz="1000" dirty="0"/>
          </a:p>
        </p:txBody>
      </p:sp>
      <p:sp>
        <p:nvSpPr>
          <p:cNvPr id="10" name="Text 8"/>
          <p:cNvSpPr/>
          <p:nvPr/>
        </p:nvSpPr>
        <p:spPr>
          <a:xfrm>
            <a:off x="2240280" y="2615184"/>
            <a:ext cx="8778240" cy="301752"/>
          </a:xfrm>
          <a:prstGeom prst="rect">
            <a:avLst/>
          </a:prstGeom>
          <a:noFill/>
          <a:ln/>
        </p:spPr>
        <p:txBody>
          <a:bodyPr wrap="square" lIns="0" tIns="0" rIns="0" bIns="0" rtlCol="0" anchor="ctr"/>
          <a:lstStyle/>
          <a:p>
            <a:pPr marL="0" indent="0">
              <a:buNone/>
            </a:pPr>
            <a:r>
              <a:rPr lang="en-US" sz="1900" b="1" dirty="0">
                <a:solidFill>
                  <a:srgbClr val="1D1D1F"/>
                </a:solidFill>
              </a:rPr>
              <a:t>Is it scanning, moving, spilling, or skewed?</a:t>
            </a:r>
            <a:endParaRPr lang="en-US" sz="1900" dirty="0"/>
          </a:p>
        </p:txBody>
      </p:sp>
      <p:sp>
        <p:nvSpPr>
          <p:cNvPr id="11" name="Shape 9"/>
          <p:cNvSpPr/>
          <p:nvPr/>
        </p:nvSpPr>
        <p:spPr>
          <a:xfrm>
            <a:off x="713232" y="3429000"/>
            <a:ext cx="1234440" cy="347472"/>
          </a:xfrm>
          <a:prstGeom prst="roundRect">
            <a:avLst>
              <a:gd name="adj" fmla="val 47368"/>
            </a:avLst>
          </a:prstGeom>
          <a:solidFill>
            <a:srgbClr val="AF52DE"/>
          </a:solidFill>
          <a:ln w="12700">
            <a:solidFill>
              <a:srgbClr val="AF52DE"/>
            </a:solidFill>
            <a:prstDash val="solid"/>
          </a:ln>
        </p:spPr>
      </p:sp>
      <p:sp>
        <p:nvSpPr>
          <p:cNvPr id="12" name="Text 10"/>
          <p:cNvSpPr/>
          <p:nvPr/>
        </p:nvSpPr>
        <p:spPr>
          <a:xfrm>
            <a:off x="713232" y="3483864"/>
            <a:ext cx="1234440" cy="182880"/>
          </a:xfrm>
          <a:prstGeom prst="rect">
            <a:avLst/>
          </a:prstGeom>
          <a:noFill/>
          <a:ln/>
        </p:spPr>
        <p:txBody>
          <a:bodyPr wrap="square" lIns="0" tIns="0" rIns="0" bIns="0" rtlCol="0" anchor="ctr"/>
          <a:lstStyle/>
          <a:p>
            <a:pPr marL="0" indent="0" algn="ctr">
              <a:buNone/>
            </a:pPr>
            <a:r>
              <a:rPr lang="en-US" sz="1000" b="1" dirty="0">
                <a:solidFill>
                  <a:srgbClr val="FFFFFF"/>
                </a:solidFill>
              </a:rPr>
              <a:t>CAPACITY</a:t>
            </a:r>
            <a:endParaRPr lang="en-US" sz="1000" dirty="0"/>
          </a:p>
        </p:txBody>
      </p:sp>
      <p:sp>
        <p:nvSpPr>
          <p:cNvPr id="13" name="Text 11"/>
          <p:cNvSpPr/>
          <p:nvPr/>
        </p:nvSpPr>
        <p:spPr>
          <a:xfrm>
            <a:off x="2240280" y="3438144"/>
            <a:ext cx="8778240" cy="301752"/>
          </a:xfrm>
          <a:prstGeom prst="rect">
            <a:avLst/>
          </a:prstGeom>
          <a:noFill/>
          <a:ln/>
        </p:spPr>
        <p:txBody>
          <a:bodyPr wrap="square" lIns="0" tIns="0" rIns="0" bIns="0" rtlCol="0" anchor="ctr"/>
          <a:lstStyle/>
          <a:p>
            <a:pPr marL="0" indent="0">
              <a:buNone/>
            </a:pPr>
            <a:r>
              <a:rPr lang="en-US" sz="1900" b="1" dirty="0">
                <a:solidFill>
                  <a:srgbClr val="1D1D1F"/>
                </a:solidFill>
              </a:rPr>
              <a:t>Is demand steady, scheduled, or bursty?</a:t>
            </a:r>
            <a:endParaRPr lang="en-US" sz="1900" dirty="0"/>
          </a:p>
        </p:txBody>
      </p:sp>
      <p:sp>
        <p:nvSpPr>
          <p:cNvPr id="14" name="Shape 12"/>
          <p:cNvSpPr/>
          <p:nvPr/>
        </p:nvSpPr>
        <p:spPr>
          <a:xfrm>
            <a:off x="713232" y="4251960"/>
            <a:ext cx="1234440" cy="347472"/>
          </a:xfrm>
          <a:prstGeom prst="roundRect">
            <a:avLst>
              <a:gd name="adj" fmla="val 47368"/>
            </a:avLst>
          </a:prstGeom>
          <a:solidFill>
            <a:srgbClr val="30D158"/>
          </a:solidFill>
          <a:ln w="12700">
            <a:solidFill>
              <a:srgbClr val="30D158"/>
            </a:solidFill>
            <a:prstDash val="solid"/>
          </a:ln>
        </p:spPr>
      </p:sp>
      <p:sp>
        <p:nvSpPr>
          <p:cNvPr id="15" name="Text 13"/>
          <p:cNvSpPr/>
          <p:nvPr/>
        </p:nvSpPr>
        <p:spPr>
          <a:xfrm>
            <a:off x="713232" y="4306824"/>
            <a:ext cx="1234440" cy="182880"/>
          </a:xfrm>
          <a:prstGeom prst="rect">
            <a:avLst/>
          </a:prstGeom>
          <a:noFill/>
          <a:ln/>
        </p:spPr>
        <p:txBody>
          <a:bodyPr wrap="square" lIns="0" tIns="0" rIns="0" bIns="0" rtlCol="0" anchor="ctr"/>
          <a:lstStyle/>
          <a:p>
            <a:pPr marL="0" indent="0" algn="ctr">
              <a:buNone/>
            </a:pPr>
            <a:r>
              <a:rPr lang="en-US" sz="1000" b="1" dirty="0">
                <a:solidFill>
                  <a:srgbClr val="FFFFFF"/>
                </a:solidFill>
              </a:rPr>
              <a:t>PLACEMENT</a:t>
            </a:r>
            <a:endParaRPr lang="en-US" sz="1000" dirty="0"/>
          </a:p>
        </p:txBody>
      </p:sp>
      <p:sp>
        <p:nvSpPr>
          <p:cNvPr id="16" name="Text 14"/>
          <p:cNvSpPr/>
          <p:nvPr/>
        </p:nvSpPr>
        <p:spPr>
          <a:xfrm>
            <a:off x="2240280" y="4261104"/>
            <a:ext cx="8778240" cy="301752"/>
          </a:xfrm>
          <a:prstGeom prst="rect">
            <a:avLst/>
          </a:prstGeom>
          <a:noFill/>
          <a:ln/>
        </p:spPr>
        <p:txBody>
          <a:bodyPr wrap="square" lIns="0" tIns="0" rIns="0" bIns="0" rtlCol="0" anchor="ctr"/>
          <a:lstStyle/>
          <a:p>
            <a:pPr marL="0" indent="0">
              <a:buNone/>
            </a:pPr>
            <a:r>
              <a:rPr lang="en-US" sz="1900" b="1" dirty="0">
                <a:solidFill>
                  <a:srgbClr val="1D1D1F"/>
                </a:solidFill>
              </a:rPr>
              <a:t>Should the data be managed-storage hot or S3 external?</a:t>
            </a:r>
            <a:endParaRPr lang="en-US" sz="1900" dirty="0"/>
          </a:p>
        </p:txBody>
      </p:sp>
      <p:sp>
        <p:nvSpPr>
          <p:cNvPr id="17" name="Shape 15"/>
          <p:cNvSpPr/>
          <p:nvPr/>
        </p:nvSpPr>
        <p:spPr>
          <a:xfrm>
            <a:off x="713232" y="5074920"/>
            <a:ext cx="1234440" cy="347472"/>
          </a:xfrm>
          <a:prstGeom prst="roundRect">
            <a:avLst>
              <a:gd name="adj" fmla="val 47368"/>
            </a:avLst>
          </a:prstGeom>
          <a:solidFill>
            <a:srgbClr val="E71510"/>
          </a:solidFill>
          <a:ln w="12700">
            <a:solidFill>
              <a:srgbClr val="E71510"/>
            </a:solidFill>
            <a:prstDash val="solid"/>
          </a:ln>
        </p:spPr>
      </p:sp>
      <p:sp>
        <p:nvSpPr>
          <p:cNvPr id="18" name="Text 16"/>
          <p:cNvSpPr/>
          <p:nvPr/>
        </p:nvSpPr>
        <p:spPr>
          <a:xfrm>
            <a:off x="713232" y="5129784"/>
            <a:ext cx="1234440" cy="182880"/>
          </a:xfrm>
          <a:prstGeom prst="rect">
            <a:avLst/>
          </a:prstGeom>
          <a:noFill/>
          <a:ln/>
        </p:spPr>
        <p:txBody>
          <a:bodyPr wrap="square" lIns="0" tIns="0" rIns="0" bIns="0" rtlCol="0" anchor="ctr"/>
          <a:lstStyle/>
          <a:p>
            <a:pPr marL="0" indent="0" algn="ctr">
              <a:buNone/>
            </a:pPr>
            <a:r>
              <a:rPr lang="en-US" sz="1000" b="1" dirty="0">
                <a:solidFill>
                  <a:srgbClr val="FFFFFF"/>
                </a:solidFill>
              </a:rPr>
              <a:t>ECONOMICS</a:t>
            </a:r>
            <a:endParaRPr lang="en-US" sz="1000" dirty="0"/>
          </a:p>
        </p:txBody>
      </p:sp>
      <p:sp>
        <p:nvSpPr>
          <p:cNvPr id="19" name="Text 17"/>
          <p:cNvSpPr/>
          <p:nvPr/>
        </p:nvSpPr>
        <p:spPr>
          <a:xfrm>
            <a:off x="2240280" y="5084064"/>
            <a:ext cx="8778240" cy="301752"/>
          </a:xfrm>
          <a:prstGeom prst="rect">
            <a:avLst/>
          </a:prstGeom>
          <a:noFill/>
          <a:ln/>
        </p:spPr>
        <p:txBody>
          <a:bodyPr wrap="square" lIns="0" tIns="0" rIns="0" bIns="0" rtlCol="0" anchor="ctr"/>
          <a:lstStyle/>
          <a:p>
            <a:pPr marL="0" indent="0">
              <a:buNone/>
            </a:pPr>
            <a:r>
              <a:rPr lang="en-US" sz="1900" b="1" dirty="0">
                <a:solidFill>
                  <a:srgbClr val="1D1D1F"/>
                </a:solidFill>
              </a:rPr>
              <a:t>Which meter changes, and what SLA must remain?</a:t>
            </a:r>
            <a:endParaRPr lang="en-US" sz="1900" dirty="0"/>
          </a:p>
        </p:txBody>
      </p:sp>
      <p:sp>
        <p:nvSpPr>
          <p:cNvPr id="20" name="Shape 18"/>
          <p:cNvSpPr/>
          <p:nvPr/>
        </p:nvSpPr>
        <p:spPr>
          <a:xfrm>
            <a:off x="1234440" y="5989320"/>
            <a:ext cx="9692640" cy="384048"/>
          </a:xfrm>
          <a:prstGeom prst="roundRect">
            <a:avLst>
              <a:gd name="adj" fmla="val 35714"/>
            </a:avLst>
          </a:prstGeom>
          <a:solidFill>
            <a:srgbClr val="1D1D1F"/>
          </a:solidFill>
          <a:ln w="12700">
            <a:solidFill>
              <a:srgbClr val="1D1D1F"/>
            </a:solidFill>
            <a:prstDash val="solid"/>
          </a:ln>
        </p:spPr>
      </p:sp>
      <p:sp>
        <p:nvSpPr>
          <p:cNvPr id="21" name="Text 19"/>
          <p:cNvSpPr/>
          <p:nvPr/>
        </p:nvSpPr>
        <p:spPr>
          <a:xfrm>
            <a:off x="1508760" y="6080760"/>
            <a:ext cx="9144000" cy="182880"/>
          </a:xfrm>
          <a:prstGeom prst="rect">
            <a:avLst/>
          </a:prstGeom>
          <a:noFill/>
          <a:ln/>
        </p:spPr>
        <p:txBody>
          <a:bodyPr wrap="square" lIns="0" tIns="0" rIns="0" bIns="0" rtlCol="0" anchor="ctr"/>
          <a:lstStyle/>
          <a:p>
            <a:pPr marL="0" indent="0" algn="ctr">
              <a:buNone/>
            </a:pPr>
            <a:r>
              <a:rPr lang="en-US" sz="1300" b="1" dirty="0">
                <a:solidFill>
                  <a:srgbClr val="FFFFFF"/>
                </a:solidFill>
              </a:rPr>
              <a:t>Architecture explains the bill. Measurement chooses the lever.</a:t>
            </a:r>
            <a:endParaRPr lang="en-US" sz="1300" dirty="0"/>
          </a:p>
        </p:txBody>
      </p:sp>
      <p:sp>
        <p:nvSpPr>
          <p:cNvPr id="25" name="Slide Number Placeholder 0"/>
          <p:cNvSpPr>
            <a:spLocks noGrp="1"/>
          </p:cNvSpPr>
          <p:nvPr>
            <p:ph type="sldNum" sz="quarter" idx="4294967295"/>
          </p:nvPr>
        </p:nvSpPr>
        <p:spPr>
          <a:xfrm>
            <a:off x="11658600" y="6492240"/>
            <a:ext cx="228600" cy="182880"/>
          </a:xfrm>
          <a:prstGeom prst="rect">
            <a:avLst/>
          </a:prstGeom>
          <a:extLst>
            <a:ext uri="{C572A759-6A51-4108-AA02-DFA0A04FC94B}">
              <ma14:wrappingTextBoxFlag xmlns:ma14="http://schemas.microsoft.com/office/mac/drawingml/2011/main" xmlns="" val="0"/>
            </a:ext>
          </a:extLst>
        </p:spPr>
        <p:txBody>
          <a:bodyPr/>
          <a:lstStyle>
            <a:lvl1pPr>
              <a:defRPr sz="800">
                <a:solidFill>
                  <a:srgbClr val="86868B"/>
                </a:solidFill>
              </a:defRPr>
            </a:lvl1pPr>
          </a:lstStyle>
          <a:p>
            <a:pPr algn="l"/>
            <a:fld id="{F7021451-1387-4CA6-816F-3879F97B5CBC}" type="slidenum">
              <a:rPr lang="en-US" b="0"/>
              <a:t>22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2a24df2-9dbc-4c60-8048-492eefd19d89}" enabled="1" method="Privileged" siteId="{d9124c3a-c50c-4124-bca5-b6f850cec9fa}" contentBits="0"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Redshift Architecture and Cost Masterclass</dc:title>
  <dc:subject>PptxGenJS Presentation</dc:subject>
  <dc:creator>Prem Vishnoi</dc:creator>
  <cp:lastModifiedBy>Prem Vishnoi</cp:lastModifiedBy>
  <cp:revision>4</cp:revision>
  <dcterms:created xsi:type="dcterms:W3CDTF">2026-10-04T08:48:27Z</dcterms:created>
  <dcterms:modified xsi:type="dcterms:W3CDTF">2026-10-04T08:59:26Z</dcterms:modified>
</cp:coreProperties>
</file>