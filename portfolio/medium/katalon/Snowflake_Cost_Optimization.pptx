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reframing cost optimization as economic engineering: preserve business service levels while removing idle time, over-provisioning, unnecessary scans, uncontrolled concurrency, and unattributed spend.
[Sources]
- https://docs.snowflake.com/en/user-guide/cost-management-overview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Snowflake’s visibility-control-optimization framework. Visibility answers where and why. Control prevents surprises. Optimization lowers resource consumption while maintaining the required outcome.
[Sources]
- https://docs.snowflake.com/en/user-guide/cost-management-overview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asserting a universal bill percentage. The cost mix varies by account. Start exploration with metering and usage views, then rank actual cost sources.
[Sources]
- https://docs.snowflake.com/en/user-guide/cost-management-overview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correct threshold depends on workload arrival patterns and service-level expectations. Measure idle gaps and resume behavior rather than copying one number everywhere.
[Sources]
- https://docs.snowflake.com/en/user-guide/cost-controlling-controls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out that MODIFY privilege allows changing settings that affect cost, including resizing and disabling auto-suspend. Centralized warehouse administration reduces accidental overruns.
[Sources]
- https://docs.snowflake.com/en/user-guide/cost-controlling-controls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the experiment: choose a representative workload, test adjacent warehouse sizes, compare elapsed time, queue time, and credits, then select the smallest option that meets the service level.
[Sources]
- https://docs.snowflake.com/en/user-guide/cost-controlling-controls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 testing with stable representative queries and comparable cache conditions. This method is an engineering recommendation; Snowflake documentation emphasizes governing resize permissions because users may forget to resize warehouses afterward.
[Sources]
- https://docs.snowflake.com/en/user-guide/cost-controlling-controls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Snowflake documents multi-cluster warehouses as a way to scale automatically with fluctuating workloads. Distinguish concurrency pressure from single-query inefficiency before changing configuration.
[Sources]
- https://docs.snowflake.com/en/user-guide/cost-controlling-controls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notification versus suspension. SUSPEND_IMMEDIATE can stop active work, so hard caps must reflect business criticality. Resource monitors focus on warehouse usage; budgets provide broader supported-object monitoring.
[Sources]
- https://docs.snowflake.com/en/user-guide/resource-monitors
- https://docs.snowflake.com/en/user-guide/cost-controlling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Treat the JSON tag structure as a suggested practice. Apply tags consistently through connection configuration, orchestration, transformation tooling, and BI integrations, then join usage to ownership.
[Sources]
- https://docs.snowflake.com/en/user-guide/cost-management-overview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micro-partition pruning conceptually. Clustering can improve selective queries on large tables with stable filter patterns, but maintenance consumes resources. Validate using pruning behavior and workload savings.
[Sources]
- https://docs.snowflake.com/en/user-guide/cost-optimize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rely on a fixed table-size rule. Cost-effectiveness depends on query selectivity, existing data organization, update patterns, and frequency. Measure before and after.
[Sources]
- https://docs.snowflake.com/en/user-guide/cost-optimize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Snowflake recommends statement timeouts to prevent hung or runaway statements consuming excessive credits. SQL recommendations are engineering guidance and should be validated against query profiles.
[Sources]
- https://docs.snowflake.com/en/user-guide/cost-controlling-controls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cost shifting explicit. Precomputation can reduce interactive query cost while increasing refresh or maintenance usage. Serverless costs need visibility and budget mechanisms appropriate to the feature.
[Sources]
- https://docs.snowflake.com/en/user-guide/cost-management-overview
- https://docs.snowflake.com/en/user-guide/cost-controlling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this to the organization’s existing emphasis on cleaning temporary and unused tables, job tagging, and reducing unnecessary duplication.
[Sources]
- Internal approach informed by Makro cost optimization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metering and usage history to identify the cost source; then use ownership metadata and query history to explain the change. The exact views available depend on the edition and feature.
[Sources]
- https://docs.snowflake.com/en/user-guide/cost-management-overview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Snowflake recommends carefully controlling who can create and modify warehouses. Add organizational practices for tagging, ownership, and recurring evidence-based review.
[Sources]
- https://docs.snowflake.com/en/user-guide/cost-controlling-controls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retail forecasting example relevant to the audience. The architecture is a suggested design pattern: isolate workload classes so policies, performance objectives, and chargeback are explicit.
[Sources]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participants to answer each question in the pattern: symptom, evidence, lever, tradeoff, verification.
[Sources]
- https://docs.snowflake.com/en/user-guide/cost-management-overview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having learners map each lever to rate, runtime, frequency, or work performed.
[Sources]
- https://docs.snowflake.com/en/user-guide/cost-management-overview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554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6E6E73"/>
                </a:solidFill>
              </a:rPr>
              <a:t>SNOWFLAKE COST OPTIMIZATION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784080" y="155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6868B"/>
                </a:solidFill>
              </a:rPr>
              <a:t>Prem Vishnoi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686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686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snowflake_ppt_work/generated_image_B1C67D9260AE_01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4D2FF"/>
                </a:solidFill>
              </a:rPr>
              <a:t>SNOWFLAKE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114300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Cost without compromise.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23317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5E5EA"/>
                </a:solidFill>
              </a:rPr>
              <a:t>How, why, and when to use every major cost lever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6035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1D6"/>
                </a:solidFill>
              </a:rPr>
              <a:t>Instructor-ready masterclass  |  Prem Vishnoi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9B5E8"/>
                </a:solidFill>
              </a:rPr>
              <a:t>MENTAL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</a:rPr>
              <a:t>Cost management has three jobs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898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3"/>
                </a:solidFill>
              </a:rPr>
              <a:t>See it. Bound it. Reduce the work.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0392" y="2093976"/>
            <a:ext cx="137160" cy="137160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0299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Visibility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29718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Understand usage, attribute spend, detect changes, and identify the workload owner.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87452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2093976"/>
            <a:ext cx="137160" cy="137160"/>
          </a:xfrm>
          <a:prstGeom prst="ellipse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20299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Control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2468880"/>
            <a:ext cx="29718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Budgets, resource monitors, access controls, query timeouts, and warehouse policies.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87452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48472" y="2093976"/>
            <a:ext cx="137160" cy="137160"/>
          </a:xfrm>
          <a:prstGeom prst="ellipse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20299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Optimization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66760" y="2468880"/>
            <a:ext cx="29718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Suspend idle compute, right-size, improve pruning, reuse results, and redesign expensive workloads.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6E73"/>
                </a:solidFill>
              </a:rPr>
              <a:t>A cost program fails when it optimizes before it can attribute.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686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9B5E8"/>
                </a:solidFill>
              </a:rPr>
              <a:t>BILLING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</a:rPr>
              <a:t>Think compute × runtime × frequency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898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3"/>
                </a:solidFill>
              </a:rPr>
              <a:t>Then add storage, data transfer, and serverless services.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166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0392" y="2002536"/>
            <a:ext cx="137160" cy="137160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93852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Compute rate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4709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Warehouse size or service consumption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166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2002536"/>
            <a:ext cx="137160" cy="137160"/>
          </a:xfrm>
          <a:prstGeom prst="ellipse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93852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Runtime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377440"/>
            <a:ext cx="4709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Seconds active or work performed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5166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0392" y="4014216"/>
            <a:ext cx="137160" cy="137160"/>
          </a:xfrm>
          <a:prstGeom prst="ellipse">
            <a:avLst/>
          </a:prstGeom>
          <a:solidFill>
            <a:srgbClr val="AF52DE"/>
          </a:solidFill>
          <a:ln w="12700">
            <a:solidFill>
              <a:srgbClr val="AF52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95020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Frequency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4389120"/>
            <a:ext cx="4709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How often the workload executes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3794760"/>
            <a:ext cx="5166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73952" y="4014216"/>
            <a:ext cx="137160" cy="137160"/>
          </a:xfrm>
          <a:prstGeom prst="ellipse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395020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Data scanned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4389120"/>
            <a:ext cx="4709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Work per execution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626364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6E73"/>
                </a:solidFill>
              </a:rPr>
              <a:t>Every lever changes rate, time, frequency, or work.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686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9B5E8"/>
                </a:solidFill>
              </a:rPr>
              <a:t>LEVER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</a:rPr>
              <a:t>Auto-suspend removes idle runtime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898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3"/>
                </a:solidFill>
              </a:rPr>
              <a:t>Why pay for a warehouse when no query is executing?</a:t>
            </a:r>
            <a:endParaRPr lang="en-US" sz="1400" dirty="0"/>
          </a:p>
        </p:txBody>
      </p:sp>
      <p:pic>
        <p:nvPicPr>
          <p:cNvPr id="5" name="Image 0" descr="/mnt/data/snowflake_ppt_work/generated_image_B1C67D9260AE_02.png"/>
          <p:cNvPicPr>
            <a:picLocks noChangeAspect="1"/>
          </p:cNvPicPr>
          <p:nvPr/>
        </p:nvPicPr>
        <p:blipFill>
          <a:blip r:embed="rId3"/>
          <a:srcRect l="7037" r="7037"/>
          <a:stretch/>
        </p:blipFill>
        <p:spPr>
          <a:xfrm>
            <a:off x="6309360" y="1828800"/>
            <a:ext cx="530352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2880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50392" y="2048256"/>
            <a:ext cx="137160" cy="137160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19842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HOW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2423160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Set AUTO_SUSPEND and AUTO_RESUME on each standard warehouse.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310896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50392" y="3328416"/>
            <a:ext cx="137160" cy="137160"/>
          </a:xfrm>
          <a:prstGeom prst="ellipse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326440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WHY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8680" y="3703320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Idle warehouses still consume credits while running.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" y="438912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50392" y="4608576"/>
            <a:ext cx="137160" cy="137160"/>
          </a:xfrm>
          <a:prstGeom prst="ellipse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97280" y="45445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WHEN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68680" y="4983480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Short for sporadic workloads; longer only when resume latency and repeated gaps justify it.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686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9B5E8"/>
                </a:solidFill>
              </a:rPr>
              <a:t>AUTO-SUSPEND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</a:rPr>
              <a:t>Tune the threshold to the workload rhythm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898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3"/>
                </a:solidFill>
              </a:rPr>
              <a:t>Too long wastes idle credits. Too short can create repeated resumes.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4937760" cy="1965960"/>
          </a:xfrm>
          <a:prstGeom prst="roundRect">
            <a:avLst>
              <a:gd name="adj" fmla="val 4651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212848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WAREHOUSE BI_WH SET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AUTO_SUSPEND = 60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AUTO_RESUME = TRUE;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35040" y="182880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45352" y="2048256"/>
            <a:ext cx="137160" cy="137160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98424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Interactive BI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2423160"/>
            <a:ext cx="4800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Balance idle savings against user-visible resume latency.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310896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45352" y="3328416"/>
            <a:ext cx="137160" cy="137160"/>
          </a:xfrm>
          <a:prstGeom prst="ellipse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326440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Scheduled ETL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3703320"/>
            <a:ext cx="4800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Suspend soon after the batch finishes and eliminate gaps between tasks.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438912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45352" y="4608576"/>
            <a:ext cx="137160" cy="137160"/>
          </a:xfrm>
          <a:prstGeom prst="ellipse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54456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Development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4983480"/>
            <a:ext cx="4800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Use aggressive suspension and restrict resize permissions.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4360" y="626364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6E73"/>
                </a:solidFill>
              </a:rPr>
              <a:t>Measure idle gaps, not opinions.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686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9B5E8"/>
                </a:solidFill>
              </a:rPr>
              <a:t>LEVER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</a:rPr>
              <a:t>Right-size against the SLA, not intuition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898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3"/>
                </a:solidFill>
              </a:rPr>
              <a:t>The cheapest warehouse is the one with the lowest cost for the required outcome.</a:t>
            </a:r>
            <a:endParaRPr lang="en-US" sz="1400" dirty="0"/>
          </a:p>
        </p:txBody>
      </p:sp>
      <p:pic>
        <p:nvPicPr>
          <p:cNvPr id="5" name="Image 0" descr="/mnt/data/snowflake_ppt_work/generated_image_B1C67D9260AE_03.png"/>
          <p:cNvPicPr>
            <a:picLocks noChangeAspect="1"/>
          </p:cNvPicPr>
          <p:nvPr/>
        </p:nvPicPr>
        <p:blipFill>
          <a:blip r:embed="rId3"/>
          <a:srcRect t="21312" b="21312"/>
          <a:stretch/>
        </p:blipFill>
        <p:spPr>
          <a:xfrm>
            <a:off x="0" y="1737360"/>
            <a:ext cx="12191695" cy="4663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5212080"/>
            <a:ext cx="10698480" cy="685800"/>
          </a:xfrm>
          <a:prstGeom prst="roundRect">
            <a:avLst>
              <a:gd name="adj" fmla="val 13333"/>
            </a:avLst>
          </a:prstGeom>
          <a:solidFill>
            <a:srgbClr val="000000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543153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Scale up for a small number of heavy queries  •  Scale out for concurrency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686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9B5E8"/>
                </a:solidFill>
              </a:rPr>
              <a:t>RIGHT-SIZING METHOD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</a:rPr>
              <a:t>Run a controlled performance-cost experiment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898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3"/>
                </a:solidFill>
              </a:rPr>
              <a:t>A faster query is not automatically a cheaper query.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502920" cy="347472"/>
          </a:xfrm>
          <a:prstGeom prst="roundRect">
            <a:avLst>
              <a:gd name="adj" fmla="val 47368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379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08760" y="17922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1D1F"/>
                </a:solidFill>
              </a:rPr>
              <a:t>Baseline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179222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</a:rPr>
              <a:t>Capture duration, queueing, bytes scanned, spill, credits.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807208"/>
            <a:ext cx="502920" cy="347472"/>
          </a:xfrm>
          <a:prstGeom prst="roundRect">
            <a:avLst>
              <a:gd name="adj" fmla="val 47368"/>
            </a:avLst>
          </a:prstGeom>
          <a:solidFill>
            <a:srgbClr val="AF52DE"/>
          </a:solidFill>
          <a:ln w="12700">
            <a:solidFill>
              <a:srgbClr val="AF52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620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08760" y="2816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1D1F"/>
                </a:solidFill>
              </a:rPr>
              <a:t>Change one variable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8163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</a:rPr>
              <a:t>Test one warehouse size up or down.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831336"/>
            <a:ext cx="502920" cy="347472"/>
          </a:xfrm>
          <a:prstGeom prst="roundRect">
            <a:avLst>
              <a:gd name="adj" fmla="val 47368"/>
            </a:avLst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886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08760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1D1F"/>
                </a:solidFill>
              </a:rPr>
              <a:t>Compare economics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4720" y="3840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</a:rPr>
              <a:t>Did latency improve proportionally to cost?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855464"/>
            <a:ext cx="502920" cy="347472"/>
          </a:xfrm>
          <a:prstGeom prst="roundRect">
            <a:avLst>
              <a:gd name="adj" fmla="val 47368"/>
            </a:avLst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9103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08760" y="4864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1D1F"/>
                </a:solidFill>
              </a:rPr>
              <a:t>Lock the policy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74720" y="48646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</a:rPr>
              <a:t>Document SLA, permitted size, owner, and rollback.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626364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6E73"/>
                </a:solidFill>
              </a:rPr>
              <a:t>Optimize cost per successful business workload, not credits per second alone.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686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9B5E8"/>
                </a:solidFill>
              </a:rPr>
              <a:t>CONCURRENCY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</a:rPr>
              <a:t>Multi-cluster solves queues, not one slow query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898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3"/>
                </a:solidFill>
              </a:rPr>
              <a:t>Choose scaling policy based on user experience and budget tolerance.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51663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48256"/>
            <a:ext cx="137160" cy="137160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98424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Scale 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47091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More resources for each cluster.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Use when individual queries need more compute and exhibit useful parallelism.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51663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65392" y="2048256"/>
            <a:ext cx="137160" cy="137160"/>
          </a:xfrm>
          <a:prstGeom prst="ellipse">
            <a:avLst/>
          </a:prstGeom>
          <a:solidFill>
            <a:srgbClr val="AF52DE"/>
          </a:solidFill>
          <a:ln w="12700">
            <a:solidFill>
              <a:srgbClr val="AF52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198424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Scale out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2423160"/>
            <a:ext cx="47091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More clusters serving concurrent work.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Use when queueing comes from many simultaneous queries.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965960" y="4892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1D1F"/>
                </a:solidFill>
              </a:rPr>
              <a:t>First diagnose: execution time or queue time?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686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9B5E8"/>
                </a:solidFill>
              </a:rPr>
              <a:t>LEVER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</a:rPr>
              <a:t>Resource monitors bound warehouse credit usage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898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3"/>
                </a:solidFill>
              </a:rPr>
              <a:t>Alerts create awareness. Suspend actions create enforcement.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5760720" cy="4114800"/>
          </a:xfrm>
          <a:prstGeom prst="roundRect">
            <a:avLst>
              <a:gd name="adj" fmla="val 2222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57400"/>
            <a:ext cx="5257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RESOURCE MONITOR MONTHLY_LIMIT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WITH CREDIT_QUOTA = 1000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FREQUENCY = MONTHLY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TRIGGERS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75 PERCENT DO NOTIFY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90 PERCENT DO NOTIFY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100 PERCENT DO SUSPEND_IMMEDIATE;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20840" y="1828800"/>
            <a:ext cx="4800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31152" y="2048256"/>
            <a:ext cx="137160" cy="137160"/>
          </a:xfrm>
          <a:prstGeom prst="ellipse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78040" y="198424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WHY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49440" y="242316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Catch abnormal warehouse usage before the billing period closes.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20840" y="3200400"/>
            <a:ext cx="4800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31152" y="3419856"/>
            <a:ext cx="137160" cy="137160"/>
          </a:xfrm>
          <a:prstGeom prst="ellipse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8040" y="335584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WHEN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49440" y="379476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Use for standard warehouse guardrails and accountable allocations.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720840" y="4572000"/>
            <a:ext cx="4800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31152" y="4791456"/>
            <a:ext cx="137160" cy="137160"/>
          </a:xfrm>
          <a:prstGeom prst="ellipse">
            <a:avLst/>
          </a:prstGeom>
          <a:solidFill>
            <a:srgbClr val="FF453A"/>
          </a:solidFill>
          <a:ln w="12700">
            <a:solidFill>
              <a:srgbClr val="FF45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472744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LIMIT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9440" y="516636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Resource monitors do not cover all serverless or AI service spending; use budgets where supported.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686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9B5E8"/>
                </a:solidFill>
              </a:rPr>
              <a:t>LEVER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</a:rPr>
              <a:t>Query tags turn spend into accountability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898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3"/>
                </a:solidFill>
              </a:rPr>
              <a:t>A warehouse name tells you where. A tag can tell you why.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0392" y="2048256"/>
            <a:ext cx="137160" cy="137160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98424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Tag dimensions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297180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team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application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pipeline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environment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cost_center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794760" cy="2651760"/>
          </a:xfrm>
          <a:prstGeom prst="roundRect">
            <a:avLst>
              <a:gd name="adj" fmla="val 3448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24028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SESSION SET QUERY_TAG =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'{"team":"supply_chain",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"app":"forecast",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"env":"prod"}';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03920" y="1828800"/>
            <a:ext cx="30632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714232" y="2048256"/>
            <a:ext cx="137160" cy="137160"/>
          </a:xfrm>
          <a:prstGeom prst="ellipse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0" y="198424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Use the tag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732520" y="2423160"/>
            <a:ext cx="260604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Showback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chargeback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spike triage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optimization ownership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" y="626364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6E73"/>
                </a:solidFill>
              </a:rPr>
              <a:t>Govern the vocabulary or tags become noise.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686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9B5E8"/>
                </a:solidFill>
              </a:rPr>
              <a:t>LEVER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</a:rPr>
              <a:t>Clustering reduces work through pruning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898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3"/>
                </a:solidFill>
              </a:rPr>
              <a:t>The question is not “Can we cluster?” It is “Will pruning savings exceed maintenance cost?”</a:t>
            </a:r>
            <a:endParaRPr lang="en-US" sz="1400" dirty="0"/>
          </a:p>
        </p:txBody>
      </p:sp>
      <p:pic>
        <p:nvPicPr>
          <p:cNvPr id="5" name="Image 0" descr="/mnt/data/snowflake_ppt_work/generated_image_B1C67D9260AE_04.png"/>
          <p:cNvPicPr>
            <a:picLocks noChangeAspect="1"/>
          </p:cNvPicPr>
          <p:nvPr/>
        </p:nvPicPr>
        <p:blipFill>
          <a:blip r:embed="rId3"/>
          <a:srcRect t="21031" b="21031"/>
          <a:stretch/>
        </p:blipFill>
        <p:spPr>
          <a:xfrm>
            <a:off x="0" y="1737360"/>
            <a:ext cx="12191695" cy="4709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5166360"/>
            <a:ext cx="10835640" cy="731520"/>
          </a:xfrm>
          <a:prstGeom prst="roundRect">
            <a:avLst>
              <a:gd name="adj" fmla="val 12500"/>
            </a:avLst>
          </a:prstGeom>
          <a:solidFill>
            <a:srgbClr val="000000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539496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Good clustering aligns frequently filtered columns with micro-partition organization.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686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9B5E8"/>
                </a:solidFill>
              </a:rPr>
              <a:t>CLUSTERING DECISION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</a:rPr>
              <a:t>Use evidence before adding a clustering key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898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3"/>
                </a:solidFill>
              </a:rPr>
              <a:t>Avoid universal size thresholds and high-maintenance keys.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3383280" cy="2971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48256"/>
            <a:ext cx="137160" cy="137160"/>
          </a:xfrm>
          <a:prstGeom prst="ellipse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9842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Strong candidate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292608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Large table, repeated selective predicates, poor pruning, material scan cost.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3383280" cy="2971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2048256"/>
            <a:ext cx="137160" cy="137160"/>
          </a:xfrm>
          <a:prstGeom prst="ellipse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9842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Weak candidate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2423160"/>
            <a:ext cx="292608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Small table, inconsistent filters, broad scans, or naturally well-ordered loads.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75320" y="1828800"/>
            <a:ext cx="3383280" cy="2971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85632" y="2048256"/>
            <a:ext cx="137160" cy="137160"/>
          </a:xfrm>
          <a:prstGeom prst="ellipse">
            <a:avLst/>
          </a:prstGeom>
          <a:solidFill>
            <a:srgbClr val="FF453A"/>
          </a:solidFill>
          <a:ln w="12700">
            <a:solidFill>
              <a:srgbClr val="FF45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32520" y="19842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Danger signal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03920" y="2423160"/>
            <a:ext cx="292608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High-cardinality or frequently changing clustering expressions with limited reuse.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920240" y="523036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D1D1F"/>
                </a:solidFill>
              </a:rPr>
              <a:t>Net value = scan savings − clustering maintenance cost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686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9B5E8"/>
                </a:solidFill>
              </a:rPr>
              <a:t>QUERY EFFICIENCY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</a:rPr>
              <a:t>Reduce work before buying more compute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898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3"/>
                </a:solidFill>
              </a:rPr>
              <a:t>Timeouts protect the budget; better SQL protects every execution.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166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0392" y="2002536"/>
            <a:ext cx="137160" cy="137160"/>
          </a:xfrm>
          <a:prstGeom prst="ellipse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93852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Prune early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4709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Filter on useful columns and avoid scanning unnecessary history.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166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2002536"/>
            <a:ext cx="137160" cy="137160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93852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Project less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377440"/>
            <a:ext cx="4709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Avoid SELECT * when only a subset is required.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5166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0392" y="4014216"/>
            <a:ext cx="137160" cy="137160"/>
          </a:xfrm>
          <a:prstGeom prst="ellipse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95020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Control joins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4389120"/>
            <a:ext cx="4709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Prevent accidental fan-out and repeated transformations.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3794760"/>
            <a:ext cx="5166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73952" y="4014216"/>
            <a:ext cx="137160" cy="137160"/>
          </a:xfrm>
          <a:prstGeom prst="ellipse">
            <a:avLst/>
          </a:prstGeom>
          <a:solidFill>
            <a:srgbClr val="FF453A"/>
          </a:solidFill>
          <a:ln w="12700">
            <a:solidFill>
              <a:srgbClr val="FF45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395020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Limit runaways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4389120"/>
            <a:ext cx="4709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Set STATEMENT_TIMEOUT_IN_SECONDS at the right scope.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686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9B5E8"/>
                </a:solidFill>
              </a:rPr>
              <a:t>OTHER LEVERS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</a:rPr>
              <a:t>Caching and precomputation move cost across time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898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3"/>
                </a:solidFill>
              </a:rPr>
              <a:t>A faster dashboard may shift work into refresh or maintenance.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290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0392" y="2048256"/>
            <a:ext cx="137160" cy="137160"/>
          </a:xfrm>
          <a:prstGeom prst="ellipse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98424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Result reuse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29718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Repeated unchanged queries can avoid recomputation when reuse conditions are met. Design dashboards to benefit from stable query shapes.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4290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2048256"/>
            <a:ext cx="137160" cy="137160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98424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Materialization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2423160"/>
            <a:ext cx="29718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Precompute expensive logic when repeated query savings outweigh refresh and storage cost.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828800"/>
            <a:ext cx="34290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48472" y="2048256"/>
            <a:ext cx="137160" cy="137160"/>
          </a:xfrm>
          <a:prstGeom prst="ellipse">
            <a:avLst/>
          </a:prstGeom>
          <a:solidFill>
            <a:srgbClr val="AF52DE"/>
          </a:solidFill>
          <a:ln w="12700">
            <a:solidFill>
              <a:srgbClr val="AF52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198424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Serverless features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66760" y="2423160"/>
            <a:ext cx="29718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Search optimization, automatic services, and other features can improve performance but introduce their own consumption.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6E73"/>
                </a:solidFill>
              </a:rPr>
              <a:t>Optimize total workload economics, not one query screenshot.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686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9B5E8"/>
                </a:solidFill>
              </a:rPr>
              <a:t>STORAGE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</a:rPr>
              <a:t>Retention and lifecycle are financial controls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898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3"/>
                </a:solidFill>
              </a:rPr>
              <a:t>Cheap storage still becomes expensive when data has no owner or expiry.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0392" y="2048256"/>
            <a:ext cx="137160" cy="137160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98424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Retention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297180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Set Time Travel retention according to recovery and compliance requirements, not habit.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2048256"/>
            <a:ext cx="137160" cy="137160"/>
          </a:xfrm>
          <a:prstGeom prst="ellipse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98424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Transient / temporary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2423160"/>
            <a:ext cx="297180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Use the appropriate table type for data that does not require permanent protection semantics.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82880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48472" y="2048256"/>
            <a:ext cx="137160" cy="137160"/>
          </a:xfrm>
          <a:prstGeom prst="ellipse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198424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Lifecycle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66760" y="2423160"/>
            <a:ext cx="297180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Remove unused stages, temporary datasets, obsolete environments, and ownerless artifacts.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6E73"/>
                </a:solidFill>
              </a:rPr>
              <a:t>Every retained byte should have a purpose, owner, and expiry decision.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686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9B5E8"/>
                </a:solidFill>
              </a:rPr>
              <a:t>BILL TRIAGE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</a:rPr>
              <a:t>Investigate in descending order of economic impact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898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3"/>
                </a:solidFill>
              </a:rPr>
              <a:t>Find the changed cost driver before proposing a fix.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3232" y="1755648"/>
            <a:ext cx="457200" cy="347472"/>
          </a:xfrm>
          <a:prstGeom prst="roundRect">
            <a:avLst>
              <a:gd name="adj" fmla="val 47368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8105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17320" y="17647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1D1F"/>
                </a:solidFill>
              </a:rPr>
              <a:t>Locate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0" y="1764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E73"/>
                </a:solidFill>
              </a:rPr>
              <a:t>Which usage type, warehouse, or service increased?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13232" y="2459736"/>
            <a:ext cx="457200" cy="347472"/>
          </a:xfrm>
          <a:prstGeom prst="roundRect">
            <a:avLst>
              <a:gd name="adj" fmla="val 47368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514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24688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1D1F"/>
                </a:solidFill>
              </a:rPr>
              <a:t>Attribute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43200" y="2468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E73"/>
                </a:solidFill>
              </a:rPr>
              <a:t>Which application, team, or tagged workload drove it?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3232" y="3163824"/>
            <a:ext cx="457200" cy="347472"/>
          </a:xfrm>
          <a:prstGeom prst="roundRect">
            <a:avLst>
              <a:gd name="adj" fmla="val 47368"/>
            </a:avLst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2186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17320" y="31729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1D1F"/>
                </a:solidFill>
              </a:rPr>
              <a:t>Explain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43200" y="31729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E73"/>
                </a:solidFill>
              </a:rPr>
              <a:t>More runs, longer runtime, larger size, concurrency, or more data scanned?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3232" y="3867912"/>
            <a:ext cx="457200" cy="347472"/>
          </a:xfrm>
          <a:prstGeom prst="roundRect">
            <a:avLst>
              <a:gd name="adj" fmla="val 47368"/>
            </a:avLst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9227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17320" y="387705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1D1F"/>
                </a:solidFill>
              </a:rPr>
              <a:t>Inspect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743200" y="387705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E73"/>
                </a:solidFill>
              </a:rPr>
              <a:t>Review top queries, queueing, pruning, spill, refresh, and idle gaps.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13232" y="4572000"/>
            <a:ext cx="457200" cy="347472"/>
          </a:xfrm>
          <a:prstGeom prst="roundRect">
            <a:avLst>
              <a:gd name="adj" fmla="val 47368"/>
            </a:avLst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6268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17320" y="458114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1D1F"/>
                </a:solidFill>
              </a:rPr>
              <a:t>Correct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743200" y="45811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E73"/>
                </a:solidFill>
              </a:rPr>
              <a:t>Change the smallest lever that addresses the diagnosed cause.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13232" y="5276088"/>
            <a:ext cx="457200" cy="347472"/>
          </a:xfrm>
          <a:prstGeom prst="roundRect">
            <a:avLst>
              <a:gd name="adj" fmla="val 47368"/>
            </a:avLst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5330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417320" y="52852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1D1F"/>
                </a:solidFill>
              </a:rPr>
              <a:t>Verify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743200" y="5285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E73"/>
                </a:solidFill>
              </a:rPr>
              <a:t>Compare cost, latency, reliability, and business SLA after the change.</a:t>
            </a:r>
            <a:endParaRPr lang="en-US" sz="12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686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9B5E8"/>
                </a:solidFill>
              </a:rPr>
              <a:t>GOVERNANCE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</a:rPr>
              <a:t>Cost optimization must survive the next deployment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898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3"/>
                </a:solidFill>
              </a:rPr>
              <a:t>Turn good intentions into platform defaults and review loops.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5303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911096"/>
            <a:ext cx="137160" cy="137160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47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Default policies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Auto-suspend, timeouts, permitted sizes, naming, tags.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03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1911096"/>
            <a:ext cx="137160" cy="137160"/>
          </a:xfrm>
          <a:prstGeom prst="ellipse">
            <a:avLst/>
          </a:prstGeom>
          <a:solidFill>
            <a:srgbClr val="AF52DE"/>
          </a:solidFill>
          <a:ln w="12700">
            <a:solidFill>
              <a:srgbClr val="AF52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847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Access controls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286000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Limit CREATE and MODIFY privileges for warehouses.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3154680"/>
            <a:ext cx="5303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" y="3374136"/>
            <a:ext cx="137160" cy="137160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3101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Guardrails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749040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Budgets, resource monitors, alerts, hard caps by criticality.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3154680"/>
            <a:ext cx="5303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73952" y="3374136"/>
            <a:ext cx="137160" cy="137160"/>
          </a:xfrm>
          <a:prstGeom prst="ellipse">
            <a:avLst/>
          </a:prstGeom>
          <a:solidFill>
            <a:srgbClr val="AF52DE"/>
          </a:solidFill>
          <a:ln w="12700">
            <a:solidFill>
              <a:srgbClr val="AF52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33101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Ownership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3749040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Cost center, application, tier, owner, expiry.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4360" y="4617720"/>
            <a:ext cx="5303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4672" y="4837176"/>
            <a:ext cx="137160" cy="137160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7731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Reviews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5212080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Weekly anomaly triage; monthly right-sizing and lifecycle review.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63640" y="4617720"/>
            <a:ext cx="5303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73952" y="4837176"/>
            <a:ext cx="137160" cy="137160"/>
          </a:xfrm>
          <a:prstGeom prst="ellipse">
            <a:avLst/>
          </a:prstGeom>
          <a:solidFill>
            <a:srgbClr val="AF52DE"/>
          </a:solidFill>
          <a:ln w="12700">
            <a:solidFill>
              <a:srgbClr val="AF52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47731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Evidence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92240" y="5212080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Document before/after cost, latency, and SLA.</a:t>
            </a:r>
            <a:endParaRPr lang="en-US" sz="11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686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9B5E8"/>
                </a:solidFill>
              </a:rPr>
              <a:t>RETAIL CASE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</a:rPr>
              <a:t>Cost-optimize a demand forecasting estate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898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3"/>
                </a:solidFill>
              </a:rPr>
              <a:t>Separate batch ETL, interactive analytics, experimentation, and serving.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0392" y="2048256"/>
            <a:ext cx="137160" cy="137160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9842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ETL warehouse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21031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Scheduled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aggressive suspend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size by batch SLA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182880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39312" y="2048256"/>
            <a:ext cx="137160" cy="137160"/>
          </a:xfrm>
          <a:prstGeom prst="ellipse">
            <a:avLst/>
          </a:prstGeom>
          <a:solidFill>
            <a:srgbClr val="AF52DE"/>
          </a:solidFill>
          <a:ln w="12700">
            <a:solidFill>
              <a:srgbClr val="AF52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19842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BI warehouse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2423160"/>
            <a:ext cx="21031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Concurrency scaling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short suspend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query timeouts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28232" y="2048256"/>
            <a:ext cx="137160" cy="137160"/>
          </a:xfrm>
          <a:prstGeom prst="ellipse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9842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Data science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2423160"/>
            <a:ext cx="21031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Small default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restricted resize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per-project tags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06840" y="182880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217152" y="2048256"/>
            <a:ext cx="137160" cy="137160"/>
          </a:xfrm>
          <a:prstGeom prst="ellipse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64040" y="19842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Shared data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35440" y="2423160"/>
            <a:ext cx="21031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Pruning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retention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lifecycle owner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417320" y="49377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D1D1F"/>
                </a:solidFill>
              </a:rPr>
              <a:t>Isolation improves both performance diagnosis and cost attribution.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686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9B5E8"/>
                </a:solidFill>
              </a:rPr>
              <a:t>INTERVIEW ANSWERS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</a:rPr>
              <a:t>State the diagnosis before the lever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898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3"/>
                </a:solidFill>
              </a:rPr>
              <a:t>Senior answers connect configuration to a measurable failure mode.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664208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883664"/>
            <a:ext cx="137160" cy="137160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1965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Bill tripled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258568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Find the changed usage source, attribute ownership, inspect workload behavior, then correct.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64208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1883664"/>
            <a:ext cx="137160" cy="137160"/>
          </a:xfrm>
          <a:prstGeom prst="ellipse">
            <a:avLst/>
          </a:prstGeom>
          <a:solidFill>
            <a:srgbClr val="AF52DE"/>
          </a:solidFill>
          <a:ln w="12700">
            <a:solidFill>
              <a:srgbClr val="AF52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81965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Bigger vs multi-cluster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258568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Bigger targets individual query execution; multi-cluster targets concurrency and queueing.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3145536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" y="3364992"/>
            <a:ext cx="137160" cy="137160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30098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Does clustering always help?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739896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No. Use only when pruning savings exceed maintenance.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3145536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73952" y="3364992"/>
            <a:ext cx="137160" cy="137160"/>
          </a:xfrm>
          <a:prstGeom prst="ellipse">
            <a:avLst/>
          </a:prstGeom>
          <a:solidFill>
            <a:srgbClr val="AF52DE"/>
          </a:solidFill>
          <a:ln w="12700">
            <a:solidFill>
              <a:srgbClr val="AF52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330098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Why query tags?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3739896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They convert technical usage into accountable business ownership.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4360" y="4626864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4672" y="4846320"/>
            <a:ext cx="137160" cy="137160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78231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Why resource monitors?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5221224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They alert or enforce limits for warehouse credit usage.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63640" y="4626864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73952" y="4846320"/>
            <a:ext cx="137160" cy="137160"/>
          </a:xfrm>
          <a:prstGeom prst="ellipse">
            <a:avLst/>
          </a:prstGeom>
          <a:solidFill>
            <a:srgbClr val="AF52DE"/>
          </a:solidFill>
          <a:ln w="12700">
            <a:solidFill>
              <a:srgbClr val="AF52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478231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</a:rPr>
              <a:t>What is first?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92240" y="5221224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</a:rPr>
              <a:t>Visibility. Optimization without attribution often creates the wrong fix.</a:t>
            </a:r>
            <a:endParaRPr lang="en-US" sz="11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686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9B5E8"/>
                </a:solidFill>
              </a:rPr>
              <a:t>FINAL MEMORY 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</a:rPr>
              <a:t>Six levers, six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898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3"/>
                </a:solidFill>
              </a:rPr>
              <a:t>Use this sequence in designs, reviews, and interviews.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3232" y="1700784"/>
            <a:ext cx="1234440" cy="347472"/>
          </a:xfrm>
          <a:prstGeom prst="roundRect">
            <a:avLst>
              <a:gd name="adj" fmla="val 47368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75564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SUSPEND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40280" y="170992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1D1F"/>
                </a:solidFill>
              </a:rPr>
              <a:t>Are we paying while idle?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13232" y="2395728"/>
            <a:ext cx="1234440" cy="347472"/>
          </a:xfrm>
          <a:prstGeom prst="roundRect">
            <a:avLst>
              <a:gd name="adj" fmla="val 47368"/>
            </a:avLst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4505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SIZE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40280" y="240487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1D1F"/>
                </a:solidFill>
              </a:rPr>
              <a:t>Are we buying more compute than the SLA needs?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13232" y="3090672"/>
            <a:ext cx="1234440" cy="347472"/>
          </a:xfrm>
          <a:prstGeom prst="roundRect">
            <a:avLst>
              <a:gd name="adj" fmla="val 47368"/>
            </a:avLst>
          </a:prstGeom>
          <a:solidFill>
            <a:srgbClr val="AF52DE"/>
          </a:solidFill>
          <a:ln w="12700">
            <a:solidFill>
              <a:srgbClr val="AF52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1455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SCALE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40280" y="309981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1D1F"/>
                </a:solidFill>
              </a:rPr>
              <a:t>Is the problem one query or concurrency?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13232" y="3785616"/>
            <a:ext cx="1234440" cy="347472"/>
          </a:xfrm>
          <a:prstGeom prst="roundRect">
            <a:avLst>
              <a:gd name="adj" fmla="val 47368"/>
            </a:avLst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84048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ATTRIBUTE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40280" y="37947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1D1F"/>
                </a:solidFill>
              </a:rPr>
              <a:t>Do we know the team, app, and purpose?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13232" y="4480560"/>
            <a:ext cx="1234440" cy="347472"/>
          </a:xfrm>
          <a:prstGeom prst="roundRect">
            <a:avLst>
              <a:gd name="adj" fmla="val 47368"/>
            </a:avLst>
          </a:prstGeom>
          <a:solidFill>
            <a:srgbClr val="FF453A"/>
          </a:solidFill>
          <a:ln w="12700">
            <a:solidFill>
              <a:srgbClr val="FF45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53542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BOUND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40280" y="448970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1D1F"/>
                </a:solidFill>
              </a:rPr>
              <a:t>What prevents a runaway month?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13232" y="5175504"/>
            <a:ext cx="1234440" cy="347472"/>
          </a:xfrm>
          <a:prstGeom prst="roundRect">
            <a:avLst>
              <a:gd name="adj" fmla="val 47368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523036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PRUNE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40280" y="51846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1D1F"/>
                </a:solidFill>
              </a:rPr>
              <a:t>Can we process less data per query?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280160" y="5989320"/>
            <a:ext cx="9601200" cy="384048"/>
          </a:xfrm>
          <a:prstGeom prst="roundRect">
            <a:avLst>
              <a:gd name="adj" fmla="val 35714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08760" y="608076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See it → bound it → reduce the work → verify the business outcome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686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2a24df2-9dbc-4c60-8048-492eefd19d89}" enabled="1" method="Privileged" siteId="{d9124c3a-c50c-4124-bca5-b6f850cec9f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Snowflake Cost Optimization Masterclass</dc:title>
  <dc:subject>How, why, and when to use Snowflake cost levers</dc:subject>
  <dc:creator>Prem Vishnoi</dc:creator>
  <cp:lastModifiedBy>Prem Vishnoi</cp:lastModifiedBy>
  <cp:revision>2</cp:revision>
  <dcterms:created xsi:type="dcterms:W3CDTF">2026-10-04T08:34:16Z</dcterms:created>
  <dcterms:modified xsi:type="dcterms:W3CDTF">2026-10-04T08:40:33Z</dcterms:modified>
</cp:coreProperties>
</file>