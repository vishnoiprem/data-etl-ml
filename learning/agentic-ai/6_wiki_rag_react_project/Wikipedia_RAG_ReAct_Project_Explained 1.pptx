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brief, Tasks 0–13.
Internal file: Enterprise_AI_RAG_MCP_Agents_Makro_Retail_Cheat_Sheet.docx.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User-provided project brief, Tasks 3–9.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brief, Tasks 0–6.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brief, Task 1.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brief, Task 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User-provided project brief, Tasks 4–5.
Internal file: Enterprise_AI_RAG_MCP_Agents_Makro_Retail_Cheat_Sheet.docx.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brief, Task 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User-provided project brief, Task 9.
Internal file: Agentic_AI_and_Multi_Agent_AI_Complete_Guide.docx.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brief, Tasks 7 and 10–11.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terminal output and troubleshooting context from this conversation.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brief, Task 13.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file: Enterprise_AI_RAG_MCP_Agents_Makro_Retail_Cheat_Sheet.docx.
Internal file: Course Outline_Agentic AI Systems &amp; Optimization Course_CMKL University.pdf.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brief, Tasks 0–13.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Wikipedia RAG + ReAct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69E70BAB1CAC_01.pn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7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4251960"/>
            <a:ext cx="6492240" cy="1600200"/>
          </a:xfrm>
          <a:prstGeom prst="roundRect">
            <a:avLst>
              <a:gd name="adj" fmla="val 4571"/>
            </a:avLst>
          </a:prstGeom>
          <a:solidFill>
            <a:srgbClr val="071426">
              <a:alpha val="90000"/>
            </a:srgbClr>
          </a:solidFill>
          <a:ln w="12700">
            <a:solidFill>
              <a:srgbClr val="345B89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452628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Wikipedia RAG + ReAct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Chat Assistant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86968" y="5413248"/>
            <a:ext cx="5715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ED"/>
                </a:solidFill>
              </a:rPr>
              <a:t>From page ingestion to grounded answers with LlamaIndex, OpenAI, BGE embeddings, and Chainlit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What are we building?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A small but complete agentic RAG application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73152" cy="3566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User experience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Select an OpenAI model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Choose one or more Wikipedia pages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Ask natural-language questions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Receive answers grounded in retrieved page content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5544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554480"/>
            <a:ext cx="73152" cy="3566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Core intelligence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176272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RAG retrieves relevant chunks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The LLM synthesizes an answer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ReAct decides when to use the search tool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The loop observes results before responding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554480"/>
            <a:ext cx="73152" cy="3566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Learning outcome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0184" y="2176272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Understand ingestion and indexing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Build semantic retrieval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Wrap retrieval as an agent tool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Deliver a chat UI and test it end to end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5623560"/>
            <a:ext cx="3154680" cy="347472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5696712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Ground first, generate second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596"/>
                </a:solidFill>
              </a:rPr>
              <a:t>Memory line: RAG gives evidence. ReAct decides how to use it.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End-to-end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Two connected flows: offline indexing and online question answering</a:t>
            </a:r>
            <a:endParaRPr lang="en-US" sz="1250" dirty="0"/>
          </a:p>
        </p:txBody>
      </p:sp>
      <p:pic>
        <p:nvPicPr>
          <p:cNvPr id="4" name="Image 0" descr="/mnt/data/generated_image_69E70BAB1CAC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417320"/>
            <a:ext cx="713232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5989320"/>
            <a:ext cx="4892040" cy="384048"/>
          </a:xfrm>
          <a:prstGeom prst="roundRect">
            <a:avLst>
              <a:gd name="adj" fmla="val 11905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6089904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ECFF"/>
                </a:solidFill>
              </a:rPr>
              <a:t>INDEXING: pages → chunks → embeddings → vector index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46520" y="5989320"/>
            <a:ext cx="4892040" cy="384048"/>
          </a:xfrm>
          <a:prstGeom prst="roundRect">
            <a:avLst>
              <a:gd name="adj" fmla="val 11905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6089904"/>
            <a:ext cx="4617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E7FF"/>
                </a:solidFill>
              </a:rPr>
              <a:t>QUERY: question → retrieve → reason → grounded answer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Project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Each Python module owns one clear responsibility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017520" cy="4069080"/>
          </a:xfrm>
          <a:prstGeom prst="roundRect">
            <a:avLst>
              <a:gd name="adj" fmla="val 2424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" cy="4069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utils.py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221992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Loads OPENAI_API_KEY from .env or YAML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Validates that a key exists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Keeps credentials outside source code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71800" y="4983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59E0B"/>
                </a:solidFill>
              </a:rPr>
              <a:t>01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160520" y="1600200"/>
            <a:ext cx="3017520" cy="4069080"/>
          </a:xfrm>
          <a:prstGeom prst="roundRect">
            <a:avLst>
              <a:gd name="adj" fmla="val 2424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600200"/>
            <a:ext cx="73152" cy="4069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index_wikipages.py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2221992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Parses requested page titles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Downloads Wikipedia documents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Chunks text and creates embeddings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Builds VectorStoreIndex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4983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3B82F6"/>
                </a:solidFill>
              </a:rPr>
              <a:t>02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7589520" y="1600200"/>
            <a:ext cx="3017520" cy="4069080"/>
          </a:xfrm>
          <a:prstGeom prst="roundRect">
            <a:avLst>
              <a:gd name="adj" fmla="val 2424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0" y="1600200"/>
            <a:ext cx="73152" cy="4069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chat_agent.py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8120" y="2221992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Creates Chainlit settings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Turns index into a query engine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Wraps retrieval as a tool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Runs the ReAct chat interaction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829800" y="4983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8B5CF6"/>
                </a:solidFill>
              </a:rPr>
              <a:t>03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596"/>
                </a:solidFill>
              </a:rPr>
              <a:t>Separation of concerns makes the project easier to test, explain, and troubleshoot.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Step 1: Secure configuration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Load the API key without hard-coding secrets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846320" cy="4389120"/>
          </a:xfrm>
          <a:prstGeom prst="roundRect">
            <a:avLst>
              <a:gd name="adj" fmla="val 1667"/>
            </a:avLst>
          </a:prstGeom>
          <a:solidFill>
            <a:srgbClr val="08111F"/>
          </a:solidFill>
          <a:ln w="12700">
            <a:solidFill>
              <a:srgbClr val="244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297680" cy="411480"/>
          </a:xfrm>
          <a:prstGeom prst="rect">
            <a:avLst/>
          </a:prstGeom>
          <a:solidFill>
            <a:srgbClr val="0D1B2E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your_new_key_here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4297680" cy="2697480"/>
          </a:xfrm>
          <a:prstGeom prst="rect">
            <a:avLst/>
          </a:prstGeom>
          <a:solidFill>
            <a:srgbClr val="0D1B2E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dotenv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load_dotenv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get_apikey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getenv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"OPENAI_API_KEY"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"Key not found"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97880" y="14630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97880" y="1463040"/>
            <a:ext cx="73152" cy="11430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Why this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2084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A leaked key can create unauthorized usage and cost. Keep `.env` out of Git and rotate any exposed key.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28346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7880" y="2834640"/>
            <a:ext cx="73152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Correct `.env` syntax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3456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Use `OPENAI_API_KEY=value`. Do not use a colon between the variable name and value.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42062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4206240"/>
            <a:ext cx="73152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407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Runtime behavior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4828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Chainlit and the OpenAI wrapper read the environment variable when the application starts.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Step 2: Convert the request into page titles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Structured output prevents brittle string parsing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8FAFC"/>
                </a:solidFill>
              </a:rPr>
              <a:t>“Please index: London, Birmingham, New York”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892040" y="1664208"/>
            <a:ext cx="685800" cy="45720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41732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1023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["London", "Birmingham", "New York"]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788920"/>
            <a:ext cx="73152" cy="2377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Pydantic schema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41071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`WikiPageList` defines the expected list structure and validates the model output.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278892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788920"/>
            <a:ext cx="73152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Prompt template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341071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Instructions tell the model to extract only requested Wikipedia titles and avoid adding extras.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8892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788920"/>
            <a:ext cx="73152" cy="2377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OpenAI program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3410712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`OpenAIPydanticProgram` binds the prompt and schema to return predictable structured data.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596"/>
                </a:solidFill>
              </a:rPr>
              <a:t>Why use an LLM here? Users may phrase indexing requests in many different ways.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Step 3: Build the vector index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Semantic search starts by converting documents into searchable meaning</a:t>
            </a:r>
            <a:endParaRPr lang="en-US" sz="1250" dirty="0"/>
          </a:p>
        </p:txBody>
      </p:sp>
      <p:pic>
        <p:nvPicPr>
          <p:cNvPr id="4" name="Image 0" descr="/mnt/data/generated_image_69E70BAB1CAC_03.png">    </p:cNvPr>
          <p:cNvPicPr>
            <a:picLocks noChangeAspect="1"/>
          </p:cNvPicPr>
          <p:nvPr/>
        </p:nvPicPr>
        <p:blipFill>
          <a:blip r:embed="rId1"/>
          <a:srcRect l="515" r="515" t="0" b="0"/>
          <a:stretch/>
        </p:blipFill>
        <p:spPr>
          <a:xfrm>
            <a:off x="502920" y="1353312"/>
            <a:ext cx="658368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353312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60920" y="1353312"/>
            <a:ext cx="73152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Load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19751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WikipediaReader.load_data() retrieves the selected pages as documents.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60920" y="2724912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60920" y="2724912"/>
            <a:ext cx="73152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Chunk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89520" y="3346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SentenceSplitter uses 150-token chunks with 45-token overlap.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60920" y="4096512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60920" y="4096512"/>
            <a:ext cx="73152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Embed + index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89520" y="4718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BAAI/bge-small-en converts chunks to vectors; VectorStoreIndex stores them in memory.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863840" y="5623560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36992" y="5696712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Text → Vector → Similarity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Step 4: Create the retrieval engine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At question time, retrieve the most relevant chunks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2468880" cy="3337560"/>
          </a:xfrm>
          <a:prstGeom prst="roundRect">
            <a:avLst>
              <a:gd name="adj" fmla="val 2963"/>
            </a:avLst>
          </a:prstGeom>
          <a:solidFill>
            <a:srgbClr val="10233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90195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Embed question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3101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Convert the user query into the same vector space.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2880360"/>
            <a:ext cx="320040" cy="548640"/>
          </a:xfrm>
          <a:prstGeom prst="chevron">
            <a:avLst/>
          </a:prstGeom>
          <a:solidFill>
            <a:srgbClr val="3C5F87"/>
          </a:solidFill>
          <a:ln w="12700">
            <a:solidFill>
              <a:srgbClr val="3C5F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38728" y="1645920"/>
            <a:ext cx="2468880" cy="3337560"/>
          </a:xfrm>
          <a:prstGeom prst="roundRect">
            <a:avLst>
              <a:gd name="adj" fmla="val 2963"/>
            </a:avLst>
          </a:prstGeom>
          <a:solidFill>
            <a:srgbClr val="132A49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90195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67328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Similarity search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3048" y="33101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Compare query vector with indexed chunk vectors.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25896" y="2880360"/>
            <a:ext cx="320040" cy="548640"/>
          </a:xfrm>
          <a:prstGeom prst="chevron">
            <a:avLst/>
          </a:prstGeom>
          <a:solidFill>
            <a:srgbClr val="3C5F87"/>
          </a:solidFill>
          <a:ln w="12700">
            <a:solidFill>
              <a:srgbClr val="3C5F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1656" y="1645920"/>
            <a:ext cx="2468880" cy="3337560"/>
          </a:xfrm>
          <a:prstGeom prst="roundRect">
            <a:avLst>
              <a:gd name="adj" fmla="val 2963"/>
            </a:avLst>
          </a:prstGeom>
          <a:solidFill>
            <a:srgbClr val="1023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0336" y="190195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20256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Top-K retrieval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65976" y="33101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Return the 10 most similar chunks.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78824" y="2880360"/>
            <a:ext cx="320040" cy="548640"/>
          </a:xfrm>
          <a:prstGeom prst="chevron">
            <a:avLst/>
          </a:prstGeom>
          <a:solidFill>
            <a:srgbClr val="3C5F87"/>
          </a:solidFill>
          <a:ln w="12700">
            <a:solidFill>
              <a:srgbClr val="3C5F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44584" y="1645920"/>
            <a:ext cx="2468880" cy="3337560"/>
          </a:xfrm>
          <a:prstGeom prst="roundRect">
            <a:avLst>
              <a:gd name="adj" fmla="val 2963"/>
            </a:avLst>
          </a:prstGeom>
          <a:solidFill>
            <a:srgbClr val="132A4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13264" y="190195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73184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Compact synthesis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18904" y="33101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Combine relevant evidence efficiently for the LLM.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70248" y="544068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551383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similarity_top_k =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Step 5: Add the ReAct agent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The agent decides when retrieval is required and evaluates the observation</a:t>
            </a:r>
            <a:endParaRPr lang="en-US" sz="1250" dirty="0"/>
          </a:p>
        </p:txBody>
      </p:sp>
      <p:pic>
        <p:nvPicPr>
          <p:cNvPr id="4" name="Image 0" descr="/mnt/data/generated_image_69E70BAB1CAC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5440"/>
            <a:ext cx="6400800" cy="426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41732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23760" y="1417320"/>
            <a:ext cx="73152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Reason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52360" y="20391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Interpret the question and decide whether Wikipedia evidence is needed.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23760" y="2587752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0" y="2587752"/>
            <a:ext cx="73152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5236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52360" y="3209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Invoke the `Wikipedia` QueryEngineTool with a focused search query.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23760" y="3758184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23760" y="3758184"/>
            <a:ext cx="73152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3959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Observe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52360" y="43799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Inspect the retrieved passages returned by the query engine.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223760" y="4928616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223760" y="4928616"/>
            <a:ext cx="73152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5129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Respond or continue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52360" y="55504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Answer when evidence is sufficient; otherwise repeat within iteration limits.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Step 6: Build the Chainlit experience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Settings initialize the knowledge base; messages invoke the agent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18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1. Chat starts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039112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Display model selector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Display Wikipedia page input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Suggest the banking-crisis example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62272" y="141732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62272" y="1417320"/>
            <a:ext cx="73152" cy="4251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18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2. Settings update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039112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Read WIKIPAGES input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Create the in-memory index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Create ReAct agent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Store agent in the user session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93024" y="141732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93024" y="1417320"/>
            <a:ext cx="73152" cy="4251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1624" y="1618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3. User sends message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21624" y="2039112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Read `message.content`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Call agent.chat asynchronously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Render the final answer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Handle setup or run errors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77640" y="3520440"/>
            <a:ext cx="475488" cy="1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08392" y="3520440"/>
            <a:ext cx="475488" cy="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596"/>
                </a:solidFill>
              </a:rPr>
              <a:t>Session storage avoids sharing one user’s active index with another user.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Run and troubleshoot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Use a compatible environment, then validate each layer independently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715000" cy="4526280"/>
          </a:xfrm>
          <a:prstGeom prst="roundRect">
            <a:avLst>
              <a:gd name="adj" fmla="val 1616"/>
            </a:avLst>
          </a:prstGeom>
          <a:solidFill>
            <a:srgbClr val="08111F"/>
          </a:solidFill>
          <a:ln w="12700">
            <a:solidFill>
              <a:srgbClr val="244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5166360" cy="2971800"/>
          </a:xfrm>
          <a:prstGeom prst="rect">
            <a:avLst/>
          </a:prstGeom>
          <a:solidFill>
            <a:srgbClr val="0D1B2E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python3.11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venv venv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venv/bin/activate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requirements.txt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utils.py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index_wikipages.py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chainlit run chat_agent.py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4983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Test order: key → indexing → web UI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29400" y="1325880"/>
            <a:ext cx="4937760" cy="1170432"/>
          </a:xfrm>
          <a:prstGeom prst="roundRect">
            <a:avLst>
              <a:gd name="adj" fmla="val 6250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29400" y="1325880"/>
            <a:ext cx="73152" cy="11704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5270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Issue: Python 3.13 + older Chainlit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1947672"/>
            <a:ext cx="4526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Use Python 3.11 for this pinned learning stack. The observed `CodeSettings`/Pydantic error occurs before application code runs.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29400" y="2761488"/>
            <a:ext cx="4937760" cy="1170432"/>
          </a:xfrm>
          <a:prstGeom prst="roundRect">
            <a:avLst>
              <a:gd name="adj" fmla="val 6250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761488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9626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Issue: terminal appears stuck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3383280"/>
            <a:ext cx="4526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The indexing script is waiting for a page request. Enter `Please index: India` and press Return. Use Ctrl+C to cancel, not Ctrl+Z.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29400" y="4197096"/>
            <a:ext cx="4937760" cy="1170432"/>
          </a:xfrm>
          <a:prstGeom prst="roundRect">
            <a:avLst>
              <a:gd name="adj" fmla="val 6250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4197096"/>
            <a:ext cx="73152" cy="11704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43982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Issue: key not found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4818888"/>
            <a:ext cx="4526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Confirm `.env` is in the project folder and uses `OPENAI_API_KEY=value`.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Demo: 2023 United States banking crisis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A small evaluation set tests factual retrieval and grounded synthesis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1023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SVB run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21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$42B withdrawn in 10 hours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50876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1023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737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First Republic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2221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Closed and sold to JPMorgan Chase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75320" y="150876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1023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737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Silvergate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0" y="2221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90% crypto-related deposits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1023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49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DFPI action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2336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Seized SVB; FDIC receivership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352044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1023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749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Signature Bank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42336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Second-largest crypto banking provider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75320" y="3520440"/>
            <a:ext cx="3429000" cy="1572768"/>
          </a:xfrm>
          <a:prstGeom prst="roundRect">
            <a:avLst>
              <a:gd name="adj" fmla="val 4070"/>
            </a:avLst>
          </a:prstGeom>
          <a:solidFill>
            <a:srgbClr val="1023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749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Signet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03920" y="42336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Payment network opened in 2019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5760720"/>
            <a:ext cx="3703320" cy="347472"/>
          </a:xfrm>
          <a:prstGeom prst="roundRect">
            <a:avLst>
              <a:gd name="adj" fmla="val 21053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5833872"/>
            <a:ext cx="3557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Correctness + faithfulness + latency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How to evaluate and improve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A working demo is only the beginning of a production-quality RAG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4389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Retrieval quality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Hit rate / Recall@K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Chunk relevance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Embedding choice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Metadata filters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Hybrid retrieval and reranking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4389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Answer quality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039112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Factual correctness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Faithfulness to evidence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Source completeness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Unanswerable-question behavior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Human QA feedback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10233E">
              <a:alpha val="97000"/>
            </a:srgbClr>
          </a:solidFill>
          <a:ln w="12700">
            <a:solidFill>
              <a:srgbClr val="29496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4389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Operations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039112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A9B8CE"/>
                </a:solidFill>
              </a:rPr>
              <a:t>Latency by stage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Token and API cost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Index freshness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Error and retry rates</a:t>
            </a:r>
            <a:endParaRPr lang="en-US" sz="1150" dirty="0"/>
          </a:p>
          <a:p>
            <a:r>
              <a:rPr lang="en-US" sz="1150" dirty="0">
                <a:solidFill>
                  <a:srgbClr val="A9B8CE"/>
                </a:solidFill>
              </a:rPr>
              <a:t>Security and secret management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596"/>
                </a:solidFill>
              </a:rPr>
              <a:t>Production mindset: bad retrieval gives bad answers. Measure the pipeline, not only the final response.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E"/>
                </a:solidFill>
              </a:rPr>
              <a:t>Remember the project as a simple six-step story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74720" cy="1554480"/>
          </a:xfrm>
          <a:prstGeom prst="roundRect">
            <a:avLst>
              <a:gd name="adj" fmla="val 4118"/>
            </a:avLst>
          </a:prstGeom>
          <a:solidFill>
            <a:srgbClr val="10233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508760" y="17647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Configure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258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Load the API key securely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474720" cy="1554480"/>
          </a:xfrm>
          <a:prstGeom prst="roundRect">
            <a:avLst>
              <a:gd name="adj" fmla="val 4118"/>
            </a:avLst>
          </a:prstGeom>
          <a:solidFill>
            <a:srgbClr val="10233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D3EE"/>
                </a:solidFill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49240" y="17647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Ingest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2258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Read selected Wikipedia pages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1508760"/>
            <a:ext cx="3474720" cy="1554480"/>
          </a:xfrm>
          <a:prstGeom prst="roundRect">
            <a:avLst>
              <a:gd name="adj" fmla="val 4118"/>
            </a:avLst>
          </a:prstGeom>
          <a:solidFill>
            <a:srgbClr val="1023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B82F6"/>
                </a:solidFill>
              </a:rPr>
              <a:t>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189720" y="17647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89720" y="2258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Chunk, embed, store vectors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474720" cy="1554480"/>
          </a:xfrm>
          <a:prstGeom prst="roundRect">
            <a:avLst>
              <a:gd name="adj" fmla="val 4118"/>
            </a:avLst>
          </a:prstGeom>
          <a:solidFill>
            <a:srgbClr val="1023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B5CF6"/>
                </a:solidFill>
              </a:rPr>
              <a:t>4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508760" y="38221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Retrieve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315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Find the top relevant evidence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3566160"/>
            <a:ext cx="3474720" cy="1554480"/>
          </a:xfrm>
          <a:prstGeom prst="roundRect">
            <a:avLst>
              <a:gd name="adj" fmla="val 4118"/>
            </a:avLst>
          </a:prstGeom>
          <a:solidFill>
            <a:srgbClr val="10233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4D399"/>
                </a:solidFill>
              </a:rPr>
              <a:t>5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349240" y="38221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Reason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4315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Let ReAct use the search tool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21040" y="3566160"/>
            <a:ext cx="3474720" cy="1554480"/>
          </a:xfrm>
          <a:prstGeom prst="roundRect">
            <a:avLst>
              <a:gd name="adj" fmla="val 4118"/>
            </a:avLst>
          </a:prstGeom>
          <a:solidFill>
            <a:srgbClr val="10233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2220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D3EE"/>
                </a:solidFill>
              </a:rPr>
              <a:t>6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9189720" y="38221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Chat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9720" y="4315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CE"/>
                </a:solidFill>
              </a:rPr>
              <a:t>Deliver the answer through Chainlit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057400" y="5806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RAG grounds the answer. ReAct controls the action loop.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2860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2a24df2-9dbc-4c60-8048-492eefd19d89}" enabled="1" method="Standard" siteId="{d9124c3a-c50c-4124-bca5-b6f850cec9f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Wikipedia RAG + ReAct Chat Assistant</dc:title>
  <dc:subject>Wikipedia RAG ReAct Chat Assistant</dc:subject>
  <dc:creator>Prem Vishnoi</dc:creator>
  <lastModifiedBy>Prem Vishnoi</lastModifiedBy>
  <revision>1</revision>
  <dcterms:created xsi:type="dcterms:W3CDTF">2026-09-17T16:11:09.6590914Z</dcterms:created>
  <dcterms:modified xsi:type="dcterms:W3CDTF">2026-09-17T16:11:09.6590914Z</dcterms:modified>
</coreProperties>
</file>