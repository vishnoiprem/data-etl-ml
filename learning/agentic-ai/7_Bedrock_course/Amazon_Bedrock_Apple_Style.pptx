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Bedrock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22960" y="36118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AI applications without managing infrastructure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PRACTICAL GUIDE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API. Dozens of models.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infrastructure.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isn't a model — it's the layer that sits in front of dozens of them. You call one API; AWS handles serving, scaling, and security behind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35240" y="914400"/>
            <a:ext cx="3977640" cy="4709160"/>
          </a:xfrm>
          <a:prstGeom prst="roundRect">
            <a:avLst>
              <a:gd name="adj" fmla="val 4138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8001000" y="123444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GPUs to provision.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servers to patch.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pipeline per model.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01000" y="2880360"/>
            <a:ext cx="3246120" cy="0"/>
          </a:xfrm>
          <a:prstGeom prst="line">
            <a:avLst/>
          </a:prstGeom>
          <a:noFill/>
          <a:ln w="12700">
            <a:solidFill>
              <a:srgbClr val="D2D2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01000" y="31089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stays inside your AWS account and VPC — it is never used to train the underlying models.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BUILDING BLOCKS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actually inside Bedrock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26030" cy="3566160"/>
          </a:xfrm>
          <a:prstGeom prst="roundRect">
            <a:avLst>
              <a:gd name="adj" fmla="val 5792"/>
            </a:avLst>
          </a:prstGeom>
          <a:solidFill>
            <a:srgbClr val="F5F5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331720"/>
            <a:ext cx="777240" cy="777240"/>
          </a:xfrm>
          <a:prstGeom prst="ellipse">
            <a:avLst/>
          </a:prstGeom>
          <a:solidFill>
            <a:srgbClr val="0071E3"/>
          </a:solidFill>
          <a:ln/>
        </p:spPr>
      </p:sp>
      <p:pic>
        <p:nvPicPr>
          <p:cNvPr id="6" name="Image 0" descr="/home/claude/bedrock_ppt/icons/Fi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56946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3337560"/>
            <a:ext cx="19773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Models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41248" y="4023360"/>
            <a:ext cx="19773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LLMs, image, and speech models you call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94710" y="1965960"/>
            <a:ext cx="2526030" cy="3566160"/>
          </a:xfrm>
          <a:prstGeom prst="roundRect">
            <a:avLst>
              <a:gd name="adj" fmla="val 5792"/>
            </a:avLst>
          </a:prstGeom>
          <a:solidFill>
            <a:srgbClr val="F5F5F7"/>
          </a:solidFill>
          <a:ln/>
        </p:spPr>
      </p:sp>
      <p:sp>
        <p:nvSpPr>
          <p:cNvPr id="10" name="Shape 7"/>
          <p:cNvSpPr/>
          <p:nvPr/>
        </p:nvSpPr>
        <p:spPr>
          <a:xfrm>
            <a:off x="3714750" y="2331720"/>
            <a:ext cx="777240" cy="777240"/>
          </a:xfrm>
          <a:prstGeom prst="ellipse">
            <a:avLst/>
          </a:prstGeom>
          <a:solidFill>
            <a:srgbClr val="0071E3"/>
          </a:solidFill>
          <a:ln/>
        </p:spPr>
      </p:sp>
      <p:pic>
        <p:nvPicPr>
          <p:cNvPr id="11" name="Image 1" descr="/home/claude/bedrock_ppt/icons/Fi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494" y="256946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87318" y="3337560"/>
            <a:ext cx="19773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687318" y="4023360"/>
            <a:ext cx="19773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RAG — no custom pipeline required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40780" y="1965960"/>
            <a:ext cx="2526030" cy="3566160"/>
          </a:xfrm>
          <a:prstGeom prst="roundRect">
            <a:avLst>
              <a:gd name="adj" fmla="val 5792"/>
            </a:avLst>
          </a:prstGeom>
          <a:solidFill>
            <a:srgbClr val="F5F5F7"/>
          </a:solidFill>
          <a:ln/>
        </p:spPr>
      </p:sp>
      <p:sp>
        <p:nvSpPr>
          <p:cNvPr id="15" name="Shape 11"/>
          <p:cNvSpPr/>
          <p:nvPr/>
        </p:nvSpPr>
        <p:spPr>
          <a:xfrm>
            <a:off x="6560820" y="2331720"/>
            <a:ext cx="777240" cy="777240"/>
          </a:xfrm>
          <a:prstGeom prst="ellipse">
            <a:avLst/>
          </a:prstGeom>
          <a:solidFill>
            <a:srgbClr val="0071E3"/>
          </a:solidFill>
          <a:ln/>
        </p:spPr>
      </p:sp>
      <p:pic>
        <p:nvPicPr>
          <p:cNvPr id="16" name="Image 2" descr="/home/claude/bedrock_ppt/icons/FiGitBra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564" y="256946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33388" y="3337560"/>
            <a:ext cx="19773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/ AgentCore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533388" y="4023360"/>
            <a:ext cx="19773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for multi-step, tool-using tasks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086850" y="1965960"/>
            <a:ext cx="2526030" cy="3566160"/>
          </a:xfrm>
          <a:prstGeom prst="roundRect">
            <a:avLst>
              <a:gd name="adj" fmla="val 5792"/>
            </a:avLst>
          </a:prstGeom>
          <a:solidFill>
            <a:srgbClr val="F5F5F7"/>
          </a:solidFill>
          <a:ln/>
        </p:spPr>
      </p:sp>
      <p:sp>
        <p:nvSpPr>
          <p:cNvPr id="20" name="Shape 15"/>
          <p:cNvSpPr/>
          <p:nvPr/>
        </p:nvSpPr>
        <p:spPr>
          <a:xfrm>
            <a:off x="9406890" y="2331720"/>
            <a:ext cx="777240" cy="777240"/>
          </a:xfrm>
          <a:prstGeom prst="ellipse">
            <a:avLst/>
          </a:prstGeom>
          <a:solidFill>
            <a:srgbClr val="0071E3"/>
          </a:solidFill>
          <a:ln/>
        </p:spPr>
      </p:sp>
      <p:pic>
        <p:nvPicPr>
          <p:cNvPr id="21" name="Image 3" descr="/home/claude/bedrock_ppt/icons/Fi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4634" y="256946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79458" y="3337560"/>
            <a:ext cx="19773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9379458" y="4023360"/>
            <a:ext cx="19773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filtering and PII redaction, both ways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 a request takes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314700" y="2103120"/>
            <a:ext cx="1005840" cy="1005840"/>
          </a:xfrm>
          <a:prstGeom prst="ellipse">
            <a:avLst/>
          </a:prstGeom>
          <a:solidFill>
            <a:srgbClr val="0071E3"/>
          </a:solidFill>
          <a:ln/>
        </p:spPr>
      </p:sp>
      <p:pic>
        <p:nvPicPr>
          <p:cNvPr id="5" name="Image 0" descr="/home/claude/bedrock_ppt/icons/Fi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0732" y="2359152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994660" y="3246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App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320540" y="2606040"/>
            <a:ext cx="502920" cy="0"/>
          </a:xfrm>
          <a:prstGeom prst="line">
            <a:avLst/>
          </a:prstGeom>
          <a:noFill/>
          <a:ln w="25400">
            <a:solidFill>
              <a:srgbClr val="5A5A5E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4823460" y="2103120"/>
            <a:ext cx="1005840" cy="1005840"/>
          </a:xfrm>
          <a:prstGeom prst="ellipse">
            <a:avLst/>
          </a:prstGeom>
          <a:solidFill>
            <a:srgbClr val="0071E3"/>
          </a:solidFill>
          <a:ln/>
        </p:spPr>
      </p:sp>
      <p:pic>
        <p:nvPicPr>
          <p:cNvPr id="9" name="Image 1" descr="/home/claude/bedrock_ppt/icons/Fi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492" y="235915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03420" y="3246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API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829300" y="2606040"/>
            <a:ext cx="502920" cy="0"/>
          </a:xfrm>
          <a:prstGeom prst="line">
            <a:avLst/>
          </a:prstGeom>
          <a:noFill/>
          <a:ln w="25400">
            <a:solidFill>
              <a:srgbClr val="5A5A5E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6332220" y="2103120"/>
            <a:ext cx="1005840" cy="1005840"/>
          </a:xfrm>
          <a:prstGeom prst="ellipse">
            <a:avLst/>
          </a:prstGeom>
          <a:solidFill>
            <a:srgbClr val="0071E3"/>
          </a:solidFill>
          <a:ln/>
        </p:spPr>
      </p:sp>
      <p:pic>
        <p:nvPicPr>
          <p:cNvPr id="13" name="Image 2" descr="/home/claude/bedrock_ppt/icons/Fi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252" y="2359152"/>
            <a:ext cx="493776" cy="4937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12180" y="3246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7338060" y="2606040"/>
            <a:ext cx="502920" cy="0"/>
          </a:xfrm>
          <a:prstGeom prst="line">
            <a:avLst/>
          </a:prstGeom>
          <a:noFill/>
          <a:ln w="25400">
            <a:solidFill>
              <a:srgbClr val="5A5A5E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7840980" y="2103120"/>
            <a:ext cx="1005840" cy="1005840"/>
          </a:xfrm>
          <a:prstGeom prst="ellipse">
            <a:avLst/>
          </a:prstGeom>
          <a:solidFill>
            <a:srgbClr val="0071E3"/>
          </a:solidFill>
          <a:ln/>
        </p:spPr>
      </p:sp>
      <p:pic>
        <p:nvPicPr>
          <p:cNvPr id="17" name="Image 3" descr="/home/claude/bedrock_ppt/icons/Fi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012" y="2359152"/>
            <a:ext cx="493776" cy="49377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520940" y="3246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822960" y="4160520"/>
            <a:ext cx="10515600" cy="0"/>
          </a:xfrm>
          <a:prstGeom prst="line">
            <a:avLst/>
          </a:prstGeom>
          <a:noFill/>
          <a:ln w="12700">
            <a:solidFill>
              <a:srgbClr val="3A3A3C"/>
            </a:solidFill>
            <a:prstDash val="dash"/>
          </a:ln>
        </p:spPr>
      </p:sp>
      <p:sp>
        <p:nvSpPr>
          <p:cNvPr id="20" name="Text 14"/>
          <p:cNvSpPr/>
          <p:nvPr/>
        </p:nvSpPr>
        <p:spPr>
          <a:xfrm>
            <a:off x="1280160" y="44348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Bases, Agents, and Flows plug in here — optionally grounding the model in your own data before it responds.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280160" y="5943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above stays inside your AWS account — none of it trains the underlying models.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NEW IN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catalog got a lot bigger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18+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594360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providers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370332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addressable models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66560" y="18745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6812280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API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11064240" cy="0"/>
          </a:xfrm>
          <a:prstGeom prst="line">
            <a:avLst/>
          </a:prstGeom>
          <a:noFill/>
          <a:ln w="12700">
            <a:solidFill>
              <a:srgbClr val="D2D2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931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Nova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337560" y="3931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Micro/Lite/Pro/Premier, Canvas, Reel, Sonic — priced aggressively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49884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Claude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337560" y="44988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 4.5 (Oct 2025) and Opus 4.5 (Nov 2025) — still the most used family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06577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337560" y="506577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GPT-5.5, GPT-5.4, and Codex now run on Bedrock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63270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DeepSeek-R1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337560" y="56327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reasoning model, priced for high-volume workloads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steps before your first call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74720" cy="3749040"/>
          </a:xfrm>
          <a:prstGeom prst="roundRect">
            <a:avLst>
              <a:gd name="adj" fmla="val 4211"/>
            </a:avLst>
          </a:prstGeom>
          <a:solidFill>
            <a:srgbClr val="F5F5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971800" y="2286000"/>
            <a:ext cx="731520" cy="731520"/>
          </a:xfrm>
          <a:prstGeom prst="ellipse">
            <a:avLst/>
          </a:prstGeom>
          <a:solidFill>
            <a:srgbClr val="0071E3"/>
          </a:solidFill>
          <a:ln/>
        </p:spPr>
      </p:sp>
      <p:pic>
        <p:nvPicPr>
          <p:cNvPr id="7" name="Image 0" descr="/home/claude/bedrock_ppt/icons/Fi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9544" y="252374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461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IAM permissions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41605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only bedrock:InvokeModel to start — widen later as you need it.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43400" y="2011680"/>
            <a:ext cx="3474720" cy="3749040"/>
          </a:xfrm>
          <a:prstGeom prst="roundRect">
            <a:avLst>
              <a:gd name="adj" fmla="val 4211"/>
            </a:avLst>
          </a:prstGeom>
          <a:solidFill>
            <a:srgbClr val="F5F5F7"/>
          </a:solidFill>
          <a:ln/>
        </p:spPr>
      </p:sp>
      <p:sp>
        <p:nvSpPr>
          <p:cNvPr id="11" name="Text 8"/>
          <p:cNvSpPr/>
          <p:nvPr/>
        </p:nvSpPr>
        <p:spPr>
          <a:xfrm>
            <a:off x="4617720" y="2286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766560" y="2286000"/>
            <a:ext cx="731520" cy="731520"/>
          </a:xfrm>
          <a:prstGeom prst="ellipse">
            <a:avLst/>
          </a:prstGeom>
          <a:solidFill>
            <a:srgbClr val="0071E3"/>
          </a:solidFill>
          <a:ln/>
        </p:spPr>
      </p:sp>
      <p:pic>
        <p:nvPicPr>
          <p:cNvPr id="13" name="Image 1" descr="/home/claude/bedrock_ppt/icons/FiSlid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304" y="252374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32461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model access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17720" y="41605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Access → Modify model access. Turn on what you'll actually use.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38160" y="2011680"/>
            <a:ext cx="3474720" cy="3749040"/>
          </a:xfrm>
          <a:prstGeom prst="roundRect">
            <a:avLst>
              <a:gd name="adj" fmla="val 4211"/>
            </a:avLst>
          </a:prstGeom>
          <a:solidFill>
            <a:srgbClr val="F5F5F7"/>
          </a:solidFill>
          <a:ln/>
        </p:spPr>
      </p:sp>
      <p:sp>
        <p:nvSpPr>
          <p:cNvPr id="17" name="Text 13"/>
          <p:cNvSpPr/>
          <p:nvPr/>
        </p:nvSpPr>
        <p:spPr>
          <a:xfrm>
            <a:off x="8412480" y="2286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10561320" y="2286000"/>
            <a:ext cx="731520" cy="731520"/>
          </a:xfrm>
          <a:prstGeom prst="ellipse">
            <a:avLst/>
          </a:prstGeom>
          <a:solidFill>
            <a:srgbClr val="0071E3"/>
          </a:solidFill>
          <a:ln/>
        </p:spPr>
      </p:sp>
      <p:pic>
        <p:nvPicPr>
          <p:cNvPr id="19" name="Image 2" descr="/home/claude/bedrock_ppt/icons/FiBarChart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064" y="252374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2480" y="32461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deliberately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12480" y="41605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15–20 real prompts across candidates before committing to one.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FIRST CALL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Converse API, in six lines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315200" cy="4434840"/>
          </a:xfrm>
          <a:prstGeom prst="roundRect">
            <a:avLst>
              <a:gd name="adj" fmla="val 2474"/>
            </a:avLst>
          </a:prstGeom>
          <a:solidFill>
            <a:srgbClr val="0D0D0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57400"/>
            <a:ext cx="66751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E5E5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boto3.client("bedrock-runtime")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E5E5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client.converse(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modelId=model_id,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messages=messages,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inferenceConfig={"maxTokens": 400}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E5E5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E5E5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print(response["output"]["message"]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E5E5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["content"][0]["text"])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38160" y="1783080"/>
            <a:ext cx="3474720" cy="4434840"/>
          </a:xfrm>
          <a:prstGeom prst="roundRect">
            <a:avLst>
              <a:gd name="adj" fmla="val 3158"/>
            </a:avLst>
          </a:prstGeom>
          <a:solidFill>
            <a:srgbClr val="0071E3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0" y="21031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Converse, not InvokeModel?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0" y="2971800"/>
            <a:ext cx="2926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A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consistent request and response shape across every provider. Swap the model ID from Claude to Nova to Llama — the rest of your code doesn't change.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IN YOUR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model to your knowledge base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2121408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documents to S3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606040"/>
            <a:ext cx="0" cy="256032"/>
          </a:xfrm>
          <a:prstGeom prst="line">
            <a:avLst/>
          </a:prstGeom>
          <a:noFill/>
          <a:ln w="19050">
            <a:solidFill>
              <a:srgbClr val="D2D2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862072"/>
            <a:ext cx="457200" cy="457200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834640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Knowledge Base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3319272"/>
            <a:ext cx="0" cy="256032"/>
          </a:xfrm>
          <a:prstGeom prst="line">
            <a:avLst/>
          </a:prstGeom>
          <a:noFill/>
          <a:ln w="19050">
            <a:solidFill>
              <a:srgbClr val="D2D2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575304"/>
            <a:ext cx="457200" cy="457200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75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547872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embeddings + vector store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77240" y="4032504"/>
            <a:ext cx="0" cy="256032"/>
          </a:xfrm>
          <a:prstGeom prst="line">
            <a:avLst/>
          </a:prstGeom>
          <a:noFill/>
          <a:ln w="19050">
            <a:solidFill>
              <a:srgbClr val="D2D2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288536"/>
            <a:ext cx="457200" cy="457200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4261104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&amp; test in console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77240" y="4745736"/>
            <a:ext cx="0" cy="256032"/>
          </a:xfrm>
          <a:prstGeom prst="line">
            <a:avLst/>
          </a:prstGeom>
          <a:noFill/>
          <a:ln w="19050">
            <a:solidFill>
              <a:srgbClr val="D2D2D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5001768"/>
            <a:ext cx="457200" cy="457200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001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4974336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with RetrieveAndGenerate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92240" y="2148840"/>
            <a:ext cx="5120640" cy="4160520"/>
          </a:xfrm>
          <a:prstGeom prst="roundRect">
            <a:avLst>
              <a:gd name="adj" fmla="val 3516"/>
            </a:avLst>
          </a:prstGeom>
          <a:solidFill>
            <a:srgbClr val="F5F5F7"/>
          </a:solidFill>
          <a:ln/>
        </p:spPr>
      </p:sp>
      <p:sp>
        <p:nvSpPr>
          <p:cNvPr id="24" name="Shape 22"/>
          <p:cNvSpPr/>
          <p:nvPr/>
        </p:nvSpPr>
        <p:spPr>
          <a:xfrm>
            <a:off x="6812280" y="2468880"/>
            <a:ext cx="685800" cy="685800"/>
          </a:xfrm>
          <a:prstGeom prst="ellipse">
            <a:avLst/>
          </a:prstGeom>
          <a:solidFill>
            <a:srgbClr val="0071E3"/>
          </a:solidFill>
          <a:ln/>
        </p:spPr>
      </p:sp>
      <p:pic>
        <p:nvPicPr>
          <p:cNvPr id="25" name="Image 0" descr="/home/claude/bedrock_ppt/icons/FiBook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0024" y="2706624"/>
            <a:ext cx="210312" cy="21031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635240" y="2542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812280" y="333756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dump raw documents in and hope. Retrieval quality is the ceiling on your output quality — a great model reading bad chunks still gives a bad answer.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6812280" y="4846320"/>
            <a:ext cx="4480560" cy="0"/>
          </a:xfrm>
          <a:prstGeom prst="line">
            <a:avLst/>
          </a:prstGeom>
          <a:noFill/>
          <a:ln w="12700">
            <a:solidFill>
              <a:srgbClr val="D2D2D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12280" y="50749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Sentence-aware chunking beats fixed 300-token windows for structured docs like contracts.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A SINGLE CALL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one prompt isn't enough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49240" cy="3749040"/>
          </a:xfrm>
          <a:prstGeom prst="roundRect">
            <a:avLst>
              <a:gd name="adj" fmla="val 3902"/>
            </a:avLst>
          </a:prstGeom>
          <a:solidFill>
            <a:srgbClr val="F5F5F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423160"/>
            <a:ext cx="868680" cy="868680"/>
          </a:xfrm>
          <a:prstGeom prst="ellipse">
            <a:avLst/>
          </a:prstGeom>
          <a:solidFill>
            <a:srgbClr val="0071E3"/>
          </a:solidFill>
          <a:ln/>
        </p:spPr>
      </p:sp>
      <p:pic>
        <p:nvPicPr>
          <p:cNvPr id="6" name="Image 0" descr="/home/claude/bedrock_ppt/icons/Fi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2660904"/>
            <a:ext cx="393192" cy="393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5204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/ AgentCore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4114800"/>
            <a:ext cx="4617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tasks needing more than one round trip — look something up, call a tool, check the result, decide what's next. Skip this for simple Q&amp;A.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2011680"/>
            <a:ext cx="5349240" cy="3749040"/>
          </a:xfrm>
          <a:prstGeom prst="roundRect">
            <a:avLst>
              <a:gd name="adj" fmla="val 3902"/>
            </a:avLst>
          </a:prstGeom>
          <a:solidFill>
            <a:srgbClr val="F5F5F7"/>
          </a:solidFill>
          <a:ln/>
        </p:spPr>
      </p:sp>
      <p:sp>
        <p:nvSpPr>
          <p:cNvPr id="10" name="Shape 7"/>
          <p:cNvSpPr/>
          <p:nvPr/>
        </p:nvSpPr>
        <p:spPr>
          <a:xfrm>
            <a:off x="6629400" y="2423160"/>
            <a:ext cx="868680" cy="868680"/>
          </a:xfrm>
          <a:prstGeom prst="ellipse">
            <a:avLst/>
          </a:prstGeom>
          <a:solidFill>
            <a:srgbClr val="0071E3"/>
          </a:solidFill>
          <a:ln/>
        </p:spPr>
      </p:sp>
      <p:pic>
        <p:nvPicPr>
          <p:cNvPr id="11" name="Image 1" descr="/home/claude/bedrock_ppt/icons/Fi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144" y="2660904"/>
            <a:ext cx="393192" cy="3931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29400" y="35204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29400" y="4114800"/>
            <a:ext cx="4617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content before and after model calls — PII leakage, prompt injection, off-topic responses. Treat as required for anything customer-facing.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AT SCALE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it in Lambda, pay for nothing at rest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315200" cy="4434840"/>
          </a:xfrm>
          <a:prstGeom prst="roundRect">
            <a:avLst>
              <a:gd name="adj" fmla="val 2474"/>
            </a:avLst>
          </a:prstGeom>
          <a:solidFill>
            <a:srgbClr val="0D0D0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57400"/>
            <a:ext cx="66751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5E5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lambda_handler(event, context):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prompt = event.get("prompt", "")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5E5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 = client.converse(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modelId="amazon.nova-lite-v1:0",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messages=[{"role": "user",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"content": [{"text": prompt}]}]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5E5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5E5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{"statusCode": 200, "body": response}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138160" y="1783080"/>
            <a:ext cx="3474720" cy="4434840"/>
          </a:xfrm>
          <a:prstGeom prst="roundRect">
            <a:avLst>
              <a:gd name="adj" fmla="val 3158"/>
            </a:avLst>
          </a:prstGeom>
          <a:solidFill>
            <a:srgbClr val="0071E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0" y="205740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bedrock_ppt/icons/FiCloudLightning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219456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0" y="2880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it from: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412480" y="32918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EA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API Gateway (HTTP)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EA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S3 events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EA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EventBridge schedules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EA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SQS for async work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SHIP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and security checklist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731520" cy="731520"/>
          </a:xfrm>
          <a:prstGeom prst="ellipse">
            <a:avLst/>
          </a:prstGeom>
          <a:solidFill>
            <a:srgbClr val="0071E3"/>
          </a:solidFill>
          <a:ln/>
        </p:spPr>
      </p:sp>
      <p:pic>
        <p:nvPicPr>
          <p:cNvPr id="5" name="Image 0" descr="/home/claude/bedrock_ppt/icons/FiDollar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20370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011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2926080"/>
            <a:ext cx="128016" cy="128016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7432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model size to task complexity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9312"/>
            <a:ext cx="128016" cy="128016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45643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requests where possible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352544"/>
            <a:ext cx="128016" cy="128016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416966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Provisioned Throughput only once volume is predictable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5065776"/>
            <a:ext cx="128016" cy="128016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488289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an AWS Budgets alert before going live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0" y="1965960"/>
            <a:ext cx="731520" cy="731520"/>
          </a:xfrm>
          <a:prstGeom prst="ellipse">
            <a:avLst/>
          </a:prstGeom>
          <a:solidFill>
            <a:srgbClr val="0071E3"/>
          </a:solidFill>
          <a:ln/>
        </p:spPr>
      </p:sp>
      <p:pic>
        <p:nvPicPr>
          <p:cNvPr id="16" name="Image 1" descr="/home/claude/bedrock_ppt/icons/Fi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2203704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15200" y="2011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900" dirty="0"/>
          </a:p>
        </p:txBody>
      </p:sp>
      <p:sp>
        <p:nvSpPr>
          <p:cNvPr id="18" name="Shape 14"/>
          <p:cNvSpPr/>
          <p:nvPr/>
        </p:nvSpPr>
        <p:spPr>
          <a:xfrm>
            <a:off x="6400800" y="2926080"/>
            <a:ext cx="128016" cy="128016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9" name="Text 15"/>
          <p:cNvSpPr/>
          <p:nvPr/>
        </p:nvSpPr>
        <p:spPr>
          <a:xfrm>
            <a:off x="6720840" y="27432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IAM roles — never bedrock:*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400800" y="3639312"/>
            <a:ext cx="128016" cy="128016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21" name="Text 17"/>
          <p:cNvSpPr/>
          <p:nvPr/>
        </p:nvSpPr>
        <p:spPr>
          <a:xfrm>
            <a:off x="6720840" y="345643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sensitive workloads inside a VPC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6400800" y="4352544"/>
            <a:ext cx="128016" cy="128016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23" name="Text 19"/>
          <p:cNvSpPr/>
          <p:nvPr/>
        </p:nvSpPr>
        <p:spPr>
          <a:xfrm>
            <a:off x="6720840" y="416966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on invocation logging from day one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6400800" y="5065776"/>
            <a:ext cx="128016" cy="128016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25" name="Text 21"/>
          <p:cNvSpPr/>
          <p:nvPr/>
        </p:nvSpPr>
        <p:spPr>
          <a:xfrm>
            <a:off x="6720840" y="488289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Guardrails' prompt-attack filter to strict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YOUR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vs. the alternatives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74720" cy="3840480"/>
          </a:xfrm>
          <a:prstGeom prst="roundRect">
            <a:avLst>
              <a:gd name="adj" fmla="val 4211"/>
            </a:avLst>
          </a:prstGeom>
          <a:solidFill>
            <a:srgbClr val="0071E3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22860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Bedrock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1248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AWS-NATIVE TEAMS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41248" y="3566160"/>
            <a:ext cx="2889504" cy="0"/>
          </a:xfrm>
          <a:prstGeom prst="line">
            <a:avLst/>
          </a:prstGeom>
          <a:noFill/>
          <a:ln w="12700">
            <a:solidFill>
              <a:srgbClr val="4A9B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374904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A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IAM, VPC, and billing just work. One-line model swaps.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474720" cy="3840480"/>
          </a:xfrm>
          <a:prstGeom prst="roundRect">
            <a:avLst>
              <a:gd name="adj" fmla="val 4211"/>
            </a:avLst>
          </a:prstGeom>
          <a:solidFill>
            <a:srgbClr val="F5F5F7"/>
          </a:solidFill>
          <a:ln/>
        </p:spPr>
      </p:sp>
      <p:sp>
        <p:nvSpPr>
          <p:cNvPr id="10" name="Text 8"/>
          <p:cNvSpPr/>
          <p:nvPr/>
        </p:nvSpPr>
        <p:spPr>
          <a:xfrm>
            <a:off x="4636008" y="22860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provider API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36008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PORTABILITY FIRST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36008" y="3566160"/>
            <a:ext cx="2889504" cy="0"/>
          </a:xfrm>
          <a:prstGeom prst="line">
            <a:avLst/>
          </a:prstGeom>
          <a:noFill/>
          <a:ln w="12700">
            <a:solidFill>
              <a:srgbClr val="D2D2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374904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Prioritizes flexibility across clouds over integration.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3474720" cy="3840480"/>
          </a:xfrm>
          <a:prstGeom prst="roundRect">
            <a:avLst>
              <a:gd name="adj" fmla="val 4211"/>
            </a:avLst>
          </a:prstGeom>
          <a:solidFill>
            <a:srgbClr val="F5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8430768" y="22860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SageMaker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30768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YOUR OWN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430768" y="3566160"/>
            <a:ext cx="2889504" cy="0"/>
          </a:xfrm>
          <a:prstGeom prst="line">
            <a:avLst/>
          </a:prstGeom>
          <a:noFill/>
          <a:ln w="12700">
            <a:solidFill>
              <a:srgbClr val="D2D2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30768" y="374904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heavily customizing or training a model from scratch.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where you already are.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22960" y="33375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you're on AWS, Bedrock is the fastest path from idea to a working AI feature.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4297680"/>
            <a:ext cx="5486400" cy="0"/>
          </a:xfrm>
          <a:prstGeom prst="line">
            <a:avLst/>
          </a:prstGeom>
          <a:noFill/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READING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4892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docs.aws.amazon.com/bedrock — User Guide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52760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docs.aws.amazon.com/bedrock — Model support by feature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66013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docs.aws.amazon.com/bedrock — Knowledge Bases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2026-09-20T02:38:50Z</dcterms:created>
  <dcterms:modified xsi:type="dcterms:W3CDTF">2026-09-20T02:38:50Z</dcterms:modified>
</cp:coreProperties>
</file>